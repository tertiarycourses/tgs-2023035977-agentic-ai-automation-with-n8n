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n8n-course-logo.png"/>
          <p:cNvPicPr>
            <a:picLocks noChangeAspect="1"/>
          </p:cNvPicPr>
          <p:nvPr/>
        </p:nvPicPr>
        <p:blipFill>
          <a:blip r:embed="rId3"/>
          <a:stretch>
            <a:fillRect/>
          </a:stretch>
        </p:blipFill>
        <p:spPr>
          <a:xfrm>
            <a:off x="10424160" y="658368"/>
            <a:ext cx="914400" cy="914400"/>
          </a:xfrm>
          <a:prstGeom prst="rect">
            <a:avLst/>
          </a:prstGeom>
        </p:spPr>
      </p:pic>
      <p:sp>
        <p:nvSpPr>
          <p:cNvPr id="7" name="TextBox 6"/>
          <p:cNvSpPr txBox="1"/>
          <p:nvPr/>
        </p:nvSpPr>
        <p:spPr>
          <a:xfrm>
            <a:off x="822960" y="2103120"/>
            <a:ext cx="10972800" cy="548640"/>
          </a:xfrm>
          <a:prstGeom prst="rect">
            <a:avLst/>
          </a:prstGeom>
          <a:noFill/>
        </p:spPr>
        <p:txBody>
          <a:bodyPr wrap="square" anchor="t" lIns="0" rIns="0" tIns="0" bIns="0">
            <a:spAutoFit/>
          </a:bodyPr>
          <a:lstStyle/>
          <a:p>
            <a:pPr algn="l">
              <a:spcBef>
                <a:spcPts val="0"/>
              </a:spcBef>
              <a:spcAft>
                <a:spcPts val="400"/>
              </a:spcAft>
            </a:pPr>
            <a:r>
              <a:rPr sz="1600" b="1">
                <a:solidFill>
                  <a:srgbClr val="1F6FEB"/>
                </a:solidFill>
                <a:latin typeface="Arial"/>
              </a:rPr>
              <a:t>LEARNER GUIDE  ·  COURSE SLIDES</a:t>
            </a:r>
          </a:p>
        </p:txBody>
      </p:sp>
      <p:sp>
        <p:nvSpPr>
          <p:cNvPr id="8" name="TextBox 7"/>
          <p:cNvSpPr txBox="1"/>
          <p:nvPr/>
        </p:nvSpPr>
        <p:spPr>
          <a:xfrm>
            <a:off x="822960" y="2651760"/>
            <a:ext cx="10972800" cy="1463040"/>
          </a:xfrm>
          <a:prstGeom prst="rect">
            <a:avLst/>
          </a:prstGeom>
          <a:noFill/>
        </p:spPr>
        <p:txBody>
          <a:bodyPr wrap="square" anchor="t" lIns="0" rIns="0" tIns="0" bIns="0">
            <a:spAutoFit/>
          </a:bodyPr>
          <a:lstStyle/>
          <a:p>
            <a:pPr algn="l">
              <a:spcBef>
                <a:spcPts val="0"/>
              </a:spcBef>
              <a:spcAft>
                <a:spcPts val="400"/>
              </a:spcAft>
            </a:pPr>
            <a:r>
              <a:rPr sz="4600" b="1">
                <a:solidFill>
                  <a:srgbClr val="161B26"/>
                </a:solidFill>
                <a:latin typeface="Arial"/>
              </a:rPr>
              <a:t>Agentic AI Automation with n8n</a:t>
            </a:r>
          </a:p>
        </p:txBody>
      </p:sp>
      <p:sp>
        <p:nvSpPr>
          <p:cNvPr id="9" name="Rectangle 8"/>
          <p:cNvSpPr/>
          <p:nvPr/>
        </p:nvSpPr>
        <p:spPr>
          <a:xfrm>
            <a:off x="841248" y="393192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251960"/>
            <a:ext cx="10972800" cy="1280160"/>
          </a:xfrm>
          <a:prstGeom prst="rect">
            <a:avLst/>
          </a:prstGeom>
          <a:noFill/>
        </p:spPr>
        <p:txBody>
          <a:bodyPr wrap="square" anchor="t" lIns="0" rIns="0" tIns="0" bIns="0">
            <a:spAutoFit/>
          </a:bodyPr>
          <a:lstStyle/>
          <a:p>
            <a:pPr algn="l">
              <a:spcBef>
                <a:spcPts val="0"/>
              </a:spcBef>
              <a:spcAft>
                <a:spcPts val="600"/>
              </a:spcAft>
            </a:pPr>
            <a:r>
              <a:rPr sz="1600" b="0">
                <a:solidFill>
                  <a:srgbClr val="5B6372"/>
                </a:solidFill>
                <a:latin typeface="Arial"/>
              </a:rPr>
              <a:t>WSQ Course Code: TGS-2023035977</a:t>
            </a:r>
          </a:p>
          <a:p>
            <a:pPr algn="l">
              <a:spcBef>
                <a:spcPts val="0"/>
              </a:spcBef>
              <a:spcAft>
                <a:spcPts val="600"/>
              </a:spcAft>
            </a:pPr>
            <a:r>
              <a:rPr sz="1400" b="0">
                <a:solidFill>
                  <a:srgbClr val="5B6372"/>
                </a:solidFill>
                <a:latin typeface="Arial"/>
              </a:rPr>
              <a:t>Conducted by Tertiary Infotech Academy Pte Ltd  ·  UEN 201200696W</a:t>
            </a:r>
          </a:p>
          <a:p>
            <a:pPr algn="l">
              <a:spcBef>
                <a:spcPts val="0"/>
              </a:spcBef>
              <a:spcAft>
                <a:spcPts val="600"/>
              </a:spcAft>
            </a:pPr>
            <a:r>
              <a:rPr sz="1400" b="1">
                <a:solidFill>
                  <a:srgbClr val="1F6FEB"/>
                </a:solidFill>
                <a:latin typeface="Arial"/>
              </a:rPr>
              <a:t>Version v48  ·  17 Oct 2026</a:t>
            </a:r>
          </a:p>
        </p:txBody>
      </p:sp>
      <p:sp>
        <p:nvSpPr>
          <p:cNvPr id="11" name="TextBox 10"/>
          <p:cNvSpPr txBox="1"/>
          <p:nvPr/>
        </p:nvSpPr>
        <p:spPr>
          <a:xfrm>
            <a:off x="822960" y="5989320"/>
            <a:ext cx="10972800" cy="310896"/>
          </a:xfrm>
          <a:prstGeom prst="rect">
            <a:avLst/>
          </a:prstGeom>
          <a:noFill/>
        </p:spPr>
        <p:txBody>
          <a:bodyPr wrap="square" anchor="t" lIns="0" rIns="0" tIns="0" bIns="0">
            <a:spAutoFit/>
          </a:bodyPr>
          <a:lstStyle/>
          <a:p>
            <a:pPr algn="l">
              <a:spcBef>
                <a:spcPts val="0"/>
              </a:spcBef>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Digital Attendance (Mandatory)</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It is mandatory to take the AM, PM and Assessment digital attendance for WSQ-funded courses.</a:t>
            </a:r>
          </a:p>
          <a:p>
            <a:pPr>
              <a:spcBef>
                <a:spcPts val="0"/>
              </a:spcBef>
              <a:spcAft>
                <a:spcPts val="1000"/>
              </a:spcAft>
            </a:pPr>
            <a:r>
              <a:rPr sz="2000" b="1">
                <a:solidFill>
                  <a:srgbClr val="1F6FEB"/>
                </a:solidFill>
                <a:latin typeface="Arial"/>
              </a:rPr>
              <a:t>•  </a:t>
            </a:r>
            <a:r>
              <a:rPr sz="2000">
                <a:solidFill>
                  <a:srgbClr val="161B26"/>
                </a:solidFill>
                <a:latin typeface="Arial"/>
              </a:rPr>
              <a:t>The trainer/administrator will display the digital attendance QR code generated from the SSG portal.</a:t>
            </a:r>
          </a:p>
          <a:p>
            <a:pPr>
              <a:spcBef>
                <a:spcPts val="0"/>
              </a:spcBef>
              <a:spcAft>
                <a:spcPts val="1000"/>
              </a:spcAft>
            </a:pPr>
            <a:r>
              <a:rPr sz="2000" b="1">
                <a:solidFill>
                  <a:srgbClr val="1F6FEB"/>
                </a:solidFill>
                <a:latin typeface="Arial"/>
              </a:rPr>
              <a:t>•  </a:t>
            </a:r>
            <a:r>
              <a:rPr sz="2000">
                <a:solidFill>
                  <a:srgbClr val="161B26"/>
                </a:solidFill>
                <a:latin typeface="Arial"/>
              </a:rPr>
              <a:t>Scan the QR code with your mobile phone camera and submit your attendance.</a:t>
            </a:r>
          </a:p>
          <a:p>
            <a:pPr>
              <a:spcBef>
                <a:spcPts val="0"/>
              </a:spcBef>
              <a:spcAft>
                <a:spcPts val="1000"/>
              </a:spcAft>
            </a:pPr>
            <a:r>
              <a:rPr sz="2000" b="1">
                <a:solidFill>
                  <a:srgbClr val="1F6FEB"/>
                </a:solidFill>
                <a:latin typeface="Arial"/>
              </a:rPr>
              <a:t>•  </a:t>
            </a:r>
            <a:r>
              <a:rPr sz="2000">
                <a:solidFill>
                  <a:srgbClr val="161B26"/>
                </a:solidFill>
                <a:latin typeface="Arial"/>
              </a:rPr>
              <a:t>A minimum of 75% attendance is required to be eligible for assessment and funding.</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5B6372"/>
                </a:solidFill>
                <a:latin typeface="Arial"/>
              </a:rPr>
              <a:t>YOUR TRAINER · GENERAL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8780" y="2286000"/>
            <a:ext cx="1554480" cy="1554480"/>
          </a:xfrm>
          <a:prstGeom prst="rect">
            <a:avLst/>
          </a:prstGeom>
          <a:noFill/>
        </p:spPr>
        <p:txBody>
          <a:bodyPr wrap="square" anchor="ctr" lIns="0" rIns="0" tIns="0" bIns="0">
            <a:spAutoFit/>
          </a:bodyPr>
          <a:lstStyle/>
          <a:p>
            <a:pPr algn="ctr">
              <a:spcBef>
                <a:spcPts val="0"/>
              </a:spcBef>
              <a:spcAft>
                <a:spcPts val="400"/>
              </a:spcAft>
            </a:pPr>
            <a:r>
              <a:rPr sz="4400" b="1">
                <a:solidFill>
                  <a:srgbClr val="FFFFFF"/>
                </a:solidFill>
                <a:latin typeface="Arial"/>
              </a:rPr>
              <a:t>?</a:t>
            </a:r>
          </a:p>
        </p:txBody>
      </p:sp>
      <p:sp>
        <p:nvSpPr>
          <p:cNvPr id="10" name="TextBox 9"/>
          <p:cNvSpPr txBox="1"/>
          <p:nvPr/>
        </p:nvSpPr>
        <p:spPr>
          <a:xfrm>
            <a:off x="914400" y="4160520"/>
            <a:ext cx="3063240" cy="548640"/>
          </a:xfrm>
          <a:prstGeom prst="rect">
            <a:avLst/>
          </a:prstGeom>
          <a:noFill/>
        </p:spPr>
        <p:txBody>
          <a:bodyPr wrap="square" anchor="t" lIns="0" rIns="0" tIns="0" bIns="0">
            <a:spAutoFit/>
          </a:bodyPr>
          <a:lstStyle/>
          <a:p>
            <a:pPr algn="ctr">
              <a:spcBef>
                <a:spcPts val="0"/>
              </a:spcBef>
              <a:spcAft>
                <a:spcPts val="400"/>
              </a:spcAft>
            </a:pPr>
            <a:r>
              <a:rPr sz="2100" b="1">
                <a:solidFill>
                  <a:srgbClr val="161B26"/>
                </a:solidFill>
                <a:latin typeface="Arial"/>
              </a:rPr>
              <a:t>Your Trainer</a:t>
            </a:r>
          </a:p>
        </p:txBody>
      </p:sp>
      <p:sp>
        <p:nvSpPr>
          <p:cNvPr id="11" name="TextBox 10"/>
          <p:cNvSpPr txBox="1"/>
          <p:nvPr/>
        </p:nvSpPr>
        <p:spPr>
          <a:xfrm>
            <a:off x="914400" y="4754880"/>
            <a:ext cx="3063240" cy="109728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General Trainer template —
to be completed by the trainer</a:t>
            </a:r>
          </a:p>
        </p:txBody>
      </p:sp>
      <p:sp>
        <p:nvSpPr>
          <p:cNvPr id="12" name="Rectangle 11"/>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178308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1F6FEB"/>
                </a:solidFill>
                <a:latin typeface="Arial"/>
              </a:rPr>
              <a:t>NAME</a:t>
            </a:r>
          </a:p>
          <a:p>
            <a:pPr algn="l">
              <a:spcBef>
                <a:spcPts val="0"/>
              </a:spcBef>
              <a:spcAft>
                <a:spcPts val="300"/>
              </a:spcAft>
            </a:pPr>
            <a:r>
              <a:rPr sz="1300" b="0">
                <a:solidFill>
                  <a:srgbClr val="E2E8F0"/>
                </a:solidFill>
                <a:latin typeface="Arial"/>
              </a:rPr>
              <a:t>____________________________________________</a:t>
            </a:r>
          </a:p>
        </p:txBody>
      </p:sp>
      <p:sp>
        <p:nvSpPr>
          <p:cNvPr id="15" name="Rectangle 14"/>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52984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10B981"/>
                </a:solidFill>
                <a:latin typeface="Arial"/>
              </a:rPr>
              <a:t>TITLE / DESIGNATION</a:t>
            </a:r>
          </a:p>
          <a:p>
            <a:pPr algn="l">
              <a:spcBef>
                <a:spcPts val="0"/>
              </a:spcBef>
              <a:spcAft>
                <a:spcPts val="300"/>
              </a:spcAft>
            </a:pPr>
            <a:r>
              <a:rPr sz="1300" b="0">
                <a:solidFill>
                  <a:srgbClr val="E2E8F0"/>
                </a:solidFill>
                <a:latin typeface="Arial"/>
              </a:rPr>
              <a:t>____________________________________________</a:t>
            </a:r>
          </a:p>
        </p:txBody>
      </p:sp>
      <p:sp>
        <p:nvSpPr>
          <p:cNvPr id="18" name="Rectangle 17"/>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3168" y="327660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7C3AED"/>
                </a:solidFill>
                <a:latin typeface="Arial"/>
              </a:rPr>
              <a:t>QUALIFICATIONS</a:t>
            </a:r>
          </a:p>
          <a:p>
            <a:pPr algn="l">
              <a:spcBef>
                <a:spcPts val="0"/>
              </a:spcBef>
              <a:spcAft>
                <a:spcPts val="300"/>
              </a:spcAft>
            </a:pPr>
            <a:r>
              <a:rPr sz="1300" b="0">
                <a:solidFill>
                  <a:srgbClr val="E2E8F0"/>
                </a:solidFill>
                <a:latin typeface="Arial"/>
              </a:rPr>
              <a:t>____________________________________________</a:t>
            </a:r>
          </a:p>
        </p:txBody>
      </p:sp>
      <p:sp>
        <p:nvSpPr>
          <p:cNvPr id="21" name="Rectangle 20"/>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402336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F59E0B"/>
                </a:solidFill>
                <a:latin typeface="Arial"/>
              </a:rPr>
              <a:t>AREAS OF EXPERTISE</a:t>
            </a:r>
          </a:p>
          <a:p>
            <a:pPr algn="l">
              <a:spcBef>
                <a:spcPts val="0"/>
              </a:spcBef>
              <a:spcAft>
                <a:spcPts val="300"/>
              </a:spcAft>
            </a:pPr>
            <a:r>
              <a:rPr sz="1300" b="0">
                <a:solidFill>
                  <a:srgbClr val="E2E8F0"/>
                </a:solidFill>
                <a:latin typeface="Arial"/>
              </a:rPr>
              <a:t>____________________________________________</a:t>
            </a:r>
          </a:p>
        </p:txBody>
      </p:sp>
      <p:sp>
        <p:nvSpPr>
          <p:cNvPr id="24" name="Rectangle 23"/>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773168" y="477012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1F6FEB"/>
                </a:solidFill>
                <a:latin typeface="Arial"/>
              </a:rPr>
              <a:t>TRAINING &amp; INDUSTRY EXPERIENCE</a:t>
            </a:r>
          </a:p>
          <a:p>
            <a:pPr algn="l">
              <a:spcBef>
                <a:spcPts val="0"/>
              </a:spcBef>
              <a:spcAft>
                <a:spcPts val="300"/>
              </a:spcAft>
            </a:pPr>
            <a:r>
              <a:rPr sz="1300" b="0">
                <a:solidFill>
                  <a:srgbClr val="E2E8F0"/>
                </a:solidFill>
                <a:latin typeface="Arial"/>
              </a:rPr>
              <a:t>____________________________________________</a:t>
            </a:r>
          </a:p>
        </p:txBody>
      </p:sp>
      <p:sp>
        <p:nvSpPr>
          <p:cNvPr id="27" name="Rectangle 26"/>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73168" y="5516880"/>
            <a:ext cx="6400800" cy="563880"/>
          </a:xfrm>
          <a:prstGeom prst="rect">
            <a:avLst/>
          </a:prstGeom>
          <a:noFill/>
        </p:spPr>
        <p:txBody>
          <a:bodyPr wrap="square" anchor="ctr" lIns="0" rIns="0" tIns="0" bIns="0">
            <a:spAutoFit/>
          </a:bodyPr>
          <a:lstStyle/>
          <a:p>
            <a:pPr algn="l">
              <a:spcBef>
                <a:spcPts val="0"/>
              </a:spcBef>
              <a:spcAft>
                <a:spcPts val="300"/>
              </a:spcAft>
            </a:pPr>
            <a:r>
              <a:rPr sz="1100" b="1">
                <a:solidFill>
                  <a:srgbClr val="10B981"/>
                </a:solidFill>
                <a:latin typeface="Arial"/>
              </a:rPr>
              <a:t>CONTACT</a:t>
            </a:r>
          </a:p>
          <a:p>
            <a:pPr algn="l">
              <a:spcBef>
                <a:spcPts val="0"/>
              </a:spcBef>
              <a:spcAft>
                <a:spcPts val="300"/>
              </a:spcAft>
            </a:pPr>
            <a:r>
              <a:rPr sz="1300" b="0">
                <a:solidFill>
                  <a:srgbClr val="E2E8F0"/>
                </a:solidFill>
                <a:latin typeface="Arial"/>
              </a:rPr>
              <a:t>____________________________________________</a:t>
            </a:r>
          </a:p>
        </p:txBody>
      </p:sp>
      <p:sp>
        <p:nvSpPr>
          <p:cNvPr id="30" name="TextBox 2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1" name="TextBox 3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2" name="TextBox 3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YOUR TRAINER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8780" y="2286000"/>
            <a:ext cx="1554480" cy="1554480"/>
          </a:xfrm>
          <a:prstGeom prst="rect">
            <a:avLst/>
          </a:prstGeom>
          <a:noFill/>
        </p:spPr>
        <p:txBody>
          <a:bodyPr wrap="square" anchor="ctr" lIns="0" rIns="0" tIns="0" bIns="0">
            <a:spAutoFit/>
          </a:bodyPr>
          <a:lstStyle/>
          <a:p>
            <a:pPr algn="ctr">
              <a:spcBef>
                <a:spcPts val="0"/>
              </a:spcBef>
              <a:spcAft>
                <a:spcPts val="400"/>
              </a:spcAft>
            </a:pPr>
            <a:r>
              <a:rPr sz="4400" b="1">
                <a:solidFill>
                  <a:srgbClr val="FFFFFF"/>
                </a:solidFill>
                <a:latin typeface="Arial"/>
              </a:rPr>
              <a:t>AA</a:t>
            </a:r>
          </a:p>
        </p:txBody>
      </p:sp>
      <p:sp>
        <p:nvSpPr>
          <p:cNvPr id="10" name="TextBox 9"/>
          <p:cNvSpPr txBox="1"/>
          <p:nvPr/>
        </p:nvSpPr>
        <p:spPr>
          <a:xfrm>
            <a:off x="914400" y="4160520"/>
            <a:ext cx="3063240" cy="548640"/>
          </a:xfrm>
          <a:prstGeom prst="rect">
            <a:avLst/>
          </a:prstGeom>
          <a:noFill/>
        </p:spPr>
        <p:txBody>
          <a:bodyPr wrap="square" anchor="t" lIns="0" rIns="0" tIns="0" bIns="0">
            <a:spAutoFit/>
          </a:bodyPr>
          <a:lstStyle/>
          <a:p>
            <a:pPr algn="ctr">
              <a:spcBef>
                <a:spcPts val="0"/>
              </a:spcBef>
              <a:spcAft>
                <a:spcPts val="400"/>
              </a:spcAft>
            </a:pPr>
            <a:r>
              <a:rPr sz="2100" b="1">
                <a:solidFill>
                  <a:srgbClr val="161B26"/>
                </a:solidFill>
                <a:latin typeface="Arial"/>
              </a:rPr>
              <a:t>Dr. Alfred Ang</a:t>
            </a:r>
          </a:p>
        </p:txBody>
      </p:sp>
      <p:sp>
        <p:nvSpPr>
          <p:cNvPr id="11" name="TextBox 10"/>
          <p:cNvSpPr txBox="1"/>
          <p:nvPr/>
        </p:nvSpPr>
        <p:spPr>
          <a:xfrm>
            <a:off x="914400" y="4754880"/>
            <a:ext cx="3063240" cy="1097280"/>
          </a:xfrm>
          <a:prstGeom prst="rect">
            <a:avLst/>
          </a:prstGeom>
          <a:noFill/>
        </p:spPr>
        <p:txBody>
          <a:bodyPr wrap="square" anchor="t" lIns="0" rIns="0" tIns="0" bIns="0">
            <a:spAutoFit/>
          </a:bodyPr>
          <a:lstStyle/>
          <a:p>
            <a:pPr algn="ctr">
              <a:spcBef>
                <a:spcPts val="0"/>
              </a:spcBef>
              <a:spcAft>
                <a:spcPts val="400"/>
              </a:spcAft>
            </a:pPr>
            <a:r>
              <a:rPr sz="1300" b="0">
                <a:solidFill>
                  <a:srgbClr val="5B6372"/>
                </a:solidFill>
                <a:latin typeface="Arial"/>
              </a:rPr>
              <a:t>Principal Trainer
Tertiary Infotech Academy Pte. Ltd.</a:t>
            </a:r>
          </a:p>
        </p:txBody>
      </p:sp>
      <p:sp>
        <p:nvSpPr>
          <p:cNvPr id="12" name="Rectangle 11"/>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73168" y="1783080"/>
            <a:ext cx="6400800" cy="937260"/>
          </a:xfrm>
          <a:prstGeom prst="rect">
            <a:avLst/>
          </a:prstGeom>
          <a:noFill/>
        </p:spPr>
        <p:txBody>
          <a:bodyPr wrap="square" anchor="ctr" lIns="0" rIns="0" tIns="0" bIns="0">
            <a:spAutoFit/>
          </a:bodyPr>
          <a:lstStyle/>
          <a:p>
            <a:pPr algn="l">
              <a:spcBef>
                <a:spcPts val="0"/>
              </a:spcBef>
              <a:spcAft>
                <a:spcPts val="300"/>
              </a:spcAft>
            </a:pPr>
            <a:r>
              <a:rPr sz="1100" b="1">
                <a:solidFill>
                  <a:srgbClr val="1F6FEB"/>
                </a:solidFill>
                <a:latin typeface="Arial"/>
              </a:rPr>
              <a:t>ROLE</a:t>
            </a:r>
          </a:p>
          <a:p>
            <a:pPr algn="l">
              <a:spcBef>
                <a:spcPts val="0"/>
              </a:spcBef>
              <a:spcAft>
                <a:spcPts val="300"/>
              </a:spcAft>
            </a:pPr>
            <a:r>
              <a:rPr sz="1400" b="0">
                <a:solidFill>
                  <a:srgbClr val="161B26"/>
                </a:solidFill>
                <a:latin typeface="Arial"/>
              </a:rPr>
              <a:t>Principal Trainer, Tertiary Infotech Academy Pte. Ltd.</a:t>
            </a:r>
          </a:p>
        </p:txBody>
      </p:sp>
      <p:sp>
        <p:nvSpPr>
          <p:cNvPr id="15" name="Rectangle 14"/>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73168" y="2903220"/>
            <a:ext cx="6400800" cy="937260"/>
          </a:xfrm>
          <a:prstGeom prst="rect">
            <a:avLst/>
          </a:prstGeom>
          <a:noFill/>
        </p:spPr>
        <p:txBody>
          <a:bodyPr wrap="square" anchor="ctr" lIns="0" rIns="0" tIns="0" bIns="0">
            <a:spAutoFit/>
          </a:bodyPr>
          <a:lstStyle/>
          <a:p>
            <a:pPr algn="l">
              <a:spcBef>
                <a:spcPts val="0"/>
              </a:spcBef>
              <a:spcAft>
                <a:spcPts val="300"/>
              </a:spcAft>
            </a:pPr>
            <a:r>
              <a:rPr sz="1100" b="1">
                <a:solidFill>
                  <a:srgbClr val="10B981"/>
                </a:solidFill>
                <a:latin typeface="Arial"/>
              </a:rPr>
              <a:t>QUALIFICATIONS</a:t>
            </a:r>
          </a:p>
          <a:p>
            <a:pPr algn="l">
              <a:spcBef>
                <a:spcPts val="0"/>
              </a:spcBef>
              <a:spcAft>
                <a:spcPts val="300"/>
              </a:spcAft>
            </a:pPr>
            <a:r>
              <a:rPr sz="1400" b="0">
                <a:solidFill>
                  <a:srgbClr val="161B26"/>
                </a:solidFill>
                <a:latin typeface="Arial"/>
              </a:rPr>
              <a:t>PhD — specialises in AI, automation and software engineering.</a:t>
            </a:r>
          </a:p>
        </p:txBody>
      </p:sp>
      <p:sp>
        <p:nvSpPr>
          <p:cNvPr id="18" name="Rectangle 17"/>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73168" y="4023360"/>
            <a:ext cx="6400800" cy="937260"/>
          </a:xfrm>
          <a:prstGeom prst="rect">
            <a:avLst/>
          </a:prstGeom>
          <a:noFill/>
        </p:spPr>
        <p:txBody>
          <a:bodyPr wrap="square" anchor="ctr" lIns="0" rIns="0" tIns="0" bIns="0">
            <a:spAutoFit/>
          </a:bodyPr>
          <a:lstStyle/>
          <a:p>
            <a:pPr algn="l">
              <a:spcBef>
                <a:spcPts val="0"/>
              </a:spcBef>
              <a:spcAft>
                <a:spcPts val="300"/>
              </a:spcAft>
            </a:pPr>
            <a:r>
              <a:rPr sz="1100" b="1">
                <a:solidFill>
                  <a:srgbClr val="7C3AED"/>
                </a:solidFill>
                <a:latin typeface="Arial"/>
              </a:rPr>
              <a:t>DELIVERS</a:t>
            </a:r>
          </a:p>
          <a:p>
            <a:pPr algn="l">
              <a:spcBef>
                <a:spcPts val="0"/>
              </a:spcBef>
              <a:spcAft>
                <a:spcPts val="300"/>
              </a:spcAft>
            </a:pPr>
            <a:r>
              <a:rPr sz="1400" b="0">
                <a:solidFill>
                  <a:srgbClr val="161B26"/>
                </a:solidFill>
                <a:latin typeface="Arial"/>
              </a:rPr>
              <a:t>WSQ courses on AI agents, automation (n8n) and app development.</a:t>
            </a:r>
          </a:p>
        </p:txBody>
      </p:sp>
      <p:sp>
        <p:nvSpPr>
          <p:cNvPr id="21" name="Rectangle 20"/>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73168" y="5143500"/>
            <a:ext cx="6400800" cy="937260"/>
          </a:xfrm>
          <a:prstGeom prst="rect">
            <a:avLst/>
          </a:prstGeom>
          <a:noFill/>
        </p:spPr>
        <p:txBody>
          <a:bodyPr wrap="square" anchor="ctr" lIns="0" rIns="0" tIns="0" bIns="0">
            <a:spAutoFit/>
          </a:bodyPr>
          <a:lstStyle/>
          <a:p>
            <a:pPr algn="l">
              <a:spcBef>
                <a:spcPts val="0"/>
              </a:spcBef>
              <a:spcAft>
                <a:spcPts val="300"/>
              </a:spcAft>
            </a:pPr>
            <a:r>
              <a:rPr sz="1100" b="1">
                <a:solidFill>
                  <a:srgbClr val="F59E0B"/>
                </a:solidFill>
                <a:latin typeface="Arial"/>
              </a:rPr>
              <a:t>FOUNDER</a:t>
            </a:r>
          </a:p>
          <a:p>
            <a:pPr algn="l">
              <a:spcBef>
                <a:spcPts val="0"/>
              </a:spcBef>
              <a:spcAft>
                <a:spcPts val="300"/>
              </a:spcAft>
            </a:pPr>
            <a:r>
              <a:rPr sz="1400" b="0">
                <a:solidFill>
                  <a:srgbClr val="161B26"/>
                </a:solidFill>
                <a:latin typeface="Arial"/>
              </a:rPr>
              <a:t>Founder and lead instructor at Tertiary Infotech / Tertiary Courses.</a:t>
            </a:r>
          </a:p>
        </p:txBody>
      </p:sp>
      <p:sp>
        <p:nvSpPr>
          <p:cNvPr id="24" name="TextBox 2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ICE-BREAKER</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Let's Know Each Other</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Your name and organisation / role.</a:t>
            </a:r>
          </a:p>
          <a:p>
            <a:pPr>
              <a:spcBef>
                <a:spcPts val="0"/>
              </a:spcBef>
              <a:spcAft>
                <a:spcPts val="1000"/>
              </a:spcAft>
            </a:pPr>
            <a:r>
              <a:rPr sz="2000" b="1">
                <a:solidFill>
                  <a:srgbClr val="1F6FEB"/>
                </a:solidFill>
                <a:latin typeface="Arial"/>
              </a:rPr>
              <a:t>•  </a:t>
            </a:r>
            <a:r>
              <a:rPr sz="2000">
                <a:solidFill>
                  <a:srgbClr val="161B26"/>
                </a:solidFill>
                <a:latin typeface="Arial"/>
              </a:rPr>
              <a:t>Your experience with automation or AI tools (if any).</a:t>
            </a:r>
          </a:p>
          <a:p>
            <a:pPr>
              <a:spcBef>
                <a:spcPts val="0"/>
              </a:spcBef>
              <a:spcAft>
                <a:spcPts val="1000"/>
              </a:spcAft>
            </a:pPr>
            <a:r>
              <a:rPr sz="2000" b="1">
                <a:solidFill>
                  <a:srgbClr val="1F6FEB"/>
                </a:solidFill>
                <a:latin typeface="Arial"/>
              </a:rPr>
              <a:t>•  </a:t>
            </a:r>
            <a:r>
              <a:rPr sz="2000">
                <a:solidFill>
                  <a:srgbClr val="161B26"/>
                </a:solidFill>
                <a:latin typeface="Arial"/>
              </a:rPr>
              <a:t>What you want to automate after this course.</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HOUSEKEEPING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157984"/>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a:t>
            </a:r>
          </a:p>
        </p:txBody>
      </p:sp>
      <p:sp>
        <p:nvSpPr>
          <p:cNvPr id="10" name="TextBox 9"/>
          <p:cNvSpPr txBox="1"/>
          <p:nvPr/>
        </p:nvSpPr>
        <p:spPr>
          <a:xfrm>
            <a:off x="1764792" y="1874520"/>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2157984"/>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2</a:t>
            </a:r>
          </a:p>
        </p:txBody>
      </p:sp>
      <p:sp>
        <p:nvSpPr>
          <p:cNvPr id="15" name="TextBox 14"/>
          <p:cNvSpPr txBox="1"/>
          <p:nvPr/>
        </p:nvSpPr>
        <p:spPr>
          <a:xfrm>
            <a:off x="7219188" y="1874520"/>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6"/>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3</a:t>
            </a:r>
          </a:p>
        </p:txBody>
      </p:sp>
      <p:sp>
        <p:nvSpPr>
          <p:cNvPr id="20" name="TextBox 19"/>
          <p:cNvSpPr txBox="1"/>
          <p:nvPr/>
        </p:nvSpPr>
        <p:spPr>
          <a:xfrm>
            <a:off x="1764792" y="3410712"/>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3694176"/>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4</a:t>
            </a:r>
          </a:p>
        </p:txBody>
      </p:sp>
      <p:sp>
        <p:nvSpPr>
          <p:cNvPr id="25" name="TextBox 24"/>
          <p:cNvSpPr txBox="1"/>
          <p:nvPr/>
        </p:nvSpPr>
        <p:spPr>
          <a:xfrm>
            <a:off x="7219188" y="3410712"/>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230368"/>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5</a:t>
            </a:r>
          </a:p>
        </p:txBody>
      </p:sp>
      <p:sp>
        <p:nvSpPr>
          <p:cNvPr id="30" name="TextBox 29"/>
          <p:cNvSpPr txBox="1"/>
          <p:nvPr/>
        </p:nvSpPr>
        <p:spPr>
          <a:xfrm>
            <a:off x="1764792" y="4946904"/>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5230368"/>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6</a:t>
            </a:r>
          </a:p>
        </p:txBody>
      </p:sp>
      <p:sp>
        <p:nvSpPr>
          <p:cNvPr id="35" name="TextBox 34"/>
          <p:cNvSpPr txBox="1"/>
          <p:nvPr/>
        </p:nvSpPr>
        <p:spPr>
          <a:xfrm>
            <a:off x="7219188" y="4946904"/>
            <a:ext cx="3973068" cy="1152144"/>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75% attendance is required.</a:t>
            </a:r>
          </a:p>
        </p:txBody>
      </p:sp>
      <p:sp>
        <p:nvSpPr>
          <p:cNvPr id="36" name="TextBox 3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7" name="TextBox 3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8" name="TextBox 3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COURSE PORTAL</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Login to LMS and Download Course Material</a:t>
            </a:r>
          </a:p>
        </p:txBody>
      </p:sp>
      <p:pic>
        <p:nvPicPr>
          <p:cNvPr id="6" name="Picture 5" descr="lms-login.png"/>
          <p:cNvPicPr>
            <a:picLocks noChangeAspect="1"/>
          </p:cNvPicPr>
          <p:nvPr/>
        </p:nvPicPr>
        <p:blipFill>
          <a:blip r:embed="rId2"/>
          <a:stretch>
            <a:fillRect/>
          </a:stretch>
        </p:blipFill>
        <p:spPr>
          <a:xfrm>
            <a:off x="1899333" y="1737360"/>
            <a:ext cx="8362854" cy="4160520"/>
          </a:xfrm>
          <a:prstGeom prst="rect">
            <a:avLst/>
          </a:prstGeom>
        </p:spPr>
      </p:pic>
      <p:sp>
        <p:nvSpPr>
          <p:cNvPr id="7" name="Rectangle 6"/>
          <p:cNvSpPr/>
          <p:nvPr/>
        </p:nvSpPr>
        <p:spPr>
          <a:xfrm>
            <a:off x="1886633" y="1724660"/>
            <a:ext cx="8388254" cy="418592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Log in at lms-tms.tertiaryinfotech.com with your registered email + the OTP from your inbox, then download the slides and Learner Guide.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COURSE PORTAL · STEPS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Download Course Material</a:t>
            </a:r>
          </a:p>
        </p:txBody>
      </p:sp>
      <p:sp>
        <p:nvSpPr>
          <p:cNvPr id="6" name="Rectangle 5"/>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1424"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1</a:t>
            </a:r>
          </a:p>
        </p:txBody>
      </p:sp>
      <p:sp>
        <p:nvSpPr>
          <p:cNvPr id="10" name="TextBox 9"/>
          <p:cNvSpPr txBox="1"/>
          <p:nvPr/>
        </p:nvSpPr>
        <p:spPr>
          <a:xfrm>
            <a:off x="923544"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Go to lms-tms.</a:t>
            </a:r>
          </a:p>
          <a:p>
            <a:pPr algn="ctr">
              <a:spcBef>
                <a:spcPts val="0"/>
              </a:spcBef>
              <a:spcAft>
                <a:spcPts val="0"/>
              </a:spcAft>
            </a:pPr>
            <a:r>
              <a:rPr sz="1400" b="0">
                <a:solidFill>
                  <a:srgbClr val="161B26"/>
                </a:solidFill>
                <a:latin typeface="Arial"/>
              </a:rPr>
              <a:t>tertiaryinfotech.com</a:t>
            </a:r>
          </a:p>
        </p:txBody>
      </p:sp>
      <p:sp>
        <p:nvSpPr>
          <p:cNvPr id="11" name="TextBox 10"/>
          <p:cNvSpPr txBox="1"/>
          <p:nvPr/>
        </p:nvSpPr>
        <p:spPr>
          <a:xfrm>
            <a:off x="2618841"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12" name="Rectangle 11"/>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0497"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2</a:t>
            </a:r>
          </a:p>
        </p:txBody>
      </p:sp>
      <p:sp>
        <p:nvSpPr>
          <p:cNvPr id="16" name="TextBox 15"/>
          <p:cNvSpPr txBox="1"/>
          <p:nvPr/>
        </p:nvSpPr>
        <p:spPr>
          <a:xfrm>
            <a:off x="3112617"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Enter your registered email and click Send OTP</a:t>
            </a:r>
          </a:p>
        </p:txBody>
      </p:sp>
      <p:sp>
        <p:nvSpPr>
          <p:cNvPr id="17" name="TextBox 16"/>
          <p:cNvSpPr txBox="1"/>
          <p:nvPr/>
        </p:nvSpPr>
        <p:spPr>
          <a:xfrm>
            <a:off x="4807914"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18" name="Rectangle 17"/>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19570"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3</a:t>
            </a:r>
          </a:p>
        </p:txBody>
      </p:sp>
      <p:sp>
        <p:nvSpPr>
          <p:cNvPr id="22" name="TextBox 21"/>
          <p:cNvSpPr txBox="1"/>
          <p:nvPr/>
        </p:nvSpPr>
        <p:spPr>
          <a:xfrm>
            <a:off x="5301690"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Key in the one-time password from your inbox</a:t>
            </a:r>
          </a:p>
        </p:txBody>
      </p:sp>
      <p:sp>
        <p:nvSpPr>
          <p:cNvPr id="23" name="TextBox 22"/>
          <p:cNvSpPr txBox="1"/>
          <p:nvPr/>
        </p:nvSpPr>
        <p:spPr>
          <a:xfrm>
            <a:off x="6996987"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24" name="Rectangle 23"/>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8643"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4</a:t>
            </a:r>
          </a:p>
        </p:txBody>
      </p:sp>
      <p:sp>
        <p:nvSpPr>
          <p:cNvPr id="28" name="TextBox 27"/>
          <p:cNvSpPr txBox="1"/>
          <p:nvPr/>
        </p:nvSpPr>
        <p:spPr>
          <a:xfrm>
            <a:off x="7490763"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Open this course and download the slides + Learner Guide</a:t>
            </a:r>
          </a:p>
        </p:txBody>
      </p:sp>
      <p:sp>
        <p:nvSpPr>
          <p:cNvPr id="29" name="TextBox 28"/>
          <p:cNvSpPr txBox="1"/>
          <p:nvPr/>
        </p:nvSpPr>
        <p:spPr>
          <a:xfrm>
            <a:off x="9186060"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30" name="Rectangle 29"/>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97716"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5</a:t>
            </a:r>
          </a:p>
        </p:txBody>
      </p:sp>
      <p:sp>
        <p:nvSpPr>
          <p:cNvPr id="34" name="TextBox 33"/>
          <p:cNvSpPr txBox="1"/>
          <p:nvPr/>
        </p:nvSpPr>
        <p:spPr>
          <a:xfrm>
            <a:off x="9679836"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Keep them open — the assessment is open book</a:t>
            </a:r>
          </a:p>
        </p:txBody>
      </p:sp>
      <p:sp>
        <p:nvSpPr>
          <p:cNvPr id="35" name="TextBox 3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GET THE WORKFLOWS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Download the Course Flows (GitHub)</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965960"/>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a:t>
            </a:r>
          </a:p>
        </p:txBody>
      </p:sp>
      <p:sp>
        <p:nvSpPr>
          <p:cNvPr id="10" name="TextBox 9"/>
          <p:cNvSpPr txBox="1"/>
          <p:nvPr/>
        </p:nvSpPr>
        <p:spPr>
          <a:xfrm>
            <a:off x="1764792" y="1874520"/>
            <a:ext cx="9427464" cy="768096"/>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Open the course repo: github.com/tertiarycourses/TGS-2023035977-Agentic-AI-Automation-with-n8n</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118104"/>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2</a:t>
            </a:r>
          </a:p>
        </p:txBody>
      </p:sp>
      <p:sp>
        <p:nvSpPr>
          <p:cNvPr id="15" name="TextBox 14"/>
          <p:cNvSpPr txBox="1"/>
          <p:nvPr/>
        </p:nvSpPr>
        <p:spPr>
          <a:xfrm>
            <a:off x="1764792" y="3026664"/>
            <a:ext cx="9427464" cy="768096"/>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Code ▾ → Download ZIP (or git clone) — all workflows are in the labs/ folder.</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270248"/>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3</a:t>
            </a:r>
          </a:p>
        </p:txBody>
      </p:sp>
      <p:sp>
        <p:nvSpPr>
          <p:cNvPr id="20" name="TextBox 19"/>
          <p:cNvSpPr txBox="1"/>
          <p:nvPr/>
        </p:nvSpPr>
        <p:spPr>
          <a:xfrm>
            <a:off x="1764792" y="4178808"/>
            <a:ext cx="9427464" cy="768096"/>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In n8n: Workflows → Add workflow → ... → Import from File → pick the activity .json.</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5422392"/>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4</a:t>
            </a:r>
          </a:p>
        </p:txBody>
      </p:sp>
      <p:sp>
        <p:nvSpPr>
          <p:cNvPr id="25" name="TextBox 24"/>
          <p:cNvSpPr txBox="1"/>
          <p:nvPr/>
        </p:nvSpPr>
        <p:spPr>
          <a:xfrm>
            <a:off x="1764792" y="5330952"/>
            <a:ext cx="9427464" cy="768096"/>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After importing, re-select YOUR OWN credentials on each node, then Save &amp; Publish.</a:t>
            </a:r>
          </a:p>
        </p:txBody>
      </p:sp>
      <p:sp>
        <p:nvSpPr>
          <p:cNvPr id="26" name="TextBox 2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GET THE WORKFLOWS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Import a Workflow from File</a:t>
            </a:r>
          </a:p>
        </p:txBody>
      </p:sp>
      <p:pic>
        <p:nvPicPr>
          <p:cNvPr id="6" name="Picture 5" descr="n8n-import-from-file.png"/>
          <p:cNvPicPr>
            <a:picLocks noChangeAspect="1"/>
          </p:cNvPicPr>
          <p:nvPr/>
        </p:nvPicPr>
        <p:blipFill>
          <a:blip r:embed="rId2"/>
          <a:stretch>
            <a:fillRect/>
          </a:stretch>
        </p:blipFill>
        <p:spPr>
          <a:xfrm>
            <a:off x="2353530" y="1737360"/>
            <a:ext cx="7454459" cy="4160520"/>
          </a:xfrm>
          <a:prstGeom prst="rect">
            <a:avLst/>
          </a:prstGeom>
        </p:spPr>
      </p:pic>
      <p:sp>
        <p:nvSpPr>
          <p:cNvPr id="7" name="Rectangle 6"/>
          <p:cNvSpPr/>
          <p:nvPr/>
        </p:nvSpPr>
        <p:spPr>
          <a:xfrm>
            <a:off x="2340830" y="1724660"/>
            <a:ext cx="7479859" cy="418592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Create a NEW workflow, open the '...' menu → Import → From File and pick the activity .json, so your own build is not overwritten.</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SCHEDULE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Lesson Plan — 3 Days, 9:30am–6:30pm</a:t>
            </a:r>
          </a:p>
        </p:txBody>
      </p:sp>
      <p:sp>
        <p:nvSpPr>
          <p:cNvPr id="6" name="Rectangle 5"/>
          <p:cNvSpPr/>
          <p:nvPr/>
        </p:nvSpPr>
        <p:spPr>
          <a:xfrm>
            <a:off x="777240" y="1783080"/>
            <a:ext cx="342900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3429000" cy="457200"/>
          </a:xfrm>
          <a:prstGeom prst="rect">
            <a:avLst/>
          </a:prstGeom>
          <a:noFill/>
        </p:spPr>
        <p:txBody>
          <a:bodyPr wrap="square" anchor="ctr" lIns="0" rIns="0" tIns="0" bIns="0">
            <a:spAutoFit/>
          </a:bodyPr>
          <a:lstStyle/>
          <a:p>
            <a:pPr algn="ctr">
              <a:spcBef>
                <a:spcPts val="0"/>
              </a:spcBef>
              <a:spcAft>
                <a:spcPts val="400"/>
              </a:spcAft>
            </a:pPr>
            <a:r>
              <a:rPr sz="1250" b="1">
                <a:solidFill>
                  <a:srgbClr val="FFFFFF"/>
                </a:solidFill>
                <a:latin typeface="Arial"/>
              </a:rPr>
              <a:t>Day 1 — Automate, then add AI</a:t>
            </a:r>
          </a:p>
        </p:txBody>
      </p:sp>
      <p:sp>
        <p:nvSpPr>
          <p:cNvPr id="8" name="Rectangle 7"/>
          <p:cNvSpPr/>
          <p:nvPr/>
        </p:nvSpPr>
        <p:spPr>
          <a:xfrm>
            <a:off x="777240" y="2240280"/>
            <a:ext cx="3429000" cy="3200400"/>
          </a:xfrm>
          <a:prstGeom prst="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450592"/>
            <a:ext cx="3044952" cy="2926080"/>
          </a:xfrm>
          <a:prstGeom prst="rect">
            <a:avLst/>
          </a:prstGeom>
          <a:noFill/>
        </p:spPr>
        <p:txBody>
          <a:bodyPr wrap="square" lIns="0" rIns="0">
            <a:spAutoFit/>
          </a:bodyPr>
          <a:lstStyle/>
          <a:p>
            <a:pPr>
              <a:spcBef>
                <a:spcPts val="0"/>
              </a:spcBef>
              <a:spcAft>
                <a:spcPts val="800"/>
              </a:spcAft>
            </a:pPr>
            <a:r>
              <a:rPr sz="1150" b="1">
                <a:solidFill>
                  <a:srgbClr val="1F6FEB"/>
                </a:solidFill>
                <a:latin typeface="Arial"/>
              </a:rPr>
              <a:t>•  </a:t>
            </a:r>
            <a:r>
              <a:rPr sz="1150">
                <a:solidFill>
                  <a:srgbClr val="161B26"/>
                </a:solidFill>
                <a:latin typeface="Arial"/>
              </a:rPr>
              <a:t>Topic 1: n8n basics — triggers, actions, data</a:t>
            </a:r>
          </a:p>
          <a:p>
            <a:pPr>
              <a:spcBef>
                <a:spcPts val="0"/>
              </a:spcBef>
              <a:spcAft>
                <a:spcPts val="800"/>
              </a:spcAft>
            </a:pPr>
            <a:r>
              <a:rPr sz="1150" b="1">
                <a:solidFill>
                  <a:srgbClr val="1F6FEB"/>
                </a:solidFill>
                <a:latin typeface="Arial"/>
              </a:rPr>
              <a:t>•  </a:t>
            </a:r>
            <a:r>
              <a:rPr sz="1150">
                <a:solidFill>
                  <a:srgbClr val="161B26"/>
                </a:solidFill>
                <a:latin typeface="Arial"/>
              </a:rPr>
              <a:t>Activities 1, 2, 3a, 3b — forms, storage, logic</a:t>
            </a:r>
          </a:p>
          <a:p>
            <a:pPr>
              <a:spcBef>
                <a:spcPts val="0"/>
              </a:spcBef>
              <a:spcAft>
                <a:spcPts val="800"/>
              </a:spcAft>
            </a:pPr>
            <a:r>
              <a:rPr sz="1150" b="1">
                <a:solidFill>
                  <a:srgbClr val="1F6FEB"/>
                </a:solidFill>
                <a:latin typeface="Arial"/>
              </a:rPr>
              <a:t>•  </a:t>
            </a:r>
            <a:r>
              <a:rPr sz="1150">
                <a:solidFill>
                  <a:srgbClr val="161B26"/>
                </a:solidFill>
                <a:latin typeface="Arial"/>
              </a:rPr>
              <a:t>Topic 2: AI Agents — model · memory · tools · instructions</a:t>
            </a:r>
          </a:p>
          <a:p>
            <a:pPr>
              <a:spcBef>
                <a:spcPts val="0"/>
              </a:spcBef>
              <a:spcAft>
                <a:spcPts val="800"/>
              </a:spcAft>
            </a:pPr>
            <a:r>
              <a:rPr sz="1150" b="1">
                <a:solidFill>
                  <a:srgbClr val="1F6FEB"/>
                </a:solidFill>
                <a:latin typeface="Arial"/>
              </a:rPr>
              <a:t>•  </a:t>
            </a:r>
            <a:r>
              <a:rPr sz="1150">
                <a:solidFill>
                  <a:srgbClr val="161B26"/>
                </a:solidFill>
                <a:latin typeface="Arial"/>
              </a:rPr>
              <a:t>Activities 4a, 4b — Telegram agent + Data Table tool</a:t>
            </a:r>
          </a:p>
        </p:txBody>
      </p:sp>
      <p:sp>
        <p:nvSpPr>
          <p:cNvPr id="10" name="Rectangle 9"/>
          <p:cNvSpPr/>
          <p:nvPr/>
        </p:nvSpPr>
        <p:spPr>
          <a:xfrm>
            <a:off x="4425696" y="1783080"/>
            <a:ext cx="34290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5696" y="1783080"/>
            <a:ext cx="3429000" cy="457200"/>
          </a:xfrm>
          <a:prstGeom prst="rect">
            <a:avLst/>
          </a:prstGeom>
          <a:noFill/>
        </p:spPr>
        <p:txBody>
          <a:bodyPr wrap="square" anchor="ctr" lIns="0" rIns="0" tIns="0" bIns="0">
            <a:spAutoFit/>
          </a:bodyPr>
          <a:lstStyle/>
          <a:p>
            <a:pPr algn="ctr">
              <a:spcBef>
                <a:spcPts val="0"/>
              </a:spcBef>
              <a:spcAft>
                <a:spcPts val="400"/>
              </a:spcAft>
            </a:pPr>
            <a:r>
              <a:rPr sz="1250" b="1">
                <a:solidFill>
                  <a:srgbClr val="FFFFFF"/>
                </a:solidFill>
                <a:latin typeface="Arial"/>
              </a:rPr>
              <a:t>Day 2 — Connect it to the world</a:t>
            </a:r>
          </a:p>
        </p:txBody>
      </p:sp>
      <p:sp>
        <p:nvSpPr>
          <p:cNvPr id="12" name="Rectangle 11"/>
          <p:cNvSpPr/>
          <p:nvPr/>
        </p:nvSpPr>
        <p:spPr>
          <a:xfrm>
            <a:off x="4425696" y="2240280"/>
            <a:ext cx="3429000" cy="3200400"/>
          </a:xfrm>
          <a:prstGeom prst="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26864" y="2450592"/>
            <a:ext cx="3044952" cy="2926080"/>
          </a:xfrm>
          <a:prstGeom prst="rect">
            <a:avLst/>
          </a:prstGeom>
          <a:noFill/>
        </p:spPr>
        <p:txBody>
          <a:bodyPr wrap="square" lIns="0" rIns="0">
            <a:spAutoFit/>
          </a:bodyPr>
          <a:lstStyle/>
          <a:p>
            <a:pPr>
              <a:spcBef>
                <a:spcPts val="0"/>
              </a:spcBef>
              <a:spcAft>
                <a:spcPts val="800"/>
              </a:spcAft>
            </a:pPr>
            <a:r>
              <a:rPr sz="1150" b="1">
                <a:solidFill>
                  <a:srgbClr val="10B981"/>
                </a:solidFill>
                <a:latin typeface="Arial"/>
              </a:rPr>
              <a:t>•  </a:t>
            </a:r>
            <a:r>
              <a:rPr sz="1150">
                <a:solidFill>
                  <a:srgbClr val="161B26"/>
                </a:solidFill>
                <a:latin typeface="Arial"/>
              </a:rPr>
              <a:t>Topic 3: Webhooks — Activity 5 (website chatbot)</a:t>
            </a:r>
          </a:p>
          <a:p>
            <a:pPr>
              <a:spcBef>
                <a:spcPts val="0"/>
              </a:spcBef>
              <a:spcAft>
                <a:spcPts val="800"/>
              </a:spcAft>
            </a:pPr>
            <a:r>
              <a:rPr sz="1150" b="1">
                <a:solidFill>
                  <a:srgbClr val="10B981"/>
                </a:solidFill>
                <a:latin typeface="Arial"/>
              </a:rPr>
              <a:t>•  </a:t>
            </a:r>
            <a:r>
              <a:rPr sz="1150">
                <a:solidFill>
                  <a:srgbClr val="161B26"/>
                </a:solidFill>
                <a:latin typeface="Arial"/>
              </a:rPr>
              <a:t>Topic 4: APIs &amp; HTTP — Activity 6 (day-trading agent)</a:t>
            </a:r>
          </a:p>
          <a:p>
            <a:pPr>
              <a:spcBef>
                <a:spcPts val="0"/>
              </a:spcBef>
              <a:spcAft>
                <a:spcPts val="800"/>
              </a:spcAft>
            </a:pPr>
            <a:r>
              <a:rPr sz="1150" b="1">
                <a:solidFill>
                  <a:srgbClr val="10B981"/>
                </a:solidFill>
                <a:latin typeface="Arial"/>
              </a:rPr>
              <a:t>•  </a:t>
            </a:r>
            <a:r>
              <a:rPr sz="1150">
                <a:solidFill>
                  <a:srgbClr val="161B26"/>
                </a:solidFill>
                <a:latin typeface="Arial"/>
              </a:rPr>
              <a:t>Topic 5: RAG — Activities 7a, 7b (grounded agents)</a:t>
            </a:r>
          </a:p>
        </p:txBody>
      </p:sp>
      <p:sp>
        <p:nvSpPr>
          <p:cNvPr id="14" name="Rectangle 13"/>
          <p:cNvSpPr/>
          <p:nvPr/>
        </p:nvSpPr>
        <p:spPr>
          <a:xfrm>
            <a:off x="8074152" y="1783080"/>
            <a:ext cx="342900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74152" y="1783080"/>
            <a:ext cx="3429000" cy="457200"/>
          </a:xfrm>
          <a:prstGeom prst="rect">
            <a:avLst/>
          </a:prstGeom>
          <a:noFill/>
        </p:spPr>
        <p:txBody>
          <a:bodyPr wrap="square" anchor="ctr" lIns="0" rIns="0" tIns="0" bIns="0">
            <a:spAutoFit/>
          </a:bodyPr>
          <a:lstStyle/>
          <a:p>
            <a:pPr algn="ctr">
              <a:spcBef>
                <a:spcPts val="0"/>
              </a:spcBef>
              <a:spcAft>
                <a:spcPts val="400"/>
              </a:spcAft>
            </a:pPr>
            <a:r>
              <a:rPr sz="1250" b="1">
                <a:solidFill>
                  <a:srgbClr val="FFFFFF"/>
                </a:solidFill>
                <a:latin typeface="Arial"/>
              </a:rPr>
              <a:t>Day 3 — Govern, then prove it</a:t>
            </a:r>
          </a:p>
        </p:txBody>
      </p:sp>
      <p:sp>
        <p:nvSpPr>
          <p:cNvPr id="16" name="Rectangle 15"/>
          <p:cNvSpPr/>
          <p:nvPr/>
        </p:nvSpPr>
        <p:spPr>
          <a:xfrm>
            <a:off x="8074152" y="2240280"/>
            <a:ext cx="3429000" cy="3200400"/>
          </a:xfrm>
          <a:prstGeom prst="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2450592"/>
            <a:ext cx="3044952" cy="2926080"/>
          </a:xfrm>
          <a:prstGeom prst="rect">
            <a:avLst/>
          </a:prstGeom>
          <a:noFill/>
        </p:spPr>
        <p:txBody>
          <a:bodyPr wrap="square" lIns="0" rIns="0">
            <a:spAutoFit/>
          </a:bodyPr>
          <a:lstStyle/>
          <a:p>
            <a:pPr>
              <a:spcBef>
                <a:spcPts val="0"/>
              </a:spcBef>
              <a:spcAft>
                <a:spcPts val="800"/>
              </a:spcAft>
            </a:pPr>
            <a:r>
              <a:rPr sz="1150" b="1">
                <a:solidFill>
                  <a:srgbClr val="7C3AED"/>
                </a:solidFill>
                <a:latin typeface="Arial"/>
              </a:rPr>
              <a:t>•  </a:t>
            </a:r>
            <a:r>
              <a:rPr sz="1150">
                <a:solidFill>
                  <a:srgbClr val="161B26"/>
                </a:solidFill>
                <a:latin typeface="Arial"/>
              </a:rPr>
              <a:t>Topic 6: Security — human-in-the-loop + guardrails</a:t>
            </a:r>
          </a:p>
          <a:p>
            <a:pPr>
              <a:spcBef>
                <a:spcPts val="0"/>
              </a:spcBef>
              <a:spcAft>
                <a:spcPts val="800"/>
              </a:spcAft>
            </a:pPr>
            <a:r>
              <a:rPr sz="1150" b="1">
                <a:solidFill>
                  <a:srgbClr val="7C3AED"/>
                </a:solidFill>
                <a:latin typeface="Arial"/>
              </a:rPr>
              <a:t>•  </a:t>
            </a:r>
            <a:r>
              <a:rPr sz="1150">
                <a:solidFill>
                  <a:srgbClr val="161B26"/>
                </a:solidFill>
                <a:latin typeface="Arial"/>
              </a:rPr>
              <a:t>Activities 8a, 8b, 8c — the HR Service Portal</a:t>
            </a:r>
          </a:p>
          <a:p>
            <a:pPr>
              <a:spcBef>
                <a:spcPts val="0"/>
              </a:spcBef>
              <a:spcAft>
                <a:spcPts val="800"/>
              </a:spcAft>
            </a:pPr>
            <a:r>
              <a:rPr sz="1150" b="1">
                <a:solidFill>
                  <a:srgbClr val="7C3AED"/>
                </a:solidFill>
                <a:latin typeface="Arial"/>
              </a:rPr>
              <a:t>•  </a:t>
            </a:r>
            <a:r>
              <a:rPr sz="1150">
                <a:solidFill>
                  <a:srgbClr val="161B26"/>
                </a:solidFill>
                <a:latin typeface="Arial"/>
              </a:rPr>
              <a:t>Topic 7: Mini capstone + presentations</a:t>
            </a:r>
          </a:p>
          <a:p>
            <a:pPr>
              <a:spcBef>
                <a:spcPts val="0"/>
              </a:spcBef>
              <a:spcAft>
                <a:spcPts val="800"/>
              </a:spcAft>
            </a:pPr>
            <a:r>
              <a:rPr sz="1150" b="1">
                <a:solidFill>
                  <a:srgbClr val="7C3AED"/>
                </a:solidFill>
                <a:latin typeface="Arial"/>
              </a:rPr>
              <a:t>•  </a:t>
            </a:r>
            <a:r>
              <a:rPr sz="1150">
                <a:solidFill>
                  <a:srgbClr val="161B26"/>
                </a:solidFill>
                <a:latin typeface="Arial"/>
              </a:rPr>
              <a:t>Written Assessment (SAQ) 1 hr · Practical (PP) 1 hr</a:t>
            </a:r>
          </a:p>
        </p:txBody>
      </p:sp>
      <p:sp>
        <p:nvSpPr>
          <p:cNvPr id="18" name="Rounded Rectangle 17"/>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Each day runs 9:30am–6:30pm — 8 instructional hours with a 1-hour lunch; tea breaks counted within.</a:t>
            </a:r>
          </a:p>
        </p:txBody>
      </p:sp>
      <p:sp>
        <p:nvSpPr>
          <p:cNvPr id="20" name="TextBox 1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1" name="TextBox 2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2" name="TextBox 2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WHAT YOU'LL ACHIEVE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Learning Outcomes</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850745"/>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a:t>
            </a:r>
          </a:p>
        </p:txBody>
      </p:sp>
      <p:sp>
        <p:nvSpPr>
          <p:cNvPr id="10" name="TextBox 9"/>
          <p:cNvSpPr txBox="1"/>
          <p:nvPr/>
        </p:nvSpPr>
        <p:spPr>
          <a:xfrm>
            <a:off x="1764792" y="1874520"/>
            <a:ext cx="9427464" cy="537667"/>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LO1: Build automated workflows in n8n using triggers, actions, nodes and flows.</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2772460"/>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2</a:t>
            </a:r>
          </a:p>
        </p:txBody>
      </p:sp>
      <p:sp>
        <p:nvSpPr>
          <p:cNvPr id="15" name="TextBox 14"/>
          <p:cNvSpPr txBox="1"/>
          <p:nvPr/>
        </p:nvSpPr>
        <p:spPr>
          <a:xfrm>
            <a:off x="1764792" y="2796235"/>
            <a:ext cx="9427464" cy="537667"/>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LO2: Design AI agents with LLMs, memory and tools, triggered from chat / Telegram.</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3694175"/>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3</a:t>
            </a:r>
          </a:p>
        </p:txBody>
      </p:sp>
      <p:sp>
        <p:nvSpPr>
          <p:cNvPr id="20" name="TextBox 19"/>
          <p:cNvSpPr txBox="1"/>
          <p:nvPr/>
        </p:nvSpPr>
        <p:spPr>
          <a:xfrm>
            <a:off x="1764792" y="3717950"/>
            <a:ext cx="9427464" cy="537667"/>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LO3: Apply Retrieval-Augmented Generation (RAG) to ground agents in your documents.</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4615890"/>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4</a:t>
            </a:r>
          </a:p>
        </p:txBody>
      </p:sp>
      <p:sp>
        <p:nvSpPr>
          <p:cNvPr id="25" name="TextBox 24"/>
          <p:cNvSpPr txBox="1"/>
          <p:nvPr/>
        </p:nvSpPr>
        <p:spPr>
          <a:xfrm>
            <a:off x="1764792" y="4639665"/>
            <a:ext cx="9427464" cy="537667"/>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LO4: Integrate external systems via webhooks, APIs and HTTP requests.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537605"/>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5</a:t>
            </a:r>
          </a:p>
        </p:txBody>
      </p:sp>
      <p:sp>
        <p:nvSpPr>
          <p:cNvPr id="30" name="TextBox 29"/>
          <p:cNvSpPr txBox="1"/>
          <p:nvPr/>
        </p:nvSpPr>
        <p:spPr>
          <a:xfrm>
            <a:off x="1764792" y="5561380"/>
            <a:ext cx="9427464" cy="537667"/>
          </a:xfrm>
          <a:prstGeom prst="rect">
            <a:avLst/>
          </a:prstGeom>
          <a:noFill/>
        </p:spPr>
        <p:txBody>
          <a:bodyPr wrap="square" anchor="ctr" lIns="0" rIns="0" tIns="0" bIns="0">
            <a:spAutoFit/>
          </a:bodyPr>
          <a:lstStyle/>
          <a:p>
            <a:pPr algn="l">
              <a:spcBef>
                <a:spcPts val="0"/>
              </a:spcBef>
              <a:spcAft>
                <a:spcPts val="400"/>
              </a:spcAft>
            </a:pPr>
            <a:r>
              <a:rPr sz="1500" b="0">
                <a:solidFill>
                  <a:srgbClr val="161B26"/>
                </a:solidFill>
                <a:latin typeface="Arial"/>
              </a:rPr>
              <a:t>LO5: Apply human-in-the-loop and guardrails to secure agentic automations.</a:t>
            </a:r>
          </a:p>
        </p:txBody>
      </p:sp>
      <p:sp>
        <p:nvSpPr>
          <p:cNvPr id="31" name="TextBox 3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2" name="TextBox 3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3" name="TextBox 3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COURSE JOURNEY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Twelve Connected Labs</a:t>
            </a:r>
          </a:p>
        </p:txBody>
      </p:sp>
      <p:sp>
        <p:nvSpPr>
          <p:cNvPr id="6" name="Rectangle 5"/>
          <p:cNvSpPr/>
          <p:nvPr/>
        </p:nvSpPr>
        <p:spPr>
          <a:xfrm>
            <a:off x="777240" y="1783080"/>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33272" y="1773936"/>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1773936"/>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a:t>
            </a:r>
          </a:p>
        </p:txBody>
      </p:sp>
      <p:sp>
        <p:nvSpPr>
          <p:cNvPr id="10" name="TextBox 9"/>
          <p:cNvSpPr txBox="1"/>
          <p:nvPr/>
        </p:nvSpPr>
        <p:spPr>
          <a:xfrm>
            <a:off x="1764792" y="1874520"/>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1 — Form → Email: your first automation, on a real flyer.</a:t>
            </a:r>
          </a:p>
        </p:txBody>
      </p:sp>
      <p:sp>
        <p:nvSpPr>
          <p:cNvPr id="11" name="Rectangle 10"/>
          <p:cNvSpPr/>
          <p:nvPr/>
        </p:nvSpPr>
        <p:spPr>
          <a:xfrm>
            <a:off x="6231636" y="1783080"/>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31636" y="178308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87668" y="177393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7668" y="1773936"/>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2</a:t>
            </a:r>
          </a:p>
        </p:txBody>
      </p:sp>
      <p:sp>
        <p:nvSpPr>
          <p:cNvPr id="15" name="TextBox 14"/>
          <p:cNvSpPr txBox="1"/>
          <p:nvPr/>
        </p:nvSpPr>
        <p:spPr>
          <a:xfrm>
            <a:off x="7219188" y="1874520"/>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2 — Data Table: store every submission, not just forward it.</a:t>
            </a:r>
          </a:p>
        </p:txBody>
      </p:sp>
      <p:sp>
        <p:nvSpPr>
          <p:cNvPr id="16" name="Rectangle 15"/>
          <p:cNvSpPr/>
          <p:nvPr/>
        </p:nvSpPr>
        <p:spPr>
          <a:xfrm>
            <a:off x="777240" y="2551176"/>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7240" y="2551176"/>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33272"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2542032"/>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3</a:t>
            </a:r>
          </a:p>
        </p:txBody>
      </p:sp>
      <p:sp>
        <p:nvSpPr>
          <p:cNvPr id="20" name="TextBox 19"/>
          <p:cNvSpPr txBox="1"/>
          <p:nvPr/>
        </p:nvSpPr>
        <p:spPr>
          <a:xfrm>
            <a:off x="1764792" y="2642616"/>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3a/3b — IF logic: route Yes/No to storage or a thank-you.</a:t>
            </a:r>
          </a:p>
        </p:txBody>
      </p:sp>
      <p:sp>
        <p:nvSpPr>
          <p:cNvPr id="21" name="Rectangle 20"/>
          <p:cNvSpPr/>
          <p:nvPr/>
        </p:nvSpPr>
        <p:spPr>
          <a:xfrm>
            <a:off x="6231636" y="2551176"/>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31636" y="2551176"/>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87668" y="254203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87668" y="2542032"/>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4</a:t>
            </a:r>
          </a:p>
        </p:txBody>
      </p:sp>
      <p:sp>
        <p:nvSpPr>
          <p:cNvPr id="25" name="TextBox 24"/>
          <p:cNvSpPr txBox="1"/>
          <p:nvPr/>
        </p:nvSpPr>
        <p:spPr>
          <a:xfrm>
            <a:off x="7219188" y="2642616"/>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4a — Telegram HR policy agent, built with n8n Assistant.</a:t>
            </a:r>
          </a:p>
        </p:txBody>
      </p:sp>
      <p:sp>
        <p:nvSpPr>
          <p:cNvPr id="26" name="Rectangle 25"/>
          <p:cNvSpPr/>
          <p:nvPr/>
        </p:nvSpPr>
        <p:spPr>
          <a:xfrm>
            <a:off x="777240" y="3319272"/>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3319272"/>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33272" y="331012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3310128"/>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5</a:t>
            </a:r>
          </a:p>
        </p:txBody>
      </p:sp>
      <p:sp>
        <p:nvSpPr>
          <p:cNvPr id="30" name="TextBox 29"/>
          <p:cNvSpPr txBox="1"/>
          <p:nvPr/>
        </p:nvSpPr>
        <p:spPr>
          <a:xfrm>
            <a:off x="1764792" y="3410712"/>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4b — Agent + tool: answers HR questions from a Data Table.</a:t>
            </a:r>
          </a:p>
        </p:txBody>
      </p:sp>
      <p:sp>
        <p:nvSpPr>
          <p:cNvPr id="31" name="Rectangle 30"/>
          <p:cNvSpPr/>
          <p:nvPr/>
        </p:nvSpPr>
        <p:spPr>
          <a:xfrm>
            <a:off x="6231636" y="3319272"/>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31636" y="3319272"/>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87668" y="331012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87668" y="3310128"/>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6</a:t>
            </a:r>
          </a:p>
        </p:txBody>
      </p:sp>
      <p:sp>
        <p:nvSpPr>
          <p:cNvPr id="35" name="TextBox 34"/>
          <p:cNvSpPr txBox="1"/>
          <p:nvPr/>
        </p:nvSpPr>
        <p:spPr>
          <a:xfrm>
            <a:off x="7219188" y="3410712"/>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5 — Webhook: your agent behind a public website chatbot.</a:t>
            </a:r>
          </a:p>
        </p:txBody>
      </p:sp>
      <p:sp>
        <p:nvSpPr>
          <p:cNvPr id="36" name="Rectangle 35"/>
          <p:cNvSpPr/>
          <p:nvPr/>
        </p:nvSpPr>
        <p:spPr>
          <a:xfrm>
            <a:off x="777240" y="4087368"/>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4087368"/>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33272" y="407822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3272" y="4078224"/>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7</a:t>
            </a:r>
          </a:p>
        </p:txBody>
      </p:sp>
      <p:sp>
        <p:nvSpPr>
          <p:cNvPr id="40" name="TextBox 39"/>
          <p:cNvSpPr txBox="1"/>
          <p:nvPr/>
        </p:nvSpPr>
        <p:spPr>
          <a:xfrm>
            <a:off x="1764792" y="4178808"/>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6 — APIs: live candles + news → Buy / Sell / Hold calls.</a:t>
            </a:r>
          </a:p>
        </p:txBody>
      </p:sp>
      <p:sp>
        <p:nvSpPr>
          <p:cNvPr id="41" name="Rectangle 40"/>
          <p:cNvSpPr/>
          <p:nvPr/>
        </p:nvSpPr>
        <p:spPr>
          <a:xfrm>
            <a:off x="6231636" y="4087368"/>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231636"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487668" y="407822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87668" y="4078224"/>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8</a:t>
            </a:r>
          </a:p>
        </p:txBody>
      </p:sp>
      <p:sp>
        <p:nvSpPr>
          <p:cNvPr id="45" name="TextBox 44"/>
          <p:cNvSpPr txBox="1"/>
          <p:nvPr/>
        </p:nvSpPr>
        <p:spPr>
          <a:xfrm>
            <a:off x="7219188" y="4178808"/>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7a — RAG: upload a PDF, ask the bot in Telegram.</a:t>
            </a:r>
          </a:p>
        </p:txBody>
      </p:sp>
      <p:sp>
        <p:nvSpPr>
          <p:cNvPr id="46" name="Rectangle 45"/>
          <p:cNvSpPr/>
          <p:nvPr/>
        </p:nvSpPr>
        <p:spPr>
          <a:xfrm>
            <a:off x="777240" y="4855464"/>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033272"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33272" y="4846320"/>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9</a:t>
            </a:r>
          </a:p>
        </p:txBody>
      </p:sp>
      <p:sp>
        <p:nvSpPr>
          <p:cNvPr id="50" name="TextBox 49"/>
          <p:cNvSpPr txBox="1"/>
          <p:nvPr/>
        </p:nvSpPr>
        <p:spPr>
          <a:xfrm>
            <a:off x="1764792" y="4946904"/>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7b — RAG at scale: 20 brochures in a real vector DB.</a:t>
            </a:r>
          </a:p>
        </p:txBody>
      </p:sp>
      <p:sp>
        <p:nvSpPr>
          <p:cNvPr id="51" name="Rectangle 50"/>
          <p:cNvSpPr/>
          <p:nvPr/>
        </p:nvSpPr>
        <p:spPr>
          <a:xfrm>
            <a:off x="6231636" y="4855464"/>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231636" y="4855464"/>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6487668"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87668" y="4846320"/>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10</a:t>
            </a:r>
          </a:p>
        </p:txBody>
      </p:sp>
      <p:sp>
        <p:nvSpPr>
          <p:cNvPr id="55" name="TextBox 54"/>
          <p:cNvSpPr txBox="1"/>
          <p:nvPr/>
        </p:nvSpPr>
        <p:spPr>
          <a:xfrm>
            <a:off x="7219188" y="4946904"/>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Act 8a–8c — HR portal: approval gate, dashboard, guardrails.</a:t>
            </a:r>
          </a:p>
        </p:txBody>
      </p:sp>
      <p:sp>
        <p:nvSpPr>
          <p:cNvPr id="56" name="Rectangle 55"/>
          <p:cNvSpPr/>
          <p:nvPr/>
        </p:nvSpPr>
        <p:spPr>
          <a:xfrm>
            <a:off x="777240" y="5623560"/>
            <a:ext cx="5180076"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77240" y="5623560"/>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033272" y="561441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33272" y="5614416"/>
            <a:ext cx="548640" cy="548640"/>
          </a:xfrm>
          <a:prstGeom prst="rect">
            <a:avLst/>
          </a:prstGeom>
          <a:noFill/>
        </p:spPr>
        <p:txBody>
          <a:bodyPr wrap="square" anchor="ctr" lIns="0" rIns="0" tIns="0" bIns="0">
            <a:spAutoFit/>
          </a:bodyPr>
          <a:lstStyle/>
          <a:p>
            <a:pPr algn="ctr">
              <a:spcBef>
                <a:spcPts val="0"/>
              </a:spcBef>
              <a:spcAft>
                <a:spcPts val="400"/>
              </a:spcAft>
            </a:pPr>
            <a:r>
              <a:rPr sz="1900" b="1">
                <a:solidFill>
                  <a:srgbClr val="FFFFFF"/>
                </a:solidFill>
                <a:latin typeface="Arial"/>
              </a:rPr>
              <a:t>11</a:t>
            </a:r>
          </a:p>
        </p:txBody>
      </p:sp>
      <p:sp>
        <p:nvSpPr>
          <p:cNvPr id="60" name="TextBox 59"/>
          <p:cNvSpPr txBox="1"/>
          <p:nvPr/>
        </p:nvSpPr>
        <p:spPr>
          <a:xfrm>
            <a:off x="1764792" y="5715000"/>
            <a:ext cx="3973068" cy="384048"/>
          </a:xfrm>
          <a:prstGeom prst="rect">
            <a:avLst/>
          </a:prstGeom>
          <a:noFill/>
        </p:spPr>
        <p:txBody>
          <a:bodyPr wrap="square" anchor="ctr" lIns="0" rIns="0" tIns="0" bIns="0">
            <a:spAutoFit/>
          </a:bodyPr>
          <a:lstStyle/>
          <a:p>
            <a:pPr algn="l">
              <a:spcBef>
                <a:spcPts val="0"/>
              </a:spcBef>
              <a:spcAft>
                <a:spcPts val="400"/>
              </a:spcAft>
            </a:pPr>
            <a:r>
              <a:rPr sz="1150" b="0">
                <a:solidFill>
                  <a:srgbClr val="161B26"/>
                </a:solidFill>
                <a:latin typeface="Arial"/>
              </a:rPr>
              <a:t>Capstone — design and demo your own end-to-end automation.</a:t>
            </a:r>
          </a:p>
        </p:txBody>
      </p:sp>
      <p:sp>
        <p:nvSpPr>
          <p:cNvPr id="61" name="TextBox 6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62" name="TextBox 6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63" name="TextBox 6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BEFORE THE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Briefing for Assessment</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Place phones and other materials under the table or on the floor.</a:t>
            </a:r>
          </a:p>
          <a:p>
            <a:pPr>
              <a:spcBef>
                <a:spcPts val="0"/>
              </a:spcBef>
              <a:spcAft>
                <a:spcPts val="1000"/>
              </a:spcAft>
            </a:pPr>
            <a:r>
              <a:rPr sz="2000" b="1">
                <a:solidFill>
                  <a:srgbClr val="1F6FEB"/>
                </a:solidFill>
                <a:latin typeface="Arial"/>
              </a:rPr>
              <a:t>•  </a:t>
            </a:r>
            <a:r>
              <a:rPr sz="2000">
                <a:solidFill>
                  <a:srgbClr val="161B26"/>
                </a:solidFill>
                <a:latin typeface="Arial"/>
              </a:rPr>
              <a:t>No photos or recording of assessment scripts.</a:t>
            </a:r>
          </a:p>
          <a:p>
            <a:pPr>
              <a:spcBef>
                <a:spcPts val="0"/>
              </a:spcBef>
              <a:spcAft>
                <a:spcPts val="1000"/>
              </a:spcAft>
            </a:pPr>
            <a:r>
              <a:rPr sz="2000" b="1">
                <a:solidFill>
                  <a:srgbClr val="1F6FEB"/>
                </a:solidFill>
                <a:latin typeface="Arial"/>
              </a:rPr>
              <a:t>•  </a:t>
            </a:r>
            <a:r>
              <a:rPr sz="2000">
                <a:solidFill>
                  <a:srgbClr val="161B26"/>
                </a:solidFill>
                <a:latin typeface="Arial"/>
              </a:rPr>
              <a:t>No discussion during the assessment.</a:t>
            </a:r>
          </a:p>
          <a:p>
            <a:pPr>
              <a:spcBef>
                <a:spcPts val="0"/>
              </a:spcBef>
              <a:spcAft>
                <a:spcPts val="1000"/>
              </a:spcAft>
            </a:pPr>
            <a:r>
              <a:rPr sz="2000" b="1">
                <a:solidFill>
                  <a:srgbClr val="1F6FEB"/>
                </a:solidFill>
                <a:latin typeface="Arial"/>
              </a:rPr>
              <a:t>•  </a:t>
            </a:r>
            <a:r>
              <a:rPr sz="2000">
                <a:solidFill>
                  <a:srgbClr val="161B26"/>
                </a:solidFill>
                <a:latin typeface="Arial"/>
              </a:rPr>
              <a:t>Use a black/blue pen for hard-copy assessments.</a:t>
            </a:r>
          </a:p>
          <a:p>
            <a:pPr>
              <a:spcBef>
                <a:spcPts val="0"/>
              </a:spcBef>
              <a:spcAft>
                <a:spcPts val="1000"/>
              </a:spcAft>
            </a:pPr>
            <a:r>
              <a:rPr sz="2000" b="1">
                <a:solidFill>
                  <a:srgbClr val="1F6FEB"/>
                </a:solidFill>
                <a:latin typeface="Arial"/>
              </a:rPr>
              <a:t>•  </a:t>
            </a:r>
            <a:r>
              <a:rPr sz="2000">
                <a:solidFill>
                  <a:srgbClr val="161B26"/>
                </a:solidFill>
                <a:latin typeface="Arial"/>
              </a:rPr>
              <a:t>No liquid paper / correction tape.</a:t>
            </a:r>
          </a:p>
          <a:p>
            <a:pPr>
              <a:spcBef>
                <a:spcPts val="0"/>
              </a:spcBef>
              <a:spcAft>
                <a:spcPts val="1000"/>
              </a:spcAft>
            </a:pPr>
            <a:r>
              <a:rPr sz="2000" b="1">
                <a:solidFill>
                  <a:srgbClr val="1F6FEB"/>
                </a:solidFill>
                <a:latin typeface="Arial"/>
              </a:rPr>
              <a:t>•  </a:t>
            </a:r>
            <a:r>
              <a:rPr sz="2000">
                <a:solidFill>
                  <a:srgbClr val="161B26"/>
                </a:solidFill>
                <a:latin typeface="Arial"/>
              </a:rPr>
              <a:t>Scripts are collected when time is up.</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Assessment</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Written Assessment (SAQ) — 1 hour.</a:t>
            </a:r>
          </a:p>
          <a:p>
            <a:pPr>
              <a:spcBef>
                <a:spcPts val="0"/>
              </a:spcBef>
              <a:spcAft>
                <a:spcPts val="1000"/>
              </a:spcAft>
            </a:pPr>
            <a:r>
              <a:rPr sz="2000" b="1">
                <a:solidFill>
                  <a:srgbClr val="1F6FEB"/>
                </a:solidFill>
                <a:latin typeface="Arial"/>
              </a:rPr>
              <a:t>•  </a:t>
            </a:r>
            <a:r>
              <a:rPr sz="2000">
                <a:solidFill>
                  <a:srgbClr val="161B26"/>
                </a:solidFill>
                <a:latin typeface="Arial"/>
              </a:rPr>
              <a:t>Practical Performance (PP) — 1 hour.</a:t>
            </a:r>
          </a:p>
          <a:p>
            <a:pPr>
              <a:spcBef>
                <a:spcPts val="0"/>
              </a:spcBef>
              <a:spcAft>
                <a:spcPts val="1000"/>
              </a:spcAft>
            </a:pPr>
            <a:r>
              <a:rPr sz="2000" b="1">
                <a:solidFill>
                  <a:srgbClr val="1F6FEB"/>
                </a:solidFill>
                <a:latin typeface="Arial"/>
              </a:rPr>
              <a:t>•  </a:t>
            </a:r>
            <a:r>
              <a:rPr sz="2000">
                <a:solidFill>
                  <a:srgbClr val="161B26"/>
                </a:solidFill>
                <a:latin typeface="Arial"/>
              </a:rPr>
              <a:t>Format: Open Book — slides, Learner Guide and approved materials only.</a:t>
            </a:r>
          </a:p>
          <a:p>
            <a:pPr>
              <a:spcBef>
                <a:spcPts val="0"/>
              </a:spcBef>
              <a:spcAft>
                <a:spcPts val="1000"/>
              </a:spcAft>
            </a:pPr>
            <a:r>
              <a:rPr sz="2000" b="1">
                <a:solidFill>
                  <a:srgbClr val="1F6FEB"/>
                </a:solidFill>
                <a:latin typeface="Arial"/>
              </a:rPr>
              <a:t>•  </a:t>
            </a:r>
            <a:r>
              <a:rPr sz="2000">
                <a:solidFill>
                  <a:srgbClr val="161B26"/>
                </a:solidFill>
                <a:latin typeface="Arial"/>
              </a:rPr>
              <a:t>A mini capstone project is presented on Day 3.</a:t>
            </a:r>
          </a:p>
          <a:p>
            <a:pPr>
              <a:spcBef>
                <a:spcPts val="0"/>
              </a:spcBef>
              <a:spcAft>
                <a:spcPts val="1000"/>
              </a:spcAft>
            </a:pPr>
            <a:r>
              <a:rPr sz="2000" b="1">
                <a:solidFill>
                  <a:srgbClr val="1F6FEB"/>
                </a:solidFill>
                <a:latin typeface="Arial"/>
              </a:rPr>
              <a:t>•  </a:t>
            </a:r>
            <a:r>
              <a:rPr sz="2000">
                <a:solidFill>
                  <a:srgbClr val="161B26"/>
                </a:solidFill>
                <a:latin typeface="Arial"/>
              </a:rPr>
              <a:t>An appeal process is available if required.</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ON ASSESSMENT DAY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Assessment Flow</a:t>
            </a:r>
          </a:p>
        </p:txBody>
      </p:sp>
      <p:sp>
        <p:nvSpPr>
          <p:cNvPr id="6" name="Rectangle 5"/>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1424"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1</a:t>
            </a:r>
          </a:p>
        </p:txBody>
      </p:sp>
      <p:sp>
        <p:nvSpPr>
          <p:cNvPr id="10" name="TextBox 9"/>
          <p:cNvSpPr txBox="1"/>
          <p:nvPr/>
        </p:nvSpPr>
        <p:spPr>
          <a:xfrm>
            <a:off x="923544"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12" name="Rectangle 11"/>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0497"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2</a:t>
            </a:r>
          </a:p>
        </p:txBody>
      </p:sp>
      <p:sp>
        <p:nvSpPr>
          <p:cNvPr id="16" name="TextBox 15"/>
          <p:cNvSpPr txBox="1"/>
          <p:nvPr/>
        </p:nvSpPr>
        <p:spPr>
          <a:xfrm>
            <a:off x="3112617"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18" name="Rectangle 17"/>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19570"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3</a:t>
            </a:r>
          </a:p>
        </p:txBody>
      </p:sp>
      <p:sp>
        <p:nvSpPr>
          <p:cNvPr id="22" name="TextBox 21"/>
          <p:cNvSpPr txBox="1"/>
          <p:nvPr/>
        </p:nvSpPr>
        <p:spPr>
          <a:xfrm>
            <a:off x="5301690"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Sit WA (SAQ) then PP — open book</a:t>
            </a:r>
          </a:p>
        </p:txBody>
      </p:sp>
      <p:sp>
        <p:nvSpPr>
          <p:cNvPr id="23" name="TextBox 22"/>
          <p:cNvSpPr txBox="1"/>
          <p:nvPr/>
        </p:nvSpPr>
        <p:spPr>
          <a:xfrm>
            <a:off x="6996987"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24" name="Rectangle 23"/>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8643"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4</a:t>
            </a:r>
          </a:p>
        </p:txBody>
      </p:sp>
      <p:sp>
        <p:nvSpPr>
          <p:cNvPr id="28" name="TextBox 27"/>
          <p:cNvSpPr txBox="1"/>
          <p:nvPr/>
        </p:nvSpPr>
        <p:spPr>
          <a:xfrm>
            <a:off x="7490763"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30" name="Rectangle 29"/>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97716"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5</a:t>
            </a:r>
          </a:p>
        </p:txBody>
      </p:sp>
      <p:sp>
        <p:nvSpPr>
          <p:cNvPr id="34" name="TextBox 33"/>
          <p:cNvSpPr txBox="1"/>
          <p:nvPr/>
        </p:nvSpPr>
        <p:spPr>
          <a:xfrm>
            <a:off x="9679836"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Sign the Assessment Summary Record</a:t>
            </a:r>
          </a:p>
        </p:txBody>
      </p:sp>
      <p:sp>
        <p:nvSpPr>
          <p:cNvPr id="35" name="TextBox 3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965960"/>
            <a:ext cx="9418320" cy="2926080"/>
          </a:xfrm>
          <a:prstGeom prst="roundRect">
            <a:avLst>
              <a:gd name="adj" fmla="val 5500"/>
            </a:avLst>
          </a:prstGeom>
          <a:solidFill>
            <a:srgbClr val="FFFFFF"/>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965960"/>
            <a:ext cx="201168" cy="2926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286000"/>
            <a:ext cx="8503920" cy="365760"/>
          </a:xfrm>
          <a:prstGeom prst="rect">
            <a:avLst/>
          </a:prstGeom>
          <a:noFill/>
        </p:spPr>
        <p:txBody>
          <a:bodyPr wrap="square" anchor="t" lIns="0" rIns="0" tIns="0" bIns="0">
            <a:spAutoFit/>
          </a:bodyPr>
          <a:lstStyle/>
          <a:p>
            <a:pPr algn="l">
              <a:spcBef>
                <a:spcPts val="0"/>
              </a:spcBef>
              <a:spcAft>
                <a:spcPts val="400"/>
              </a:spcAft>
            </a:pPr>
            <a:r>
              <a:rPr sz="1500" b="1">
                <a:solidFill>
                  <a:srgbClr val="1F6FEB"/>
                </a:solidFill>
                <a:latin typeface="Arial"/>
              </a:rPr>
              <a:t>TOPIC 1</a:t>
            </a:r>
          </a:p>
        </p:txBody>
      </p:sp>
      <p:sp>
        <p:nvSpPr>
          <p:cNvPr id="6" name="TextBox 5"/>
          <p:cNvSpPr txBox="1"/>
          <p:nvPr/>
        </p:nvSpPr>
        <p:spPr>
          <a:xfrm>
            <a:off x="1920240" y="2697480"/>
            <a:ext cx="8595360" cy="1097280"/>
          </a:xfrm>
          <a:prstGeom prst="rect">
            <a:avLst/>
          </a:prstGeom>
          <a:noFill/>
        </p:spPr>
        <p:txBody>
          <a:bodyPr wrap="square" anchor="t" lIns="0" rIns="0" tIns="0" bIns="0">
            <a:spAutoFit/>
          </a:bodyPr>
          <a:lstStyle/>
          <a:p>
            <a:pPr algn="l">
              <a:spcBef>
                <a:spcPts val="0"/>
              </a:spcBef>
              <a:spcAft>
                <a:spcPts val="400"/>
              </a:spcAft>
            </a:pPr>
            <a:r>
              <a:rPr sz="3400" b="1">
                <a:solidFill>
                  <a:srgbClr val="161B26"/>
                </a:solidFill>
                <a:latin typeface="Arial"/>
              </a:rPr>
              <a:t>Workflow Automation with n8n</a:t>
            </a:r>
          </a:p>
        </p:txBody>
      </p:sp>
      <p:sp>
        <p:nvSpPr>
          <p:cNvPr id="7" name="TextBox 6"/>
          <p:cNvSpPr txBox="1"/>
          <p:nvPr/>
        </p:nvSpPr>
        <p:spPr>
          <a:xfrm>
            <a:off x="1938528" y="3794760"/>
            <a:ext cx="8503920" cy="548640"/>
          </a:xfrm>
          <a:prstGeom prst="rect">
            <a:avLst/>
          </a:prstGeom>
          <a:noFill/>
        </p:spPr>
        <p:txBody>
          <a:bodyPr wrap="square" anchor="t" lIns="0" rIns="0" tIns="0" bIns="0">
            <a:spAutoFit/>
          </a:bodyPr>
          <a:lstStyle/>
          <a:p>
            <a:pPr algn="l">
              <a:spcBef>
                <a:spcPts val="0"/>
              </a:spcBef>
              <a:spcAft>
                <a:spcPts val="400"/>
              </a:spcAft>
            </a:pPr>
            <a:r>
              <a:rPr sz="1400" b="0">
                <a:solidFill>
                  <a:srgbClr val="5B6372"/>
                </a:solidFill>
                <a:latin typeface="Arial"/>
              </a:rPr>
              <a:t>Why agentic AI · workflow first vs agent first · AI security · what n8n is · sign-in and free AI credits · n8n Assistant · triggers · data nodes</a:t>
            </a:r>
          </a:p>
        </p:txBody>
      </p:sp>
      <p:sp>
        <p:nvSpPr>
          <p:cNvPr id="8" name="TextBox 7"/>
          <p:cNvSpPr txBox="1"/>
          <p:nvPr/>
        </p:nvSpPr>
        <p:spPr>
          <a:xfrm>
            <a:off x="1938528" y="4343400"/>
            <a:ext cx="8503920" cy="365760"/>
          </a:xfrm>
          <a:prstGeom prst="rect">
            <a:avLst/>
          </a:prstGeom>
          <a:noFill/>
        </p:spPr>
        <p:txBody>
          <a:bodyPr wrap="square" anchor="t" lIns="0" rIns="0" tIns="0" bIns="0">
            <a:spAutoFit/>
          </a:bodyPr>
          <a:lstStyle/>
          <a:p>
            <a:pPr algn="l">
              <a:spcBef>
                <a:spcPts val="0"/>
              </a:spcBef>
              <a:spcAft>
                <a:spcPts val="400"/>
              </a:spcAft>
            </a:pPr>
            <a:r>
              <a:rPr sz="1200" b="1">
                <a:solidFill>
                  <a:srgbClr val="1F6FEB"/>
                </a:solidFill>
                <a:latin typeface="Arial"/>
              </a:rPr>
              <a:t>Applied in Activities 1, 2, 3a and 3b</a:t>
            </a:r>
          </a:p>
        </p:txBody>
      </p:sp>
      <p:sp>
        <p:nvSpPr>
          <p:cNvPr id="9" name="TextBox 8"/>
          <p:cNvSpPr txBox="1"/>
          <p:nvPr/>
        </p:nvSpPr>
        <p:spPr>
          <a:xfrm>
            <a:off x="9326880" y="54864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01</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A BRIEF HISTORY OF AI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 Brief History of AI, 2023–2026</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Each year moved the skill that matters — from the words you type to the system you build.</a:t>
            </a:r>
          </a:p>
        </p:txBody>
      </p:sp>
      <p:sp>
        <p:nvSpPr>
          <p:cNvPr id="7" name="Rounded Rectangle 6"/>
          <p:cNvSpPr/>
          <p:nvPr/>
        </p:nvSpPr>
        <p:spPr>
          <a:xfrm>
            <a:off x="777240" y="1874519"/>
            <a:ext cx="2425446" cy="9144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74519"/>
            <a:ext cx="2242566" cy="91440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Prompt Engineering</a:t>
            </a:r>
          </a:p>
          <a:p>
            <a:pPr algn="ctr">
              <a:spcBef>
                <a:spcPts val="0"/>
              </a:spcBef>
              <a:spcAft>
                <a:spcPts val="200"/>
              </a:spcAft>
            </a:pPr>
            <a:r>
              <a:rPr sz="900" b="0">
                <a:solidFill>
                  <a:srgbClr val="5B6372"/>
                </a:solidFill>
                <a:latin typeface="Arial"/>
              </a:rPr>
              <a:t>2023</a:t>
            </a:r>
          </a:p>
        </p:txBody>
      </p:sp>
      <p:sp>
        <p:nvSpPr>
          <p:cNvPr id="9" name="TextBox 8"/>
          <p:cNvSpPr txBox="1"/>
          <p:nvPr/>
        </p:nvSpPr>
        <p:spPr>
          <a:xfrm>
            <a:off x="3175254" y="216712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0" name="Rounded Rectangle 9"/>
          <p:cNvSpPr/>
          <p:nvPr/>
        </p:nvSpPr>
        <p:spPr>
          <a:xfrm>
            <a:off x="3513582" y="1874519"/>
            <a:ext cx="2425446" cy="9144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874519"/>
            <a:ext cx="2242566" cy="91440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Context Engineering</a:t>
            </a:r>
          </a:p>
          <a:p>
            <a:pPr algn="ctr">
              <a:spcBef>
                <a:spcPts val="0"/>
              </a:spcBef>
              <a:spcAft>
                <a:spcPts val="200"/>
              </a:spcAft>
            </a:pPr>
            <a:r>
              <a:rPr sz="900" b="0">
                <a:solidFill>
                  <a:srgbClr val="5B6372"/>
                </a:solidFill>
                <a:latin typeface="Arial"/>
              </a:rPr>
              <a:t>2024</a:t>
            </a:r>
          </a:p>
        </p:txBody>
      </p:sp>
      <p:sp>
        <p:nvSpPr>
          <p:cNvPr id="12" name="TextBox 11"/>
          <p:cNvSpPr txBox="1"/>
          <p:nvPr/>
        </p:nvSpPr>
        <p:spPr>
          <a:xfrm>
            <a:off x="5911596" y="216712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3" name="Rounded Rectangle 12"/>
          <p:cNvSpPr/>
          <p:nvPr/>
        </p:nvSpPr>
        <p:spPr>
          <a:xfrm>
            <a:off x="6249924" y="1874519"/>
            <a:ext cx="2425446" cy="9144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874519"/>
            <a:ext cx="2242566" cy="91440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Harness Engineering</a:t>
            </a:r>
          </a:p>
          <a:p>
            <a:pPr algn="ctr">
              <a:spcBef>
                <a:spcPts val="0"/>
              </a:spcBef>
              <a:spcAft>
                <a:spcPts val="200"/>
              </a:spcAft>
            </a:pPr>
            <a:r>
              <a:rPr sz="900" b="0">
                <a:solidFill>
                  <a:srgbClr val="5B6372"/>
                </a:solidFill>
                <a:latin typeface="Arial"/>
              </a:rPr>
              <a:t>2025</a:t>
            </a:r>
          </a:p>
        </p:txBody>
      </p:sp>
      <p:sp>
        <p:nvSpPr>
          <p:cNvPr id="15" name="TextBox 14"/>
          <p:cNvSpPr txBox="1"/>
          <p:nvPr/>
        </p:nvSpPr>
        <p:spPr>
          <a:xfrm>
            <a:off x="8647938" y="216712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6" name="Rounded Rectangle 15"/>
          <p:cNvSpPr/>
          <p:nvPr/>
        </p:nvSpPr>
        <p:spPr>
          <a:xfrm>
            <a:off x="8986266" y="1874519"/>
            <a:ext cx="2425446" cy="9144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874519"/>
            <a:ext cx="2242566" cy="91440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AI Agents</a:t>
            </a:r>
          </a:p>
          <a:p>
            <a:pPr algn="ctr">
              <a:spcBef>
                <a:spcPts val="0"/>
              </a:spcBef>
              <a:spcAft>
                <a:spcPts val="200"/>
              </a:spcAft>
            </a:pPr>
            <a:r>
              <a:rPr sz="900" b="0">
                <a:solidFill>
                  <a:srgbClr val="5B6372"/>
                </a:solidFill>
                <a:latin typeface="Arial"/>
              </a:rPr>
              <a:t>2026</a:t>
            </a:r>
          </a:p>
        </p:txBody>
      </p:sp>
      <p:sp>
        <p:nvSpPr>
          <p:cNvPr id="18" name="Rounded Rectangle 17"/>
          <p:cNvSpPr/>
          <p:nvPr/>
        </p:nvSpPr>
        <p:spPr>
          <a:xfrm>
            <a:off x="777240" y="3063240"/>
            <a:ext cx="2439162" cy="246888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8" y="3209544"/>
            <a:ext cx="2036826"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Wording the prompt</a:t>
            </a:r>
          </a:p>
        </p:txBody>
      </p:sp>
      <p:sp>
        <p:nvSpPr>
          <p:cNvPr id="20" name="TextBox 19"/>
          <p:cNvSpPr txBox="1"/>
          <p:nvPr/>
        </p:nvSpPr>
        <p:spPr>
          <a:xfrm>
            <a:off x="978408" y="3611880"/>
            <a:ext cx="2036826" cy="17739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ChatGPT goes mainstream. Results depend on how well you word the prompt.</a:t>
            </a:r>
          </a:p>
        </p:txBody>
      </p:sp>
      <p:sp>
        <p:nvSpPr>
          <p:cNvPr id="21" name="Rounded Rectangle 20"/>
          <p:cNvSpPr/>
          <p:nvPr/>
        </p:nvSpPr>
        <p:spPr>
          <a:xfrm>
            <a:off x="3509010" y="3063240"/>
            <a:ext cx="2439162" cy="246888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710178" y="3209544"/>
            <a:ext cx="2036826"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Curating the context</a:t>
            </a:r>
          </a:p>
        </p:txBody>
      </p:sp>
      <p:sp>
        <p:nvSpPr>
          <p:cNvPr id="23" name="TextBox 22"/>
          <p:cNvSpPr txBox="1"/>
          <p:nvPr/>
        </p:nvSpPr>
        <p:spPr>
          <a:xfrm>
            <a:off x="3710178" y="3611880"/>
            <a:ext cx="2036826" cy="17739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Models call tools and MCP launches. Results depend on the documents, data and tools you supply.</a:t>
            </a:r>
          </a:p>
        </p:txBody>
      </p:sp>
      <p:sp>
        <p:nvSpPr>
          <p:cNvPr id="24" name="Rounded Rectangle 23"/>
          <p:cNvSpPr/>
          <p:nvPr/>
        </p:nvSpPr>
        <p:spPr>
          <a:xfrm>
            <a:off x="6240780" y="3063240"/>
            <a:ext cx="2439162" cy="246888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1948" y="3209544"/>
            <a:ext cx="2036826"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Building the harness</a:t>
            </a:r>
          </a:p>
        </p:txBody>
      </p:sp>
      <p:sp>
        <p:nvSpPr>
          <p:cNvPr id="26" name="TextBox 25"/>
          <p:cNvSpPr txBox="1"/>
          <p:nvPr/>
        </p:nvSpPr>
        <p:spPr>
          <a:xfrm>
            <a:off x="6441948" y="3611880"/>
            <a:ext cx="2036826" cy="17739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Claude Code and Codex: systems that plan, act and check their own work in a loop.</a:t>
            </a:r>
          </a:p>
        </p:txBody>
      </p:sp>
      <p:sp>
        <p:nvSpPr>
          <p:cNvPr id="27" name="Rounded Rectangle 26"/>
          <p:cNvSpPr/>
          <p:nvPr/>
        </p:nvSpPr>
        <p:spPr>
          <a:xfrm>
            <a:off x="8972550" y="3063240"/>
            <a:ext cx="2439162" cy="246888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73718" y="3209544"/>
            <a:ext cx="2036826"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Agents at work</a:t>
            </a:r>
          </a:p>
        </p:txBody>
      </p:sp>
      <p:sp>
        <p:nvSpPr>
          <p:cNvPr id="29" name="TextBox 28"/>
          <p:cNvSpPr txBox="1"/>
          <p:nvPr/>
        </p:nvSpPr>
        <p:spPr>
          <a:xfrm>
            <a:off x="9173718" y="3611880"/>
            <a:ext cx="2036826" cy="17739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Always-on agents work 24/7 — OpenClaw, Hermes Agent and agent teams take on whole jobs.</a:t>
            </a:r>
          </a:p>
        </p:txBody>
      </p:sp>
      <p:sp>
        <p:nvSpPr>
          <p:cNvPr id="30" name="Rounded Rectangle 29"/>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From wording one prompt → curating context → engineering the harness → AI agents that work around the clock.</a:t>
            </a:r>
          </a:p>
        </p:txBody>
      </p:sp>
      <p:sp>
        <p:nvSpPr>
          <p:cNvPr id="32" name="TextBox 3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3" name="TextBox 3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4" name="TextBox 3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GENERATIVE VS AGENTIC AI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Generative AI vs Agentic AI</a:t>
            </a:r>
          </a:p>
        </p:txBody>
      </p:sp>
      <p:sp>
        <p:nvSpPr>
          <p:cNvPr id="6" name="Rectangle 5"/>
          <p:cNvSpPr/>
          <p:nvPr/>
        </p:nvSpPr>
        <p:spPr>
          <a:xfrm>
            <a:off x="777240" y="1783080"/>
            <a:ext cx="519379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193792" cy="457200"/>
          </a:xfrm>
          <a:prstGeom prst="rect">
            <a:avLst/>
          </a:prstGeom>
          <a:noFill/>
        </p:spPr>
        <p:txBody>
          <a:bodyPr wrap="square" anchor="ctr" lIns="0" rIns="0" tIns="0" bIns="0">
            <a:spAutoFit/>
          </a:bodyPr>
          <a:lstStyle/>
          <a:p>
            <a:pPr algn="ctr">
              <a:spcBef>
                <a:spcPts val="0"/>
              </a:spcBef>
              <a:spcAft>
                <a:spcPts val="400"/>
              </a:spcAft>
            </a:pPr>
            <a:r>
              <a:rPr sz="1400" b="1">
                <a:solidFill>
                  <a:srgbClr val="FFFFFF"/>
                </a:solidFill>
                <a:latin typeface="Arial"/>
              </a:rPr>
              <a:t>GENERATIVE AI — answers</a:t>
            </a:r>
          </a:p>
        </p:txBody>
      </p:sp>
      <p:sp>
        <p:nvSpPr>
          <p:cNvPr id="8" name="Rectangle 7"/>
          <p:cNvSpPr/>
          <p:nvPr/>
        </p:nvSpPr>
        <p:spPr>
          <a:xfrm>
            <a:off x="777240" y="2240280"/>
            <a:ext cx="5193792" cy="3383280"/>
          </a:xfrm>
          <a:prstGeom prst="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68880"/>
            <a:ext cx="4645152" cy="3017520"/>
          </a:xfrm>
          <a:prstGeom prst="rect">
            <a:avLst/>
          </a:prstGeom>
          <a:noFill/>
        </p:spPr>
        <p:txBody>
          <a:bodyPr wrap="square" lIns="0" rIns="0">
            <a:spAutoFit/>
          </a:bodyPr>
          <a:lstStyle/>
          <a:p>
            <a:pPr>
              <a:spcBef>
                <a:spcPts val="0"/>
              </a:spcBef>
              <a:spcAft>
                <a:spcPts val="900"/>
              </a:spcAft>
            </a:pPr>
            <a:r>
              <a:rPr sz="1350" b="1">
                <a:solidFill>
                  <a:srgbClr val="1F6FEB"/>
                </a:solidFill>
                <a:latin typeface="Arial"/>
              </a:rPr>
              <a:t>•  </a:t>
            </a:r>
            <a:r>
              <a:rPr sz="1350">
                <a:solidFill>
                  <a:srgbClr val="161B26"/>
                </a:solidFill>
                <a:latin typeface="Arial"/>
              </a:rPr>
              <a:t>You ask; it writes one answer.</a:t>
            </a:r>
          </a:p>
          <a:p>
            <a:pPr>
              <a:spcBef>
                <a:spcPts val="0"/>
              </a:spcBef>
              <a:spcAft>
                <a:spcPts val="900"/>
              </a:spcAft>
            </a:pPr>
            <a:r>
              <a:rPr sz="1350" b="1">
                <a:solidFill>
                  <a:srgbClr val="1F6FEB"/>
                </a:solidFill>
                <a:latin typeface="Arial"/>
              </a:rPr>
              <a:t>•  </a:t>
            </a:r>
            <a:r>
              <a:rPr sz="1350">
                <a:solidFill>
                  <a:srgbClr val="161B26"/>
                </a:solidFill>
                <a:latin typeface="Arial"/>
              </a:rPr>
              <a:t>No memory of your systems, no actions.</a:t>
            </a:r>
          </a:p>
          <a:p>
            <a:pPr>
              <a:spcBef>
                <a:spcPts val="0"/>
              </a:spcBef>
              <a:spcAft>
                <a:spcPts val="900"/>
              </a:spcAft>
            </a:pPr>
            <a:r>
              <a:rPr sz="1350" b="1">
                <a:solidFill>
                  <a:srgbClr val="1F6FEB"/>
                </a:solidFill>
                <a:latin typeface="Arial"/>
              </a:rPr>
              <a:t>•  </a:t>
            </a:r>
            <a:r>
              <a:rPr sz="1350">
                <a:solidFill>
                  <a:srgbClr val="161B26"/>
                </a:solidFill>
                <a:latin typeface="Arial"/>
              </a:rPr>
              <a:t>Quality depends on what you paste into the prompt.</a:t>
            </a:r>
          </a:p>
          <a:p>
            <a:pPr>
              <a:spcBef>
                <a:spcPts val="0"/>
              </a:spcBef>
              <a:spcAft>
                <a:spcPts val="900"/>
              </a:spcAft>
            </a:pPr>
            <a:r>
              <a:rPr sz="1350" b="1">
                <a:solidFill>
                  <a:srgbClr val="1F6FEB"/>
                </a:solidFill>
                <a:latin typeface="Arial"/>
              </a:rPr>
              <a:t>•  </a:t>
            </a:r>
            <a:r>
              <a:rPr sz="1350">
                <a:solidFill>
                  <a:srgbClr val="161B26"/>
                </a:solidFill>
                <a:latin typeface="Arial"/>
              </a:rPr>
              <a:t>Example: ChatGPT summarising a document.</a:t>
            </a:r>
          </a:p>
        </p:txBody>
      </p:sp>
      <p:sp>
        <p:nvSpPr>
          <p:cNvPr id="10" name="Rectangle 9"/>
          <p:cNvSpPr/>
          <p:nvPr/>
        </p:nvSpPr>
        <p:spPr>
          <a:xfrm>
            <a:off x="6217920" y="1783080"/>
            <a:ext cx="5193792"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783080"/>
            <a:ext cx="5193792" cy="457200"/>
          </a:xfrm>
          <a:prstGeom prst="rect">
            <a:avLst/>
          </a:prstGeom>
          <a:noFill/>
        </p:spPr>
        <p:txBody>
          <a:bodyPr wrap="square" anchor="ctr" lIns="0" rIns="0" tIns="0" bIns="0">
            <a:spAutoFit/>
          </a:bodyPr>
          <a:lstStyle/>
          <a:p>
            <a:pPr algn="ctr">
              <a:spcBef>
                <a:spcPts val="0"/>
              </a:spcBef>
              <a:spcAft>
                <a:spcPts val="400"/>
              </a:spcAft>
            </a:pPr>
            <a:r>
              <a:rPr sz="1400" b="1">
                <a:solidFill>
                  <a:srgbClr val="FFFFFF"/>
                </a:solidFill>
                <a:latin typeface="Arial"/>
              </a:rPr>
              <a:t>AGENTIC AI — acts</a:t>
            </a:r>
          </a:p>
        </p:txBody>
      </p:sp>
      <p:sp>
        <p:nvSpPr>
          <p:cNvPr id="12" name="Rectangle 11"/>
          <p:cNvSpPr/>
          <p:nvPr/>
        </p:nvSpPr>
        <p:spPr>
          <a:xfrm>
            <a:off x="6217920" y="2240280"/>
            <a:ext cx="5193792" cy="3383280"/>
          </a:xfrm>
          <a:prstGeom prst="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468880"/>
            <a:ext cx="4645152" cy="3017520"/>
          </a:xfrm>
          <a:prstGeom prst="rect">
            <a:avLst/>
          </a:prstGeom>
          <a:noFill/>
        </p:spPr>
        <p:txBody>
          <a:bodyPr wrap="square" lIns="0" rIns="0">
            <a:spAutoFit/>
          </a:bodyPr>
          <a:lstStyle/>
          <a:p>
            <a:pPr>
              <a:spcBef>
                <a:spcPts val="0"/>
              </a:spcBef>
              <a:spcAft>
                <a:spcPts val="900"/>
              </a:spcAft>
            </a:pPr>
            <a:r>
              <a:rPr sz="1350" b="1">
                <a:solidFill>
                  <a:srgbClr val="7C3AED"/>
                </a:solidFill>
                <a:latin typeface="Arial"/>
              </a:rPr>
              <a:t>•  </a:t>
            </a:r>
            <a:r>
              <a:rPr sz="1350">
                <a:solidFill>
                  <a:srgbClr val="161B26"/>
                </a:solidFill>
                <a:latin typeface="Arial"/>
              </a:rPr>
              <a:t>Works toward a goal, not just one reply.</a:t>
            </a:r>
          </a:p>
          <a:p>
            <a:pPr>
              <a:spcBef>
                <a:spcPts val="0"/>
              </a:spcBef>
              <a:spcAft>
                <a:spcPts val="900"/>
              </a:spcAft>
            </a:pPr>
            <a:r>
              <a:rPr sz="1350" b="1">
                <a:solidFill>
                  <a:srgbClr val="7C3AED"/>
                </a:solidFill>
                <a:latin typeface="Arial"/>
              </a:rPr>
              <a:t>•  </a:t>
            </a:r>
            <a:r>
              <a:rPr sz="1350">
                <a:solidFill>
                  <a:srgbClr val="161B26"/>
                </a:solidFill>
                <a:latin typeface="Arial"/>
              </a:rPr>
              <a:t>Calls tools: looks up data, calls APIs, writes records.</a:t>
            </a:r>
          </a:p>
          <a:p>
            <a:pPr>
              <a:spcBef>
                <a:spcPts val="0"/>
              </a:spcBef>
              <a:spcAft>
                <a:spcPts val="900"/>
              </a:spcAft>
            </a:pPr>
            <a:r>
              <a:rPr sz="1350" b="1">
                <a:solidFill>
                  <a:srgbClr val="7C3AED"/>
                </a:solidFill>
                <a:latin typeface="Arial"/>
              </a:rPr>
              <a:t>•  </a:t>
            </a:r>
            <a:r>
              <a:rPr sz="1350">
                <a:solidFill>
                  <a:srgbClr val="161B26"/>
                </a:solidFill>
                <a:latin typeface="Arial"/>
              </a:rPr>
              <a:t>Holds a conversation with memory.</a:t>
            </a:r>
          </a:p>
          <a:p>
            <a:pPr>
              <a:spcBef>
                <a:spcPts val="0"/>
              </a:spcBef>
              <a:spcAft>
                <a:spcPts val="900"/>
              </a:spcAft>
            </a:pPr>
            <a:r>
              <a:rPr sz="1350" b="1">
                <a:solidFill>
                  <a:srgbClr val="7C3AED"/>
                </a:solidFill>
                <a:latin typeface="Arial"/>
              </a:rPr>
              <a:t>•  </a:t>
            </a:r>
            <a:r>
              <a:rPr sz="1350">
                <a:solidFill>
                  <a:srgbClr val="161B26"/>
                </a:solidFill>
                <a:latin typeface="Arial"/>
              </a:rPr>
              <a:t>Example: a bot that checks the Employees table and answers.</a:t>
            </a:r>
          </a:p>
        </p:txBody>
      </p:sp>
      <p:sp>
        <p:nvSpPr>
          <p:cNvPr id="14" name="Rounded Rectangle 1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Generative AI produces content. Agentic AI decides and does — which is why it needs governance.</a:t>
            </a:r>
          </a:p>
        </p:txBody>
      </p:sp>
      <p:sp>
        <p:nvSpPr>
          <p:cNvPr id="16" name="TextBox 1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AGENTIC AI VS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Agentic AI vs AI Agents</a:t>
            </a:r>
          </a:p>
        </p:txBody>
      </p:sp>
      <p:sp>
        <p:nvSpPr>
          <p:cNvPr id="6" name="Rectangle 5"/>
          <p:cNvSpPr/>
          <p:nvPr/>
        </p:nvSpPr>
        <p:spPr>
          <a:xfrm>
            <a:off x="777240" y="1783080"/>
            <a:ext cx="519379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193792" cy="457200"/>
          </a:xfrm>
          <a:prstGeom prst="rect">
            <a:avLst/>
          </a:prstGeom>
          <a:noFill/>
        </p:spPr>
        <p:txBody>
          <a:bodyPr wrap="square" anchor="ctr" lIns="0" rIns="0" tIns="0" bIns="0">
            <a:spAutoFit/>
          </a:bodyPr>
          <a:lstStyle/>
          <a:p>
            <a:pPr algn="ctr">
              <a:spcBef>
                <a:spcPts val="0"/>
              </a:spcBef>
              <a:spcAft>
                <a:spcPts val="400"/>
              </a:spcAft>
            </a:pPr>
            <a:r>
              <a:rPr sz="1400" b="1">
                <a:solidFill>
                  <a:srgbClr val="FFFFFF"/>
                </a:solidFill>
                <a:latin typeface="Arial"/>
              </a:rPr>
              <a:t>Agentic AI — the broad category</a:t>
            </a:r>
          </a:p>
        </p:txBody>
      </p:sp>
      <p:sp>
        <p:nvSpPr>
          <p:cNvPr id="8" name="Rectangle 7"/>
          <p:cNvSpPr/>
          <p:nvPr/>
        </p:nvSpPr>
        <p:spPr>
          <a:xfrm>
            <a:off x="777240" y="2240280"/>
            <a:ext cx="5193792" cy="3383280"/>
          </a:xfrm>
          <a:prstGeom prst="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68880"/>
            <a:ext cx="4645152" cy="3017520"/>
          </a:xfrm>
          <a:prstGeom prst="rect">
            <a:avLst/>
          </a:prstGeom>
          <a:noFill/>
        </p:spPr>
        <p:txBody>
          <a:bodyPr wrap="square" lIns="0" rIns="0">
            <a:spAutoFit/>
          </a:bodyPr>
          <a:lstStyle/>
          <a:p>
            <a:pPr>
              <a:spcBef>
                <a:spcPts val="0"/>
              </a:spcBef>
              <a:spcAft>
                <a:spcPts val="600"/>
              </a:spcAft>
            </a:pPr>
            <a:r>
              <a:rPr sz="1200" b="1">
                <a:solidFill>
                  <a:srgbClr val="1F6FEB"/>
                </a:solidFill>
                <a:latin typeface="Arial"/>
              </a:rPr>
              <a:t>•  </a:t>
            </a:r>
            <a:r>
              <a:rPr sz="1200">
                <a:solidFill>
                  <a:srgbClr val="161B26"/>
                </a:solidFill>
                <a:latin typeface="Arial"/>
              </a:rPr>
              <a:t>Any AI system that pursues a goal over many steps: plans, acts through tools, checks the result</a:t>
            </a:r>
          </a:p>
          <a:p>
            <a:pPr>
              <a:spcBef>
                <a:spcPts val="0"/>
              </a:spcBef>
              <a:spcAft>
                <a:spcPts val="600"/>
              </a:spcAft>
            </a:pPr>
            <a:r>
              <a:rPr sz="1200" b="1">
                <a:solidFill>
                  <a:srgbClr val="1F6FEB"/>
                </a:solidFill>
                <a:latin typeface="Arial"/>
              </a:rPr>
              <a:t>•  </a:t>
            </a:r>
            <a:r>
              <a:rPr sz="1200">
                <a:solidFill>
                  <a:srgbClr val="161B26"/>
                </a:solidFill>
                <a:latin typeface="Arial"/>
              </a:rPr>
              <a:t>Usually started by a person or a trigger, and stops when the task is done</a:t>
            </a:r>
          </a:p>
          <a:p>
            <a:pPr>
              <a:spcBef>
                <a:spcPts val="0"/>
              </a:spcBef>
              <a:spcAft>
                <a:spcPts val="600"/>
              </a:spcAft>
            </a:pPr>
            <a:r>
              <a:rPr sz="1200" b="1">
                <a:solidFill>
                  <a:srgbClr val="1F6FEB"/>
                </a:solidFill>
                <a:latin typeface="Arial"/>
              </a:rPr>
              <a:t>•  </a:t>
            </a:r>
            <a:r>
              <a:rPr sz="1200">
                <a:solidFill>
                  <a:srgbClr val="161B26"/>
                </a:solidFill>
                <a:latin typeface="Arial"/>
              </a:rPr>
              <a:t>Built as a workflow with AI steps, or around an LLM loop</a:t>
            </a:r>
          </a:p>
          <a:p>
            <a:pPr>
              <a:spcBef>
                <a:spcPts val="0"/>
              </a:spcBef>
              <a:spcAft>
                <a:spcPts val="600"/>
              </a:spcAft>
            </a:pPr>
            <a:r>
              <a:rPr sz="1200" b="1">
                <a:solidFill>
                  <a:srgbClr val="1F6FEB"/>
                </a:solidFill>
                <a:latin typeface="Arial"/>
              </a:rPr>
              <a:t>•  </a:t>
            </a:r>
            <a:r>
              <a:rPr sz="1200">
                <a:solidFill>
                  <a:srgbClr val="161B26"/>
                </a:solidFill>
                <a:latin typeface="Arial"/>
              </a:rPr>
              <a:t>Includes the orchestration, guardrails and human approvals</a:t>
            </a:r>
          </a:p>
          <a:p>
            <a:pPr>
              <a:spcBef>
                <a:spcPts val="0"/>
              </a:spcBef>
              <a:spcAft>
                <a:spcPts val="600"/>
              </a:spcAft>
            </a:pPr>
            <a:r>
              <a:rPr sz="1200" b="1">
                <a:solidFill>
                  <a:srgbClr val="1F6FEB"/>
                </a:solidFill>
                <a:latin typeface="Arial"/>
              </a:rPr>
              <a:t>•  </a:t>
            </a:r>
            <a:r>
              <a:rPr sz="1200">
                <a:solidFill>
                  <a:srgbClr val="161B26"/>
                </a:solidFill>
                <a:latin typeface="Arial"/>
              </a:rPr>
              <a:t>Examples: a Claude Code or Codex session; an n8n workflow with AI steps</a:t>
            </a:r>
          </a:p>
        </p:txBody>
      </p:sp>
      <p:sp>
        <p:nvSpPr>
          <p:cNvPr id="10" name="Rectangle 9"/>
          <p:cNvSpPr/>
          <p:nvPr/>
        </p:nvSpPr>
        <p:spPr>
          <a:xfrm>
            <a:off x="6217920" y="1783080"/>
            <a:ext cx="5193792"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783080"/>
            <a:ext cx="5193792" cy="457200"/>
          </a:xfrm>
          <a:prstGeom prst="rect">
            <a:avLst/>
          </a:prstGeom>
          <a:noFill/>
        </p:spPr>
        <p:txBody>
          <a:bodyPr wrap="square" anchor="ctr" lIns="0" rIns="0" tIns="0" bIns="0">
            <a:spAutoFit/>
          </a:bodyPr>
          <a:lstStyle/>
          <a:p>
            <a:pPr algn="ctr">
              <a:spcBef>
                <a:spcPts val="0"/>
              </a:spcBef>
              <a:spcAft>
                <a:spcPts val="400"/>
              </a:spcAft>
            </a:pPr>
            <a:r>
              <a:rPr sz="1400" b="1">
                <a:solidFill>
                  <a:srgbClr val="FFFFFF"/>
                </a:solidFill>
                <a:latin typeface="Arial"/>
              </a:rPr>
              <a:t>AI Agents — always-on agentic AI</a:t>
            </a:r>
          </a:p>
        </p:txBody>
      </p:sp>
      <p:sp>
        <p:nvSpPr>
          <p:cNvPr id="12" name="Rectangle 11"/>
          <p:cNvSpPr/>
          <p:nvPr/>
        </p:nvSpPr>
        <p:spPr>
          <a:xfrm>
            <a:off x="6217920" y="2240280"/>
            <a:ext cx="5193792" cy="3383280"/>
          </a:xfrm>
          <a:prstGeom prst="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468880"/>
            <a:ext cx="4645152" cy="3017520"/>
          </a:xfrm>
          <a:prstGeom prst="rect">
            <a:avLst/>
          </a:prstGeom>
          <a:noFill/>
        </p:spPr>
        <p:txBody>
          <a:bodyPr wrap="square" lIns="0" rIns="0">
            <a:spAutoFit/>
          </a:bodyPr>
          <a:lstStyle/>
          <a:p>
            <a:pPr>
              <a:spcBef>
                <a:spcPts val="0"/>
              </a:spcBef>
              <a:spcAft>
                <a:spcPts val="600"/>
              </a:spcAft>
            </a:pPr>
            <a:r>
              <a:rPr sz="1200" b="1">
                <a:solidFill>
                  <a:srgbClr val="7C3AED"/>
                </a:solidFill>
                <a:latin typeface="Arial"/>
              </a:rPr>
              <a:t>•  </a:t>
            </a:r>
            <a:r>
              <a:rPr sz="1200">
                <a:solidFill>
                  <a:srgbClr val="161B26"/>
                </a:solidFill>
                <a:latin typeface="Arial"/>
              </a:rPr>
              <a:t>A special type of agentic AI system that exists 24/7</a:t>
            </a:r>
          </a:p>
          <a:p>
            <a:pPr>
              <a:spcBef>
                <a:spcPts val="0"/>
              </a:spcBef>
              <a:spcAft>
                <a:spcPts val="600"/>
              </a:spcAft>
            </a:pPr>
            <a:r>
              <a:rPr sz="1200" b="1">
                <a:solidFill>
                  <a:srgbClr val="7C3AED"/>
                </a:solidFill>
                <a:latin typeface="Arial"/>
              </a:rPr>
              <a:t>•  </a:t>
            </a:r>
            <a:r>
              <a:rPr sz="1200">
                <a:solidFill>
                  <a:srgbClr val="161B26"/>
                </a:solidFill>
                <a:latin typeface="Arial"/>
              </a:rPr>
              <a:t>Usually installed in the cloud, so it serves all the time — no laptop needs to be open</a:t>
            </a:r>
          </a:p>
          <a:p>
            <a:pPr>
              <a:spcBef>
                <a:spcPts val="0"/>
              </a:spcBef>
              <a:spcAft>
                <a:spcPts val="600"/>
              </a:spcAft>
            </a:pPr>
            <a:r>
              <a:rPr sz="1200" b="1">
                <a:solidFill>
                  <a:srgbClr val="7C3AED"/>
                </a:solidFill>
                <a:latin typeface="Arial"/>
              </a:rPr>
              <a:t>•  </a:t>
            </a:r>
            <a:r>
              <a:rPr sz="1200">
                <a:solidFill>
                  <a:srgbClr val="161B26"/>
                </a:solidFill>
                <a:latin typeface="Arial"/>
              </a:rPr>
              <a:t>Waits for events — messages, emails, webhooks, schedules — and acts on them around the clock</a:t>
            </a:r>
          </a:p>
          <a:p>
            <a:pPr>
              <a:spcBef>
                <a:spcPts val="0"/>
              </a:spcBef>
              <a:spcAft>
                <a:spcPts val="600"/>
              </a:spcAft>
            </a:pPr>
            <a:r>
              <a:rPr sz="1200" b="1">
                <a:solidFill>
                  <a:srgbClr val="7C3AED"/>
                </a:solidFill>
                <a:latin typeface="Arial"/>
              </a:rPr>
              <a:t>•  </a:t>
            </a:r>
            <a:r>
              <a:rPr sz="1200">
                <a:solidFill>
                  <a:srgbClr val="161B26"/>
                </a:solidFill>
                <a:latin typeface="Arial"/>
              </a:rPr>
              <a:t>Keeps its memory across conversations and days</a:t>
            </a:r>
          </a:p>
          <a:p>
            <a:pPr>
              <a:spcBef>
                <a:spcPts val="0"/>
              </a:spcBef>
              <a:spcAft>
                <a:spcPts val="600"/>
              </a:spcAft>
            </a:pPr>
            <a:r>
              <a:rPr sz="1200" b="1">
                <a:solidFill>
                  <a:srgbClr val="7C3AED"/>
                </a:solidFill>
                <a:latin typeface="Arial"/>
              </a:rPr>
              <a:t>•  </a:t>
            </a:r>
            <a:r>
              <a:rPr sz="1200">
                <a:solidFill>
                  <a:srgbClr val="161B26"/>
                </a:solidFill>
                <a:latin typeface="Arial"/>
              </a:rPr>
              <a:t>Examples: OpenClaw, Hermes Agent, an n8n agent on a cloud instance behind a webhook</a:t>
            </a:r>
          </a:p>
        </p:txBody>
      </p:sp>
      <p:sp>
        <p:nvSpPr>
          <p:cNvPr id="14" name="Rounded Rectangle 1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Every AI agent is agentic AI, but not every agentic AI is an AI agent — an AI agent is always on, serving 24/7.</a:t>
            </a:r>
          </a:p>
        </p:txBody>
      </p:sp>
      <p:sp>
        <p:nvSpPr>
          <p:cNvPr id="16" name="TextBox 1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FIRST VS AGENT FIRST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Workflow First vs Agent First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Workflow first evolves rule-based (RPA) automation: the workflow owns the path, and its steps can be AI or AI agents, as in n8n.</a:t>
            </a:r>
          </a:p>
        </p:txBody>
      </p:sp>
      <p:sp>
        <p:nvSpPr>
          <p:cNvPr id="7" name="Rectangle 6"/>
          <p:cNvSpPr/>
          <p:nvPr/>
        </p:nvSpPr>
        <p:spPr>
          <a:xfrm>
            <a:off x="777240" y="1874519"/>
            <a:ext cx="228600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74519"/>
            <a:ext cx="2029968" cy="457200"/>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
            </a:r>
          </a:p>
        </p:txBody>
      </p:sp>
      <p:sp>
        <p:nvSpPr>
          <p:cNvPr id="9" name="Rectangle 8"/>
          <p:cNvSpPr/>
          <p:nvPr/>
        </p:nvSpPr>
        <p:spPr>
          <a:xfrm>
            <a:off x="3063240" y="1874519"/>
            <a:ext cx="4160520"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91256" y="1874519"/>
            <a:ext cx="3904488" cy="457200"/>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Workflow First</a:t>
            </a:r>
          </a:p>
        </p:txBody>
      </p:sp>
      <p:sp>
        <p:nvSpPr>
          <p:cNvPr id="11" name="Rectangle 10"/>
          <p:cNvSpPr/>
          <p:nvPr/>
        </p:nvSpPr>
        <p:spPr>
          <a:xfrm>
            <a:off x="7223760" y="1874519"/>
            <a:ext cx="4187952"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51776" y="1874519"/>
            <a:ext cx="3931920" cy="457200"/>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Agent First</a:t>
            </a:r>
          </a:p>
        </p:txBody>
      </p:sp>
      <p:sp>
        <p:nvSpPr>
          <p:cNvPr id="13" name="Rectangle 12"/>
          <p:cNvSpPr/>
          <p:nvPr/>
        </p:nvSpPr>
        <p:spPr>
          <a:xfrm>
            <a:off x="777240" y="2331719"/>
            <a:ext cx="228600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331719"/>
            <a:ext cx="2029968" cy="457200"/>
          </a:xfrm>
          <a:prstGeom prst="rect">
            <a:avLst/>
          </a:prstGeom>
          <a:noFill/>
        </p:spPr>
        <p:txBody>
          <a:bodyPr wrap="square" anchor="ctr" lIns="0" rIns="0" tIns="0" bIns="0">
            <a:spAutoFit/>
          </a:bodyPr>
          <a:lstStyle/>
          <a:p>
            <a:pPr algn="l">
              <a:spcBef>
                <a:spcPts val="0"/>
              </a:spcBef>
              <a:spcAft>
                <a:spcPts val="400"/>
              </a:spcAft>
            </a:pPr>
            <a:r>
              <a:rPr sz="1000" b="1">
                <a:solidFill>
                  <a:srgbClr val="161B26"/>
                </a:solidFill>
                <a:latin typeface="Arial"/>
              </a:rPr>
              <a:t>Who decides the path</a:t>
            </a:r>
          </a:p>
        </p:txBody>
      </p:sp>
      <p:sp>
        <p:nvSpPr>
          <p:cNvPr id="15" name="Rectangle 14"/>
          <p:cNvSpPr/>
          <p:nvPr/>
        </p:nvSpPr>
        <p:spPr>
          <a:xfrm>
            <a:off x="3063240" y="2331719"/>
            <a:ext cx="416052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91256" y="2331719"/>
            <a:ext cx="3904488" cy="457200"/>
          </a:xfrm>
          <a:prstGeom prst="rect">
            <a:avLst/>
          </a:prstGeom>
          <a:noFill/>
        </p:spPr>
        <p:txBody>
          <a:bodyPr wrap="square" anchor="ctr" lIns="0" rIns="0" tIns="0" bIns="0">
            <a:spAutoFit/>
          </a:bodyPr>
          <a:lstStyle/>
          <a:p>
            <a:pPr algn="l">
              <a:spcBef>
                <a:spcPts val="0"/>
              </a:spcBef>
              <a:spcAft>
                <a:spcPts val="400"/>
              </a:spcAft>
            </a:pPr>
            <a:r>
              <a:rPr sz="1000" b="0">
                <a:solidFill>
                  <a:srgbClr val="161B26"/>
                </a:solidFill>
                <a:latin typeface="Arial"/>
              </a:rPr>
              <a:t>The workflow — steps may be AI nodes or AI Agent nodes</a:t>
            </a:r>
          </a:p>
        </p:txBody>
      </p:sp>
      <p:sp>
        <p:nvSpPr>
          <p:cNvPr id="17" name="Rectangle 16"/>
          <p:cNvSpPr/>
          <p:nvPr/>
        </p:nvSpPr>
        <p:spPr>
          <a:xfrm>
            <a:off x="7223760" y="2331719"/>
            <a:ext cx="4187952"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51776" y="2331719"/>
            <a:ext cx="3931920" cy="457200"/>
          </a:xfrm>
          <a:prstGeom prst="rect">
            <a:avLst/>
          </a:prstGeom>
          <a:noFill/>
        </p:spPr>
        <p:txBody>
          <a:bodyPr wrap="square" anchor="ctr" lIns="0" rIns="0" tIns="0" bIns="0">
            <a:spAutoFit/>
          </a:bodyPr>
          <a:lstStyle/>
          <a:p>
            <a:pPr algn="l">
              <a:spcBef>
                <a:spcPts val="0"/>
              </a:spcBef>
              <a:spcAft>
                <a:spcPts val="400"/>
              </a:spcAft>
            </a:pPr>
            <a:r>
              <a:rPr sz="1000" b="0">
                <a:solidFill>
                  <a:srgbClr val="161B26"/>
                </a:solidFill>
                <a:latin typeface="Arial"/>
              </a:rPr>
              <a:t>The agent decides the steps and tools at run time</a:t>
            </a:r>
          </a:p>
        </p:txBody>
      </p:sp>
      <p:sp>
        <p:nvSpPr>
          <p:cNvPr id="19" name="Rectangle 18"/>
          <p:cNvSpPr/>
          <p:nvPr/>
        </p:nvSpPr>
        <p:spPr>
          <a:xfrm>
            <a:off x="777240" y="2788919"/>
            <a:ext cx="228600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88919"/>
            <a:ext cx="2029968" cy="457200"/>
          </a:xfrm>
          <a:prstGeom prst="rect">
            <a:avLst/>
          </a:prstGeom>
          <a:noFill/>
        </p:spPr>
        <p:txBody>
          <a:bodyPr wrap="square" anchor="ctr" lIns="0" rIns="0" tIns="0" bIns="0">
            <a:spAutoFit/>
          </a:bodyPr>
          <a:lstStyle/>
          <a:p>
            <a:pPr algn="l">
              <a:spcBef>
                <a:spcPts val="0"/>
              </a:spcBef>
              <a:spcAft>
                <a:spcPts val="400"/>
              </a:spcAft>
            </a:pPr>
            <a:r>
              <a:rPr sz="1000" b="1">
                <a:solidFill>
                  <a:srgbClr val="161B26"/>
                </a:solidFill>
                <a:latin typeface="Arial"/>
              </a:rPr>
              <a:t>Behaviour</a:t>
            </a:r>
          </a:p>
        </p:txBody>
      </p:sp>
      <p:sp>
        <p:nvSpPr>
          <p:cNvPr id="21" name="Rectangle 20"/>
          <p:cNvSpPr/>
          <p:nvPr/>
        </p:nvSpPr>
        <p:spPr>
          <a:xfrm>
            <a:off x="3063240" y="2788919"/>
            <a:ext cx="416052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91256" y="2788919"/>
            <a:ext cx="3904488" cy="457200"/>
          </a:xfrm>
          <a:prstGeom prst="rect">
            <a:avLst/>
          </a:prstGeom>
          <a:noFill/>
        </p:spPr>
        <p:txBody>
          <a:bodyPr wrap="square" anchor="ctr" lIns="0" rIns="0" tIns="0" bIns="0">
            <a:spAutoFit/>
          </a:bodyPr>
          <a:lstStyle/>
          <a:p>
            <a:pPr algn="l">
              <a:spcBef>
                <a:spcPts val="0"/>
              </a:spcBef>
              <a:spcAft>
                <a:spcPts val="400"/>
              </a:spcAft>
            </a:pPr>
            <a:r>
              <a:rPr sz="1000" b="0">
                <a:solidFill>
                  <a:srgbClr val="161B26"/>
                </a:solidFill>
                <a:latin typeface="Arial"/>
              </a:rPr>
              <a:t>Deterministic — same input, same path, every time</a:t>
            </a:r>
          </a:p>
        </p:txBody>
      </p:sp>
      <p:sp>
        <p:nvSpPr>
          <p:cNvPr id="23" name="Rectangle 22"/>
          <p:cNvSpPr/>
          <p:nvPr/>
        </p:nvSpPr>
        <p:spPr>
          <a:xfrm>
            <a:off x="7223760" y="2788919"/>
            <a:ext cx="4187952"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51776" y="2788919"/>
            <a:ext cx="3931920" cy="457200"/>
          </a:xfrm>
          <a:prstGeom prst="rect">
            <a:avLst/>
          </a:prstGeom>
          <a:noFill/>
        </p:spPr>
        <p:txBody>
          <a:bodyPr wrap="square" anchor="ctr" lIns="0" rIns="0" tIns="0" bIns="0">
            <a:spAutoFit/>
          </a:bodyPr>
          <a:lstStyle/>
          <a:p>
            <a:pPr algn="l">
              <a:spcBef>
                <a:spcPts val="0"/>
              </a:spcBef>
              <a:spcAft>
                <a:spcPts val="400"/>
              </a:spcAft>
            </a:pPr>
            <a:r>
              <a:rPr sz="1000" b="0">
                <a:solidFill>
                  <a:srgbClr val="161B26"/>
                </a:solidFill>
                <a:latin typeface="Arial"/>
              </a:rPr>
              <a:t>Probabilistic — the path can change between runs</a:t>
            </a:r>
          </a:p>
        </p:txBody>
      </p:sp>
      <p:sp>
        <p:nvSpPr>
          <p:cNvPr id="25" name="Rectangle 24"/>
          <p:cNvSpPr/>
          <p:nvPr/>
        </p:nvSpPr>
        <p:spPr>
          <a:xfrm>
            <a:off x="777240" y="3246119"/>
            <a:ext cx="228600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46119"/>
            <a:ext cx="2029968" cy="457200"/>
          </a:xfrm>
          <a:prstGeom prst="rect">
            <a:avLst/>
          </a:prstGeom>
          <a:noFill/>
        </p:spPr>
        <p:txBody>
          <a:bodyPr wrap="square" anchor="ctr" lIns="0" rIns="0" tIns="0" bIns="0">
            <a:spAutoFit/>
          </a:bodyPr>
          <a:lstStyle/>
          <a:p>
            <a:pPr algn="l">
              <a:spcBef>
                <a:spcPts val="0"/>
              </a:spcBef>
              <a:spcAft>
                <a:spcPts val="400"/>
              </a:spcAft>
            </a:pPr>
            <a:r>
              <a:rPr sz="1000" b="1">
                <a:solidFill>
                  <a:srgbClr val="161B26"/>
                </a:solidFill>
                <a:latin typeface="Arial"/>
              </a:rPr>
              <a:t>Efficiency</a:t>
            </a:r>
          </a:p>
        </p:txBody>
      </p:sp>
      <p:sp>
        <p:nvSpPr>
          <p:cNvPr id="27" name="Rectangle 26"/>
          <p:cNvSpPr/>
          <p:nvPr/>
        </p:nvSpPr>
        <p:spPr>
          <a:xfrm>
            <a:off x="3063240" y="3246119"/>
            <a:ext cx="416052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91256" y="3246119"/>
            <a:ext cx="3904488" cy="457200"/>
          </a:xfrm>
          <a:prstGeom prst="rect">
            <a:avLst/>
          </a:prstGeom>
          <a:noFill/>
        </p:spPr>
        <p:txBody>
          <a:bodyPr wrap="square" anchor="ctr" lIns="0" rIns="0" tIns="0" bIns="0">
            <a:spAutoFit/>
          </a:bodyPr>
          <a:lstStyle/>
          <a:p>
            <a:pPr algn="l">
              <a:spcBef>
                <a:spcPts val="0"/>
              </a:spcBef>
              <a:spcAft>
                <a:spcPts val="400"/>
              </a:spcAft>
            </a:pPr>
            <a:r>
              <a:rPr sz="1000" b="0">
                <a:solidFill>
                  <a:srgbClr val="161B26"/>
                </a:solidFill>
                <a:latin typeface="Arial"/>
              </a:rPr>
              <a:t>More effort to design every branch up front</a:t>
            </a:r>
          </a:p>
        </p:txBody>
      </p:sp>
      <p:sp>
        <p:nvSpPr>
          <p:cNvPr id="29" name="Rectangle 28"/>
          <p:cNvSpPr/>
          <p:nvPr/>
        </p:nvSpPr>
        <p:spPr>
          <a:xfrm>
            <a:off x="7223760" y="3246119"/>
            <a:ext cx="4187952"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51776" y="3246119"/>
            <a:ext cx="3931920" cy="457200"/>
          </a:xfrm>
          <a:prstGeom prst="rect">
            <a:avLst/>
          </a:prstGeom>
          <a:noFill/>
        </p:spPr>
        <p:txBody>
          <a:bodyPr wrap="square" anchor="ctr" lIns="0" rIns="0" tIns="0" bIns="0">
            <a:spAutoFit/>
          </a:bodyPr>
          <a:lstStyle/>
          <a:p>
            <a:pPr algn="l">
              <a:spcBef>
                <a:spcPts val="0"/>
              </a:spcBef>
              <a:spcAft>
                <a:spcPts val="400"/>
              </a:spcAft>
            </a:pPr>
            <a:r>
              <a:rPr sz="1000" b="0">
                <a:solidFill>
                  <a:srgbClr val="161B26"/>
                </a:solidFill>
                <a:latin typeface="Arial"/>
              </a:rPr>
              <a:t>Efficient — one instruction replaces many hand-built branches</a:t>
            </a:r>
          </a:p>
        </p:txBody>
      </p:sp>
      <p:sp>
        <p:nvSpPr>
          <p:cNvPr id="31" name="Rectangle 30"/>
          <p:cNvSpPr/>
          <p:nvPr/>
        </p:nvSpPr>
        <p:spPr>
          <a:xfrm>
            <a:off x="777240" y="3703319"/>
            <a:ext cx="228600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3319"/>
            <a:ext cx="2029968" cy="457200"/>
          </a:xfrm>
          <a:prstGeom prst="rect">
            <a:avLst/>
          </a:prstGeom>
          <a:noFill/>
        </p:spPr>
        <p:txBody>
          <a:bodyPr wrap="square" anchor="ctr" lIns="0" rIns="0" tIns="0" bIns="0">
            <a:spAutoFit/>
          </a:bodyPr>
          <a:lstStyle/>
          <a:p>
            <a:pPr algn="l">
              <a:spcBef>
                <a:spcPts val="0"/>
              </a:spcBef>
              <a:spcAft>
                <a:spcPts val="400"/>
              </a:spcAft>
            </a:pPr>
            <a:r>
              <a:rPr sz="1000" b="1">
                <a:solidFill>
                  <a:srgbClr val="161B26"/>
                </a:solidFill>
                <a:latin typeface="Arial"/>
              </a:rPr>
              <a:t>Reliability &amp; testing</a:t>
            </a:r>
          </a:p>
        </p:txBody>
      </p:sp>
      <p:sp>
        <p:nvSpPr>
          <p:cNvPr id="33" name="Rectangle 32"/>
          <p:cNvSpPr/>
          <p:nvPr/>
        </p:nvSpPr>
        <p:spPr>
          <a:xfrm>
            <a:off x="3063240" y="3703319"/>
            <a:ext cx="416052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91256" y="3703319"/>
            <a:ext cx="3904488" cy="457200"/>
          </a:xfrm>
          <a:prstGeom prst="rect">
            <a:avLst/>
          </a:prstGeom>
          <a:noFill/>
        </p:spPr>
        <p:txBody>
          <a:bodyPr wrap="square" anchor="ctr" lIns="0" rIns="0" tIns="0" bIns="0">
            <a:spAutoFit/>
          </a:bodyPr>
          <a:lstStyle/>
          <a:p>
            <a:pPr algn="l">
              <a:spcBef>
                <a:spcPts val="0"/>
              </a:spcBef>
              <a:spcAft>
                <a:spcPts val="400"/>
              </a:spcAft>
            </a:pPr>
            <a:r>
              <a:rPr sz="1000" b="0">
                <a:solidFill>
                  <a:srgbClr val="161B26"/>
                </a:solidFill>
                <a:latin typeface="Arial"/>
              </a:rPr>
              <a:t>Easy to test, debug and certify step by step</a:t>
            </a:r>
          </a:p>
        </p:txBody>
      </p:sp>
      <p:sp>
        <p:nvSpPr>
          <p:cNvPr id="35" name="Rectangle 34"/>
          <p:cNvSpPr/>
          <p:nvPr/>
        </p:nvSpPr>
        <p:spPr>
          <a:xfrm>
            <a:off x="7223760" y="3703319"/>
            <a:ext cx="4187952"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51776" y="3703319"/>
            <a:ext cx="3931920" cy="457200"/>
          </a:xfrm>
          <a:prstGeom prst="rect">
            <a:avLst/>
          </a:prstGeom>
          <a:noFill/>
        </p:spPr>
        <p:txBody>
          <a:bodyPr wrap="square" anchor="ctr" lIns="0" rIns="0" tIns="0" bIns="0">
            <a:spAutoFit/>
          </a:bodyPr>
          <a:lstStyle/>
          <a:p>
            <a:pPr algn="l">
              <a:spcBef>
                <a:spcPts val="0"/>
              </a:spcBef>
              <a:spcAft>
                <a:spcPts val="400"/>
              </a:spcAft>
            </a:pPr>
            <a:r>
              <a:rPr sz="1000" b="0">
                <a:solidFill>
                  <a:srgbClr val="161B26"/>
                </a:solidFill>
                <a:latin typeface="Arial"/>
              </a:rPr>
              <a:t>Harder to test; edge cases surface in production</a:t>
            </a:r>
          </a:p>
        </p:txBody>
      </p:sp>
      <p:sp>
        <p:nvSpPr>
          <p:cNvPr id="37" name="Rectangle 36"/>
          <p:cNvSpPr/>
          <p:nvPr/>
        </p:nvSpPr>
        <p:spPr>
          <a:xfrm>
            <a:off x="777240" y="4160519"/>
            <a:ext cx="228600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60519"/>
            <a:ext cx="2029968" cy="457200"/>
          </a:xfrm>
          <a:prstGeom prst="rect">
            <a:avLst/>
          </a:prstGeom>
          <a:noFill/>
        </p:spPr>
        <p:txBody>
          <a:bodyPr wrap="square" anchor="ctr" lIns="0" rIns="0" tIns="0" bIns="0">
            <a:spAutoFit/>
          </a:bodyPr>
          <a:lstStyle/>
          <a:p>
            <a:pPr algn="l">
              <a:spcBef>
                <a:spcPts val="0"/>
              </a:spcBef>
              <a:spcAft>
                <a:spcPts val="400"/>
              </a:spcAft>
            </a:pPr>
            <a:r>
              <a:rPr sz="1000" b="1">
                <a:solidFill>
                  <a:srgbClr val="161B26"/>
                </a:solidFill>
                <a:latin typeface="Arial"/>
              </a:rPr>
              <a:t>Cost &amp; speed</a:t>
            </a:r>
          </a:p>
        </p:txBody>
      </p:sp>
      <p:sp>
        <p:nvSpPr>
          <p:cNvPr id="39" name="Rectangle 38"/>
          <p:cNvSpPr/>
          <p:nvPr/>
        </p:nvSpPr>
        <p:spPr>
          <a:xfrm>
            <a:off x="3063240" y="4160519"/>
            <a:ext cx="416052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91256" y="4160519"/>
            <a:ext cx="3904488" cy="457200"/>
          </a:xfrm>
          <a:prstGeom prst="rect">
            <a:avLst/>
          </a:prstGeom>
          <a:noFill/>
        </p:spPr>
        <p:txBody>
          <a:bodyPr wrap="square" anchor="ctr" lIns="0" rIns="0" tIns="0" bIns="0">
            <a:spAutoFit/>
          </a:bodyPr>
          <a:lstStyle/>
          <a:p>
            <a:pPr algn="l">
              <a:spcBef>
                <a:spcPts val="0"/>
              </a:spcBef>
              <a:spcAft>
                <a:spcPts val="400"/>
              </a:spcAft>
            </a:pPr>
            <a:r>
              <a:rPr sz="1000" b="0">
                <a:solidFill>
                  <a:srgbClr val="161B26"/>
                </a:solidFill>
                <a:latin typeface="Arial"/>
              </a:rPr>
              <a:t>An LLM call only where needed — cheap and fast</a:t>
            </a:r>
          </a:p>
        </p:txBody>
      </p:sp>
      <p:sp>
        <p:nvSpPr>
          <p:cNvPr id="41" name="Rectangle 40"/>
          <p:cNvSpPr/>
          <p:nvPr/>
        </p:nvSpPr>
        <p:spPr>
          <a:xfrm>
            <a:off x="7223760" y="4160519"/>
            <a:ext cx="4187952"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51776" y="4160519"/>
            <a:ext cx="3931920" cy="457200"/>
          </a:xfrm>
          <a:prstGeom prst="rect">
            <a:avLst/>
          </a:prstGeom>
          <a:noFill/>
        </p:spPr>
        <p:txBody>
          <a:bodyPr wrap="square" anchor="ctr" lIns="0" rIns="0" tIns="0" bIns="0">
            <a:spAutoFit/>
          </a:bodyPr>
          <a:lstStyle/>
          <a:p>
            <a:pPr algn="l">
              <a:spcBef>
                <a:spcPts val="0"/>
              </a:spcBef>
              <a:spcAft>
                <a:spcPts val="400"/>
              </a:spcAft>
            </a:pPr>
            <a:r>
              <a:rPr sz="1000" b="0">
                <a:solidFill>
                  <a:srgbClr val="161B26"/>
                </a:solidFill>
                <a:latin typeface="Arial"/>
              </a:rPr>
              <a:t>An LLM call at every step — more tokens, more latency</a:t>
            </a:r>
          </a:p>
        </p:txBody>
      </p:sp>
      <p:sp>
        <p:nvSpPr>
          <p:cNvPr id="43" name="Rectangle 42"/>
          <p:cNvSpPr/>
          <p:nvPr/>
        </p:nvSpPr>
        <p:spPr>
          <a:xfrm>
            <a:off x="777240" y="4617719"/>
            <a:ext cx="228600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17719"/>
            <a:ext cx="2029968" cy="457200"/>
          </a:xfrm>
          <a:prstGeom prst="rect">
            <a:avLst/>
          </a:prstGeom>
          <a:noFill/>
        </p:spPr>
        <p:txBody>
          <a:bodyPr wrap="square" anchor="ctr" lIns="0" rIns="0" tIns="0" bIns="0">
            <a:spAutoFit/>
          </a:bodyPr>
          <a:lstStyle/>
          <a:p>
            <a:pPr algn="l">
              <a:spcBef>
                <a:spcPts val="0"/>
              </a:spcBef>
              <a:spcAft>
                <a:spcPts val="400"/>
              </a:spcAft>
            </a:pPr>
            <a:r>
              <a:rPr sz="1000" b="1">
                <a:solidFill>
                  <a:srgbClr val="161B26"/>
                </a:solidFill>
                <a:latin typeface="Arial"/>
              </a:rPr>
              <a:t>Best for</a:t>
            </a:r>
          </a:p>
        </p:txBody>
      </p:sp>
      <p:sp>
        <p:nvSpPr>
          <p:cNvPr id="45" name="Rectangle 44"/>
          <p:cNvSpPr/>
          <p:nvPr/>
        </p:nvSpPr>
        <p:spPr>
          <a:xfrm>
            <a:off x="3063240" y="4617719"/>
            <a:ext cx="416052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191256" y="4617719"/>
            <a:ext cx="3904488" cy="457200"/>
          </a:xfrm>
          <a:prstGeom prst="rect">
            <a:avLst/>
          </a:prstGeom>
          <a:noFill/>
        </p:spPr>
        <p:txBody>
          <a:bodyPr wrap="square" anchor="ctr" lIns="0" rIns="0" tIns="0" bIns="0">
            <a:spAutoFit/>
          </a:bodyPr>
          <a:lstStyle/>
          <a:p>
            <a:pPr algn="l">
              <a:spcBef>
                <a:spcPts val="0"/>
              </a:spcBef>
              <a:spcAft>
                <a:spcPts val="400"/>
              </a:spcAft>
            </a:pPr>
            <a:r>
              <a:rPr sz="1000" b="0">
                <a:solidFill>
                  <a:srgbClr val="161B26"/>
                </a:solidFill>
                <a:latin typeface="Arial"/>
              </a:rPr>
              <a:t>Repeatable, regulated, high-volume processes</a:t>
            </a:r>
          </a:p>
        </p:txBody>
      </p:sp>
      <p:sp>
        <p:nvSpPr>
          <p:cNvPr id="47" name="Rectangle 46"/>
          <p:cNvSpPr/>
          <p:nvPr/>
        </p:nvSpPr>
        <p:spPr>
          <a:xfrm>
            <a:off x="7223760" y="4617719"/>
            <a:ext cx="4187952"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51776" y="4617719"/>
            <a:ext cx="3931920" cy="457200"/>
          </a:xfrm>
          <a:prstGeom prst="rect">
            <a:avLst/>
          </a:prstGeom>
          <a:noFill/>
        </p:spPr>
        <p:txBody>
          <a:bodyPr wrap="square" anchor="ctr" lIns="0" rIns="0" tIns="0" bIns="0">
            <a:spAutoFit/>
          </a:bodyPr>
          <a:lstStyle/>
          <a:p>
            <a:pPr algn="l">
              <a:spcBef>
                <a:spcPts val="0"/>
              </a:spcBef>
              <a:spcAft>
                <a:spcPts val="400"/>
              </a:spcAft>
            </a:pPr>
            <a:r>
              <a:rPr sz="1000" b="0">
                <a:solidFill>
                  <a:srgbClr val="161B26"/>
                </a:solidFill>
                <a:latin typeface="Arial"/>
              </a:rPr>
              <a:t>Open-ended tasks with unpredictable inputs</a:t>
            </a:r>
          </a:p>
        </p:txBody>
      </p:sp>
      <p:sp>
        <p:nvSpPr>
          <p:cNvPr id="49" name="TextBox 48"/>
          <p:cNvSpPr txBox="1"/>
          <p:nvPr/>
        </p:nvSpPr>
        <p:spPr>
          <a:xfrm>
            <a:off x="777240" y="5394960"/>
            <a:ext cx="10634472" cy="274320"/>
          </a:xfrm>
          <a:prstGeom prst="rect">
            <a:avLst/>
          </a:prstGeom>
          <a:noFill/>
        </p:spPr>
        <p:txBody>
          <a:bodyPr wrap="square" anchor="t" lIns="0" rIns="0" tIns="0" bIns="0">
            <a:spAutoFit/>
          </a:bodyPr>
          <a:lstStyle/>
          <a:p>
            <a:pPr algn="r">
              <a:spcBef>
                <a:spcPts val="0"/>
              </a:spcBef>
              <a:spcAft>
                <a:spcPts val="400"/>
              </a:spcAft>
            </a:pPr>
            <a:r>
              <a:rPr sz="900" b="0">
                <a:solidFill>
                  <a:srgbClr val="5B6372"/>
                </a:solidFill>
                <a:latin typeface="Arial"/>
              </a:rPr>
              <a:t>Source: n8n, In The Loop 2026 — opening keynote and product direction (youtube.com/watch?v=KQRe5UurLQ0)</a:t>
            </a:r>
          </a:p>
        </p:txBody>
      </p:sp>
      <p:sp>
        <p:nvSpPr>
          <p:cNvPr id="50" name="Rounded Rectangle 49"/>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Workflow first is more deterministic; agent first is more efficient. Companies make as much deterministic as they can.</a:t>
            </a:r>
          </a:p>
        </p:txBody>
      </p:sp>
      <p:sp>
        <p:nvSpPr>
          <p:cNvPr id="52" name="TextBox 5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53" name="TextBox 5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54" name="TextBox 5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THE MODERN VIEW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The Trend: AI-Assisted Workflow Creation</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AI-powered coding has flipped the trade-off — the agent's efficiency goes into BUILDING the workflow, not running it.</a:t>
            </a:r>
          </a:p>
        </p:txBody>
      </p:sp>
      <p:sp>
        <p:nvSpPr>
          <p:cNvPr id="7" name="Rounded Rectangle 6"/>
          <p:cNvSpPr/>
          <p:nvPr/>
        </p:nvSpPr>
        <p:spPr>
          <a:xfrm>
            <a:off x="777240" y="1874519"/>
            <a:ext cx="1878177" cy="9144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74519"/>
            <a:ext cx="1695297" cy="91440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Describe</a:t>
            </a:r>
          </a:p>
          <a:p>
            <a:pPr algn="ctr">
              <a:spcBef>
                <a:spcPts val="0"/>
              </a:spcBef>
              <a:spcAft>
                <a:spcPts val="200"/>
              </a:spcAft>
            </a:pPr>
            <a:r>
              <a:rPr sz="850" b="0">
                <a:solidFill>
                  <a:srgbClr val="5B6372"/>
                </a:solidFill>
                <a:latin typeface="Arial"/>
              </a:rPr>
              <a:t>the process in plain English</a:t>
            </a:r>
          </a:p>
        </p:txBody>
      </p:sp>
      <p:sp>
        <p:nvSpPr>
          <p:cNvPr id="9" name="TextBox 8"/>
          <p:cNvSpPr txBox="1"/>
          <p:nvPr/>
        </p:nvSpPr>
        <p:spPr>
          <a:xfrm>
            <a:off x="2627985" y="216712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0" name="Rounded Rectangle 9"/>
          <p:cNvSpPr/>
          <p:nvPr/>
        </p:nvSpPr>
        <p:spPr>
          <a:xfrm>
            <a:off x="2966313" y="1874519"/>
            <a:ext cx="1878177" cy="9144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7753" y="1874519"/>
            <a:ext cx="1695297" cy="91440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n8n Assistant</a:t>
            </a:r>
          </a:p>
          <a:p>
            <a:pPr algn="ctr">
              <a:spcBef>
                <a:spcPts val="0"/>
              </a:spcBef>
              <a:spcAft>
                <a:spcPts val="200"/>
              </a:spcAft>
            </a:pPr>
            <a:r>
              <a:rPr sz="850" b="0">
                <a:solidFill>
                  <a:srgbClr val="5B6372"/>
                </a:solidFill>
                <a:latin typeface="Arial"/>
              </a:rPr>
              <a:t>or Claude Code / Codex drafts it</a:t>
            </a:r>
          </a:p>
        </p:txBody>
      </p:sp>
      <p:sp>
        <p:nvSpPr>
          <p:cNvPr id="12" name="TextBox 11"/>
          <p:cNvSpPr txBox="1"/>
          <p:nvPr/>
        </p:nvSpPr>
        <p:spPr>
          <a:xfrm>
            <a:off x="4817058" y="216712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3" name="Rounded Rectangle 12"/>
          <p:cNvSpPr/>
          <p:nvPr/>
        </p:nvSpPr>
        <p:spPr>
          <a:xfrm>
            <a:off x="5155386" y="1874519"/>
            <a:ext cx="1878177" cy="9144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6826" y="1874519"/>
            <a:ext cx="1695297" cy="91440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You review</a:t>
            </a:r>
          </a:p>
          <a:p>
            <a:pPr algn="ctr">
              <a:spcBef>
                <a:spcPts val="0"/>
              </a:spcBef>
              <a:spcAft>
                <a:spcPts val="200"/>
              </a:spcAft>
            </a:pPr>
            <a:r>
              <a:rPr sz="850" b="0">
                <a:solidFill>
                  <a:srgbClr val="5B6372"/>
                </a:solidFill>
                <a:latin typeface="Arial"/>
              </a:rPr>
              <a:t>test and approve it</a:t>
            </a:r>
          </a:p>
        </p:txBody>
      </p:sp>
      <p:sp>
        <p:nvSpPr>
          <p:cNvPr id="15" name="TextBox 14"/>
          <p:cNvSpPr txBox="1"/>
          <p:nvPr/>
        </p:nvSpPr>
        <p:spPr>
          <a:xfrm>
            <a:off x="7006131" y="216712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6" name="Rounded Rectangle 15"/>
          <p:cNvSpPr/>
          <p:nvPr/>
        </p:nvSpPr>
        <p:spPr>
          <a:xfrm>
            <a:off x="7344459" y="1874519"/>
            <a:ext cx="1878177" cy="9144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5899" y="1874519"/>
            <a:ext cx="1695297" cy="91440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Workflow runs</a:t>
            </a:r>
          </a:p>
          <a:p>
            <a:pPr algn="ctr">
              <a:spcBef>
                <a:spcPts val="0"/>
              </a:spcBef>
              <a:spcAft>
                <a:spcPts val="200"/>
              </a:spcAft>
            </a:pPr>
            <a:r>
              <a:rPr sz="850" b="0">
                <a:solidFill>
                  <a:srgbClr val="5B6372"/>
                </a:solidFill>
                <a:latin typeface="Arial"/>
              </a:rPr>
              <a:t>deterministic and logged</a:t>
            </a:r>
          </a:p>
        </p:txBody>
      </p:sp>
      <p:sp>
        <p:nvSpPr>
          <p:cNvPr id="18" name="TextBox 17"/>
          <p:cNvSpPr txBox="1"/>
          <p:nvPr/>
        </p:nvSpPr>
        <p:spPr>
          <a:xfrm>
            <a:off x="9195204" y="216712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9" name="Rounded Rectangle 18"/>
          <p:cNvSpPr/>
          <p:nvPr/>
        </p:nvSpPr>
        <p:spPr>
          <a:xfrm>
            <a:off x="9533532" y="1874519"/>
            <a:ext cx="1878177" cy="9144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24972" y="1874519"/>
            <a:ext cx="1695297" cy="91440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AI and agent nodes</a:t>
            </a:r>
          </a:p>
          <a:p>
            <a:pPr algn="ctr">
              <a:spcBef>
                <a:spcPts val="0"/>
              </a:spcBef>
              <a:spcAft>
                <a:spcPts val="200"/>
              </a:spcAft>
            </a:pPr>
            <a:r>
              <a:rPr sz="850" b="0">
                <a:solidFill>
                  <a:srgbClr val="5B6372"/>
                </a:solidFill>
                <a:latin typeface="Arial"/>
              </a:rPr>
              <a:t>where judgement is needed</a:t>
            </a:r>
          </a:p>
        </p:txBody>
      </p:sp>
      <p:sp>
        <p:nvSpPr>
          <p:cNvPr id="21" name="Rounded Rectangle 20"/>
          <p:cNvSpPr/>
          <p:nvPr/>
        </p:nvSpPr>
        <p:spPr>
          <a:xfrm>
            <a:off x="777240" y="3063240"/>
            <a:ext cx="3349752" cy="246888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60120" y="320954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320954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24" name="TextBox 23"/>
          <p:cNvSpPr txBox="1"/>
          <p:nvPr/>
        </p:nvSpPr>
        <p:spPr>
          <a:xfrm>
            <a:off x="1399032" y="321868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Companies want determinism</a:t>
            </a:r>
          </a:p>
        </p:txBody>
      </p:sp>
      <p:sp>
        <p:nvSpPr>
          <p:cNvPr id="25" name="TextBox 24"/>
          <p:cNvSpPr txBox="1"/>
          <p:nvPr/>
        </p:nvSpPr>
        <p:spPr>
          <a:xfrm>
            <a:off x="978408" y="3611880"/>
            <a:ext cx="2947416" cy="17739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Reliability, compliance and audit push businesses to make as much of a process deterministic as possible.</a:t>
            </a:r>
          </a:p>
        </p:txBody>
      </p:sp>
      <p:sp>
        <p:nvSpPr>
          <p:cNvPr id="26" name="Rounded Rectangle 25"/>
          <p:cNvSpPr/>
          <p:nvPr/>
        </p:nvSpPr>
        <p:spPr>
          <a:xfrm>
            <a:off x="4419600" y="3063240"/>
            <a:ext cx="3349752" cy="246888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02480" y="320954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02480" y="320954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29" name="TextBox 28"/>
          <p:cNvSpPr txBox="1"/>
          <p:nvPr/>
        </p:nvSpPr>
        <p:spPr>
          <a:xfrm>
            <a:off x="5041392" y="321868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AI coding made it cheap</a:t>
            </a:r>
          </a:p>
        </p:txBody>
      </p:sp>
      <p:sp>
        <p:nvSpPr>
          <p:cNvPr id="30" name="TextBox 29"/>
          <p:cNvSpPr txBox="1"/>
          <p:nvPr/>
        </p:nvSpPr>
        <p:spPr>
          <a:xfrm>
            <a:off x="4620768" y="3611880"/>
            <a:ext cx="2947416" cy="17739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n8n Assistant, Claude Code and Codex are AI agents themselves — they make designing, building and changing workflows fast and cheap.</a:t>
            </a:r>
          </a:p>
        </p:txBody>
      </p:sp>
      <p:sp>
        <p:nvSpPr>
          <p:cNvPr id="31" name="Rounded Rectangle 30"/>
          <p:cNvSpPr/>
          <p:nvPr/>
        </p:nvSpPr>
        <p:spPr>
          <a:xfrm>
            <a:off x="8061960" y="3063240"/>
            <a:ext cx="3349752" cy="246888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244840" y="320954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44840" y="320954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34" name="TextBox 33"/>
          <p:cNvSpPr txBox="1"/>
          <p:nvPr/>
        </p:nvSpPr>
        <p:spPr>
          <a:xfrm>
            <a:off x="8683752" y="321868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The best of both</a:t>
            </a:r>
          </a:p>
        </p:txBody>
      </p:sp>
      <p:sp>
        <p:nvSpPr>
          <p:cNvPr id="35" name="TextBox 34"/>
          <p:cNvSpPr txBox="1"/>
          <p:nvPr/>
        </p:nvSpPr>
        <p:spPr>
          <a:xfrm>
            <a:off x="8263128" y="3611880"/>
            <a:ext cx="2947416" cy="17739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An AI agent BUILDS the workflow; a deterministic workflow RUNS the process, with AI and AI Agent nodes where judgement is needed.</a:t>
            </a:r>
          </a:p>
        </p:txBody>
      </p:sp>
      <p:sp>
        <p:nvSpPr>
          <p:cNvPr id="36" name="Rounded Rectangle 35"/>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The trend: AI-assisted workflow creation — the AI builds the workflow, and the workflow runs the business process.</a:t>
            </a:r>
          </a:p>
        </p:txBody>
      </p:sp>
      <p:sp>
        <p:nvSpPr>
          <p:cNvPr id="38" name="TextBox 3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9" name="TextBox 3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0" name="TextBox 3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COMPLEXITY VS CUSTOMISATION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Where AI Agent Platforms Sit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Three tiers — and AI now helps build at every one of them. This course teaches the middle one.</a:t>
            </a:r>
          </a:p>
        </p:txBody>
      </p:sp>
      <p:sp>
        <p:nvSpPr>
          <p:cNvPr id="7" name="Rounded Rectangle 6"/>
          <p:cNvSpPr/>
          <p:nvPr/>
        </p:nvSpPr>
        <p:spPr>
          <a:xfrm>
            <a:off x="777240" y="1874519"/>
            <a:ext cx="3349752" cy="3246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2020823"/>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020823"/>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2029967"/>
            <a:ext cx="2526792" cy="310896"/>
          </a:xfrm>
          <a:prstGeom prst="rect">
            <a:avLst/>
          </a:prstGeom>
          <a:noFill/>
        </p:spPr>
        <p:txBody>
          <a:bodyPr wrap="square" anchor="t" lIns="0" rIns="0" tIns="0" bIns="0">
            <a:spAutoFit/>
          </a:bodyPr>
          <a:lstStyle/>
          <a:p>
            <a:pPr algn="l">
              <a:spcBef>
                <a:spcPts val="0"/>
              </a:spcBef>
              <a:spcAft>
                <a:spcPts val="400"/>
              </a:spcAft>
            </a:pPr>
            <a:r>
              <a:rPr sz="1400" b="1">
                <a:solidFill>
                  <a:srgbClr val="1F6FEB"/>
                </a:solidFill>
                <a:latin typeface="Arial"/>
              </a:rPr>
              <a:t>No-code</a:t>
            </a:r>
          </a:p>
        </p:txBody>
      </p:sp>
      <p:sp>
        <p:nvSpPr>
          <p:cNvPr id="11" name="TextBox 10"/>
          <p:cNvSpPr txBox="1"/>
          <p:nvPr/>
        </p:nvSpPr>
        <p:spPr>
          <a:xfrm>
            <a:off x="978408" y="2478023"/>
            <a:ext cx="2947416" cy="2514600"/>
          </a:xfrm>
          <a:prstGeom prst="rect">
            <a:avLst/>
          </a:prstGeom>
          <a:noFill/>
        </p:spPr>
        <p:txBody>
          <a:bodyPr wrap="square" anchor="t" lIns="0" rIns="0" tIns="0" bIns="0">
            <a:spAutoFit/>
          </a:bodyPr>
          <a:lstStyle/>
          <a:p>
            <a:pPr algn="l">
              <a:spcBef>
                <a:spcPts val="0"/>
              </a:spcBef>
              <a:spcAft>
                <a:spcPts val="400"/>
              </a:spcAft>
            </a:pPr>
            <a:r>
              <a:rPr sz="900" b="1">
                <a:solidFill>
                  <a:srgbClr val="1F6FEB"/>
                </a:solidFill>
                <a:latin typeface="Arial"/>
              </a:rPr>
              <a:t>HOW YOU BUILD</a:t>
            </a:r>
          </a:p>
          <a:p>
            <a:pPr algn="l">
              <a:spcBef>
                <a:spcPts val="0"/>
              </a:spcBef>
              <a:spcAft>
                <a:spcPts val="400"/>
              </a:spcAft>
            </a:pPr>
            <a:r>
              <a:rPr sz="1100" b="0">
                <a:solidFill>
                  <a:srgbClr val="161B26"/>
                </a:solidFill>
                <a:latin typeface="Arial"/>
              </a:rPr>
              <a:t>Drag and drop in a fully visual builder.</a:t>
            </a:r>
          </a:p>
          <a:p>
            <a:pPr algn="l">
              <a:spcBef>
                <a:spcPts val="0"/>
              </a:spcBef>
              <a:spcAft>
                <a:spcPts val="400"/>
              </a:spcAft>
            </a:pPr>
            <a:r>
              <a:rPr sz="900" b="1">
                <a:solidFill>
                  <a:srgbClr val="1F6FEB"/>
                </a:solidFill>
                <a:latin typeface="Arial"/>
              </a:rPr>
              <a:t>CUSTOMISATION</a:t>
            </a:r>
          </a:p>
          <a:p>
            <a:pPr algn="l">
              <a:spcBef>
                <a:spcPts val="0"/>
              </a:spcBef>
              <a:spcAft>
                <a:spcPts val="400"/>
              </a:spcAft>
            </a:pPr>
            <a:r>
              <a:rPr sz="1100" b="0">
                <a:solidFill>
                  <a:srgbClr val="161B26"/>
                </a:solidFill>
                <a:latin typeface="Arial"/>
              </a:rPr>
              <a:t>Lowest. Fastest route to a working agent, least control over the internals.</a:t>
            </a:r>
          </a:p>
        </p:txBody>
      </p:sp>
      <p:sp>
        <p:nvSpPr>
          <p:cNvPr id="12" name="Rounded Rectangle 11"/>
          <p:cNvSpPr/>
          <p:nvPr/>
        </p:nvSpPr>
        <p:spPr>
          <a:xfrm>
            <a:off x="4419600" y="1874519"/>
            <a:ext cx="3349752" cy="3246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2480" y="2020823"/>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2480" y="2020823"/>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5041392" y="2029967"/>
            <a:ext cx="2526792" cy="310896"/>
          </a:xfrm>
          <a:prstGeom prst="rect">
            <a:avLst/>
          </a:prstGeom>
          <a:noFill/>
        </p:spPr>
        <p:txBody>
          <a:bodyPr wrap="square" anchor="t" lIns="0" rIns="0" tIns="0" bIns="0">
            <a:spAutoFit/>
          </a:bodyPr>
          <a:lstStyle/>
          <a:p>
            <a:pPr algn="l">
              <a:spcBef>
                <a:spcPts val="0"/>
              </a:spcBef>
              <a:spcAft>
                <a:spcPts val="400"/>
              </a:spcAft>
            </a:pPr>
            <a:r>
              <a:rPr sz="1400" b="1">
                <a:solidFill>
                  <a:srgbClr val="10B981"/>
                </a:solidFill>
                <a:latin typeface="Arial"/>
              </a:rPr>
              <a:t>Low-code  ·  n8n</a:t>
            </a:r>
          </a:p>
        </p:txBody>
      </p:sp>
      <p:sp>
        <p:nvSpPr>
          <p:cNvPr id="16" name="TextBox 15"/>
          <p:cNvSpPr txBox="1"/>
          <p:nvPr/>
        </p:nvSpPr>
        <p:spPr>
          <a:xfrm>
            <a:off x="4620768" y="2478023"/>
            <a:ext cx="2947416" cy="2514600"/>
          </a:xfrm>
          <a:prstGeom prst="rect">
            <a:avLst/>
          </a:prstGeom>
          <a:noFill/>
        </p:spPr>
        <p:txBody>
          <a:bodyPr wrap="square" anchor="t" lIns="0" rIns="0" tIns="0" bIns="0">
            <a:spAutoFit/>
          </a:bodyPr>
          <a:lstStyle/>
          <a:p>
            <a:pPr algn="l">
              <a:spcBef>
                <a:spcPts val="0"/>
              </a:spcBef>
              <a:spcAft>
                <a:spcPts val="400"/>
              </a:spcAft>
            </a:pPr>
            <a:r>
              <a:rPr sz="900" b="1">
                <a:solidFill>
                  <a:srgbClr val="10B981"/>
                </a:solidFill>
                <a:latin typeface="Arial"/>
              </a:rPr>
              <a:t>HOW YOU BUILD</a:t>
            </a:r>
          </a:p>
          <a:p>
            <a:pPr algn="l">
              <a:spcBef>
                <a:spcPts val="0"/>
              </a:spcBef>
              <a:spcAft>
                <a:spcPts val="400"/>
              </a:spcAft>
            </a:pPr>
            <a:r>
              <a:rPr sz="1100" b="0">
                <a:solidFill>
                  <a:srgbClr val="161B26"/>
                </a:solidFill>
                <a:latin typeface="Arial"/>
              </a:rPr>
              <a:t>AI-assisted: n8n Assistant, Claude Code or Codex drafts the workflow on a visual canvas.</a:t>
            </a:r>
          </a:p>
          <a:p>
            <a:pPr algn="l">
              <a:spcBef>
                <a:spcPts val="0"/>
              </a:spcBef>
              <a:spcAft>
                <a:spcPts val="400"/>
              </a:spcAft>
            </a:pPr>
            <a:r>
              <a:rPr sz="900" b="1">
                <a:solidFill>
                  <a:srgbClr val="10B981"/>
                </a:solidFill>
                <a:latin typeface="Arial"/>
              </a:rPr>
              <a:t>CODE WHEN NEEDED</a:t>
            </a:r>
          </a:p>
          <a:p>
            <a:pPr algn="l">
              <a:spcBef>
                <a:spcPts val="0"/>
              </a:spcBef>
              <a:spcAft>
                <a:spcPts val="400"/>
              </a:spcAft>
            </a:pPr>
            <a:r>
              <a:rPr sz="1100" b="0">
                <a:solidFill>
                  <a:srgbClr val="161B26"/>
                </a:solidFill>
                <a:latin typeface="Arial"/>
              </a:rPr>
              <a:t>Add JavaScript or Python in a Code node where a built-in node is not enough.</a:t>
            </a:r>
          </a:p>
          <a:p>
            <a:pPr algn="l">
              <a:spcBef>
                <a:spcPts val="0"/>
              </a:spcBef>
              <a:spcAft>
                <a:spcPts val="400"/>
              </a:spcAft>
            </a:pPr>
            <a:r>
              <a:rPr sz="900" b="1">
                <a:solidFill>
                  <a:srgbClr val="10B981"/>
                </a:solidFill>
                <a:latin typeface="Arial"/>
              </a:rPr>
              <a:t>CUSTOMISATION</a:t>
            </a:r>
          </a:p>
          <a:p>
            <a:pPr algn="l">
              <a:spcBef>
                <a:spcPts val="0"/>
              </a:spcBef>
              <a:spcAft>
                <a:spcPts val="400"/>
              </a:spcAft>
            </a:pPr>
            <a:r>
              <a:rPr sz="1100" b="0">
                <a:solidFill>
                  <a:srgbClr val="161B26"/>
                </a:solidFill>
                <a:latin typeface="Arial"/>
              </a:rPr>
              <a:t>High. 400+ integrations, self-host or cloud. This course's platform.</a:t>
            </a:r>
          </a:p>
        </p:txBody>
      </p:sp>
      <p:sp>
        <p:nvSpPr>
          <p:cNvPr id="17" name="Rounded Rectangle 16"/>
          <p:cNvSpPr/>
          <p:nvPr/>
        </p:nvSpPr>
        <p:spPr>
          <a:xfrm>
            <a:off x="8061960" y="1874519"/>
            <a:ext cx="3349752" cy="324612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2020823"/>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2020823"/>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8683752" y="2029967"/>
            <a:ext cx="2526792" cy="310896"/>
          </a:xfrm>
          <a:prstGeom prst="rect">
            <a:avLst/>
          </a:prstGeom>
          <a:noFill/>
        </p:spPr>
        <p:txBody>
          <a:bodyPr wrap="square" anchor="t" lIns="0" rIns="0" tIns="0" bIns="0">
            <a:spAutoFit/>
          </a:bodyPr>
          <a:lstStyle/>
          <a:p>
            <a:pPr algn="l">
              <a:spcBef>
                <a:spcPts val="0"/>
              </a:spcBef>
              <a:spcAft>
                <a:spcPts val="400"/>
              </a:spcAft>
            </a:pPr>
            <a:r>
              <a:rPr sz="1400" b="1">
                <a:solidFill>
                  <a:srgbClr val="7C3AED"/>
                </a:solidFill>
                <a:latin typeface="Arial"/>
              </a:rPr>
              <a:t>Full-code</a:t>
            </a:r>
          </a:p>
        </p:txBody>
      </p:sp>
      <p:sp>
        <p:nvSpPr>
          <p:cNvPr id="21" name="TextBox 20"/>
          <p:cNvSpPr txBox="1"/>
          <p:nvPr/>
        </p:nvSpPr>
        <p:spPr>
          <a:xfrm>
            <a:off x="8263128" y="2478023"/>
            <a:ext cx="2947416" cy="2514600"/>
          </a:xfrm>
          <a:prstGeom prst="rect">
            <a:avLst/>
          </a:prstGeom>
          <a:noFill/>
        </p:spPr>
        <p:txBody>
          <a:bodyPr wrap="square" anchor="t" lIns="0" rIns="0" tIns="0" bIns="0">
            <a:spAutoFit/>
          </a:bodyPr>
          <a:lstStyle/>
          <a:p>
            <a:pPr algn="l">
              <a:spcBef>
                <a:spcPts val="0"/>
              </a:spcBef>
              <a:spcAft>
                <a:spcPts val="400"/>
              </a:spcAft>
            </a:pPr>
            <a:r>
              <a:rPr sz="900" b="1">
                <a:solidFill>
                  <a:srgbClr val="7C3AED"/>
                </a:solidFill>
                <a:latin typeface="Arial"/>
              </a:rPr>
              <a:t>HOW YOU BUILD</a:t>
            </a:r>
          </a:p>
          <a:p>
            <a:pPr algn="l">
              <a:spcBef>
                <a:spcPts val="0"/>
              </a:spcBef>
              <a:spcAft>
                <a:spcPts val="400"/>
              </a:spcAft>
            </a:pPr>
            <a:r>
              <a:rPr sz="1100" b="0">
                <a:solidFill>
                  <a:srgbClr val="161B26"/>
                </a:solidFill>
                <a:latin typeface="Arial"/>
              </a:rPr>
              <a:t>AI generates the code — Claude Code or Codex write it, instead of coding manually.</a:t>
            </a:r>
          </a:p>
          <a:p>
            <a:pPr algn="l">
              <a:spcBef>
                <a:spcPts val="0"/>
              </a:spcBef>
              <a:spcAft>
                <a:spcPts val="400"/>
              </a:spcAft>
            </a:pPr>
            <a:r>
              <a:rPr sz="900" b="1">
                <a:solidFill>
                  <a:srgbClr val="7C3AED"/>
                </a:solidFill>
                <a:latin typeface="Arial"/>
              </a:rPr>
              <a:t>CUSTOMISATION</a:t>
            </a:r>
          </a:p>
          <a:p>
            <a:pPr algn="l">
              <a:spcBef>
                <a:spcPts val="0"/>
              </a:spcBef>
              <a:spcAft>
                <a:spcPts val="400"/>
              </a:spcAft>
            </a:pPr>
            <a:r>
              <a:rPr sz="1100" b="0">
                <a:solidFill>
                  <a:srgbClr val="161B26"/>
                </a:solidFill>
                <a:latin typeface="Arial"/>
              </a:rPr>
              <a:t>Highest — the most customisable tier. SDKs and frameworks such as LangChain, with real engineering effort to test and run.</a:t>
            </a:r>
          </a:p>
        </p:txBody>
      </p:sp>
      <p:sp>
        <p:nvSpPr>
          <p:cNvPr id="22" name="Right Arrow 21"/>
          <p:cNvSpPr/>
          <p:nvPr/>
        </p:nvSpPr>
        <p:spPr>
          <a:xfrm>
            <a:off x="777240" y="5230368"/>
            <a:ext cx="10634472" cy="365760"/>
          </a:xfrm>
          <a:prstGeom prst="rightArrow">
            <a:avLst/>
          </a:prstGeom>
          <a:solidFill>
            <a:srgbClr val="F5F8FC"/>
          </a:solidFill>
          <a:ln>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230368"/>
            <a:ext cx="9875520" cy="365760"/>
          </a:xfrm>
          <a:prstGeom prst="rect">
            <a:avLst/>
          </a:prstGeom>
          <a:noFill/>
        </p:spPr>
        <p:txBody>
          <a:bodyPr wrap="square" anchor="ctr" lIns="0" rIns="0" tIns="0" bIns="0">
            <a:spAutoFit/>
          </a:bodyPr>
          <a:lstStyle/>
          <a:p>
            <a:pPr algn="ctr">
              <a:spcBef>
                <a:spcPts val="0"/>
              </a:spcBef>
              <a:spcAft>
                <a:spcPts val="400"/>
              </a:spcAft>
            </a:pPr>
            <a:r>
              <a:rPr sz="1050" b="1">
                <a:solidFill>
                  <a:srgbClr val="5B6372"/>
                </a:solidFill>
                <a:latin typeface="Arial"/>
              </a:rPr>
              <a:t>Less control, less effort   ·   more customisation, more engineering effort  →</a:t>
            </a:r>
          </a:p>
        </p:txBody>
      </p:sp>
      <p:sp>
        <p:nvSpPr>
          <p:cNvPr id="24" name="Rounded Rectangle 2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AI drafts the workflow in low-code and writes the code in full-code. n8n: analysts build it, engineers extend it.</a:t>
            </a:r>
          </a:p>
        </p:txBody>
      </p:sp>
      <p:sp>
        <p:nvSpPr>
          <p:cNvPr id="26" name="TextBox 2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WHY ORGANISATIONS ADOPT IT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Business Value of Workflow-First Agentic Automation</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modern view: what a business gains when AI builds the workflow and the workflow runs the process.</a:t>
            </a:r>
          </a:p>
        </p:txBody>
      </p:sp>
      <p:sp>
        <p:nvSpPr>
          <p:cNvPr id="7" name="Rounded Rectangle 6"/>
          <p:cNvSpPr/>
          <p:nvPr/>
        </p:nvSpPr>
        <p:spPr>
          <a:xfrm>
            <a:off x="777240" y="1810512"/>
            <a:ext cx="3349752" cy="178765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56816"/>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56816"/>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65960"/>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Reliable and predictable</a:t>
            </a:r>
          </a:p>
        </p:txBody>
      </p:sp>
      <p:sp>
        <p:nvSpPr>
          <p:cNvPr id="11" name="TextBox 10"/>
          <p:cNvSpPr txBox="1"/>
          <p:nvPr/>
        </p:nvSpPr>
        <p:spPr>
          <a:xfrm>
            <a:off x="978408" y="2359152"/>
            <a:ext cx="2947416" cy="109270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The same input follows the same path every time, so the process can be tested and trusted like software.</a:t>
            </a:r>
          </a:p>
        </p:txBody>
      </p:sp>
      <p:sp>
        <p:nvSpPr>
          <p:cNvPr id="12" name="Rounded Rectangle 11"/>
          <p:cNvSpPr/>
          <p:nvPr/>
        </p:nvSpPr>
        <p:spPr>
          <a:xfrm>
            <a:off x="4419600" y="1810512"/>
            <a:ext cx="3349752" cy="1787652"/>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2480" y="1956816"/>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2480" y="1956816"/>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5041392" y="1965960"/>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Secure by design</a:t>
            </a:r>
          </a:p>
        </p:txBody>
      </p:sp>
      <p:sp>
        <p:nvSpPr>
          <p:cNvPr id="16" name="TextBox 15"/>
          <p:cNvSpPr txBox="1"/>
          <p:nvPr/>
        </p:nvSpPr>
        <p:spPr>
          <a:xfrm>
            <a:off x="4620768" y="2359152"/>
            <a:ext cx="2947416" cy="109270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Each step holds only the data and credentials it needs; risky actions wait at an approval gate.</a:t>
            </a:r>
          </a:p>
        </p:txBody>
      </p:sp>
      <p:sp>
        <p:nvSpPr>
          <p:cNvPr id="17" name="Rounded Rectangle 16"/>
          <p:cNvSpPr/>
          <p:nvPr/>
        </p:nvSpPr>
        <p:spPr>
          <a:xfrm>
            <a:off x="8061960" y="1810512"/>
            <a:ext cx="3349752" cy="1787652"/>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1956816"/>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1956816"/>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8683752" y="1965960"/>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Auditable end to end</a:t>
            </a:r>
          </a:p>
        </p:txBody>
      </p:sp>
      <p:sp>
        <p:nvSpPr>
          <p:cNvPr id="21" name="TextBox 20"/>
          <p:cNvSpPr txBox="1"/>
          <p:nvPr/>
        </p:nvSpPr>
        <p:spPr>
          <a:xfrm>
            <a:off x="8263128" y="2359152"/>
            <a:ext cx="2947416" cy="109270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Every run is logged node by node — you can explain, replay and correct any decision.</a:t>
            </a:r>
          </a:p>
        </p:txBody>
      </p:sp>
      <p:sp>
        <p:nvSpPr>
          <p:cNvPr id="22" name="Rounded Rectangle 21"/>
          <p:cNvSpPr/>
          <p:nvPr/>
        </p:nvSpPr>
        <p:spPr>
          <a:xfrm>
            <a:off x="777240" y="3817620"/>
            <a:ext cx="3349752" cy="1787652"/>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0120" y="3963924"/>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396392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1399032" y="397306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Lower running cost</a:t>
            </a:r>
          </a:p>
        </p:txBody>
      </p:sp>
      <p:sp>
        <p:nvSpPr>
          <p:cNvPr id="26" name="TextBox 25"/>
          <p:cNvSpPr txBox="1"/>
          <p:nvPr/>
        </p:nvSpPr>
        <p:spPr>
          <a:xfrm>
            <a:off x="978408" y="4366260"/>
            <a:ext cx="2947416" cy="109270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Deterministic steps cost nothing in tokens; the LLM is called only where judgement is needed.</a:t>
            </a:r>
          </a:p>
        </p:txBody>
      </p:sp>
      <p:sp>
        <p:nvSpPr>
          <p:cNvPr id="27" name="Rounded Rectangle 26"/>
          <p:cNvSpPr/>
          <p:nvPr/>
        </p:nvSpPr>
        <p:spPr>
          <a:xfrm>
            <a:off x="4419600" y="3817620"/>
            <a:ext cx="3349752" cy="1787652"/>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02480" y="3963924"/>
            <a:ext cx="310896" cy="310896"/>
          </a:xfrm>
          <a:prstGeom prst="ellipse">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02480" y="396392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5</a:t>
            </a:r>
          </a:p>
        </p:txBody>
      </p:sp>
      <p:sp>
        <p:nvSpPr>
          <p:cNvPr id="30" name="TextBox 29"/>
          <p:cNvSpPr txBox="1"/>
          <p:nvPr/>
        </p:nvSpPr>
        <p:spPr>
          <a:xfrm>
            <a:off x="5041392" y="397306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Faster to build and change</a:t>
            </a:r>
          </a:p>
        </p:txBody>
      </p:sp>
      <p:sp>
        <p:nvSpPr>
          <p:cNvPr id="31" name="TextBox 30"/>
          <p:cNvSpPr txBox="1"/>
          <p:nvPr/>
        </p:nvSpPr>
        <p:spPr>
          <a:xfrm>
            <a:off x="4620768" y="4366260"/>
            <a:ext cx="2947416" cy="109270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n8n Assistant, Claude Code and Codex draft the workflow in minutes; your team reviews, tests and owns it.</a:t>
            </a:r>
          </a:p>
        </p:txBody>
      </p:sp>
      <p:sp>
        <p:nvSpPr>
          <p:cNvPr id="32" name="Rounded Rectangle 31"/>
          <p:cNvSpPr/>
          <p:nvPr/>
        </p:nvSpPr>
        <p:spPr>
          <a:xfrm>
            <a:off x="8061960" y="3817620"/>
            <a:ext cx="3349752" cy="1787652"/>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244840" y="3963924"/>
            <a:ext cx="310896" cy="310896"/>
          </a:xfrm>
          <a:prstGeom prst="ellipse">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44840" y="396392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6</a:t>
            </a:r>
          </a:p>
        </p:txBody>
      </p:sp>
      <p:sp>
        <p:nvSpPr>
          <p:cNvPr id="35" name="TextBox 34"/>
          <p:cNvSpPr txBox="1"/>
          <p:nvPr/>
        </p:nvSpPr>
        <p:spPr>
          <a:xfrm>
            <a:off x="8683752" y="397306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Scale around the clock</a:t>
            </a:r>
          </a:p>
        </p:txBody>
      </p:sp>
      <p:sp>
        <p:nvSpPr>
          <p:cNvPr id="36" name="TextBox 35"/>
          <p:cNvSpPr txBox="1"/>
          <p:nvPr/>
        </p:nvSpPr>
        <p:spPr>
          <a:xfrm>
            <a:off x="8263128" y="4366260"/>
            <a:ext cx="2947416" cy="109270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Triggers respond in real time, 24/7 — ten times the volume costs compute, not ten more hires.</a:t>
            </a:r>
          </a:p>
        </p:txBody>
      </p:sp>
      <p:sp>
        <p:nvSpPr>
          <p:cNvPr id="37" name="Rounded Rectangle 3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AI where judgement is needed, workflow everywhere else — reliability you can audit, at a cost you can predict.</a:t>
            </a:r>
          </a:p>
        </p:txBody>
      </p:sp>
      <p:sp>
        <p:nvSpPr>
          <p:cNvPr id="39" name="TextBox 3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0" name="TextBox 3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1" name="TextBox 4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USE CASES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Where Agentic Automation Is Used</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same pattern — trigger, agent, tools, oversight — recurs across every function.</a:t>
            </a:r>
          </a:p>
        </p:txBody>
      </p:sp>
      <p:sp>
        <p:nvSpPr>
          <p:cNvPr id="7" name="Rounded Rectangle 6"/>
          <p:cNvSpPr/>
          <p:nvPr/>
        </p:nvSpPr>
        <p:spPr>
          <a:xfrm>
            <a:off x="777240" y="1810512"/>
            <a:ext cx="3349752" cy="178765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56816"/>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56816"/>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65960"/>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Customer service</a:t>
            </a:r>
          </a:p>
        </p:txBody>
      </p:sp>
      <p:sp>
        <p:nvSpPr>
          <p:cNvPr id="11" name="TextBox 10"/>
          <p:cNvSpPr txBox="1"/>
          <p:nvPr/>
        </p:nvSpPr>
        <p:spPr>
          <a:xfrm>
            <a:off x="978408" y="2359152"/>
            <a:ext cx="2947416" cy="109270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Answer enquiries from your own documents, capture leads, and escalate what needs a person.</a:t>
            </a:r>
          </a:p>
        </p:txBody>
      </p:sp>
      <p:sp>
        <p:nvSpPr>
          <p:cNvPr id="12" name="Rounded Rectangle 11"/>
          <p:cNvSpPr/>
          <p:nvPr/>
        </p:nvSpPr>
        <p:spPr>
          <a:xfrm>
            <a:off x="4419600" y="1810512"/>
            <a:ext cx="3349752" cy="1787652"/>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2480" y="1956816"/>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2480" y="1956816"/>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5041392" y="1965960"/>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Finance &amp; accounting</a:t>
            </a:r>
          </a:p>
        </p:txBody>
      </p:sp>
      <p:sp>
        <p:nvSpPr>
          <p:cNvPr id="16" name="TextBox 15"/>
          <p:cNvSpPr txBox="1"/>
          <p:nvPr/>
        </p:nvSpPr>
        <p:spPr>
          <a:xfrm>
            <a:off x="4620768" y="2359152"/>
            <a:ext cx="2947416" cy="109270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Invoice processing, bank reconciliation, accounts-payable routing and exception handling.</a:t>
            </a:r>
          </a:p>
        </p:txBody>
      </p:sp>
      <p:sp>
        <p:nvSpPr>
          <p:cNvPr id="17" name="Rounded Rectangle 16"/>
          <p:cNvSpPr/>
          <p:nvPr/>
        </p:nvSpPr>
        <p:spPr>
          <a:xfrm>
            <a:off x="8061960" y="1810512"/>
            <a:ext cx="3349752" cy="1787652"/>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1956816"/>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1956816"/>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8683752" y="1965960"/>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Risk &amp; compliance</a:t>
            </a:r>
          </a:p>
        </p:txBody>
      </p:sp>
      <p:sp>
        <p:nvSpPr>
          <p:cNvPr id="21" name="TextBox 20"/>
          <p:cNvSpPr txBox="1"/>
          <p:nvPr/>
        </p:nvSpPr>
        <p:spPr>
          <a:xfrm>
            <a:off x="8263128" y="2359152"/>
            <a:ext cx="2947416" cy="109270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Screen applications, flag anomalies, and route sensitive cases for human review.</a:t>
            </a:r>
          </a:p>
        </p:txBody>
      </p:sp>
      <p:sp>
        <p:nvSpPr>
          <p:cNvPr id="22" name="Rounded Rectangle 21"/>
          <p:cNvSpPr/>
          <p:nvPr/>
        </p:nvSpPr>
        <p:spPr>
          <a:xfrm>
            <a:off x="777240" y="3817620"/>
            <a:ext cx="3349752" cy="1787652"/>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0120" y="3963924"/>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396392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1399032" y="397306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HR &amp; people ops</a:t>
            </a:r>
          </a:p>
        </p:txBody>
      </p:sp>
      <p:sp>
        <p:nvSpPr>
          <p:cNvPr id="26" name="TextBox 25"/>
          <p:cNvSpPr txBox="1"/>
          <p:nvPr/>
        </p:nvSpPr>
        <p:spPr>
          <a:xfrm>
            <a:off x="978408" y="4366260"/>
            <a:ext cx="2947416" cy="109270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Onboarding, leave applications, policy questions and approval chains.</a:t>
            </a:r>
          </a:p>
        </p:txBody>
      </p:sp>
      <p:sp>
        <p:nvSpPr>
          <p:cNvPr id="27" name="Rounded Rectangle 26"/>
          <p:cNvSpPr/>
          <p:nvPr/>
        </p:nvSpPr>
        <p:spPr>
          <a:xfrm>
            <a:off x="4419600" y="3817620"/>
            <a:ext cx="3349752" cy="1787652"/>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02480" y="3963924"/>
            <a:ext cx="310896" cy="310896"/>
          </a:xfrm>
          <a:prstGeom prst="ellipse">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02480" y="396392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5</a:t>
            </a:r>
          </a:p>
        </p:txBody>
      </p:sp>
      <p:sp>
        <p:nvSpPr>
          <p:cNvPr id="30" name="TextBox 29"/>
          <p:cNvSpPr txBox="1"/>
          <p:nvPr/>
        </p:nvSpPr>
        <p:spPr>
          <a:xfrm>
            <a:off x="5041392" y="397306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Sales &amp; marketing</a:t>
            </a:r>
          </a:p>
        </p:txBody>
      </p:sp>
      <p:sp>
        <p:nvSpPr>
          <p:cNvPr id="31" name="TextBox 30"/>
          <p:cNvSpPr txBox="1"/>
          <p:nvPr/>
        </p:nvSpPr>
        <p:spPr>
          <a:xfrm>
            <a:off x="4620768" y="4366260"/>
            <a:ext cx="2947416" cy="109270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Lead qualification, follow-up sequencing, CRM enrichment and content drafting.</a:t>
            </a:r>
          </a:p>
        </p:txBody>
      </p:sp>
      <p:sp>
        <p:nvSpPr>
          <p:cNvPr id="32" name="Rounded Rectangle 31"/>
          <p:cNvSpPr/>
          <p:nvPr/>
        </p:nvSpPr>
        <p:spPr>
          <a:xfrm>
            <a:off x="8061960" y="3817620"/>
            <a:ext cx="3349752" cy="1787652"/>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244840" y="3963924"/>
            <a:ext cx="310896" cy="310896"/>
          </a:xfrm>
          <a:prstGeom prst="ellipse">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44840" y="396392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6</a:t>
            </a:r>
          </a:p>
        </p:txBody>
      </p:sp>
      <p:sp>
        <p:nvSpPr>
          <p:cNvPr id="35" name="TextBox 34"/>
          <p:cNvSpPr txBox="1"/>
          <p:nvPr/>
        </p:nvSpPr>
        <p:spPr>
          <a:xfrm>
            <a:off x="8683752" y="397306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Operations</a:t>
            </a:r>
          </a:p>
        </p:txBody>
      </p:sp>
      <p:sp>
        <p:nvSpPr>
          <p:cNvPr id="36" name="TextBox 35"/>
          <p:cNvSpPr txBox="1"/>
          <p:nvPr/>
        </p:nvSpPr>
        <p:spPr>
          <a:xfrm>
            <a:off x="8263128" y="4366260"/>
            <a:ext cx="2947416" cy="109270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Order processing, status notifications, document generation and reporting.</a:t>
            </a:r>
          </a:p>
        </p:txBody>
      </p:sp>
      <p:sp>
        <p:nvSpPr>
          <p:cNvPr id="37" name="Rounded Rectangle 3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Every one of these is a front door, an agent, some tools and a decision about where the human belongs.</a:t>
            </a:r>
          </a:p>
        </p:txBody>
      </p:sp>
      <p:sp>
        <p:nvSpPr>
          <p:cNvPr id="39" name="TextBox 3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0" name="TextBox 3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1" name="TextBox 4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TOPIC 1 · AI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5 Principles of AI Security</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Agents act on your behalf. These five controls keep what they can see and do safe, reviewable and accountable.</a:t>
            </a:r>
          </a:p>
        </p:txBody>
      </p:sp>
      <p:sp>
        <p:nvSpPr>
          <p:cNvPr id="7" name="Rounded Rectangle 6"/>
          <p:cNvSpPr/>
          <p:nvPr/>
        </p:nvSpPr>
        <p:spPr>
          <a:xfrm>
            <a:off x="777240" y="1874519"/>
            <a:ext cx="1965960" cy="365760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31620" y="2075687"/>
            <a:ext cx="457200" cy="45720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31620" y="2075687"/>
            <a:ext cx="457200" cy="457200"/>
          </a:xfrm>
          <a:prstGeom prst="rect">
            <a:avLst/>
          </a:prstGeom>
          <a:noFill/>
        </p:spPr>
        <p:txBody>
          <a:bodyPr wrap="square" anchor="ctr" lIns="0" rIns="0" tIns="0" bIns="0">
            <a:spAutoFit/>
          </a:bodyPr>
          <a:lstStyle/>
          <a:p>
            <a:pPr algn="ctr">
              <a:spcBef>
                <a:spcPts val="0"/>
              </a:spcBef>
              <a:spcAft>
                <a:spcPts val="400"/>
              </a:spcAft>
            </a:pPr>
            <a:r>
              <a:rPr sz="1600" b="1">
                <a:solidFill>
                  <a:srgbClr val="FFFFFF"/>
                </a:solidFill>
                <a:latin typeface="Arial"/>
              </a:rPr>
              <a:t>1</a:t>
            </a:r>
          </a:p>
        </p:txBody>
      </p:sp>
      <p:sp>
        <p:nvSpPr>
          <p:cNvPr id="10" name="TextBox 9"/>
          <p:cNvSpPr txBox="1"/>
          <p:nvPr/>
        </p:nvSpPr>
        <p:spPr>
          <a:xfrm>
            <a:off x="886968" y="2651759"/>
            <a:ext cx="1746504" cy="566928"/>
          </a:xfrm>
          <a:prstGeom prst="rect">
            <a:avLst/>
          </a:prstGeom>
          <a:noFill/>
        </p:spPr>
        <p:txBody>
          <a:bodyPr wrap="square" anchor="ctr" lIns="0" rIns="0" tIns="0" bIns="0">
            <a:spAutoFit/>
          </a:bodyPr>
          <a:lstStyle/>
          <a:p>
            <a:pPr algn="ctr">
              <a:spcBef>
                <a:spcPts val="0"/>
              </a:spcBef>
              <a:spcAft>
                <a:spcPts val="400"/>
              </a:spcAft>
            </a:pPr>
            <a:r>
              <a:rPr sz="1350" b="1">
                <a:solidFill>
                  <a:srgbClr val="1F6FEB"/>
                </a:solidFill>
                <a:latin typeface="Arial"/>
              </a:rPr>
              <a:t>Data Control</a:t>
            </a:r>
          </a:p>
        </p:txBody>
      </p:sp>
      <p:sp>
        <p:nvSpPr>
          <p:cNvPr id="11" name="TextBox 10"/>
          <p:cNvSpPr txBox="1"/>
          <p:nvPr/>
        </p:nvSpPr>
        <p:spPr>
          <a:xfrm>
            <a:off x="886968" y="3246119"/>
            <a:ext cx="1746504" cy="274320"/>
          </a:xfrm>
          <a:prstGeom prst="rect">
            <a:avLst/>
          </a:prstGeom>
          <a:noFill/>
        </p:spPr>
        <p:txBody>
          <a:bodyPr wrap="square" anchor="t" lIns="0" rIns="0" tIns="0" bIns="0">
            <a:spAutoFit/>
          </a:bodyPr>
          <a:lstStyle/>
          <a:p>
            <a:pPr algn="ctr">
              <a:spcBef>
                <a:spcPts val="0"/>
              </a:spcBef>
              <a:spcAft>
                <a:spcPts val="400"/>
              </a:spcAft>
            </a:pPr>
            <a:r>
              <a:rPr sz="900" b="1">
                <a:solidFill>
                  <a:srgbClr val="5B6372"/>
                </a:solidFill>
                <a:latin typeface="Arial"/>
              </a:rPr>
              <a:t>WHAT AI CAN SEE</a:t>
            </a:r>
          </a:p>
        </p:txBody>
      </p:sp>
      <p:sp>
        <p:nvSpPr>
          <p:cNvPr id="12" name="TextBox 11"/>
          <p:cNvSpPr txBox="1"/>
          <p:nvPr/>
        </p:nvSpPr>
        <p:spPr>
          <a:xfrm>
            <a:off x="941832" y="3611879"/>
            <a:ext cx="1636776" cy="1828800"/>
          </a:xfrm>
          <a:prstGeom prst="rect">
            <a:avLst/>
          </a:prstGeom>
          <a:noFill/>
        </p:spPr>
        <p:txBody>
          <a:bodyPr wrap="square" anchor="t" lIns="0" rIns="0" tIns="0" bIns="0">
            <a:spAutoFit/>
          </a:bodyPr>
          <a:lstStyle/>
          <a:p>
            <a:pPr algn="ctr">
              <a:spcBef>
                <a:spcPts val="0"/>
              </a:spcBef>
              <a:spcAft>
                <a:spcPts val="300"/>
              </a:spcAft>
            </a:pPr>
            <a:r>
              <a:rPr sz="1100" b="0">
                <a:solidFill>
                  <a:srgbClr val="161B26"/>
                </a:solidFill>
                <a:latin typeface="Arial"/>
              </a:rPr>
              <a:t>Classify your data — public, internal, confidential — and decide exactly which data the AI may access.</a:t>
            </a:r>
          </a:p>
        </p:txBody>
      </p:sp>
      <p:sp>
        <p:nvSpPr>
          <p:cNvPr id="13" name="Rounded Rectangle 12"/>
          <p:cNvSpPr/>
          <p:nvPr/>
        </p:nvSpPr>
        <p:spPr>
          <a:xfrm>
            <a:off x="2944368" y="1874519"/>
            <a:ext cx="1965960" cy="365760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98748" y="2075687"/>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98748" y="2075687"/>
            <a:ext cx="457200" cy="457200"/>
          </a:xfrm>
          <a:prstGeom prst="rect">
            <a:avLst/>
          </a:prstGeom>
          <a:noFill/>
        </p:spPr>
        <p:txBody>
          <a:bodyPr wrap="square" anchor="ctr" lIns="0" rIns="0" tIns="0" bIns="0">
            <a:spAutoFit/>
          </a:bodyPr>
          <a:lstStyle/>
          <a:p>
            <a:pPr algn="ctr">
              <a:spcBef>
                <a:spcPts val="0"/>
              </a:spcBef>
              <a:spcAft>
                <a:spcPts val="400"/>
              </a:spcAft>
            </a:pPr>
            <a:r>
              <a:rPr sz="1600" b="1">
                <a:solidFill>
                  <a:srgbClr val="FFFFFF"/>
                </a:solidFill>
                <a:latin typeface="Arial"/>
              </a:rPr>
              <a:t>2</a:t>
            </a:r>
          </a:p>
        </p:txBody>
      </p:sp>
      <p:sp>
        <p:nvSpPr>
          <p:cNvPr id="16" name="TextBox 15"/>
          <p:cNvSpPr txBox="1"/>
          <p:nvPr/>
        </p:nvSpPr>
        <p:spPr>
          <a:xfrm>
            <a:off x="3054096" y="2651759"/>
            <a:ext cx="1746504" cy="566928"/>
          </a:xfrm>
          <a:prstGeom prst="rect">
            <a:avLst/>
          </a:prstGeom>
          <a:noFill/>
        </p:spPr>
        <p:txBody>
          <a:bodyPr wrap="square" anchor="ctr" lIns="0" rIns="0" tIns="0" bIns="0">
            <a:spAutoFit/>
          </a:bodyPr>
          <a:lstStyle/>
          <a:p>
            <a:pPr algn="ctr">
              <a:spcBef>
                <a:spcPts val="0"/>
              </a:spcBef>
              <a:spcAft>
                <a:spcPts val="400"/>
              </a:spcAft>
            </a:pPr>
            <a:r>
              <a:rPr sz="1350" b="1">
                <a:solidFill>
                  <a:srgbClr val="10B981"/>
                </a:solidFill>
                <a:latin typeface="Arial"/>
              </a:rPr>
              <a:t>Permission Control</a:t>
            </a:r>
          </a:p>
        </p:txBody>
      </p:sp>
      <p:sp>
        <p:nvSpPr>
          <p:cNvPr id="17" name="TextBox 16"/>
          <p:cNvSpPr txBox="1"/>
          <p:nvPr/>
        </p:nvSpPr>
        <p:spPr>
          <a:xfrm>
            <a:off x="3054096" y="3246119"/>
            <a:ext cx="1746504" cy="274320"/>
          </a:xfrm>
          <a:prstGeom prst="rect">
            <a:avLst/>
          </a:prstGeom>
          <a:noFill/>
        </p:spPr>
        <p:txBody>
          <a:bodyPr wrap="square" anchor="t" lIns="0" rIns="0" tIns="0" bIns="0">
            <a:spAutoFit/>
          </a:bodyPr>
          <a:lstStyle/>
          <a:p>
            <a:pPr algn="ctr">
              <a:spcBef>
                <a:spcPts val="0"/>
              </a:spcBef>
              <a:spcAft>
                <a:spcPts val="400"/>
              </a:spcAft>
            </a:pPr>
            <a:r>
              <a:rPr sz="900" b="1">
                <a:solidFill>
                  <a:srgbClr val="5B6372"/>
                </a:solidFill>
                <a:latin typeface="Arial"/>
              </a:rPr>
              <a:t>WHAT AI CAN DO</a:t>
            </a:r>
          </a:p>
        </p:txBody>
      </p:sp>
      <p:sp>
        <p:nvSpPr>
          <p:cNvPr id="18" name="TextBox 17"/>
          <p:cNvSpPr txBox="1"/>
          <p:nvPr/>
        </p:nvSpPr>
        <p:spPr>
          <a:xfrm>
            <a:off x="3108960" y="3611879"/>
            <a:ext cx="1636776" cy="1828800"/>
          </a:xfrm>
          <a:prstGeom prst="rect">
            <a:avLst/>
          </a:prstGeom>
          <a:noFill/>
        </p:spPr>
        <p:txBody>
          <a:bodyPr wrap="square" anchor="t" lIns="0" rIns="0" tIns="0" bIns="0">
            <a:spAutoFit/>
          </a:bodyPr>
          <a:lstStyle/>
          <a:p>
            <a:pPr algn="ctr">
              <a:spcBef>
                <a:spcPts val="0"/>
              </a:spcBef>
              <a:spcAft>
                <a:spcPts val="300"/>
              </a:spcAft>
            </a:pPr>
            <a:r>
              <a:rPr sz="1100" b="0">
                <a:solidFill>
                  <a:srgbClr val="161B26"/>
                </a:solidFill>
                <a:latin typeface="Arial"/>
              </a:rPr>
              <a:t>Grant only the rights needed — read, write, edit, delete. Ask before anything destructive.</a:t>
            </a:r>
          </a:p>
        </p:txBody>
      </p:sp>
      <p:sp>
        <p:nvSpPr>
          <p:cNvPr id="19" name="Rounded Rectangle 18"/>
          <p:cNvSpPr/>
          <p:nvPr/>
        </p:nvSpPr>
        <p:spPr>
          <a:xfrm>
            <a:off x="5111496" y="1874519"/>
            <a:ext cx="1965960" cy="36576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865876" y="2075687"/>
            <a:ext cx="457200" cy="45720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865876" y="2075687"/>
            <a:ext cx="457200" cy="457200"/>
          </a:xfrm>
          <a:prstGeom prst="rect">
            <a:avLst/>
          </a:prstGeom>
          <a:noFill/>
        </p:spPr>
        <p:txBody>
          <a:bodyPr wrap="square" anchor="ctr" lIns="0" rIns="0" tIns="0" bIns="0">
            <a:spAutoFit/>
          </a:bodyPr>
          <a:lstStyle/>
          <a:p>
            <a:pPr algn="ctr">
              <a:spcBef>
                <a:spcPts val="0"/>
              </a:spcBef>
              <a:spcAft>
                <a:spcPts val="400"/>
              </a:spcAft>
            </a:pPr>
            <a:r>
              <a:rPr sz="1600" b="1">
                <a:solidFill>
                  <a:srgbClr val="FFFFFF"/>
                </a:solidFill>
                <a:latin typeface="Arial"/>
              </a:rPr>
              <a:t>3</a:t>
            </a:r>
          </a:p>
        </p:txBody>
      </p:sp>
      <p:sp>
        <p:nvSpPr>
          <p:cNvPr id="22" name="TextBox 21"/>
          <p:cNvSpPr txBox="1"/>
          <p:nvPr/>
        </p:nvSpPr>
        <p:spPr>
          <a:xfrm>
            <a:off x="5221224" y="2651759"/>
            <a:ext cx="1746504" cy="566928"/>
          </a:xfrm>
          <a:prstGeom prst="rect">
            <a:avLst/>
          </a:prstGeom>
          <a:noFill/>
        </p:spPr>
        <p:txBody>
          <a:bodyPr wrap="square" anchor="ctr" lIns="0" rIns="0" tIns="0" bIns="0">
            <a:spAutoFit/>
          </a:bodyPr>
          <a:lstStyle/>
          <a:p>
            <a:pPr algn="ctr">
              <a:spcBef>
                <a:spcPts val="0"/>
              </a:spcBef>
              <a:spcAft>
                <a:spcPts val="400"/>
              </a:spcAft>
            </a:pPr>
            <a:r>
              <a:rPr sz="1350" b="1">
                <a:solidFill>
                  <a:srgbClr val="7C3AED"/>
                </a:solidFill>
                <a:latin typeface="Arial"/>
              </a:rPr>
              <a:t>Human in the Loop</a:t>
            </a:r>
          </a:p>
        </p:txBody>
      </p:sp>
      <p:sp>
        <p:nvSpPr>
          <p:cNvPr id="23" name="TextBox 22"/>
          <p:cNvSpPr txBox="1"/>
          <p:nvPr/>
        </p:nvSpPr>
        <p:spPr>
          <a:xfrm>
            <a:off x="5221224" y="3246119"/>
            <a:ext cx="1746504" cy="274320"/>
          </a:xfrm>
          <a:prstGeom prst="rect">
            <a:avLst/>
          </a:prstGeom>
          <a:noFill/>
        </p:spPr>
        <p:txBody>
          <a:bodyPr wrap="square" anchor="t" lIns="0" rIns="0" tIns="0" bIns="0">
            <a:spAutoFit/>
          </a:bodyPr>
          <a:lstStyle/>
          <a:p>
            <a:pPr algn="ctr">
              <a:spcBef>
                <a:spcPts val="0"/>
              </a:spcBef>
              <a:spcAft>
                <a:spcPts val="400"/>
              </a:spcAft>
            </a:pPr>
            <a:r>
              <a:rPr sz="900" b="1">
                <a:solidFill>
                  <a:srgbClr val="5B6372"/>
                </a:solidFill>
                <a:latin typeface="Arial"/>
              </a:rPr>
              <a:t>WHO APPROVES</a:t>
            </a:r>
          </a:p>
        </p:txBody>
      </p:sp>
      <p:sp>
        <p:nvSpPr>
          <p:cNvPr id="24" name="TextBox 23"/>
          <p:cNvSpPr txBox="1"/>
          <p:nvPr/>
        </p:nvSpPr>
        <p:spPr>
          <a:xfrm>
            <a:off x="5276088" y="3611879"/>
            <a:ext cx="1636776" cy="1828800"/>
          </a:xfrm>
          <a:prstGeom prst="rect">
            <a:avLst/>
          </a:prstGeom>
          <a:noFill/>
        </p:spPr>
        <p:txBody>
          <a:bodyPr wrap="square" anchor="t" lIns="0" rIns="0" tIns="0" bIns="0">
            <a:spAutoFit/>
          </a:bodyPr>
          <a:lstStyle/>
          <a:p>
            <a:pPr algn="ctr">
              <a:spcBef>
                <a:spcPts val="0"/>
              </a:spcBef>
              <a:spcAft>
                <a:spcPts val="300"/>
              </a:spcAft>
            </a:pPr>
            <a:r>
              <a:rPr sz="1100" b="0">
                <a:solidFill>
                  <a:srgbClr val="161B26"/>
                </a:solidFill>
                <a:latin typeface="Arial"/>
              </a:rPr>
              <a:t>A person reviews and approves high-impact actions — payments, deletions, customer emails.</a:t>
            </a:r>
          </a:p>
        </p:txBody>
      </p:sp>
      <p:sp>
        <p:nvSpPr>
          <p:cNvPr id="25" name="Rounded Rectangle 24"/>
          <p:cNvSpPr/>
          <p:nvPr/>
        </p:nvSpPr>
        <p:spPr>
          <a:xfrm>
            <a:off x="7278624" y="1874519"/>
            <a:ext cx="1965960" cy="365760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33004" y="2075687"/>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33004" y="2075687"/>
            <a:ext cx="457200" cy="457200"/>
          </a:xfrm>
          <a:prstGeom prst="rect">
            <a:avLst/>
          </a:prstGeom>
          <a:noFill/>
        </p:spPr>
        <p:txBody>
          <a:bodyPr wrap="square" anchor="ctr" lIns="0" rIns="0" tIns="0" bIns="0">
            <a:spAutoFit/>
          </a:bodyPr>
          <a:lstStyle/>
          <a:p>
            <a:pPr algn="ctr">
              <a:spcBef>
                <a:spcPts val="0"/>
              </a:spcBef>
              <a:spcAft>
                <a:spcPts val="400"/>
              </a:spcAft>
            </a:pPr>
            <a:r>
              <a:rPr sz="1600" b="1">
                <a:solidFill>
                  <a:srgbClr val="FFFFFF"/>
                </a:solidFill>
                <a:latin typeface="Arial"/>
              </a:rPr>
              <a:t>4</a:t>
            </a:r>
          </a:p>
        </p:txBody>
      </p:sp>
      <p:sp>
        <p:nvSpPr>
          <p:cNvPr id="28" name="TextBox 27"/>
          <p:cNvSpPr txBox="1"/>
          <p:nvPr/>
        </p:nvSpPr>
        <p:spPr>
          <a:xfrm>
            <a:off x="7388352" y="2651759"/>
            <a:ext cx="1746504" cy="566928"/>
          </a:xfrm>
          <a:prstGeom prst="rect">
            <a:avLst/>
          </a:prstGeom>
          <a:noFill/>
        </p:spPr>
        <p:txBody>
          <a:bodyPr wrap="square" anchor="ctr" lIns="0" rIns="0" tIns="0" bIns="0">
            <a:spAutoFit/>
          </a:bodyPr>
          <a:lstStyle/>
          <a:p>
            <a:pPr algn="ctr">
              <a:spcBef>
                <a:spcPts val="0"/>
              </a:spcBef>
              <a:spcAft>
                <a:spcPts val="400"/>
              </a:spcAft>
            </a:pPr>
            <a:r>
              <a:rPr sz="1350" b="1">
                <a:solidFill>
                  <a:srgbClr val="F59E0B"/>
                </a:solidFill>
                <a:latin typeface="Arial"/>
              </a:rPr>
              <a:t>Traceability</a:t>
            </a:r>
          </a:p>
        </p:txBody>
      </p:sp>
      <p:sp>
        <p:nvSpPr>
          <p:cNvPr id="29" name="TextBox 28"/>
          <p:cNvSpPr txBox="1"/>
          <p:nvPr/>
        </p:nvSpPr>
        <p:spPr>
          <a:xfrm>
            <a:off x="7388352" y="3246119"/>
            <a:ext cx="1746504" cy="274320"/>
          </a:xfrm>
          <a:prstGeom prst="rect">
            <a:avLst/>
          </a:prstGeom>
          <a:noFill/>
        </p:spPr>
        <p:txBody>
          <a:bodyPr wrap="square" anchor="t" lIns="0" rIns="0" tIns="0" bIns="0">
            <a:spAutoFit/>
          </a:bodyPr>
          <a:lstStyle/>
          <a:p>
            <a:pPr algn="ctr">
              <a:spcBef>
                <a:spcPts val="0"/>
              </a:spcBef>
              <a:spcAft>
                <a:spcPts val="400"/>
              </a:spcAft>
            </a:pPr>
            <a:r>
              <a:rPr sz="900" b="1">
                <a:solidFill>
                  <a:srgbClr val="5B6372"/>
                </a:solidFill>
                <a:latin typeface="Arial"/>
              </a:rPr>
              <a:t>WHAT HAPPENED</a:t>
            </a:r>
          </a:p>
        </p:txBody>
      </p:sp>
      <p:sp>
        <p:nvSpPr>
          <p:cNvPr id="30" name="TextBox 29"/>
          <p:cNvSpPr txBox="1"/>
          <p:nvPr/>
        </p:nvSpPr>
        <p:spPr>
          <a:xfrm>
            <a:off x="7443216" y="3611879"/>
            <a:ext cx="1636776" cy="1828800"/>
          </a:xfrm>
          <a:prstGeom prst="rect">
            <a:avLst/>
          </a:prstGeom>
          <a:noFill/>
        </p:spPr>
        <p:txBody>
          <a:bodyPr wrap="square" anchor="t" lIns="0" rIns="0" tIns="0" bIns="0">
            <a:spAutoFit/>
          </a:bodyPr>
          <a:lstStyle/>
          <a:p>
            <a:pPr algn="ctr">
              <a:spcBef>
                <a:spcPts val="0"/>
              </a:spcBef>
              <a:spcAft>
                <a:spcPts val="300"/>
              </a:spcAft>
            </a:pPr>
            <a:r>
              <a:rPr sz="1100" b="0">
                <a:solidFill>
                  <a:srgbClr val="161B26"/>
                </a:solidFill>
                <a:latin typeface="Arial"/>
              </a:rPr>
              <a:t>Log every prompt, tool call and change so actions can be audited, explained and rolled back.</a:t>
            </a:r>
          </a:p>
        </p:txBody>
      </p:sp>
      <p:sp>
        <p:nvSpPr>
          <p:cNvPr id="31" name="Rounded Rectangle 30"/>
          <p:cNvSpPr/>
          <p:nvPr/>
        </p:nvSpPr>
        <p:spPr>
          <a:xfrm>
            <a:off x="9445752" y="1874519"/>
            <a:ext cx="1965960" cy="365760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200132" y="2075687"/>
            <a:ext cx="457200" cy="457200"/>
          </a:xfrm>
          <a:prstGeom prst="ellipse">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200132" y="2075687"/>
            <a:ext cx="457200" cy="457200"/>
          </a:xfrm>
          <a:prstGeom prst="rect">
            <a:avLst/>
          </a:prstGeom>
          <a:noFill/>
        </p:spPr>
        <p:txBody>
          <a:bodyPr wrap="square" anchor="ctr" lIns="0" rIns="0" tIns="0" bIns="0">
            <a:spAutoFit/>
          </a:bodyPr>
          <a:lstStyle/>
          <a:p>
            <a:pPr algn="ctr">
              <a:spcBef>
                <a:spcPts val="0"/>
              </a:spcBef>
              <a:spcAft>
                <a:spcPts val="400"/>
              </a:spcAft>
            </a:pPr>
            <a:r>
              <a:rPr sz="1600" b="1">
                <a:solidFill>
                  <a:srgbClr val="FFFFFF"/>
                </a:solidFill>
                <a:latin typeface="Arial"/>
              </a:rPr>
              <a:t>5</a:t>
            </a:r>
          </a:p>
        </p:txBody>
      </p:sp>
      <p:sp>
        <p:nvSpPr>
          <p:cNvPr id="34" name="TextBox 33"/>
          <p:cNvSpPr txBox="1"/>
          <p:nvPr/>
        </p:nvSpPr>
        <p:spPr>
          <a:xfrm>
            <a:off x="9555480" y="2651759"/>
            <a:ext cx="1746504" cy="566928"/>
          </a:xfrm>
          <a:prstGeom prst="rect">
            <a:avLst/>
          </a:prstGeom>
          <a:noFill/>
        </p:spPr>
        <p:txBody>
          <a:bodyPr wrap="square" anchor="ctr" lIns="0" rIns="0" tIns="0" bIns="0">
            <a:spAutoFit/>
          </a:bodyPr>
          <a:lstStyle/>
          <a:p>
            <a:pPr algn="ctr">
              <a:spcBef>
                <a:spcPts val="0"/>
              </a:spcBef>
              <a:spcAft>
                <a:spcPts val="400"/>
              </a:spcAft>
            </a:pPr>
            <a:r>
              <a:rPr sz="1350" b="1">
                <a:solidFill>
                  <a:srgbClr val="C62F2F"/>
                </a:solidFill>
                <a:latin typeface="Arial"/>
              </a:rPr>
              <a:t>Right-Sized Models</a:t>
            </a:r>
          </a:p>
        </p:txBody>
      </p:sp>
      <p:sp>
        <p:nvSpPr>
          <p:cNvPr id="35" name="TextBox 34"/>
          <p:cNvSpPr txBox="1"/>
          <p:nvPr/>
        </p:nvSpPr>
        <p:spPr>
          <a:xfrm>
            <a:off x="9555480" y="3246119"/>
            <a:ext cx="1746504" cy="274320"/>
          </a:xfrm>
          <a:prstGeom prst="rect">
            <a:avLst/>
          </a:prstGeom>
          <a:noFill/>
        </p:spPr>
        <p:txBody>
          <a:bodyPr wrap="square" anchor="t" lIns="0" rIns="0" tIns="0" bIns="0">
            <a:spAutoFit/>
          </a:bodyPr>
          <a:lstStyle/>
          <a:p>
            <a:pPr algn="ctr">
              <a:spcBef>
                <a:spcPts val="0"/>
              </a:spcBef>
              <a:spcAft>
                <a:spcPts val="400"/>
              </a:spcAft>
            </a:pPr>
            <a:r>
              <a:rPr sz="900" b="1">
                <a:solidFill>
                  <a:srgbClr val="5B6372"/>
                </a:solidFill>
                <a:latin typeface="Arial"/>
              </a:rPr>
              <a:t>NOT THE MOST POWERFUL</a:t>
            </a:r>
          </a:p>
        </p:txBody>
      </p:sp>
      <p:sp>
        <p:nvSpPr>
          <p:cNvPr id="36" name="TextBox 35"/>
          <p:cNvSpPr txBox="1"/>
          <p:nvPr/>
        </p:nvSpPr>
        <p:spPr>
          <a:xfrm>
            <a:off x="9610344" y="3611879"/>
            <a:ext cx="1636776" cy="1828800"/>
          </a:xfrm>
          <a:prstGeom prst="rect">
            <a:avLst/>
          </a:prstGeom>
          <a:noFill/>
        </p:spPr>
        <p:txBody>
          <a:bodyPr wrap="square" anchor="t" lIns="0" rIns="0" tIns="0" bIns="0">
            <a:spAutoFit/>
          </a:bodyPr>
          <a:lstStyle/>
          <a:p>
            <a:pPr algn="ctr">
              <a:spcBef>
                <a:spcPts val="0"/>
              </a:spcBef>
              <a:spcAft>
                <a:spcPts val="300"/>
              </a:spcAft>
            </a:pPr>
            <a:r>
              <a:rPr sz="1100" b="0">
                <a:solidFill>
                  <a:srgbClr val="161B26"/>
                </a:solidFill>
                <a:latin typeface="Arial"/>
              </a:rPr>
              <a:t>The smallest model that does the job carries less autonomy and less risk than the most powerful one.</a:t>
            </a:r>
          </a:p>
        </p:txBody>
      </p:sp>
      <p:sp>
        <p:nvSpPr>
          <p:cNvPr id="37" name="Rounded Rectangle 3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In n8n: scoped credentials per node, approval gates (Send and Wait), the Executions log, and a small model per AI step.</a:t>
            </a:r>
          </a:p>
        </p:txBody>
      </p:sp>
      <p:sp>
        <p:nvSpPr>
          <p:cNvPr id="39" name="TextBox 3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0" name="TextBox 3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1" name="TextBox 4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TOPIC 1 · AI SECURITY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Workflow First vs Agent First — AI Security</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 fixed path limits the blast radius: a manipulated AI step cannot reach tools that are not wired to it.</a:t>
            </a:r>
          </a:p>
        </p:txBody>
      </p:sp>
      <p:sp>
        <p:nvSpPr>
          <p:cNvPr id="7" name="Rectangle 6"/>
          <p:cNvSpPr/>
          <p:nvPr/>
        </p:nvSpPr>
        <p:spPr>
          <a:xfrm>
            <a:off x="777240" y="1874519"/>
            <a:ext cx="2286000" cy="51206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74519"/>
            <a:ext cx="2029968" cy="512064"/>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Principle</a:t>
            </a:r>
          </a:p>
        </p:txBody>
      </p:sp>
      <p:sp>
        <p:nvSpPr>
          <p:cNvPr id="9" name="Rectangle 8"/>
          <p:cNvSpPr/>
          <p:nvPr/>
        </p:nvSpPr>
        <p:spPr>
          <a:xfrm>
            <a:off x="3063240" y="1874519"/>
            <a:ext cx="4160520" cy="51206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91256" y="1874519"/>
            <a:ext cx="3904488" cy="512064"/>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Workflow First</a:t>
            </a:r>
          </a:p>
        </p:txBody>
      </p:sp>
      <p:sp>
        <p:nvSpPr>
          <p:cNvPr id="11" name="Rectangle 10"/>
          <p:cNvSpPr/>
          <p:nvPr/>
        </p:nvSpPr>
        <p:spPr>
          <a:xfrm>
            <a:off x="7223760" y="1874519"/>
            <a:ext cx="4187952" cy="51206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51776" y="1874519"/>
            <a:ext cx="3931920" cy="512064"/>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Agent First</a:t>
            </a:r>
          </a:p>
        </p:txBody>
      </p:sp>
      <p:sp>
        <p:nvSpPr>
          <p:cNvPr id="13" name="Rectangle 12"/>
          <p:cNvSpPr/>
          <p:nvPr/>
        </p:nvSpPr>
        <p:spPr>
          <a:xfrm>
            <a:off x="777240" y="2386583"/>
            <a:ext cx="228600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386583"/>
            <a:ext cx="2029968" cy="512064"/>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Data control</a:t>
            </a:r>
          </a:p>
        </p:txBody>
      </p:sp>
      <p:sp>
        <p:nvSpPr>
          <p:cNvPr id="15" name="Rectangle 14"/>
          <p:cNvSpPr/>
          <p:nvPr/>
        </p:nvSpPr>
        <p:spPr>
          <a:xfrm>
            <a:off x="3063240" y="2386583"/>
            <a:ext cx="416052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91256" y="2386583"/>
            <a:ext cx="390448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Each node sees only the fields wired into it</a:t>
            </a:r>
          </a:p>
        </p:txBody>
      </p:sp>
      <p:sp>
        <p:nvSpPr>
          <p:cNvPr id="17" name="Rectangle 16"/>
          <p:cNvSpPr/>
          <p:nvPr/>
        </p:nvSpPr>
        <p:spPr>
          <a:xfrm>
            <a:off x="7223760" y="2386583"/>
            <a:ext cx="4187952"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51776" y="2386583"/>
            <a:ext cx="3931920"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The agent can reach any data its tools expose</a:t>
            </a:r>
          </a:p>
        </p:txBody>
      </p:sp>
      <p:sp>
        <p:nvSpPr>
          <p:cNvPr id="19" name="Rectangle 18"/>
          <p:cNvSpPr/>
          <p:nvPr/>
        </p:nvSpPr>
        <p:spPr>
          <a:xfrm>
            <a:off x="777240" y="2898647"/>
            <a:ext cx="2286000" cy="5120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98647"/>
            <a:ext cx="2029968" cy="512064"/>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Permission control</a:t>
            </a:r>
          </a:p>
        </p:txBody>
      </p:sp>
      <p:sp>
        <p:nvSpPr>
          <p:cNvPr id="21" name="Rectangle 20"/>
          <p:cNvSpPr/>
          <p:nvPr/>
        </p:nvSpPr>
        <p:spPr>
          <a:xfrm>
            <a:off x="3063240" y="2898647"/>
            <a:ext cx="4160520" cy="5120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191256" y="2898647"/>
            <a:ext cx="390448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Each credential is scoped to one node and one action</a:t>
            </a:r>
          </a:p>
        </p:txBody>
      </p:sp>
      <p:sp>
        <p:nvSpPr>
          <p:cNvPr id="23" name="Rectangle 22"/>
          <p:cNvSpPr/>
          <p:nvPr/>
        </p:nvSpPr>
        <p:spPr>
          <a:xfrm>
            <a:off x="7223760" y="2898647"/>
            <a:ext cx="4187952" cy="5120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51776" y="2898647"/>
            <a:ext cx="3931920"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The agent holds every tool's rights at once</a:t>
            </a:r>
          </a:p>
        </p:txBody>
      </p:sp>
      <p:sp>
        <p:nvSpPr>
          <p:cNvPr id="25" name="Rectangle 24"/>
          <p:cNvSpPr/>
          <p:nvPr/>
        </p:nvSpPr>
        <p:spPr>
          <a:xfrm>
            <a:off x="777240" y="3410711"/>
            <a:ext cx="228600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0711"/>
            <a:ext cx="2029968" cy="512064"/>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Human in the loop</a:t>
            </a:r>
          </a:p>
        </p:txBody>
      </p:sp>
      <p:sp>
        <p:nvSpPr>
          <p:cNvPr id="27" name="Rectangle 26"/>
          <p:cNvSpPr/>
          <p:nvPr/>
        </p:nvSpPr>
        <p:spPr>
          <a:xfrm>
            <a:off x="3063240" y="3410711"/>
            <a:ext cx="416052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91256" y="3410711"/>
            <a:ext cx="390448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The approval gate sits at a fixed, designed step</a:t>
            </a:r>
          </a:p>
        </p:txBody>
      </p:sp>
      <p:sp>
        <p:nvSpPr>
          <p:cNvPr id="29" name="Rectangle 28"/>
          <p:cNvSpPr/>
          <p:nvPr/>
        </p:nvSpPr>
        <p:spPr>
          <a:xfrm>
            <a:off x="7223760" y="3410711"/>
            <a:ext cx="4187952"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51776" y="3410711"/>
            <a:ext cx="3931920"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Depends on the agent choosing to ask</a:t>
            </a:r>
          </a:p>
        </p:txBody>
      </p:sp>
      <p:sp>
        <p:nvSpPr>
          <p:cNvPr id="31" name="Rectangle 30"/>
          <p:cNvSpPr/>
          <p:nvPr/>
        </p:nvSpPr>
        <p:spPr>
          <a:xfrm>
            <a:off x="777240" y="3922775"/>
            <a:ext cx="2286000" cy="5120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22775"/>
            <a:ext cx="2029968" cy="512064"/>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Traceability</a:t>
            </a:r>
          </a:p>
        </p:txBody>
      </p:sp>
      <p:sp>
        <p:nvSpPr>
          <p:cNvPr id="33" name="Rectangle 32"/>
          <p:cNvSpPr/>
          <p:nvPr/>
        </p:nvSpPr>
        <p:spPr>
          <a:xfrm>
            <a:off x="3063240" y="3922775"/>
            <a:ext cx="4160520" cy="5120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91256" y="3922775"/>
            <a:ext cx="390448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Every run is logged node by node in Executions</a:t>
            </a:r>
          </a:p>
        </p:txBody>
      </p:sp>
      <p:sp>
        <p:nvSpPr>
          <p:cNvPr id="35" name="Rectangle 34"/>
          <p:cNvSpPr/>
          <p:nvPr/>
        </p:nvSpPr>
        <p:spPr>
          <a:xfrm>
            <a:off x="7223760" y="3922775"/>
            <a:ext cx="4187952" cy="5120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51776" y="3922775"/>
            <a:ext cx="3931920"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Reasoning varies run to run and is harder to explain</a:t>
            </a:r>
          </a:p>
        </p:txBody>
      </p:sp>
      <p:sp>
        <p:nvSpPr>
          <p:cNvPr id="37" name="Rectangle 36"/>
          <p:cNvSpPr/>
          <p:nvPr/>
        </p:nvSpPr>
        <p:spPr>
          <a:xfrm>
            <a:off x="777240" y="4434839"/>
            <a:ext cx="228600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434839"/>
            <a:ext cx="2029968" cy="512064"/>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Right-sized models</a:t>
            </a:r>
          </a:p>
        </p:txBody>
      </p:sp>
      <p:sp>
        <p:nvSpPr>
          <p:cNvPr id="39" name="Rectangle 38"/>
          <p:cNvSpPr/>
          <p:nvPr/>
        </p:nvSpPr>
        <p:spPr>
          <a:xfrm>
            <a:off x="3063240" y="4434839"/>
            <a:ext cx="416052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191256" y="4434839"/>
            <a:ext cx="390448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 small model for each narrow AI step</a:t>
            </a:r>
          </a:p>
        </p:txBody>
      </p:sp>
      <p:sp>
        <p:nvSpPr>
          <p:cNvPr id="41" name="Rectangle 40"/>
          <p:cNvSpPr/>
          <p:nvPr/>
        </p:nvSpPr>
        <p:spPr>
          <a:xfrm>
            <a:off x="7223760" y="4434839"/>
            <a:ext cx="4187952"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51776" y="4434839"/>
            <a:ext cx="3931920"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One capable model with broad autonomy</a:t>
            </a:r>
          </a:p>
        </p:txBody>
      </p:sp>
      <p:sp>
        <p:nvSpPr>
          <p:cNvPr id="43" name="Rounded Rectangle 42"/>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The path is fixed, so every control is designed in rather than hoped for — that is why regulated processes stay workflow first.</a:t>
            </a:r>
          </a:p>
        </p:txBody>
      </p:sp>
      <p:sp>
        <p:nvSpPr>
          <p:cNvPr id="45" name="TextBox 4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6" name="TextBox 4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7" name="TextBox 4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What Is n8n?</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 workflow-first agentic AI platform: the workflow owns the path, and AI and AI Agent nodes sit inside it.</a:t>
            </a:r>
          </a:p>
        </p:txBody>
      </p:sp>
      <p:sp>
        <p:nvSpPr>
          <p:cNvPr id="7" name="Rounded Rectangle 6"/>
          <p:cNvSpPr/>
          <p:nvPr/>
        </p:nvSpPr>
        <p:spPr>
          <a:xfrm>
            <a:off x="777240" y="2011680"/>
            <a:ext cx="3349752" cy="329184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21579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1579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21671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Build visually</a:t>
            </a:r>
          </a:p>
        </p:txBody>
      </p:sp>
      <p:sp>
        <p:nvSpPr>
          <p:cNvPr id="11" name="TextBox 10"/>
          <p:cNvSpPr txBox="1"/>
          <p:nvPr/>
        </p:nvSpPr>
        <p:spPr>
          <a:xfrm>
            <a:off x="978408" y="2560320"/>
            <a:ext cx="2947416" cy="25968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Drag nodes onto a canvas and wire them together. 400+ app integrations, plus HTTP and Code nodes when no integration exists.</a:t>
            </a:r>
          </a:p>
        </p:txBody>
      </p:sp>
      <p:sp>
        <p:nvSpPr>
          <p:cNvPr id="12" name="Rounded Rectangle 11"/>
          <p:cNvSpPr/>
          <p:nvPr/>
        </p:nvSpPr>
        <p:spPr>
          <a:xfrm>
            <a:off x="4419600" y="2011680"/>
            <a:ext cx="3349752" cy="329184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2480" y="21579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2480" y="21579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5041392" y="21671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Run anywhere</a:t>
            </a:r>
          </a:p>
        </p:txBody>
      </p:sp>
      <p:sp>
        <p:nvSpPr>
          <p:cNvPr id="16" name="TextBox 15"/>
          <p:cNvSpPr txBox="1"/>
          <p:nvPr/>
        </p:nvSpPr>
        <p:spPr>
          <a:xfrm>
            <a:off x="4620768" y="2560320"/>
            <a:ext cx="2947416" cy="25968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Free cloud trial at n8n.io, or self-host with Docker. Webhooks, schedules and chat triggers work the same in both.</a:t>
            </a:r>
          </a:p>
        </p:txBody>
      </p:sp>
      <p:sp>
        <p:nvSpPr>
          <p:cNvPr id="17" name="Rounded Rectangle 16"/>
          <p:cNvSpPr/>
          <p:nvPr/>
        </p:nvSpPr>
        <p:spPr>
          <a:xfrm>
            <a:off x="8061960" y="2011680"/>
            <a:ext cx="3349752" cy="329184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21579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21579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8683752" y="21671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AI-native</a:t>
            </a:r>
          </a:p>
        </p:txBody>
      </p:sp>
      <p:sp>
        <p:nvSpPr>
          <p:cNvPr id="21" name="TextBox 20"/>
          <p:cNvSpPr txBox="1"/>
          <p:nvPr/>
        </p:nvSpPr>
        <p:spPr>
          <a:xfrm>
            <a:off x="8263128" y="2560320"/>
            <a:ext cx="2947416" cy="25968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AI Agent and LangChain nodes are built in — attach any LLM (OpenAI, Gemini, Claude), memory, tools and vector stores.</a:t>
            </a:r>
          </a:p>
        </p:txBody>
      </p:sp>
      <p:sp>
        <p:nvSpPr>
          <p:cNvPr id="22" name="Rounded Rectangle 21"/>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n8n is workflow-first agentic AI — deterministic workflows with AI and agents built in, on one canvas.</a:t>
            </a:r>
          </a:p>
        </p:txBody>
      </p:sp>
      <p:sp>
        <p:nvSpPr>
          <p:cNvPr id="24" name="TextBox 2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5" name="TextBox 2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6" name="TextBox 2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WHAT IS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n8n.io</a:t>
            </a:r>
          </a:p>
        </p:txBody>
      </p:sp>
      <p:sp>
        <p:nvSpPr>
          <p:cNvPr id="6" name="TextBox 5"/>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n8n is an open, fair-code workflow automation platform.</a:t>
            </a:r>
          </a:p>
          <a:p>
            <a:pPr>
              <a:spcBef>
                <a:spcPts val="0"/>
              </a:spcBef>
              <a:spcAft>
                <a:spcPts val="1000"/>
              </a:spcAft>
            </a:pPr>
            <a:r>
              <a:rPr sz="1600" b="1">
                <a:solidFill>
                  <a:srgbClr val="1F6FEB"/>
                </a:solidFill>
                <a:latin typeface="Arial"/>
              </a:rPr>
              <a:t>•  </a:t>
            </a:r>
            <a:r>
              <a:rPr sz="1600">
                <a:solidFill>
                  <a:srgbClr val="161B26"/>
                </a:solidFill>
                <a:latin typeface="Arial"/>
              </a:rPr>
              <a:t>Free cloud trial at n8n.io, or self-host with Docker.</a:t>
            </a:r>
          </a:p>
          <a:p>
            <a:pPr>
              <a:spcBef>
                <a:spcPts val="0"/>
              </a:spcBef>
              <a:spcAft>
                <a:spcPts val="1000"/>
              </a:spcAft>
            </a:pPr>
            <a:r>
              <a:rPr sz="1600" b="1">
                <a:solidFill>
                  <a:srgbClr val="1F6FEB"/>
                </a:solidFill>
                <a:latin typeface="Arial"/>
              </a:rPr>
              <a:t>•  </a:t>
            </a:r>
            <a:r>
              <a:rPr sz="1600">
                <a:solidFill>
                  <a:srgbClr val="161B26"/>
                </a:solidFill>
                <a:latin typeface="Arial"/>
              </a:rPr>
              <a:t>Same visual editor in both.</a:t>
            </a:r>
          </a:p>
          <a:p>
            <a:pPr>
              <a:spcBef>
                <a:spcPts val="0"/>
              </a:spcBef>
              <a:spcAft>
                <a:spcPts val="1000"/>
              </a:spcAft>
            </a:pPr>
            <a:r>
              <a:rPr sz="1600" b="1">
                <a:solidFill>
                  <a:srgbClr val="1F6FEB"/>
                </a:solidFill>
                <a:latin typeface="Arial"/>
              </a:rPr>
              <a:t>•  </a:t>
            </a:r>
            <a:r>
              <a:rPr sz="1600">
                <a:solidFill>
                  <a:srgbClr val="161B26"/>
                </a:solidFill>
                <a:latin typeface="Arial"/>
              </a:rPr>
              <a:t>This course: start on the cloud trial, keep the Docker option for after.</a:t>
            </a:r>
          </a:p>
        </p:txBody>
      </p:sp>
      <p:pic>
        <p:nvPicPr>
          <p:cNvPr id="7" name="Picture 6" descr="site-n8n.png"/>
          <p:cNvPicPr>
            <a:picLocks noChangeAspect="1"/>
          </p:cNvPicPr>
          <p:nvPr/>
        </p:nvPicPr>
        <p:blipFill>
          <a:blip r:embed="rId2"/>
          <a:stretch>
            <a:fillRect/>
          </a:stretch>
        </p:blipFill>
        <p:spPr>
          <a:xfrm>
            <a:off x="5943600" y="1783080"/>
            <a:ext cx="5486400" cy="3429000"/>
          </a:xfrm>
          <a:prstGeom prst="rect">
            <a:avLst/>
          </a:prstGeom>
        </p:spPr>
      </p:pic>
      <p:sp>
        <p:nvSpPr>
          <p:cNvPr id="8" name="Rectangle 7"/>
          <p:cNvSpPr/>
          <p:nvPr/>
        </p:nvSpPr>
        <p:spPr>
          <a:xfrm>
            <a:off x="5930900" y="1770380"/>
            <a:ext cx="5511800" cy="345440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What Automation Removes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Automation is not 'the same work faster' — it removes the hand-offs where a person re-types what another system already knows.</a:t>
            </a:r>
          </a:p>
        </p:txBody>
      </p:sp>
      <p:sp>
        <p:nvSpPr>
          <p:cNvPr id="7" name="TextBox 6"/>
          <p:cNvSpPr txBox="1"/>
          <p:nvPr/>
        </p:nvSpPr>
        <p:spPr>
          <a:xfrm>
            <a:off x="777240" y="1920240"/>
            <a:ext cx="1280160" cy="731520"/>
          </a:xfrm>
          <a:prstGeom prst="rect">
            <a:avLst/>
          </a:prstGeom>
          <a:noFill/>
        </p:spPr>
        <p:txBody>
          <a:bodyPr wrap="square" anchor="ctr" lIns="0" rIns="0" tIns="0" bIns="0">
            <a:spAutoFit/>
          </a:bodyPr>
          <a:lstStyle/>
          <a:p>
            <a:pPr algn="l">
              <a:spcBef>
                <a:spcPts val="0"/>
              </a:spcBef>
              <a:spcAft>
                <a:spcPts val="400"/>
              </a:spcAft>
            </a:pPr>
            <a:r>
              <a:rPr sz="1200" b="1">
                <a:solidFill>
                  <a:srgbClr val="C62F2F"/>
                </a:solidFill>
                <a:latin typeface="Arial"/>
              </a:rPr>
              <a:t>MANUAL</a:t>
            </a:r>
          </a:p>
        </p:txBody>
      </p:sp>
      <p:sp>
        <p:nvSpPr>
          <p:cNvPr id="8" name="Rounded Rectangle 7"/>
          <p:cNvSpPr/>
          <p:nvPr/>
        </p:nvSpPr>
        <p:spPr>
          <a:xfrm>
            <a:off x="2103120" y="1874519"/>
            <a:ext cx="2093976" cy="73152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194560" y="1874519"/>
            <a:ext cx="1911096" cy="73152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Form filled in</a:t>
            </a:r>
          </a:p>
        </p:txBody>
      </p:sp>
      <p:sp>
        <p:nvSpPr>
          <p:cNvPr id="10" name="TextBox 9"/>
          <p:cNvSpPr txBox="1"/>
          <p:nvPr/>
        </p:nvSpPr>
        <p:spPr>
          <a:xfrm>
            <a:off x="4169664" y="207568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1" name="Rounded Rectangle 10"/>
          <p:cNvSpPr/>
          <p:nvPr/>
        </p:nvSpPr>
        <p:spPr>
          <a:xfrm>
            <a:off x="4507992" y="1874519"/>
            <a:ext cx="2093976" cy="73152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1874519"/>
            <a:ext cx="1911096" cy="73152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Someone reads it</a:t>
            </a:r>
          </a:p>
        </p:txBody>
      </p:sp>
      <p:sp>
        <p:nvSpPr>
          <p:cNvPr id="13" name="TextBox 12"/>
          <p:cNvSpPr txBox="1"/>
          <p:nvPr/>
        </p:nvSpPr>
        <p:spPr>
          <a:xfrm>
            <a:off x="6574536" y="207568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4" name="Rounded Rectangle 13"/>
          <p:cNvSpPr/>
          <p:nvPr/>
        </p:nvSpPr>
        <p:spPr>
          <a:xfrm>
            <a:off x="6912864" y="1874519"/>
            <a:ext cx="2093976" cy="73152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04304" y="1874519"/>
            <a:ext cx="1911096" cy="73152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Re-typed into Excel</a:t>
            </a:r>
          </a:p>
        </p:txBody>
      </p:sp>
      <p:sp>
        <p:nvSpPr>
          <p:cNvPr id="16" name="TextBox 15"/>
          <p:cNvSpPr txBox="1"/>
          <p:nvPr/>
        </p:nvSpPr>
        <p:spPr>
          <a:xfrm>
            <a:off x="8979408" y="207568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7" name="Rounded Rectangle 16"/>
          <p:cNvSpPr/>
          <p:nvPr/>
        </p:nvSpPr>
        <p:spPr>
          <a:xfrm>
            <a:off x="9317736" y="1874519"/>
            <a:ext cx="2093976" cy="73152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09176" y="1874519"/>
            <a:ext cx="1911096" cy="73152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Someone remembers to reply</a:t>
            </a:r>
          </a:p>
        </p:txBody>
      </p:sp>
      <p:sp>
        <p:nvSpPr>
          <p:cNvPr id="19" name="TextBox 18"/>
          <p:cNvSpPr txBox="1"/>
          <p:nvPr/>
        </p:nvSpPr>
        <p:spPr>
          <a:xfrm>
            <a:off x="777240" y="2971800"/>
            <a:ext cx="1280160" cy="731520"/>
          </a:xfrm>
          <a:prstGeom prst="rect">
            <a:avLst/>
          </a:prstGeom>
          <a:noFill/>
        </p:spPr>
        <p:txBody>
          <a:bodyPr wrap="square" anchor="ctr" lIns="0" rIns="0" tIns="0" bIns="0">
            <a:spAutoFit/>
          </a:bodyPr>
          <a:lstStyle/>
          <a:p>
            <a:pPr algn="l">
              <a:spcBef>
                <a:spcPts val="0"/>
              </a:spcBef>
              <a:spcAft>
                <a:spcPts val="400"/>
              </a:spcAft>
            </a:pPr>
            <a:r>
              <a:rPr sz="1200" b="1">
                <a:solidFill>
                  <a:srgbClr val="127A3E"/>
                </a:solidFill>
                <a:latin typeface="Arial"/>
              </a:rPr>
              <a:t>AUTOMATED</a:t>
            </a:r>
          </a:p>
        </p:txBody>
      </p:sp>
      <p:sp>
        <p:nvSpPr>
          <p:cNvPr id="20" name="Rounded Rectangle 19"/>
          <p:cNvSpPr/>
          <p:nvPr/>
        </p:nvSpPr>
        <p:spPr>
          <a:xfrm>
            <a:off x="2103120" y="2926080"/>
            <a:ext cx="2093976" cy="73152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194560" y="2926080"/>
            <a:ext cx="1911096" cy="73152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Form submitted</a:t>
            </a:r>
          </a:p>
        </p:txBody>
      </p:sp>
      <p:sp>
        <p:nvSpPr>
          <p:cNvPr id="22" name="TextBox 21"/>
          <p:cNvSpPr txBox="1"/>
          <p:nvPr/>
        </p:nvSpPr>
        <p:spPr>
          <a:xfrm>
            <a:off x="4169664" y="31272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27A3E"/>
                </a:solidFill>
                <a:latin typeface="Arial"/>
              </a:rPr>
              <a:t>▶</a:t>
            </a:r>
          </a:p>
        </p:txBody>
      </p:sp>
      <p:sp>
        <p:nvSpPr>
          <p:cNvPr id="23" name="Rounded Rectangle 22"/>
          <p:cNvSpPr/>
          <p:nvPr/>
        </p:nvSpPr>
        <p:spPr>
          <a:xfrm>
            <a:off x="4507992" y="2926080"/>
            <a:ext cx="2093976" cy="73152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2" y="2926080"/>
            <a:ext cx="1911096" cy="73152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Flow triggered</a:t>
            </a:r>
          </a:p>
        </p:txBody>
      </p:sp>
      <p:sp>
        <p:nvSpPr>
          <p:cNvPr id="25" name="TextBox 24"/>
          <p:cNvSpPr txBox="1"/>
          <p:nvPr/>
        </p:nvSpPr>
        <p:spPr>
          <a:xfrm>
            <a:off x="6574536" y="31272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27A3E"/>
                </a:solidFill>
                <a:latin typeface="Arial"/>
              </a:rPr>
              <a:t>▶</a:t>
            </a:r>
          </a:p>
        </p:txBody>
      </p:sp>
      <p:sp>
        <p:nvSpPr>
          <p:cNvPr id="26" name="Rounded Rectangle 25"/>
          <p:cNvSpPr/>
          <p:nvPr/>
        </p:nvSpPr>
        <p:spPr>
          <a:xfrm>
            <a:off x="6912864" y="2926080"/>
            <a:ext cx="2093976" cy="73152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04304" y="2926080"/>
            <a:ext cx="1911096" cy="73152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Row written</a:t>
            </a:r>
          </a:p>
        </p:txBody>
      </p:sp>
      <p:sp>
        <p:nvSpPr>
          <p:cNvPr id="28" name="TextBox 27"/>
          <p:cNvSpPr txBox="1"/>
          <p:nvPr/>
        </p:nvSpPr>
        <p:spPr>
          <a:xfrm>
            <a:off x="8979408" y="31272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27A3E"/>
                </a:solidFill>
                <a:latin typeface="Arial"/>
              </a:rPr>
              <a:t>▶</a:t>
            </a:r>
          </a:p>
        </p:txBody>
      </p:sp>
      <p:sp>
        <p:nvSpPr>
          <p:cNvPr id="29" name="Rounded Rectangle 28"/>
          <p:cNvSpPr/>
          <p:nvPr/>
        </p:nvSpPr>
        <p:spPr>
          <a:xfrm>
            <a:off x="9317736" y="2926080"/>
            <a:ext cx="2093976" cy="73152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09176" y="2926080"/>
            <a:ext cx="1911096" cy="73152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Reply sent</a:t>
            </a:r>
          </a:p>
        </p:txBody>
      </p:sp>
      <p:sp>
        <p:nvSpPr>
          <p:cNvPr id="31" name="Rounded Rectangle 30"/>
          <p:cNvSpPr/>
          <p:nvPr/>
        </p:nvSpPr>
        <p:spPr>
          <a:xfrm>
            <a:off x="777240" y="3977639"/>
            <a:ext cx="3349752" cy="160020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8408" y="4123943"/>
            <a:ext cx="2947416"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Consistency</a:t>
            </a:r>
          </a:p>
        </p:txBody>
      </p:sp>
      <p:sp>
        <p:nvSpPr>
          <p:cNvPr id="33" name="TextBox 32"/>
          <p:cNvSpPr txBox="1"/>
          <p:nvPr/>
        </p:nvSpPr>
        <p:spPr>
          <a:xfrm>
            <a:off x="978408" y="4526279"/>
            <a:ext cx="2947416" cy="9052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The same input produces the same output, every time, at 3am.</a:t>
            </a:r>
          </a:p>
        </p:txBody>
      </p:sp>
      <p:sp>
        <p:nvSpPr>
          <p:cNvPr id="34" name="Rounded Rectangle 33"/>
          <p:cNvSpPr/>
          <p:nvPr/>
        </p:nvSpPr>
        <p:spPr>
          <a:xfrm>
            <a:off x="4419600" y="3977639"/>
            <a:ext cx="3349752" cy="160020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620768" y="4123943"/>
            <a:ext cx="2947416"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Traceability</a:t>
            </a:r>
          </a:p>
        </p:txBody>
      </p:sp>
      <p:sp>
        <p:nvSpPr>
          <p:cNvPr id="36" name="TextBox 35"/>
          <p:cNvSpPr txBox="1"/>
          <p:nvPr/>
        </p:nvSpPr>
        <p:spPr>
          <a:xfrm>
            <a:off x="4620768" y="4526279"/>
            <a:ext cx="2947416" cy="9052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Every run leaves an execution history someone can read a year later.</a:t>
            </a:r>
          </a:p>
        </p:txBody>
      </p:sp>
      <p:sp>
        <p:nvSpPr>
          <p:cNvPr id="37" name="Rounded Rectangle 36"/>
          <p:cNvSpPr/>
          <p:nvPr/>
        </p:nvSpPr>
        <p:spPr>
          <a:xfrm>
            <a:off x="8061960" y="3977639"/>
            <a:ext cx="3349752" cy="16002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63128" y="4123943"/>
            <a:ext cx="2947416"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Capacity</a:t>
            </a:r>
          </a:p>
        </p:txBody>
      </p:sp>
      <p:sp>
        <p:nvSpPr>
          <p:cNvPr id="39" name="TextBox 38"/>
          <p:cNvSpPr txBox="1"/>
          <p:nvPr/>
        </p:nvSpPr>
        <p:spPr>
          <a:xfrm>
            <a:off x="8263128" y="4526279"/>
            <a:ext cx="2947416" cy="9052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People move up to judgement calls; the machine does the re-typing.</a:t>
            </a:r>
          </a:p>
        </p:txBody>
      </p:sp>
      <p:sp>
        <p:nvSpPr>
          <p:cNvPr id="40" name="Rounded Rectangle 39"/>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Automate the hand-offs first — that is where time and errors live.</a:t>
            </a:r>
          </a:p>
        </p:txBody>
      </p:sp>
      <p:sp>
        <p:nvSpPr>
          <p:cNvPr id="42" name="TextBox 4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3" name="TextBox 4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4" name="TextBox 4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29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Every Workflow Is the Same Shape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Trigger first, then actions in order, with data flowing left to right. Only the nodes change.</a:t>
            </a:r>
          </a:p>
        </p:txBody>
      </p:sp>
      <p:sp>
        <p:nvSpPr>
          <p:cNvPr id="7" name="Rounded Rectangle 6"/>
          <p:cNvSpPr/>
          <p:nvPr/>
        </p:nvSpPr>
        <p:spPr>
          <a:xfrm>
            <a:off x="777240"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TRIGGER</a:t>
            </a:r>
          </a:p>
          <a:p>
            <a:pPr algn="ctr">
              <a:spcBef>
                <a:spcPts val="0"/>
              </a:spcBef>
              <a:spcAft>
                <a:spcPts val="200"/>
              </a:spcAft>
            </a:pPr>
            <a:r>
              <a:rPr sz="900" b="0">
                <a:solidFill>
                  <a:srgbClr val="5B6372"/>
                </a:solidFill>
                <a:latin typeface="Arial"/>
              </a:rPr>
              <a:t>what starts it</a:t>
            </a:r>
          </a:p>
        </p:txBody>
      </p:sp>
      <p:sp>
        <p:nvSpPr>
          <p:cNvPr id="9" name="TextBox 8"/>
          <p:cNvSpPr txBox="1"/>
          <p:nvPr/>
        </p:nvSpPr>
        <p:spPr>
          <a:xfrm>
            <a:off x="3175254"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0" name="Rounded Rectangle 9"/>
          <p:cNvSpPr/>
          <p:nvPr/>
        </p:nvSpPr>
        <p:spPr>
          <a:xfrm>
            <a:off x="3513582"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ACTION</a:t>
            </a:r>
          </a:p>
          <a:p>
            <a:pPr algn="ctr">
              <a:spcBef>
                <a:spcPts val="0"/>
              </a:spcBef>
              <a:spcAft>
                <a:spcPts val="200"/>
              </a:spcAft>
            </a:pPr>
            <a:r>
              <a:rPr sz="900" b="0">
                <a:solidFill>
                  <a:srgbClr val="5B6372"/>
                </a:solidFill>
                <a:latin typeface="Arial"/>
              </a:rPr>
              <a:t>do the work</a:t>
            </a:r>
          </a:p>
        </p:txBody>
      </p:sp>
      <p:sp>
        <p:nvSpPr>
          <p:cNvPr id="12" name="TextBox 11"/>
          <p:cNvSpPr txBox="1"/>
          <p:nvPr/>
        </p:nvSpPr>
        <p:spPr>
          <a:xfrm>
            <a:off x="5911596"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3" name="Rounded Rectangle 12"/>
          <p:cNvSpPr/>
          <p:nvPr/>
        </p:nvSpPr>
        <p:spPr>
          <a:xfrm>
            <a:off x="6249924"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ACTION</a:t>
            </a:r>
          </a:p>
          <a:p>
            <a:pPr algn="ctr">
              <a:spcBef>
                <a:spcPts val="0"/>
              </a:spcBef>
              <a:spcAft>
                <a:spcPts val="200"/>
              </a:spcAft>
            </a:pPr>
            <a:r>
              <a:rPr sz="900" b="0">
                <a:solidFill>
                  <a:srgbClr val="5B6372"/>
                </a:solidFill>
                <a:latin typeface="Arial"/>
              </a:rPr>
              <a:t>do more work</a:t>
            </a:r>
          </a:p>
        </p:txBody>
      </p:sp>
      <p:sp>
        <p:nvSpPr>
          <p:cNvPr id="15" name="TextBox 14"/>
          <p:cNvSpPr txBox="1"/>
          <p:nvPr/>
        </p:nvSpPr>
        <p:spPr>
          <a:xfrm>
            <a:off x="8647938"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6" name="Rounded Rectangle 15"/>
          <p:cNvSpPr/>
          <p:nvPr/>
        </p:nvSpPr>
        <p:spPr>
          <a:xfrm>
            <a:off x="8986266"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OUTPUT</a:t>
            </a:r>
          </a:p>
          <a:p>
            <a:pPr algn="ctr">
              <a:spcBef>
                <a:spcPts val="0"/>
              </a:spcBef>
              <a:spcAft>
                <a:spcPts val="200"/>
              </a:spcAft>
            </a:pPr>
            <a:r>
              <a:rPr sz="900" b="0">
                <a:solidFill>
                  <a:srgbClr val="5B6372"/>
                </a:solidFill>
                <a:latin typeface="Arial"/>
              </a:rPr>
              <a:t>reply, store or notify</a:t>
            </a:r>
          </a:p>
        </p:txBody>
      </p:sp>
      <p:sp>
        <p:nvSpPr>
          <p:cNvPr id="18" name="Rounded Rectangle 17"/>
          <p:cNvSpPr/>
          <p:nvPr/>
        </p:nvSpPr>
        <p:spPr>
          <a:xfrm>
            <a:off x="777240" y="3200400"/>
            <a:ext cx="3349752" cy="23317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34670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21" name="TextBox 20"/>
          <p:cNvSpPr txBox="1"/>
          <p:nvPr/>
        </p:nvSpPr>
        <p:spPr>
          <a:xfrm>
            <a:off x="139903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One trigger</a:t>
            </a:r>
          </a:p>
        </p:txBody>
      </p:sp>
      <p:sp>
        <p:nvSpPr>
          <p:cNvPr id="22" name="TextBox 21"/>
          <p:cNvSpPr txBox="1"/>
          <p:nvPr/>
        </p:nvSpPr>
        <p:spPr>
          <a:xfrm>
            <a:off x="97840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 workflow has exactly one entry point. Change the trigger and you have a different flow — the actions may not change at all.</a:t>
            </a:r>
          </a:p>
        </p:txBody>
      </p:sp>
      <p:sp>
        <p:nvSpPr>
          <p:cNvPr id="23" name="Rounded Rectangle 22"/>
          <p:cNvSpPr/>
          <p:nvPr/>
        </p:nvSpPr>
        <p:spPr>
          <a:xfrm>
            <a:off x="4419600" y="3200400"/>
            <a:ext cx="3349752" cy="23317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602480" y="334670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0248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26" name="TextBox 25"/>
          <p:cNvSpPr txBox="1"/>
          <p:nvPr/>
        </p:nvSpPr>
        <p:spPr>
          <a:xfrm>
            <a:off x="504139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Actions are ordered</a:t>
            </a:r>
          </a:p>
        </p:txBody>
      </p:sp>
      <p:sp>
        <p:nvSpPr>
          <p:cNvPr id="27" name="TextBox 26"/>
          <p:cNvSpPr txBox="1"/>
          <p:nvPr/>
        </p:nvSpPr>
        <p:spPr>
          <a:xfrm>
            <a:off x="462076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Each action runs after the one before it and can read the outputs of every node before it.</a:t>
            </a:r>
          </a:p>
        </p:txBody>
      </p:sp>
      <p:sp>
        <p:nvSpPr>
          <p:cNvPr id="28" name="Rounded Rectangle 27"/>
          <p:cNvSpPr/>
          <p:nvPr/>
        </p:nvSpPr>
        <p:spPr>
          <a:xfrm>
            <a:off x="8061960" y="3200400"/>
            <a:ext cx="3349752" cy="233172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44840" y="334670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484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31" name="TextBox 30"/>
          <p:cNvSpPr txBox="1"/>
          <p:nvPr/>
        </p:nvSpPr>
        <p:spPr>
          <a:xfrm>
            <a:off x="868375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Data flows as JSON</a:t>
            </a:r>
          </a:p>
        </p:txBody>
      </p:sp>
      <p:sp>
        <p:nvSpPr>
          <p:cNvPr id="32" name="TextBox 31"/>
          <p:cNvSpPr txBox="1"/>
          <p:nvPr/>
        </p:nvSpPr>
        <p:spPr>
          <a:xfrm>
            <a:off x="826312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Every node passes a list of JSON items to the next — the same structure in every lab.</a:t>
            </a:r>
          </a:p>
        </p:txBody>
      </p:sp>
      <p:sp>
        <p:nvSpPr>
          <p:cNvPr id="33" name="Rounded Rectangle 32"/>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Trigger, actions, output. Learn this once in Activity 1 and every later lab is a variation.</a:t>
            </a:r>
          </a:p>
        </p:txBody>
      </p:sp>
      <p:sp>
        <p:nvSpPr>
          <p:cNvPr id="35" name="TextBox 3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TRAINING ACCOUNTS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n8n Training Accounts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Each learner signs in to n8n with ONE assigned account. Use only the account your trainer gives you.</a:t>
            </a:r>
          </a:p>
        </p:txBody>
      </p:sp>
      <p:sp>
        <p:nvSpPr>
          <p:cNvPr id="7" name="Rectangle 6"/>
          <p:cNvSpPr/>
          <p:nvPr/>
        </p:nvSpPr>
        <p:spPr>
          <a:xfrm>
            <a:off x="777240" y="1874519"/>
            <a:ext cx="73152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74519"/>
            <a:ext cx="475488"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a:t>
            </a:r>
          </a:p>
        </p:txBody>
      </p:sp>
      <p:sp>
        <p:nvSpPr>
          <p:cNvPr id="9" name="Rectangle 8"/>
          <p:cNvSpPr/>
          <p:nvPr/>
        </p:nvSpPr>
        <p:spPr>
          <a:xfrm>
            <a:off x="1508760" y="1874519"/>
            <a:ext cx="457200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36776" y="1874519"/>
            <a:ext cx="4315968"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Account (email)</a:t>
            </a:r>
          </a:p>
        </p:txBody>
      </p:sp>
      <p:sp>
        <p:nvSpPr>
          <p:cNvPr id="11" name="Rectangle 10"/>
          <p:cNvSpPr/>
          <p:nvPr/>
        </p:nvSpPr>
        <p:spPr>
          <a:xfrm>
            <a:off x="6080760" y="1874519"/>
            <a:ext cx="73152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08776" y="1874519"/>
            <a:ext cx="475488"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a:t>
            </a:r>
          </a:p>
        </p:txBody>
      </p:sp>
      <p:sp>
        <p:nvSpPr>
          <p:cNvPr id="13" name="Rectangle 12"/>
          <p:cNvSpPr/>
          <p:nvPr/>
        </p:nvSpPr>
        <p:spPr>
          <a:xfrm>
            <a:off x="6812280" y="1874519"/>
            <a:ext cx="459943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0296" y="1874519"/>
            <a:ext cx="4343400"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Account (email)</a:t>
            </a:r>
          </a:p>
        </p:txBody>
      </p:sp>
      <p:sp>
        <p:nvSpPr>
          <p:cNvPr id="15" name="Rectangle 14"/>
          <p:cNvSpPr/>
          <p:nvPr/>
        </p:nvSpPr>
        <p:spPr>
          <a:xfrm>
            <a:off x="777240" y="2350007"/>
            <a:ext cx="73152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350007"/>
            <a:ext cx="475488" cy="475488"/>
          </a:xfrm>
          <a:prstGeom prst="rect">
            <a:avLst/>
          </a:prstGeom>
          <a:noFill/>
        </p:spPr>
        <p:txBody>
          <a:bodyPr wrap="square" anchor="ctr" lIns="0" rIns="0" tIns="0" bIns="0">
            <a:spAutoFit/>
          </a:bodyPr>
          <a:lstStyle/>
          <a:p>
            <a:pPr algn="l">
              <a:spcBef>
                <a:spcPts val="0"/>
              </a:spcBef>
              <a:spcAft>
                <a:spcPts val="400"/>
              </a:spcAft>
            </a:pPr>
            <a:r>
              <a:rPr sz="1200" b="1">
                <a:solidFill>
                  <a:srgbClr val="161B26"/>
                </a:solidFill>
                <a:latin typeface="Arial"/>
              </a:rPr>
              <a:t>1</a:t>
            </a:r>
          </a:p>
        </p:txBody>
      </p:sp>
      <p:sp>
        <p:nvSpPr>
          <p:cNvPr id="17" name="Rectangle 16"/>
          <p:cNvSpPr/>
          <p:nvPr/>
        </p:nvSpPr>
        <p:spPr>
          <a:xfrm>
            <a:off x="1508760" y="2350007"/>
            <a:ext cx="4572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36776" y="2350007"/>
            <a:ext cx="4315968"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n8n18oct1@tertiaryinfotech.com</a:t>
            </a:r>
          </a:p>
        </p:txBody>
      </p:sp>
      <p:sp>
        <p:nvSpPr>
          <p:cNvPr id="19" name="Rectangle 18"/>
          <p:cNvSpPr/>
          <p:nvPr/>
        </p:nvSpPr>
        <p:spPr>
          <a:xfrm>
            <a:off x="6080760" y="2350007"/>
            <a:ext cx="73152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08776" y="2350007"/>
            <a:ext cx="475488"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7</a:t>
            </a:r>
          </a:p>
        </p:txBody>
      </p:sp>
      <p:sp>
        <p:nvSpPr>
          <p:cNvPr id="21" name="Rectangle 20"/>
          <p:cNvSpPr/>
          <p:nvPr/>
        </p:nvSpPr>
        <p:spPr>
          <a:xfrm>
            <a:off x="6812280" y="2350007"/>
            <a:ext cx="459943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0296" y="2350007"/>
            <a:ext cx="4343400"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n8n18oct7@tertiaryinfotech.com</a:t>
            </a:r>
          </a:p>
        </p:txBody>
      </p:sp>
      <p:sp>
        <p:nvSpPr>
          <p:cNvPr id="23" name="Rectangle 22"/>
          <p:cNvSpPr/>
          <p:nvPr/>
        </p:nvSpPr>
        <p:spPr>
          <a:xfrm>
            <a:off x="777240" y="2825495"/>
            <a:ext cx="73152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25495"/>
            <a:ext cx="475488" cy="475488"/>
          </a:xfrm>
          <a:prstGeom prst="rect">
            <a:avLst/>
          </a:prstGeom>
          <a:noFill/>
        </p:spPr>
        <p:txBody>
          <a:bodyPr wrap="square" anchor="ctr" lIns="0" rIns="0" tIns="0" bIns="0">
            <a:spAutoFit/>
          </a:bodyPr>
          <a:lstStyle/>
          <a:p>
            <a:pPr algn="l">
              <a:spcBef>
                <a:spcPts val="0"/>
              </a:spcBef>
              <a:spcAft>
                <a:spcPts val="400"/>
              </a:spcAft>
            </a:pPr>
            <a:r>
              <a:rPr sz="1200" b="1">
                <a:solidFill>
                  <a:srgbClr val="161B26"/>
                </a:solidFill>
                <a:latin typeface="Arial"/>
              </a:rPr>
              <a:t>2</a:t>
            </a:r>
          </a:p>
        </p:txBody>
      </p:sp>
      <p:sp>
        <p:nvSpPr>
          <p:cNvPr id="25" name="Rectangle 24"/>
          <p:cNvSpPr/>
          <p:nvPr/>
        </p:nvSpPr>
        <p:spPr>
          <a:xfrm>
            <a:off x="1508760" y="2825495"/>
            <a:ext cx="457200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36776" y="2825495"/>
            <a:ext cx="4315968"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n8n18oct2@tertiaryinfotech.com</a:t>
            </a:r>
          </a:p>
        </p:txBody>
      </p:sp>
      <p:sp>
        <p:nvSpPr>
          <p:cNvPr id="27" name="Rectangle 26"/>
          <p:cNvSpPr/>
          <p:nvPr/>
        </p:nvSpPr>
        <p:spPr>
          <a:xfrm>
            <a:off x="6080760" y="2825495"/>
            <a:ext cx="73152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08776" y="2825495"/>
            <a:ext cx="475488"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8</a:t>
            </a:r>
          </a:p>
        </p:txBody>
      </p:sp>
      <p:sp>
        <p:nvSpPr>
          <p:cNvPr id="29" name="Rectangle 28"/>
          <p:cNvSpPr/>
          <p:nvPr/>
        </p:nvSpPr>
        <p:spPr>
          <a:xfrm>
            <a:off x="6812280" y="2825495"/>
            <a:ext cx="459943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0296" y="2825495"/>
            <a:ext cx="4343400"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n8n18oct8@tertiaryinfotech.com</a:t>
            </a:r>
          </a:p>
        </p:txBody>
      </p:sp>
      <p:sp>
        <p:nvSpPr>
          <p:cNvPr id="31" name="Rectangle 30"/>
          <p:cNvSpPr/>
          <p:nvPr/>
        </p:nvSpPr>
        <p:spPr>
          <a:xfrm>
            <a:off x="777240" y="3300983"/>
            <a:ext cx="73152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300983"/>
            <a:ext cx="475488" cy="475488"/>
          </a:xfrm>
          <a:prstGeom prst="rect">
            <a:avLst/>
          </a:prstGeom>
          <a:noFill/>
        </p:spPr>
        <p:txBody>
          <a:bodyPr wrap="square" anchor="ctr" lIns="0" rIns="0" tIns="0" bIns="0">
            <a:spAutoFit/>
          </a:bodyPr>
          <a:lstStyle/>
          <a:p>
            <a:pPr algn="l">
              <a:spcBef>
                <a:spcPts val="0"/>
              </a:spcBef>
              <a:spcAft>
                <a:spcPts val="400"/>
              </a:spcAft>
            </a:pPr>
            <a:r>
              <a:rPr sz="1200" b="1">
                <a:solidFill>
                  <a:srgbClr val="161B26"/>
                </a:solidFill>
                <a:latin typeface="Arial"/>
              </a:rPr>
              <a:t>3</a:t>
            </a:r>
          </a:p>
        </p:txBody>
      </p:sp>
      <p:sp>
        <p:nvSpPr>
          <p:cNvPr id="33" name="Rectangle 32"/>
          <p:cNvSpPr/>
          <p:nvPr/>
        </p:nvSpPr>
        <p:spPr>
          <a:xfrm>
            <a:off x="1508760" y="3300983"/>
            <a:ext cx="4572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36776" y="3300983"/>
            <a:ext cx="4315968"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n8n18oct3@tertiaryinfotech.com</a:t>
            </a:r>
          </a:p>
        </p:txBody>
      </p:sp>
      <p:sp>
        <p:nvSpPr>
          <p:cNvPr id="35" name="Rectangle 34"/>
          <p:cNvSpPr/>
          <p:nvPr/>
        </p:nvSpPr>
        <p:spPr>
          <a:xfrm>
            <a:off x="6080760" y="3300983"/>
            <a:ext cx="73152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08776" y="3300983"/>
            <a:ext cx="475488"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9</a:t>
            </a:r>
          </a:p>
        </p:txBody>
      </p:sp>
      <p:sp>
        <p:nvSpPr>
          <p:cNvPr id="37" name="Rectangle 36"/>
          <p:cNvSpPr/>
          <p:nvPr/>
        </p:nvSpPr>
        <p:spPr>
          <a:xfrm>
            <a:off x="6812280" y="3300983"/>
            <a:ext cx="459943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40296" y="3300983"/>
            <a:ext cx="4343400"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n8n18oct9@tertiaryinfotech.com</a:t>
            </a:r>
          </a:p>
        </p:txBody>
      </p:sp>
      <p:sp>
        <p:nvSpPr>
          <p:cNvPr id="39" name="Rectangle 38"/>
          <p:cNvSpPr/>
          <p:nvPr/>
        </p:nvSpPr>
        <p:spPr>
          <a:xfrm>
            <a:off x="777240" y="3776471"/>
            <a:ext cx="73152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76471"/>
            <a:ext cx="475488" cy="475488"/>
          </a:xfrm>
          <a:prstGeom prst="rect">
            <a:avLst/>
          </a:prstGeom>
          <a:noFill/>
        </p:spPr>
        <p:txBody>
          <a:bodyPr wrap="square" anchor="ctr" lIns="0" rIns="0" tIns="0" bIns="0">
            <a:spAutoFit/>
          </a:bodyPr>
          <a:lstStyle/>
          <a:p>
            <a:pPr algn="l">
              <a:spcBef>
                <a:spcPts val="0"/>
              </a:spcBef>
              <a:spcAft>
                <a:spcPts val="400"/>
              </a:spcAft>
            </a:pPr>
            <a:r>
              <a:rPr sz="1200" b="1">
                <a:solidFill>
                  <a:srgbClr val="161B26"/>
                </a:solidFill>
                <a:latin typeface="Arial"/>
              </a:rPr>
              <a:t>4</a:t>
            </a:r>
          </a:p>
        </p:txBody>
      </p:sp>
      <p:sp>
        <p:nvSpPr>
          <p:cNvPr id="41" name="Rectangle 40"/>
          <p:cNvSpPr/>
          <p:nvPr/>
        </p:nvSpPr>
        <p:spPr>
          <a:xfrm>
            <a:off x="1508760" y="3776471"/>
            <a:ext cx="457200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636776" y="3776471"/>
            <a:ext cx="4315968"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n8n18oct4@tertiaryinfotech.com</a:t>
            </a:r>
          </a:p>
        </p:txBody>
      </p:sp>
      <p:sp>
        <p:nvSpPr>
          <p:cNvPr id="43" name="Rectangle 42"/>
          <p:cNvSpPr/>
          <p:nvPr/>
        </p:nvSpPr>
        <p:spPr>
          <a:xfrm>
            <a:off x="6080760" y="3776471"/>
            <a:ext cx="73152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08776" y="3776471"/>
            <a:ext cx="475488"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10</a:t>
            </a:r>
          </a:p>
        </p:txBody>
      </p:sp>
      <p:sp>
        <p:nvSpPr>
          <p:cNvPr id="45" name="Rectangle 44"/>
          <p:cNvSpPr/>
          <p:nvPr/>
        </p:nvSpPr>
        <p:spPr>
          <a:xfrm>
            <a:off x="6812280" y="3776471"/>
            <a:ext cx="459943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0296" y="3776471"/>
            <a:ext cx="4343400"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n8n18oct10@tertiaryinfotech.com</a:t>
            </a:r>
          </a:p>
        </p:txBody>
      </p:sp>
      <p:sp>
        <p:nvSpPr>
          <p:cNvPr id="47" name="Rectangle 46"/>
          <p:cNvSpPr/>
          <p:nvPr/>
        </p:nvSpPr>
        <p:spPr>
          <a:xfrm>
            <a:off x="777240" y="4251959"/>
            <a:ext cx="73152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251959"/>
            <a:ext cx="475488" cy="475488"/>
          </a:xfrm>
          <a:prstGeom prst="rect">
            <a:avLst/>
          </a:prstGeom>
          <a:noFill/>
        </p:spPr>
        <p:txBody>
          <a:bodyPr wrap="square" anchor="ctr" lIns="0" rIns="0" tIns="0" bIns="0">
            <a:spAutoFit/>
          </a:bodyPr>
          <a:lstStyle/>
          <a:p>
            <a:pPr algn="l">
              <a:spcBef>
                <a:spcPts val="0"/>
              </a:spcBef>
              <a:spcAft>
                <a:spcPts val="400"/>
              </a:spcAft>
            </a:pPr>
            <a:r>
              <a:rPr sz="1200" b="1">
                <a:solidFill>
                  <a:srgbClr val="161B26"/>
                </a:solidFill>
                <a:latin typeface="Arial"/>
              </a:rPr>
              <a:t>5</a:t>
            </a:r>
          </a:p>
        </p:txBody>
      </p:sp>
      <p:sp>
        <p:nvSpPr>
          <p:cNvPr id="49" name="Rectangle 48"/>
          <p:cNvSpPr/>
          <p:nvPr/>
        </p:nvSpPr>
        <p:spPr>
          <a:xfrm>
            <a:off x="1508760" y="4251959"/>
            <a:ext cx="4572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636776" y="4251959"/>
            <a:ext cx="4315968"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n8n18oct5@tertiaryinfotech.com</a:t>
            </a:r>
          </a:p>
        </p:txBody>
      </p:sp>
      <p:sp>
        <p:nvSpPr>
          <p:cNvPr id="51" name="Rectangle 50"/>
          <p:cNvSpPr/>
          <p:nvPr/>
        </p:nvSpPr>
        <p:spPr>
          <a:xfrm>
            <a:off x="6080760" y="4251959"/>
            <a:ext cx="73152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08776" y="4251959"/>
            <a:ext cx="475488"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11</a:t>
            </a:r>
          </a:p>
        </p:txBody>
      </p:sp>
      <p:sp>
        <p:nvSpPr>
          <p:cNvPr id="53" name="Rectangle 52"/>
          <p:cNvSpPr/>
          <p:nvPr/>
        </p:nvSpPr>
        <p:spPr>
          <a:xfrm>
            <a:off x="6812280" y="4251959"/>
            <a:ext cx="459943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940296" y="4251959"/>
            <a:ext cx="4343400"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n8n18oct11@tertiaryinfotech.com</a:t>
            </a:r>
          </a:p>
        </p:txBody>
      </p:sp>
      <p:sp>
        <p:nvSpPr>
          <p:cNvPr id="55" name="Rectangle 54"/>
          <p:cNvSpPr/>
          <p:nvPr/>
        </p:nvSpPr>
        <p:spPr>
          <a:xfrm>
            <a:off x="777240" y="4727447"/>
            <a:ext cx="73152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727447"/>
            <a:ext cx="475488" cy="475488"/>
          </a:xfrm>
          <a:prstGeom prst="rect">
            <a:avLst/>
          </a:prstGeom>
          <a:noFill/>
        </p:spPr>
        <p:txBody>
          <a:bodyPr wrap="square" anchor="ctr" lIns="0" rIns="0" tIns="0" bIns="0">
            <a:spAutoFit/>
          </a:bodyPr>
          <a:lstStyle/>
          <a:p>
            <a:pPr algn="l">
              <a:spcBef>
                <a:spcPts val="0"/>
              </a:spcBef>
              <a:spcAft>
                <a:spcPts val="400"/>
              </a:spcAft>
            </a:pPr>
            <a:r>
              <a:rPr sz="1200" b="1">
                <a:solidFill>
                  <a:srgbClr val="161B26"/>
                </a:solidFill>
                <a:latin typeface="Arial"/>
              </a:rPr>
              <a:t>6</a:t>
            </a:r>
          </a:p>
        </p:txBody>
      </p:sp>
      <p:sp>
        <p:nvSpPr>
          <p:cNvPr id="57" name="Rectangle 56"/>
          <p:cNvSpPr/>
          <p:nvPr/>
        </p:nvSpPr>
        <p:spPr>
          <a:xfrm>
            <a:off x="1508760" y="4727447"/>
            <a:ext cx="457200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636776" y="4727447"/>
            <a:ext cx="4315968"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n8n18oct6@tertiaryinfotech.com</a:t>
            </a:r>
          </a:p>
        </p:txBody>
      </p:sp>
      <p:sp>
        <p:nvSpPr>
          <p:cNvPr id="59" name="Rectangle 58"/>
          <p:cNvSpPr/>
          <p:nvPr/>
        </p:nvSpPr>
        <p:spPr>
          <a:xfrm>
            <a:off x="6080760" y="4727447"/>
            <a:ext cx="73152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08776" y="4727447"/>
            <a:ext cx="475488"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12</a:t>
            </a:r>
          </a:p>
        </p:txBody>
      </p:sp>
      <p:sp>
        <p:nvSpPr>
          <p:cNvPr id="61" name="Rectangle 60"/>
          <p:cNvSpPr/>
          <p:nvPr/>
        </p:nvSpPr>
        <p:spPr>
          <a:xfrm>
            <a:off x="6812280" y="4727447"/>
            <a:ext cx="459943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940296" y="4727447"/>
            <a:ext cx="4343400" cy="475488"/>
          </a:xfrm>
          <a:prstGeom prst="rect">
            <a:avLst/>
          </a:prstGeom>
          <a:noFill/>
        </p:spPr>
        <p:txBody>
          <a:bodyPr wrap="square" anchor="ctr" lIns="0" rIns="0" tIns="0" bIns="0">
            <a:spAutoFit/>
          </a:bodyPr>
          <a:lstStyle/>
          <a:p>
            <a:pPr algn="l">
              <a:spcBef>
                <a:spcPts val="0"/>
              </a:spcBef>
              <a:spcAft>
                <a:spcPts val="400"/>
              </a:spcAft>
            </a:pPr>
            <a:r>
              <a:rPr sz="1200" b="0">
                <a:solidFill>
                  <a:srgbClr val="161B26"/>
                </a:solidFill>
                <a:latin typeface="Arial"/>
              </a:rPr>
              <a:t>n8n18oct12@tertiaryinfotech.com</a:t>
            </a:r>
          </a:p>
        </p:txBody>
      </p:sp>
      <p:sp>
        <p:nvSpPr>
          <p:cNvPr id="63" name="Rounded Rectangle 62"/>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Password: provided by your trainer in class   ·   Do not change the password or save real credentials in it.</a:t>
            </a:r>
          </a:p>
        </p:txBody>
      </p:sp>
      <p:sp>
        <p:nvSpPr>
          <p:cNvPr id="65" name="TextBox 6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66" name="TextBox 6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67" name="TextBox 6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SIGN IN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Sign In to n8n</a:t>
            </a:r>
          </a:p>
        </p:txBody>
      </p:sp>
      <p:sp>
        <p:nvSpPr>
          <p:cNvPr id="6" name="Rectangle 5"/>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1424"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1</a:t>
            </a:r>
          </a:p>
        </p:txBody>
      </p:sp>
      <p:sp>
        <p:nvSpPr>
          <p:cNvPr id="10" name="TextBox 9"/>
          <p:cNvSpPr txBox="1"/>
          <p:nvPr/>
        </p:nvSpPr>
        <p:spPr>
          <a:xfrm>
            <a:off x="923544"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Go to app.n8n.cloud/login — or open your own instance URL directly</a:t>
            </a:r>
          </a:p>
        </p:txBody>
      </p:sp>
      <p:sp>
        <p:nvSpPr>
          <p:cNvPr id="11" name="TextBox 10"/>
          <p:cNvSpPr txBox="1"/>
          <p:nvPr/>
        </p:nvSpPr>
        <p:spPr>
          <a:xfrm>
            <a:off x="2618841"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12" name="Rectangle 11"/>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0497"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2</a:t>
            </a:r>
          </a:p>
        </p:txBody>
      </p:sp>
      <p:sp>
        <p:nvSpPr>
          <p:cNvPr id="16" name="TextBox 15"/>
          <p:cNvSpPr txBox="1"/>
          <p:nvPr/>
        </p:nvSpPr>
        <p:spPr>
          <a:xfrm>
            <a:off x="3112617"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Enter your assigned account email, e.g. n8n18oct5@tertiaryinfotech.com</a:t>
            </a:r>
          </a:p>
        </p:txBody>
      </p:sp>
      <p:sp>
        <p:nvSpPr>
          <p:cNvPr id="17" name="TextBox 16"/>
          <p:cNvSpPr txBox="1"/>
          <p:nvPr/>
        </p:nvSpPr>
        <p:spPr>
          <a:xfrm>
            <a:off x="4807914"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18" name="Rectangle 17"/>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19570"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3</a:t>
            </a:r>
          </a:p>
        </p:txBody>
      </p:sp>
      <p:sp>
        <p:nvSpPr>
          <p:cNvPr id="22" name="TextBox 21"/>
          <p:cNvSpPr txBox="1"/>
          <p:nvPr/>
        </p:nvSpPr>
        <p:spPr>
          <a:xfrm>
            <a:off x="5301690"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Enter the password your trainer gives you</a:t>
            </a:r>
          </a:p>
        </p:txBody>
      </p:sp>
      <p:sp>
        <p:nvSpPr>
          <p:cNvPr id="23" name="TextBox 22"/>
          <p:cNvSpPr txBox="1"/>
          <p:nvPr/>
        </p:nvSpPr>
        <p:spPr>
          <a:xfrm>
            <a:off x="6996987"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24" name="Rectangle 23"/>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8643"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4</a:t>
            </a:r>
          </a:p>
        </p:txBody>
      </p:sp>
      <p:sp>
        <p:nvSpPr>
          <p:cNvPr id="28" name="TextBox 27"/>
          <p:cNvSpPr txBox="1"/>
          <p:nvPr/>
        </p:nvSpPr>
        <p:spPr>
          <a:xfrm>
            <a:off x="7490763"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Open your instance from the dashboard — a free 14-day trial, active through the training</a:t>
            </a:r>
          </a:p>
        </p:txBody>
      </p:sp>
      <p:sp>
        <p:nvSpPr>
          <p:cNvPr id="29" name="TextBox 28"/>
          <p:cNvSpPr txBox="1"/>
          <p:nvPr/>
        </p:nvSpPr>
        <p:spPr>
          <a:xfrm>
            <a:off x="9186060"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30" name="Rectangle 29"/>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97716"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5</a:t>
            </a:r>
          </a:p>
        </p:txBody>
      </p:sp>
      <p:sp>
        <p:nvSpPr>
          <p:cNvPr id="34" name="TextBox 33"/>
          <p:cNvSpPr txBox="1"/>
          <p:nvPr/>
        </p:nvSpPr>
        <p:spPr>
          <a:xfrm>
            <a:off x="9679836"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You land in n8n — open Assistant or Overview to start building</a:t>
            </a:r>
          </a:p>
        </p:txBody>
      </p:sp>
      <p:sp>
        <p:nvSpPr>
          <p:cNvPr id="35" name="TextBox 3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32</a:t>
            </a:r>
          </a:p>
        </p:txBody>
      </p:sp>
      <p:sp>
        <p:nvSpPr>
          <p:cNvPr id="38" name="Rounded Rectangle 37"/>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Your account is already set up — the name is your email prefix and onboarding is done. Do not change the password.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The n8n Editor</a:t>
            </a:r>
          </a:p>
        </p:txBody>
      </p:sp>
      <p:pic>
        <p:nvPicPr>
          <p:cNvPr id="6" name="Picture 5" descr="n8n-editor.png"/>
          <p:cNvPicPr>
            <a:picLocks noChangeAspect="1"/>
          </p:cNvPicPr>
          <p:nvPr/>
        </p:nvPicPr>
        <p:blipFill>
          <a:blip r:embed="rId2"/>
          <a:stretch>
            <a:fillRect/>
          </a:stretch>
        </p:blipFill>
        <p:spPr>
          <a:xfrm>
            <a:off x="3810730" y="1737360"/>
            <a:ext cx="4540059" cy="4160520"/>
          </a:xfrm>
          <a:prstGeom prst="rect">
            <a:avLst/>
          </a:prstGeom>
        </p:spPr>
      </p:pic>
      <p:sp>
        <p:nvSpPr>
          <p:cNvPr id="7" name="Rectangle 6"/>
          <p:cNvSpPr/>
          <p:nvPr/>
        </p:nvSpPr>
        <p:spPr>
          <a:xfrm>
            <a:off x="3798030" y="1724660"/>
            <a:ext cx="4565459" cy="418592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n8n canvas: left sidebar navigation · centre canvas · node toolbar · Editor / Executions / Evaluations tabs</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TOPIC 1 · FREE AI CREDITS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Claim Your Free AI Credits</a:t>
            </a:r>
          </a:p>
        </p:txBody>
      </p:sp>
      <p:sp>
        <p:nvSpPr>
          <p:cNvPr id="6" name="Rectangle 5"/>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1424"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1</a:t>
            </a:r>
          </a:p>
        </p:txBody>
      </p:sp>
      <p:sp>
        <p:nvSpPr>
          <p:cNvPr id="10" name="TextBox 9"/>
          <p:cNvSpPr txBox="1"/>
          <p:nvPr/>
        </p:nvSpPr>
        <p:spPr>
          <a:xfrm>
            <a:off x="923544"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Sign in to n8n Cloud with your training account — the free trial includes Gateway credits</a:t>
            </a:r>
          </a:p>
        </p:txBody>
      </p:sp>
      <p:sp>
        <p:nvSpPr>
          <p:cNvPr id="11" name="TextBox 10"/>
          <p:cNvSpPr txBox="1"/>
          <p:nvPr/>
        </p:nvSpPr>
        <p:spPr>
          <a:xfrm>
            <a:off x="2618841"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0B981"/>
                </a:solidFill>
                <a:latin typeface="Arial"/>
              </a:rPr>
              <a:t>▶</a:t>
            </a:r>
          </a:p>
        </p:txBody>
      </p:sp>
      <p:sp>
        <p:nvSpPr>
          <p:cNvPr id="12" name="Rectangle 11"/>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0497"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2</a:t>
            </a:r>
          </a:p>
        </p:txBody>
      </p:sp>
      <p:sp>
        <p:nvSpPr>
          <p:cNvPr id="16" name="TextBox 15"/>
          <p:cNvSpPr txBox="1"/>
          <p:nvPr/>
        </p:nvSpPr>
        <p:spPr>
          <a:xfrm>
            <a:off x="3112617"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Open a workflow and add an AI node, e.g. AI Agent → Gemini or OpenAI Chat Model</a:t>
            </a:r>
          </a:p>
        </p:txBody>
      </p:sp>
      <p:sp>
        <p:nvSpPr>
          <p:cNvPr id="17" name="TextBox 16"/>
          <p:cNvSpPr txBox="1"/>
          <p:nvPr/>
        </p:nvSpPr>
        <p:spPr>
          <a:xfrm>
            <a:off x="4807914"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0B981"/>
                </a:solidFill>
                <a:latin typeface="Arial"/>
              </a:rPr>
              <a:t>▶</a:t>
            </a:r>
          </a:p>
        </p:txBody>
      </p:sp>
      <p:sp>
        <p:nvSpPr>
          <p:cNvPr id="18" name="Rectangle 17"/>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19570"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3</a:t>
            </a:r>
          </a:p>
        </p:txBody>
      </p:sp>
      <p:sp>
        <p:nvSpPr>
          <p:cNvPr id="22" name="TextBox 21"/>
          <p:cNvSpPr txBox="1"/>
          <p:nvPr/>
        </p:nvSpPr>
        <p:spPr>
          <a:xfrm>
            <a:off x="5301690"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In the node's Credential field, choose Use Gateway credits — your balance shows beside it</a:t>
            </a:r>
          </a:p>
        </p:txBody>
      </p:sp>
      <p:sp>
        <p:nvSpPr>
          <p:cNvPr id="23" name="TextBox 22"/>
          <p:cNvSpPr txBox="1"/>
          <p:nvPr/>
        </p:nvSpPr>
        <p:spPr>
          <a:xfrm>
            <a:off x="6996987"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0B981"/>
                </a:solidFill>
                <a:latin typeface="Arial"/>
              </a:rPr>
              <a:t>▶</a:t>
            </a:r>
          </a:p>
        </p:txBody>
      </p:sp>
      <p:sp>
        <p:nvSpPr>
          <p:cNvPr id="24" name="Rectangle 23"/>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8643"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4</a:t>
            </a:r>
          </a:p>
        </p:txBody>
      </p:sp>
      <p:sp>
        <p:nvSpPr>
          <p:cNvPr id="28" name="TextBox 27"/>
          <p:cNvSpPr txBox="1"/>
          <p:nvPr/>
        </p:nvSpPr>
        <p:spPr>
          <a:xfrm>
            <a:off x="7490763"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Pick a supported model and run the node — no provider account or API key needed</a:t>
            </a:r>
          </a:p>
        </p:txBody>
      </p:sp>
      <p:sp>
        <p:nvSpPr>
          <p:cNvPr id="29" name="TextBox 28"/>
          <p:cNvSpPr txBox="1"/>
          <p:nvPr/>
        </p:nvSpPr>
        <p:spPr>
          <a:xfrm>
            <a:off x="9186060"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0B981"/>
                </a:solidFill>
                <a:latin typeface="Arial"/>
              </a:rPr>
              <a:t>▶</a:t>
            </a:r>
          </a:p>
        </p:txBody>
      </p:sp>
      <p:sp>
        <p:nvSpPr>
          <p:cNvPr id="30" name="Rectangle 29"/>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97716"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5</a:t>
            </a:r>
          </a:p>
        </p:txBody>
      </p:sp>
      <p:sp>
        <p:nvSpPr>
          <p:cNvPr id="34" name="TextBox 33"/>
          <p:cNvSpPr txBox="1"/>
          <p:nvPr/>
        </p:nvSpPr>
        <p:spPr>
          <a:xfrm>
            <a:off x="9679836"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Track the balance on the node, or in Admin Panel → Gateway credits</a:t>
            </a:r>
          </a:p>
        </p:txBody>
      </p:sp>
      <p:sp>
        <p:nvSpPr>
          <p:cNvPr id="35" name="TextBox 3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34</a:t>
            </a:r>
          </a:p>
        </p:txBody>
      </p:sp>
      <p:sp>
        <p:nvSpPr>
          <p:cNvPr id="38" name="Rounded Rectangle 37"/>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A red "Free AI credits — Enable to claim credits" toast is the legacy OpenAI offer: Gateway instances don't get it. Use Gateway credits.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TOPIC 1 · AI-ASSISTED WORKFLOW CREATION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n8n Assistant — Describe It, n8n Builds It</a:t>
            </a:r>
          </a:p>
        </p:txBody>
      </p:sp>
      <p:pic>
        <p:nvPicPr>
          <p:cNvPr id="6" name="Picture 5" descr="n8n-assistant.png"/>
          <p:cNvPicPr>
            <a:picLocks noChangeAspect="1"/>
          </p:cNvPicPr>
          <p:nvPr/>
        </p:nvPicPr>
        <p:blipFill>
          <a:blip r:embed="rId2"/>
          <a:stretch>
            <a:fillRect/>
          </a:stretch>
        </p:blipFill>
        <p:spPr>
          <a:xfrm>
            <a:off x="1746644" y="1737360"/>
            <a:ext cx="8668232" cy="4160520"/>
          </a:xfrm>
          <a:prstGeom prst="rect">
            <a:avLst/>
          </a:prstGeom>
        </p:spPr>
      </p:pic>
      <p:sp>
        <p:nvSpPr>
          <p:cNvPr id="7" name="Rectangle 6"/>
          <p:cNvSpPr/>
          <p:nvPr/>
        </p:nvSpPr>
        <p:spPr>
          <a:xfrm>
            <a:off x="1733944" y="1724660"/>
            <a:ext cx="8693632" cy="418592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Open Assistant in the sidebar and answer "What do you want to automate?" — it builds a normal workflow you can edit and publish.</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DEMO</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Demo: n8n Assistant Builds a Social Media Campaign</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Give n8n Assistant one clear prompt — it plans and builds the workflow below, with a human approval gate.</a:t>
            </a:r>
          </a:p>
        </p:txBody>
      </p:sp>
      <p:sp>
        <p:nvSpPr>
          <p:cNvPr id="7" name="Rounded Rectangle 6"/>
          <p:cNvSpPr/>
          <p:nvPr/>
        </p:nvSpPr>
        <p:spPr>
          <a:xfrm>
            <a:off x="777240" y="1828800"/>
            <a:ext cx="1878177" cy="86868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28800"/>
            <a:ext cx="1695297"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Form Trigger</a:t>
            </a:r>
          </a:p>
          <a:p>
            <a:pPr algn="ctr">
              <a:spcBef>
                <a:spcPts val="0"/>
              </a:spcBef>
              <a:spcAft>
                <a:spcPts val="200"/>
              </a:spcAft>
            </a:pPr>
            <a:r>
              <a:rPr sz="850" b="0">
                <a:solidFill>
                  <a:srgbClr val="5B6372"/>
                </a:solidFill>
                <a:latin typeface="Arial"/>
              </a:rPr>
              <a:t>you enter a topic</a:t>
            </a:r>
          </a:p>
        </p:txBody>
      </p:sp>
      <p:sp>
        <p:nvSpPr>
          <p:cNvPr id="9" name="TextBox 8"/>
          <p:cNvSpPr txBox="1"/>
          <p:nvPr/>
        </p:nvSpPr>
        <p:spPr>
          <a:xfrm>
            <a:off x="2627985" y="20985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0" name="Rounded Rectangle 9"/>
          <p:cNvSpPr/>
          <p:nvPr/>
        </p:nvSpPr>
        <p:spPr>
          <a:xfrm>
            <a:off x="2966313" y="1828800"/>
            <a:ext cx="1878177" cy="86868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7753" y="1828800"/>
            <a:ext cx="1695297"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Research</a:t>
            </a:r>
          </a:p>
          <a:p>
            <a:pPr algn="ctr">
              <a:spcBef>
                <a:spcPts val="0"/>
              </a:spcBef>
              <a:spcAft>
                <a:spcPts val="200"/>
              </a:spcAft>
            </a:pPr>
            <a:r>
              <a:rPr sz="850" b="0">
                <a:solidFill>
                  <a:srgbClr val="5B6372"/>
                </a:solidFill>
                <a:latin typeface="Arial"/>
              </a:rPr>
              <a:t>AI Agent + web search</a:t>
            </a:r>
          </a:p>
        </p:txBody>
      </p:sp>
      <p:sp>
        <p:nvSpPr>
          <p:cNvPr id="12" name="TextBox 11"/>
          <p:cNvSpPr txBox="1"/>
          <p:nvPr/>
        </p:nvSpPr>
        <p:spPr>
          <a:xfrm>
            <a:off x="4817058" y="20985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3" name="Rounded Rectangle 12"/>
          <p:cNvSpPr/>
          <p:nvPr/>
        </p:nvSpPr>
        <p:spPr>
          <a:xfrm>
            <a:off x="5155386" y="1828800"/>
            <a:ext cx="1878177" cy="86868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6826" y="1828800"/>
            <a:ext cx="1695297"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Draft post</a:t>
            </a:r>
          </a:p>
          <a:p>
            <a:pPr algn="ctr">
              <a:spcBef>
                <a:spcPts val="0"/>
              </a:spcBef>
              <a:spcAft>
                <a:spcPts val="200"/>
              </a:spcAft>
            </a:pPr>
            <a:r>
              <a:rPr sz="850" b="0">
                <a:solidFill>
                  <a:srgbClr val="5B6372"/>
                </a:solidFill>
                <a:latin typeface="Arial"/>
              </a:rPr>
              <a:t>AI writes the copy</a:t>
            </a:r>
          </a:p>
        </p:txBody>
      </p:sp>
      <p:sp>
        <p:nvSpPr>
          <p:cNvPr id="15" name="TextBox 14"/>
          <p:cNvSpPr txBox="1"/>
          <p:nvPr/>
        </p:nvSpPr>
        <p:spPr>
          <a:xfrm>
            <a:off x="7006131" y="20985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6" name="Rounded Rectangle 15"/>
          <p:cNvSpPr/>
          <p:nvPr/>
        </p:nvSpPr>
        <p:spPr>
          <a:xfrm>
            <a:off x="7344459" y="1828800"/>
            <a:ext cx="1878177" cy="86868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5899" y="1828800"/>
            <a:ext cx="1695297"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Human in the loop</a:t>
            </a:r>
          </a:p>
          <a:p>
            <a:pPr algn="ctr">
              <a:spcBef>
                <a:spcPts val="0"/>
              </a:spcBef>
              <a:spcAft>
                <a:spcPts val="200"/>
              </a:spcAft>
            </a:pPr>
            <a:r>
              <a:rPr sz="850" b="0">
                <a:solidFill>
                  <a:srgbClr val="5B6372"/>
                </a:solidFill>
                <a:latin typeface="Arial"/>
              </a:rPr>
              <a:t>email approve / reject</a:t>
            </a:r>
          </a:p>
        </p:txBody>
      </p:sp>
      <p:sp>
        <p:nvSpPr>
          <p:cNvPr id="18" name="TextBox 17"/>
          <p:cNvSpPr txBox="1"/>
          <p:nvPr/>
        </p:nvSpPr>
        <p:spPr>
          <a:xfrm>
            <a:off x="9195204" y="20985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9" name="Rounded Rectangle 18"/>
          <p:cNvSpPr/>
          <p:nvPr/>
        </p:nvSpPr>
        <p:spPr>
          <a:xfrm>
            <a:off x="9533532" y="1828800"/>
            <a:ext cx="1878177" cy="86868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24972" y="1828800"/>
            <a:ext cx="1695297"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Schedule post</a:t>
            </a:r>
          </a:p>
          <a:p>
            <a:pPr algn="ctr">
              <a:spcBef>
                <a:spcPts val="0"/>
              </a:spcBef>
              <a:spcAft>
                <a:spcPts val="200"/>
              </a:spcAft>
            </a:pPr>
            <a:r>
              <a:rPr sz="850" b="0">
                <a:solidFill>
                  <a:srgbClr val="5B6372"/>
                </a:solidFill>
                <a:latin typeface="Arial"/>
              </a:rPr>
              <a:t>wait, then publish</a:t>
            </a:r>
          </a:p>
        </p:txBody>
      </p:sp>
      <p:sp>
        <p:nvSpPr>
          <p:cNvPr id="21" name="Rounded Rectangle 20"/>
          <p:cNvSpPr/>
          <p:nvPr/>
        </p:nvSpPr>
        <p:spPr>
          <a:xfrm>
            <a:off x="777240" y="2880360"/>
            <a:ext cx="6583680" cy="269748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2990088"/>
            <a:ext cx="6217920" cy="274320"/>
          </a:xfrm>
          <a:prstGeom prst="rect">
            <a:avLst/>
          </a:prstGeom>
          <a:noFill/>
        </p:spPr>
        <p:txBody>
          <a:bodyPr wrap="square" anchor="t" lIns="0" rIns="0" tIns="0" bIns="0">
            <a:spAutoFit/>
          </a:bodyPr>
          <a:lstStyle/>
          <a:p>
            <a:pPr algn="l">
              <a:spcBef>
                <a:spcPts val="0"/>
              </a:spcBef>
              <a:spcAft>
                <a:spcPts val="400"/>
              </a:spcAft>
            </a:pPr>
            <a:r>
              <a:rPr sz="1100" b="1">
                <a:solidFill>
                  <a:srgbClr val="7C3AED"/>
                </a:solidFill>
                <a:latin typeface="Arial"/>
              </a:rPr>
              <a:t>THE PROMPT</a:t>
            </a:r>
          </a:p>
        </p:txBody>
      </p:sp>
      <p:sp>
        <p:nvSpPr>
          <p:cNvPr id="23" name="TextBox 22"/>
          <p:cNvSpPr txBox="1"/>
          <p:nvPr/>
        </p:nvSpPr>
        <p:spPr>
          <a:xfrm>
            <a:off x="1005840" y="3291840"/>
            <a:ext cx="6217920" cy="2240280"/>
          </a:xfrm>
          <a:prstGeom prst="rect">
            <a:avLst/>
          </a:prstGeom>
          <a:noFill/>
        </p:spPr>
        <p:txBody>
          <a:bodyPr wrap="square" anchor="t" lIns="0" rIns="0" tIns="0" bIns="0">
            <a:spAutoFit/>
          </a:bodyPr>
          <a:lstStyle/>
          <a:p>
            <a:pPr algn="l">
              <a:spcBef>
                <a:spcPts val="0"/>
              </a:spcBef>
              <a:spcAft>
                <a:spcPts val="200"/>
              </a:spcAft>
            </a:pPr>
            <a:r>
              <a:rPr sz="1050" b="0">
                <a:solidFill>
                  <a:srgbClr val="161B26"/>
                </a:solidFill>
                <a:latin typeface="Arial"/>
              </a:rPr>
              <a:t>Create a workflow for a social media marketing campaign:</a:t>
            </a:r>
          </a:p>
          <a:p>
            <a:pPr algn="l">
              <a:spcBef>
                <a:spcPts val="0"/>
              </a:spcBef>
              <a:spcAft>
                <a:spcPts val="200"/>
              </a:spcAft>
            </a:pPr>
            <a:r>
              <a:rPr sz="1050" b="0">
                <a:solidFill>
                  <a:srgbClr val="161B26"/>
                </a:solidFill>
                <a:latin typeface="Arial"/>
              </a:rPr>
              <a:t>1. Start from a form where I enter a campaign topic.</a:t>
            </a:r>
          </a:p>
          <a:p>
            <a:pPr algn="l">
              <a:spcBef>
                <a:spcPts val="0"/>
              </a:spcBef>
              <a:spcAft>
                <a:spcPts val="200"/>
              </a:spcAft>
            </a:pPr>
            <a:r>
              <a:rPr sz="1050" b="0">
                <a:solidFill>
                  <a:srgbClr val="161B26"/>
                </a:solidFill>
                <a:latin typeface="Arial"/>
              </a:rPr>
              <a:t>2. Research the topic on the web and summarise 3 key points.</a:t>
            </a:r>
          </a:p>
          <a:p>
            <a:pPr algn="l">
              <a:spcBef>
                <a:spcPts val="0"/>
              </a:spcBef>
              <a:spcAft>
                <a:spcPts val="200"/>
              </a:spcAft>
            </a:pPr>
            <a:r>
              <a:rPr sz="1050" b="0">
                <a:solidFill>
                  <a:srgbClr val="161B26"/>
                </a:solidFill>
                <a:latin typeface="Arial"/>
              </a:rPr>
              <a:t>3. Draft a LinkedIn post under 150 words from the research.</a:t>
            </a:r>
          </a:p>
          <a:p>
            <a:pPr algn="l">
              <a:spcBef>
                <a:spcPts val="0"/>
              </a:spcBef>
              <a:spcAft>
                <a:spcPts val="200"/>
              </a:spcAft>
            </a:pPr>
            <a:r>
              <a:rPr sz="1050" b="0">
                <a:solidFill>
                  <a:srgbClr val="161B26"/>
                </a:solidFill>
                <a:latin typeface="Arial"/>
              </a:rPr>
              <a:t>4. Email me the draft and wait for my approval before posting.</a:t>
            </a:r>
          </a:p>
          <a:p>
            <a:pPr algn="l">
              <a:spcBef>
                <a:spcPts val="0"/>
              </a:spcBef>
              <a:spcAft>
                <a:spcPts val="200"/>
              </a:spcAft>
            </a:pPr>
            <a:r>
              <a:rPr sz="1050" b="0">
                <a:solidFill>
                  <a:srgbClr val="161B26"/>
                </a:solidFill>
                <a:latin typeface="Arial"/>
              </a:rPr>
              <a:t>5. If approved, schedule the post for 9am the next weekday;</a:t>
            </a:r>
          </a:p>
          <a:p>
            <a:pPr algn="l">
              <a:spcBef>
                <a:spcPts val="0"/>
              </a:spcBef>
              <a:spcAft>
                <a:spcPts val="200"/>
              </a:spcAft>
            </a:pPr>
            <a:r>
              <a:rPr sz="1050" b="0">
                <a:solidFill>
                  <a:srgbClr val="161B26"/>
                </a:solidFill>
                <a:latin typeface="Arial"/>
              </a:rPr>
              <a:t>    if rejected, log my feedback in a Google Sheet.</a:t>
            </a:r>
          </a:p>
          <a:p>
            <a:pPr algn="l">
              <a:spcBef>
                <a:spcPts val="0"/>
              </a:spcBef>
              <a:spcAft>
                <a:spcPts val="200"/>
              </a:spcAft>
            </a:pPr>
            <a:r>
              <a:rPr sz="1050" b="0">
                <a:solidFill>
                  <a:srgbClr val="161B26"/>
                </a:solidFill>
                <a:latin typeface="Arial"/>
              </a:rPr>
              <a:t>Use Gateway credits for the AI model. Ask me before publishing.</a:t>
            </a:r>
          </a:p>
        </p:txBody>
      </p:sp>
      <p:sp>
        <p:nvSpPr>
          <p:cNvPr id="24" name="Rounded Rectangle 23"/>
          <p:cNvSpPr/>
          <p:nvPr/>
        </p:nvSpPr>
        <p:spPr>
          <a:xfrm>
            <a:off x="7589520" y="2880360"/>
            <a:ext cx="3822191" cy="269748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18120" y="2990088"/>
            <a:ext cx="3474720" cy="274320"/>
          </a:xfrm>
          <a:prstGeom prst="rect">
            <a:avLst/>
          </a:prstGeom>
          <a:noFill/>
        </p:spPr>
        <p:txBody>
          <a:bodyPr wrap="square" anchor="t" lIns="0" rIns="0" tIns="0" bIns="0">
            <a:spAutoFit/>
          </a:bodyPr>
          <a:lstStyle/>
          <a:p>
            <a:pPr algn="l">
              <a:spcBef>
                <a:spcPts val="0"/>
              </a:spcBef>
              <a:spcAft>
                <a:spcPts val="400"/>
              </a:spcAft>
            </a:pPr>
            <a:r>
              <a:rPr sz="1100" b="1">
                <a:solidFill>
                  <a:srgbClr val="10B981"/>
                </a:solidFill>
                <a:latin typeface="Arial"/>
              </a:rPr>
              <a:t>THEN YOU</a:t>
            </a:r>
          </a:p>
        </p:txBody>
      </p:sp>
      <p:sp>
        <p:nvSpPr>
          <p:cNvPr id="26" name="TextBox 25"/>
          <p:cNvSpPr txBox="1"/>
          <p:nvPr/>
        </p:nvSpPr>
        <p:spPr>
          <a:xfrm>
            <a:off x="7818120" y="3310128"/>
            <a:ext cx="3429000" cy="2194560"/>
          </a:xfrm>
          <a:prstGeom prst="rect">
            <a:avLst/>
          </a:prstGeom>
          <a:noFill/>
        </p:spPr>
        <p:txBody>
          <a:bodyPr wrap="square" lIns="0" rIns="0">
            <a:spAutoFit/>
          </a:bodyPr>
          <a:lstStyle/>
          <a:p>
            <a:pPr>
              <a:spcBef>
                <a:spcPts val="0"/>
              </a:spcBef>
              <a:spcAft>
                <a:spcPts val="600"/>
              </a:spcAft>
            </a:pPr>
            <a:r>
              <a:rPr sz="1150" b="1">
                <a:solidFill>
                  <a:srgbClr val="10B981"/>
                </a:solidFill>
                <a:latin typeface="Arial"/>
              </a:rPr>
              <a:t>•  </a:t>
            </a:r>
            <a:r>
              <a:rPr sz="1150">
                <a:solidFill>
                  <a:srgbClr val="161B26"/>
                </a:solidFill>
                <a:latin typeface="Arial"/>
              </a:rPr>
              <a:t>Review the plan before it builds</a:t>
            </a:r>
          </a:p>
          <a:p>
            <a:pPr>
              <a:spcBef>
                <a:spcPts val="0"/>
              </a:spcBef>
              <a:spcAft>
                <a:spcPts val="600"/>
              </a:spcAft>
            </a:pPr>
            <a:r>
              <a:rPr sz="1150" b="1">
                <a:solidFill>
                  <a:srgbClr val="10B981"/>
                </a:solidFill>
                <a:latin typeface="Arial"/>
              </a:rPr>
              <a:t>•  </a:t>
            </a:r>
            <a:r>
              <a:rPr sz="1150">
                <a:solidFill>
                  <a:srgbClr val="161B26"/>
                </a:solidFill>
                <a:latin typeface="Arial"/>
              </a:rPr>
              <a:t>Connect Gmail and the social account when it asks</a:t>
            </a:r>
          </a:p>
          <a:p>
            <a:pPr>
              <a:spcBef>
                <a:spcPts val="0"/>
              </a:spcBef>
              <a:spcAft>
                <a:spcPts val="600"/>
              </a:spcAft>
            </a:pPr>
            <a:r>
              <a:rPr sz="1150" b="1">
                <a:solidFill>
                  <a:srgbClr val="10B981"/>
                </a:solidFill>
                <a:latin typeface="Arial"/>
              </a:rPr>
              <a:t>•  </a:t>
            </a:r>
            <a:r>
              <a:rPr sz="1150">
                <a:solidFill>
                  <a:srgbClr val="161B26"/>
                </a:solidFill>
                <a:latin typeface="Arial"/>
              </a:rPr>
              <a:t>Test with a real topic and approve the draft</a:t>
            </a:r>
          </a:p>
          <a:p>
            <a:pPr>
              <a:spcBef>
                <a:spcPts val="0"/>
              </a:spcBef>
              <a:spcAft>
                <a:spcPts val="600"/>
              </a:spcAft>
            </a:pPr>
            <a:r>
              <a:rPr sz="1150" b="1">
                <a:solidFill>
                  <a:srgbClr val="10B981"/>
                </a:solidFill>
                <a:latin typeface="Arial"/>
              </a:rPr>
              <a:t>•  </a:t>
            </a:r>
            <a:r>
              <a:rPr sz="1150">
                <a:solidFill>
                  <a:srgbClr val="161B26"/>
                </a:solidFill>
                <a:latin typeface="Arial"/>
              </a:rPr>
              <a:t>Publish only when the run looks right</a:t>
            </a:r>
          </a:p>
        </p:txBody>
      </p:sp>
      <p:sp>
        <p:nvSpPr>
          <p:cNvPr id="27" name="Rounded Rectangle 2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The AI built it; the workflow runs it — and nothing is posted until a person approves the draft.</a:t>
            </a:r>
          </a:p>
        </p:txBody>
      </p:sp>
      <p:sp>
        <p:nvSpPr>
          <p:cNvPr id="29" name="TextBox 2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Trigger Nodes — What Is Allowed to Start a Workflow</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trigger you choose is a statement about who or what may start the process.</a:t>
            </a:r>
          </a:p>
        </p:txBody>
      </p:sp>
      <p:sp>
        <p:nvSpPr>
          <p:cNvPr id="7" name="Rounded Rectangle 6"/>
          <p:cNvSpPr/>
          <p:nvPr/>
        </p:nvSpPr>
        <p:spPr>
          <a:xfrm>
            <a:off x="777240" y="1783080"/>
            <a:ext cx="3349752" cy="181051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293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385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Manual Trigger</a:t>
            </a:r>
          </a:p>
        </p:txBody>
      </p:sp>
      <p:sp>
        <p:nvSpPr>
          <p:cNvPr id="11" name="TextBox 10"/>
          <p:cNvSpPr txBox="1"/>
          <p:nvPr/>
        </p:nvSpPr>
        <p:spPr>
          <a:xfrm>
            <a:off x="978408" y="2331720"/>
            <a:ext cx="294741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Click Execute Workflow — for building and testing, and for one-off jobs like the Activity 7b ingestion run.</a:t>
            </a:r>
          </a:p>
        </p:txBody>
      </p:sp>
      <p:sp>
        <p:nvSpPr>
          <p:cNvPr id="12" name="Rounded Rectangle 11"/>
          <p:cNvSpPr/>
          <p:nvPr/>
        </p:nvSpPr>
        <p:spPr>
          <a:xfrm>
            <a:off x="4419600" y="1783080"/>
            <a:ext cx="3349752" cy="1810512"/>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2480" y="19293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248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5041392" y="19385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Schedule Trigger</a:t>
            </a:r>
          </a:p>
        </p:txBody>
      </p:sp>
      <p:sp>
        <p:nvSpPr>
          <p:cNvPr id="16" name="TextBox 15"/>
          <p:cNvSpPr txBox="1"/>
          <p:nvPr/>
        </p:nvSpPr>
        <p:spPr>
          <a:xfrm>
            <a:off x="4620768" y="2331720"/>
            <a:ext cx="294741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 clock starts the flow — cron or interval. Reports, reminders, nightly syncs.</a:t>
            </a:r>
          </a:p>
        </p:txBody>
      </p:sp>
      <p:sp>
        <p:nvSpPr>
          <p:cNvPr id="17" name="Rounded Rectangle 16"/>
          <p:cNvSpPr/>
          <p:nvPr/>
        </p:nvSpPr>
        <p:spPr>
          <a:xfrm>
            <a:off x="8061960" y="1783080"/>
            <a:ext cx="3349752" cy="1810512"/>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19293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8683752" y="19385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Form Trigger</a:t>
            </a:r>
          </a:p>
        </p:txBody>
      </p:sp>
      <p:sp>
        <p:nvSpPr>
          <p:cNvPr id="21" name="TextBox 20"/>
          <p:cNvSpPr txBox="1"/>
          <p:nvPr/>
        </p:nvSpPr>
        <p:spPr>
          <a:xfrm>
            <a:off x="8263128" y="2331720"/>
            <a:ext cx="294741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n8n hosts a web form for you; each submission starts a run. Activities 1–3.</a:t>
            </a:r>
          </a:p>
        </p:txBody>
      </p:sp>
      <p:sp>
        <p:nvSpPr>
          <p:cNvPr id="22" name="Rounded Rectangle 21"/>
          <p:cNvSpPr/>
          <p:nvPr/>
        </p:nvSpPr>
        <p:spPr>
          <a:xfrm>
            <a:off x="777240" y="3813048"/>
            <a:ext cx="3349752" cy="1810512"/>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0120" y="395935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1399032" y="3968496"/>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Webhook</a:t>
            </a:r>
          </a:p>
        </p:txBody>
      </p:sp>
      <p:sp>
        <p:nvSpPr>
          <p:cNvPr id="26" name="TextBox 25"/>
          <p:cNvSpPr txBox="1"/>
          <p:nvPr/>
        </p:nvSpPr>
        <p:spPr>
          <a:xfrm>
            <a:off x="978408" y="4361688"/>
            <a:ext cx="294741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External systems call a URL you expose. Websites and apps — Activities 5, 7b, 8.</a:t>
            </a:r>
          </a:p>
        </p:txBody>
      </p:sp>
      <p:sp>
        <p:nvSpPr>
          <p:cNvPr id="27" name="Rounded Rectangle 26"/>
          <p:cNvSpPr/>
          <p:nvPr/>
        </p:nvSpPr>
        <p:spPr>
          <a:xfrm>
            <a:off x="4419600" y="3813048"/>
            <a:ext cx="3349752" cy="1810512"/>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02480" y="3959352"/>
            <a:ext cx="310896" cy="310896"/>
          </a:xfrm>
          <a:prstGeom prst="ellipse">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0248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5</a:t>
            </a:r>
          </a:p>
        </p:txBody>
      </p:sp>
      <p:sp>
        <p:nvSpPr>
          <p:cNvPr id="30" name="TextBox 29"/>
          <p:cNvSpPr txBox="1"/>
          <p:nvPr/>
        </p:nvSpPr>
        <p:spPr>
          <a:xfrm>
            <a:off x="5041392" y="3968496"/>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Chat / Telegram Trigger</a:t>
            </a:r>
          </a:p>
        </p:txBody>
      </p:sp>
      <p:sp>
        <p:nvSpPr>
          <p:cNvPr id="31" name="TextBox 30"/>
          <p:cNvSpPr txBox="1"/>
          <p:nvPr/>
        </p:nvSpPr>
        <p:spPr>
          <a:xfrm>
            <a:off x="4620768" y="4361688"/>
            <a:ext cx="294741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Each chat message starts a run — n8n's chat UI or your Telegram bot. Activities 4, 6, 7a.</a:t>
            </a:r>
          </a:p>
        </p:txBody>
      </p:sp>
      <p:sp>
        <p:nvSpPr>
          <p:cNvPr id="32" name="Rounded Rectangle 31"/>
          <p:cNvSpPr/>
          <p:nvPr/>
        </p:nvSpPr>
        <p:spPr>
          <a:xfrm>
            <a:off x="8061960" y="3813048"/>
            <a:ext cx="3349752" cy="1810512"/>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244840" y="3959352"/>
            <a:ext cx="310896" cy="310896"/>
          </a:xfrm>
          <a:prstGeom prst="ellipse">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4484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6</a:t>
            </a:r>
          </a:p>
        </p:txBody>
      </p:sp>
      <p:sp>
        <p:nvSpPr>
          <p:cNvPr id="35" name="TextBox 34"/>
          <p:cNvSpPr txBox="1"/>
          <p:nvPr/>
        </p:nvSpPr>
        <p:spPr>
          <a:xfrm>
            <a:off x="8683752" y="3968496"/>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App &amp; Email Triggers</a:t>
            </a:r>
          </a:p>
        </p:txBody>
      </p:sp>
      <p:sp>
        <p:nvSpPr>
          <p:cNvPr id="36" name="TextBox 35"/>
          <p:cNvSpPr txBox="1"/>
          <p:nvPr/>
        </p:nvSpPr>
        <p:spPr>
          <a:xfrm>
            <a:off x="8263128" y="4361688"/>
            <a:ext cx="294741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On new Gmail, new Sheet row, new Drive file, new IMAP email — react to changes in apps you already use.</a:t>
            </a:r>
          </a:p>
        </p:txBody>
      </p:sp>
      <p:sp>
        <p:nvSpPr>
          <p:cNvPr id="37" name="Rounded Rectangle 3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Pick the trigger by asking: who or what should be allowed to start this process?</a:t>
            </a:r>
          </a:p>
        </p:txBody>
      </p:sp>
      <p:sp>
        <p:nvSpPr>
          <p:cNvPr id="39" name="TextBox 3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0" name="TextBox 3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1" name="TextBox 4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Triggers Used in This Course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Every lab's trigger, and why that trigger is the right front door.</a:t>
            </a:r>
          </a:p>
        </p:txBody>
      </p:sp>
      <p:sp>
        <p:nvSpPr>
          <p:cNvPr id="7" name="Rectangle 6"/>
          <p:cNvSpPr/>
          <p:nvPr/>
        </p:nvSpPr>
        <p:spPr>
          <a:xfrm>
            <a:off x="777240" y="1828800"/>
            <a:ext cx="274320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28800"/>
            <a:ext cx="2487168" cy="457200"/>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Trigger</a:t>
            </a:r>
          </a:p>
        </p:txBody>
      </p:sp>
      <p:sp>
        <p:nvSpPr>
          <p:cNvPr id="9" name="Rectangle 8"/>
          <p:cNvSpPr/>
          <p:nvPr/>
        </p:nvSpPr>
        <p:spPr>
          <a:xfrm>
            <a:off x="3520440" y="1828800"/>
            <a:ext cx="292608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1828800"/>
            <a:ext cx="2670048" cy="457200"/>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Where</a:t>
            </a:r>
          </a:p>
        </p:txBody>
      </p:sp>
      <p:sp>
        <p:nvSpPr>
          <p:cNvPr id="11" name="Rectangle 10"/>
          <p:cNvSpPr/>
          <p:nvPr/>
        </p:nvSpPr>
        <p:spPr>
          <a:xfrm>
            <a:off x="6446520" y="1828800"/>
            <a:ext cx="496519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4536" y="1828800"/>
            <a:ext cx="4709160" cy="457200"/>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Why it fits</a:t>
            </a:r>
          </a:p>
        </p:txBody>
      </p:sp>
      <p:sp>
        <p:nvSpPr>
          <p:cNvPr id="13" name="Rectangle 12"/>
          <p:cNvSpPr/>
          <p:nvPr/>
        </p:nvSpPr>
        <p:spPr>
          <a:xfrm>
            <a:off x="777240" y="2286000"/>
            <a:ext cx="274320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860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Form Trigger</a:t>
            </a:r>
          </a:p>
        </p:txBody>
      </p:sp>
      <p:sp>
        <p:nvSpPr>
          <p:cNvPr id="15" name="Rectangle 14"/>
          <p:cNvSpPr/>
          <p:nvPr/>
        </p:nvSpPr>
        <p:spPr>
          <a:xfrm>
            <a:off x="3520440" y="2286000"/>
            <a:ext cx="292608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48456" y="2286000"/>
            <a:ext cx="267004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Activities 1, 2, 3a, 3b</a:t>
            </a:r>
          </a:p>
        </p:txBody>
      </p:sp>
      <p:sp>
        <p:nvSpPr>
          <p:cNvPr id="17" name="Rectangle 16"/>
          <p:cNvSpPr/>
          <p:nvPr/>
        </p:nvSpPr>
        <p:spPr>
          <a:xfrm>
            <a:off x="6446520" y="2286000"/>
            <a:ext cx="4965192"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74536" y="2286000"/>
            <a:ext cx="470916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 visitor RSVP must start the flow</a:t>
            </a:r>
          </a:p>
        </p:txBody>
      </p:sp>
      <p:sp>
        <p:nvSpPr>
          <p:cNvPr id="19" name="Rectangle 18"/>
          <p:cNvSpPr/>
          <p:nvPr/>
        </p:nvSpPr>
        <p:spPr>
          <a:xfrm>
            <a:off x="777240" y="2743200"/>
            <a:ext cx="274320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32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Telegram Trigger</a:t>
            </a:r>
          </a:p>
        </p:txBody>
      </p:sp>
      <p:sp>
        <p:nvSpPr>
          <p:cNvPr id="21" name="Rectangle 20"/>
          <p:cNvSpPr/>
          <p:nvPr/>
        </p:nvSpPr>
        <p:spPr>
          <a:xfrm>
            <a:off x="3520440" y="2743200"/>
            <a:ext cx="292608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743200"/>
            <a:ext cx="267004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Activities 4a, 4b, 6, 7a</a:t>
            </a:r>
          </a:p>
        </p:txBody>
      </p:sp>
      <p:sp>
        <p:nvSpPr>
          <p:cNvPr id="23" name="Rectangle 22"/>
          <p:cNvSpPr/>
          <p:nvPr/>
        </p:nvSpPr>
        <p:spPr>
          <a:xfrm>
            <a:off x="6446520" y="2743200"/>
            <a:ext cx="4965192"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74536" y="2743200"/>
            <a:ext cx="470916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Each bot message is one conversation turn</a:t>
            </a:r>
          </a:p>
        </p:txBody>
      </p:sp>
      <p:sp>
        <p:nvSpPr>
          <p:cNvPr id="25" name="Rectangle 24"/>
          <p:cNvSpPr/>
          <p:nvPr/>
        </p:nvSpPr>
        <p:spPr>
          <a:xfrm>
            <a:off x="777240" y="3200400"/>
            <a:ext cx="274320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004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Webhook — POST</a:t>
            </a:r>
          </a:p>
        </p:txBody>
      </p:sp>
      <p:sp>
        <p:nvSpPr>
          <p:cNvPr id="27" name="Rectangle 26"/>
          <p:cNvSpPr/>
          <p:nvPr/>
        </p:nvSpPr>
        <p:spPr>
          <a:xfrm>
            <a:off x="3520440" y="3200400"/>
            <a:ext cx="292608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48456" y="3200400"/>
            <a:ext cx="267004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Activities 5, 7b, 8a, 8c</a:t>
            </a:r>
          </a:p>
        </p:txBody>
      </p:sp>
      <p:sp>
        <p:nvSpPr>
          <p:cNvPr id="29" name="Rectangle 28"/>
          <p:cNvSpPr/>
          <p:nvPr/>
        </p:nvSpPr>
        <p:spPr>
          <a:xfrm>
            <a:off x="6446520" y="3200400"/>
            <a:ext cx="4965192"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74536" y="3200400"/>
            <a:ext cx="470916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 website sends data and waits for a reply</a:t>
            </a:r>
          </a:p>
        </p:txBody>
      </p:sp>
      <p:sp>
        <p:nvSpPr>
          <p:cNvPr id="31" name="Rectangle 30"/>
          <p:cNvSpPr/>
          <p:nvPr/>
        </p:nvSpPr>
        <p:spPr>
          <a:xfrm>
            <a:off x="777240" y="3657600"/>
            <a:ext cx="274320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576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Webhook — GET</a:t>
            </a:r>
          </a:p>
        </p:txBody>
      </p:sp>
      <p:sp>
        <p:nvSpPr>
          <p:cNvPr id="33" name="Rectangle 32"/>
          <p:cNvSpPr/>
          <p:nvPr/>
        </p:nvSpPr>
        <p:spPr>
          <a:xfrm>
            <a:off x="3520440" y="3657600"/>
            <a:ext cx="292608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48456" y="3657600"/>
            <a:ext cx="267004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Activity 8b</a:t>
            </a:r>
          </a:p>
        </p:txBody>
      </p:sp>
      <p:sp>
        <p:nvSpPr>
          <p:cNvPr id="35" name="Rectangle 34"/>
          <p:cNvSpPr/>
          <p:nvPr/>
        </p:nvSpPr>
        <p:spPr>
          <a:xfrm>
            <a:off x="6446520" y="3657600"/>
            <a:ext cx="4965192"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74536" y="3657600"/>
            <a:ext cx="470916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The dashboard pulls JSON from a URL</a:t>
            </a:r>
          </a:p>
        </p:txBody>
      </p:sp>
      <p:sp>
        <p:nvSpPr>
          <p:cNvPr id="37" name="Rectangle 36"/>
          <p:cNvSpPr/>
          <p:nvPr/>
        </p:nvSpPr>
        <p:spPr>
          <a:xfrm>
            <a:off x="777240" y="4114800"/>
            <a:ext cx="274320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148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Manual Trigger</a:t>
            </a:r>
          </a:p>
        </p:txBody>
      </p:sp>
      <p:sp>
        <p:nvSpPr>
          <p:cNvPr id="39" name="Rectangle 38"/>
          <p:cNvSpPr/>
          <p:nvPr/>
        </p:nvSpPr>
        <p:spPr>
          <a:xfrm>
            <a:off x="3520440" y="4114800"/>
            <a:ext cx="292608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48456" y="4114800"/>
            <a:ext cx="267004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Activity 7b ingestion</a:t>
            </a:r>
          </a:p>
        </p:txBody>
      </p:sp>
      <p:sp>
        <p:nvSpPr>
          <p:cNvPr id="41" name="Rectangle 40"/>
          <p:cNvSpPr/>
          <p:nvPr/>
        </p:nvSpPr>
        <p:spPr>
          <a:xfrm>
            <a:off x="6446520" y="4114800"/>
            <a:ext cx="4965192"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74536" y="4114800"/>
            <a:ext cx="470916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 human runs the document load once</a:t>
            </a:r>
          </a:p>
        </p:txBody>
      </p:sp>
      <p:sp>
        <p:nvSpPr>
          <p:cNvPr id="43" name="Rounded Rectangle 42"/>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Schedule and app triggers follow the same pattern — swap the front door, keep the flow.</a:t>
            </a:r>
          </a:p>
        </p:txBody>
      </p:sp>
      <p:sp>
        <p:nvSpPr>
          <p:cNvPr id="45" name="TextBox 4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6" name="TextBox 4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7" name="TextBox 4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Trigger Nodes on the n8n Canvas</a:t>
            </a:r>
          </a:p>
        </p:txBody>
      </p:sp>
      <p:pic>
        <p:nvPicPr>
          <p:cNvPr id="6" name="Picture 5" descr="n8n-triggers.png"/>
          <p:cNvPicPr>
            <a:picLocks noChangeAspect="1"/>
          </p:cNvPicPr>
          <p:nvPr/>
        </p:nvPicPr>
        <p:blipFill>
          <a:blip r:embed="rId2"/>
          <a:stretch>
            <a:fillRect/>
          </a:stretch>
        </p:blipFill>
        <p:spPr>
          <a:xfrm>
            <a:off x="914400" y="1737360"/>
            <a:ext cx="10332720" cy="3795042"/>
          </a:xfrm>
          <a:prstGeom prst="rect">
            <a:avLst/>
          </a:prstGeom>
        </p:spPr>
      </p:pic>
      <p:sp>
        <p:nvSpPr>
          <p:cNvPr id="7" name="Rectangle 6"/>
          <p:cNvSpPr/>
          <p:nvPr/>
        </p:nvSpPr>
        <p:spPr>
          <a:xfrm>
            <a:off x="901700" y="1724660"/>
            <a:ext cx="10358120" cy="382044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n8n trigger nodes: Manual · Schedule · WhatsApp · Telegram · Gmail · Chat · Form · Webhook</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39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Data-Processing Nodes — The Workhorses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Between the trigger and the output, these nodes shape, route and transform the data.</a:t>
            </a:r>
          </a:p>
        </p:txBody>
      </p:sp>
      <p:sp>
        <p:nvSpPr>
          <p:cNvPr id="7" name="Rounded Rectangle 6"/>
          <p:cNvSpPr/>
          <p:nvPr/>
        </p:nvSpPr>
        <p:spPr>
          <a:xfrm>
            <a:off x="777240" y="1783080"/>
            <a:ext cx="2439162" cy="181051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293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38528"/>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Edit Fields (Set)</a:t>
            </a:r>
          </a:p>
        </p:txBody>
      </p:sp>
      <p:sp>
        <p:nvSpPr>
          <p:cNvPr id="11" name="TextBox 10"/>
          <p:cNvSpPr txBox="1"/>
          <p:nvPr/>
        </p:nvSpPr>
        <p:spPr>
          <a:xfrm>
            <a:off x="978408" y="2331720"/>
            <a:ext cx="203682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Add, rename or reshape fields — the node you reach for first when data is the wrong shape.</a:t>
            </a:r>
          </a:p>
        </p:txBody>
      </p:sp>
      <p:sp>
        <p:nvSpPr>
          <p:cNvPr id="12" name="Rounded Rectangle 11"/>
          <p:cNvSpPr/>
          <p:nvPr/>
        </p:nvSpPr>
        <p:spPr>
          <a:xfrm>
            <a:off x="3509010" y="1783080"/>
            <a:ext cx="2439162" cy="1810512"/>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691890" y="19293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9189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4130802" y="1938528"/>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IF / Switch</a:t>
            </a:r>
          </a:p>
        </p:txBody>
      </p:sp>
      <p:sp>
        <p:nvSpPr>
          <p:cNvPr id="16" name="TextBox 15"/>
          <p:cNvSpPr txBox="1"/>
          <p:nvPr/>
        </p:nvSpPr>
        <p:spPr>
          <a:xfrm>
            <a:off x="3710178" y="2331720"/>
            <a:ext cx="203682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Branch the flow: IF gives true/false paths; Switch gives one path per case.</a:t>
            </a:r>
          </a:p>
        </p:txBody>
      </p:sp>
      <p:sp>
        <p:nvSpPr>
          <p:cNvPr id="17" name="Rounded Rectangle 16"/>
          <p:cNvSpPr/>
          <p:nvPr/>
        </p:nvSpPr>
        <p:spPr>
          <a:xfrm>
            <a:off x="6240780" y="1783080"/>
            <a:ext cx="2439162" cy="1810512"/>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23660" y="192938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366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6862572" y="1938528"/>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Filter</a:t>
            </a:r>
          </a:p>
        </p:txBody>
      </p:sp>
      <p:sp>
        <p:nvSpPr>
          <p:cNvPr id="21" name="TextBox 20"/>
          <p:cNvSpPr txBox="1"/>
          <p:nvPr/>
        </p:nvSpPr>
        <p:spPr>
          <a:xfrm>
            <a:off x="6441948" y="2331720"/>
            <a:ext cx="203682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Let only matching items continue — drop the rest of the list.</a:t>
            </a:r>
          </a:p>
        </p:txBody>
      </p:sp>
      <p:sp>
        <p:nvSpPr>
          <p:cNvPr id="22" name="Rounded Rectangle 21"/>
          <p:cNvSpPr/>
          <p:nvPr/>
        </p:nvSpPr>
        <p:spPr>
          <a:xfrm>
            <a:off x="8972550" y="1783080"/>
            <a:ext cx="2439162" cy="1810512"/>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155430" y="1929384"/>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5543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9594342" y="1938528"/>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Merge</a:t>
            </a:r>
          </a:p>
        </p:txBody>
      </p:sp>
      <p:sp>
        <p:nvSpPr>
          <p:cNvPr id="26" name="TextBox 25"/>
          <p:cNvSpPr txBox="1"/>
          <p:nvPr/>
        </p:nvSpPr>
        <p:spPr>
          <a:xfrm>
            <a:off x="9173718" y="2331720"/>
            <a:ext cx="203682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Combine two branches — append rows, match by key, or choose one side.</a:t>
            </a:r>
          </a:p>
        </p:txBody>
      </p:sp>
      <p:sp>
        <p:nvSpPr>
          <p:cNvPr id="27" name="Rounded Rectangle 26"/>
          <p:cNvSpPr/>
          <p:nvPr/>
        </p:nvSpPr>
        <p:spPr>
          <a:xfrm>
            <a:off x="777240" y="3813048"/>
            <a:ext cx="2439162" cy="1810512"/>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0120" y="3959352"/>
            <a:ext cx="310896" cy="310896"/>
          </a:xfrm>
          <a:prstGeom prst="ellipse">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5</a:t>
            </a:r>
          </a:p>
        </p:txBody>
      </p:sp>
      <p:sp>
        <p:nvSpPr>
          <p:cNvPr id="30" name="TextBox 29"/>
          <p:cNvSpPr txBox="1"/>
          <p:nvPr/>
        </p:nvSpPr>
        <p:spPr>
          <a:xfrm>
            <a:off x="1399032" y="3968496"/>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Split Out / Aggregate</a:t>
            </a:r>
          </a:p>
        </p:txBody>
      </p:sp>
      <p:sp>
        <p:nvSpPr>
          <p:cNvPr id="31" name="TextBox 30"/>
          <p:cNvSpPr txBox="1"/>
          <p:nvPr/>
        </p:nvSpPr>
        <p:spPr>
          <a:xfrm>
            <a:off x="978408" y="4361688"/>
            <a:ext cx="203682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Turn one item holding a list into many items — and back again.</a:t>
            </a:r>
          </a:p>
        </p:txBody>
      </p:sp>
      <p:sp>
        <p:nvSpPr>
          <p:cNvPr id="32" name="Rounded Rectangle 31"/>
          <p:cNvSpPr/>
          <p:nvPr/>
        </p:nvSpPr>
        <p:spPr>
          <a:xfrm>
            <a:off x="3509010" y="3813048"/>
            <a:ext cx="2439162" cy="1810512"/>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91890" y="3959352"/>
            <a:ext cx="310896" cy="310896"/>
          </a:xfrm>
          <a:prstGeom prst="ellipse">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9189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6</a:t>
            </a:r>
          </a:p>
        </p:txBody>
      </p:sp>
      <p:sp>
        <p:nvSpPr>
          <p:cNvPr id="35" name="TextBox 34"/>
          <p:cNvSpPr txBox="1"/>
          <p:nvPr/>
        </p:nvSpPr>
        <p:spPr>
          <a:xfrm>
            <a:off x="4130802" y="3968496"/>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Code</a:t>
            </a:r>
          </a:p>
        </p:txBody>
      </p:sp>
      <p:sp>
        <p:nvSpPr>
          <p:cNvPr id="36" name="TextBox 35"/>
          <p:cNvSpPr txBox="1"/>
          <p:nvPr/>
        </p:nvSpPr>
        <p:spPr>
          <a:xfrm>
            <a:off x="3710178" y="4361688"/>
            <a:ext cx="203682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JavaScript or Python for the 5% a built-in node cannot do.</a:t>
            </a:r>
          </a:p>
        </p:txBody>
      </p:sp>
      <p:sp>
        <p:nvSpPr>
          <p:cNvPr id="37" name="Rounded Rectangle 36"/>
          <p:cNvSpPr/>
          <p:nvPr/>
        </p:nvSpPr>
        <p:spPr>
          <a:xfrm>
            <a:off x="6240780" y="3813048"/>
            <a:ext cx="2439162" cy="181051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423660" y="3959352"/>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2366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7</a:t>
            </a:r>
          </a:p>
        </p:txBody>
      </p:sp>
      <p:sp>
        <p:nvSpPr>
          <p:cNvPr id="40" name="TextBox 39"/>
          <p:cNvSpPr txBox="1"/>
          <p:nvPr/>
        </p:nvSpPr>
        <p:spPr>
          <a:xfrm>
            <a:off x="6862572" y="3968496"/>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Loop / Wait</a:t>
            </a:r>
          </a:p>
        </p:txBody>
      </p:sp>
      <p:sp>
        <p:nvSpPr>
          <p:cNvPr id="41" name="TextBox 40"/>
          <p:cNvSpPr txBox="1"/>
          <p:nvPr/>
        </p:nvSpPr>
        <p:spPr>
          <a:xfrm>
            <a:off x="6441948" y="4361688"/>
            <a:ext cx="203682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Process items in batches; pause a flow for time or an event.</a:t>
            </a:r>
          </a:p>
        </p:txBody>
      </p:sp>
      <p:sp>
        <p:nvSpPr>
          <p:cNvPr id="42" name="Rounded Rectangle 41"/>
          <p:cNvSpPr/>
          <p:nvPr/>
        </p:nvSpPr>
        <p:spPr>
          <a:xfrm>
            <a:off x="8972550" y="3813048"/>
            <a:ext cx="2439162" cy="1810512"/>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155430" y="3959352"/>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5543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8</a:t>
            </a:r>
          </a:p>
        </p:txBody>
      </p:sp>
      <p:sp>
        <p:nvSpPr>
          <p:cNvPr id="45" name="TextBox 44"/>
          <p:cNvSpPr txBox="1"/>
          <p:nvPr/>
        </p:nvSpPr>
        <p:spPr>
          <a:xfrm>
            <a:off x="9594342" y="3968496"/>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HTTP Request</a:t>
            </a:r>
          </a:p>
        </p:txBody>
      </p:sp>
      <p:sp>
        <p:nvSpPr>
          <p:cNvPr id="46" name="TextBox 45"/>
          <p:cNvSpPr txBox="1"/>
          <p:nvPr/>
        </p:nvSpPr>
        <p:spPr>
          <a:xfrm>
            <a:off x="9173718" y="4361688"/>
            <a:ext cx="203682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Call any API on the internet — the universal escape hatch.</a:t>
            </a:r>
          </a:p>
        </p:txBody>
      </p:sp>
      <p:sp>
        <p:nvSpPr>
          <p:cNvPr id="47" name="Rounded Rectangle 4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Most flows are: trigger → reshape (Set) → decide (IF) → act (app node). Reach for Code last.</a:t>
            </a:r>
          </a:p>
        </p:txBody>
      </p:sp>
      <p:sp>
        <p:nvSpPr>
          <p:cNvPr id="49" name="TextBox 4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50" name="TextBox 4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51" name="TextBox 5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Data-Processing Nodes on the Canvas</a:t>
            </a:r>
          </a:p>
        </p:txBody>
      </p:sp>
      <p:pic>
        <p:nvPicPr>
          <p:cNvPr id="6" name="Picture 5" descr="n8n-key-nodes.png"/>
          <p:cNvPicPr>
            <a:picLocks noChangeAspect="1"/>
          </p:cNvPicPr>
          <p:nvPr/>
        </p:nvPicPr>
        <p:blipFill>
          <a:blip r:embed="rId2"/>
          <a:stretch>
            <a:fillRect/>
          </a:stretch>
        </p:blipFill>
        <p:spPr>
          <a:xfrm>
            <a:off x="914400" y="1737360"/>
            <a:ext cx="10332720" cy="2733421"/>
          </a:xfrm>
          <a:prstGeom prst="rect">
            <a:avLst/>
          </a:prstGeom>
        </p:spPr>
      </p:pic>
      <p:sp>
        <p:nvSpPr>
          <p:cNvPr id="7" name="Rectangle 6"/>
          <p:cNvSpPr/>
          <p:nvPr/>
        </p:nvSpPr>
        <p:spPr>
          <a:xfrm>
            <a:off x="901700" y="1724660"/>
            <a:ext cx="10358120" cy="2758821"/>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If · Switch · Filter · Edit Fields · Split Out · Aggregate · Merge · Loop · Date &amp; Time · Execute Workflow · Wait · Code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Where the Data Goes — Storage &amp; App Actions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Action nodes that write the result somewhere useful.</a:t>
            </a:r>
          </a:p>
        </p:txBody>
      </p:sp>
      <p:sp>
        <p:nvSpPr>
          <p:cNvPr id="7" name="Rounded Rectangle 6"/>
          <p:cNvSpPr/>
          <p:nvPr/>
        </p:nvSpPr>
        <p:spPr>
          <a:xfrm>
            <a:off x="777240" y="1828800"/>
            <a:ext cx="5170932" cy="1764791"/>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7510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751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8424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Data Table</a:t>
            </a:r>
          </a:p>
        </p:txBody>
      </p:sp>
      <p:sp>
        <p:nvSpPr>
          <p:cNvPr id="11" name="TextBox 10"/>
          <p:cNvSpPr txBox="1"/>
          <p:nvPr/>
        </p:nvSpPr>
        <p:spPr>
          <a:xfrm>
            <a:off x="978408" y="2377440"/>
            <a:ext cx="4768596" cy="1069847"/>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n8n's built-in spreadsheet — instant, no credential. Trial Data Tables are NOT permanent; use for class demos.</a:t>
            </a:r>
          </a:p>
        </p:txBody>
      </p:sp>
      <p:sp>
        <p:nvSpPr>
          <p:cNvPr id="12" name="Rounded Rectangle 11"/>
          <p:cNvSpPr/>
          <p:nvPr/>
        </p:nvSpPr>
        <p:spPr>
          <a:xfrm>
            <a:off x="6240780" y="1828800"/>
            <a:ext cx="5170932" cy="1764791"/>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23660" y="197510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60" y="19751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6862572" y="198424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Google Sheets / Excel</a:t>
            </a:r>
          </a:p>
        </p:txBody>
      </p:sp>
      <p:sp>
        <p:nvSpPr>
          <p:cNvPr id="16" name="TextBox 15"/>
          <p:cNvSpPr txBox="1"/>
          <p:nvPr/>
        </p:nvSpPr>
        <p:spPr>
          <a:xfrm>
            <a:off x="6441948" y="2377440"/>
            <a:ext cx="4768596" cy="1069847"/>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 real spreadsheet you keep — OAuth2 credential, Append Row. The persistent upgrade in Activity 3b.</a:t>
            </a:r>
          </a:p>
        </p:txBody>
      </p:sp>
      <p:sp>
        <p:nvSpPr>
          <p:cNvPr id="17" name="Rounded Rectangle 16"/>
          <p:cNvSpPr/>
          <p:nvPr/>
        </p:nvSpPr>
        <p:spPr>
          <a:xfrm>
            <a:off x="777240" y="3813047"/>
            <a:ext cx="5170932" cy="1764791"/>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959351"/>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59351"/>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1399032" y="3968495"/>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Gmail / Outlook</a:t>
            </a:r>
          </a:p>
        </p:txBody>
      </p:sp>
      <p:sp>
        <p:nvSpPr>
          <p:cNvPr id="21" name="TextBox 20"/>
          <p:cNvSpPr txBox="1"/>
          <p:nvPr/>
        </p:nvSpPr>
        <p:spPr>
          <a:xfrm>
            <a:off x="978408" y="4361687"/>
            <a:ext cx="4768596" cy="1069847"/>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Send (and in Activity 8a, Send and Wait for Response) — email as an output and as an approval gate.</a:t>
            </a:r>
          </a:p>
        </p:txBody>
      </p:sp>
      <p:sp>
        <p:nvSpPr>
          <p:cNvPr id="22" name="Rounded Rectangle 21"/>
          <p:cNvSpPr/>
          <p:nvPr/>
        </p:nvSpPr>
        <p:spPr>
          <a:xfrm>
            <a:off x="6240780" y="3813047"/>
            <a:ext cx="5170932" cy="1764791"/>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3660" y="3959351"/>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3660" y="3959351"/>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6862572" y="3968495"/>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Vector Store</a:t>
            </a:r>
          </a:p>
        </p:txBody>
      </p:sp>
      <p:sp>
        <p:nvSpPr>
          <p:cNvPr id="26" name="TextBox 25"/>
          <p:cNvSpPr txBox="1"/>
          <p:nvPr/>
        </p:nvSpPr>
        <p:spPr>
          <a:xfrm>
            <a:off x="6441948" y="4361687"/>
            <a:ext cx="4768596" cy="1069847"/>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Store embeddings for RAG — in-memory for demos, Pinecone / Supabase / Qdrant for production.</a:t>
            </a:r>
          </a:p>
        </p:txBody>
      </p:sp>
      <p:sp>
        <p:nvSpPr>
          <p:cNvPr id="27" name="Rounded Rectangle 2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Anything you must keep goes to external storage — trial Data Tables vanish with the trial.</a:t>
            </a:r>
          </a:p>
        </p:txBody>
      </p:sp>
      <p:sp>
        <p:nvSpPr>
          <p:cNvPr id="29" name="TextBox 2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JSON — How Data Travels Between Nodes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Every node passes a list of items; each item is a JSON object of key/value pairs.</a:t>
            </a:r>
          </a:p>
        </p:txBody>
      </p:sp>
      <p:sp>
        <p:nvSpPr>
          <p:cNvPr id="7" name="TextBox 6"/>
          <p:cNvSpPr txBox="1"/>
          <p:nvPr/>
        </p:nvSpPr>
        <p:spPr>
          <a:xfrm>
            <a:off x="777240" y="1874519"/>
            <a:ext cx="5120640" cy="3291840"/>
          </a:xfrm>
          <a:prstGeom prst="rect">
            <a:avLst/>
          </a:prstGeom>
          <a:noFill/>
        </p:spPr>
        <p:txBody>
          <a:bodyPr wrap="square" lIns="0" rIns="0">
            <a:spAutoFit/>
          </a:bodyPr>
          <a:lstStyle/>
          <a:p>
            <a:pPr>
              <a:spcBef>
                <a:spcPts val="0"/>
              </a:spcBef>
              <a:spcAft>
                <a:spcPts val="1000"/>
              </a:spcAft>
            </a:pPr>
            <a:r>
              <a:rPr sz="1400" b="1">
                <a:solidFill>
                  <a:srgbClr val="1F6FEB"/>
                </a:solidFill>
                <a:latin typeface="Arial"/>
              </a:rPr>
              <a:t>•  </a:t>
            </a:r>
            <a:r>
              <a:rPr sz="1400">
                <a:solidFill>
                  <a:srgbClr val="161B26"/>
                </a:solidFill>
                <a:latin typeface="Arial"/>
              </a:rPr>
              <a:t>JSON (JavaScript Object Notation) is a simple text format for data.</a:t>
            </a:r>
          </a:p>
          <a:p>
            <a:pPr>
              <a:spcBef>
                <a:spcPts val="0"/>
              </a:spcBef>
              <a:spcAft>
                <a:spcPts val="1000"/>
              </a:spcAft>
            </a:pPr>
            <a:r>
              <a:rPr sz="1400" b="1">
                <a:solidFill>
                  <a:srgbClr val="1F6FEB"/>
                </a:solidFill>
                <a:latin typeface="Arial"/>
              </a:rPr>
              <a:t>•  </a:t>
            </a:r>
            <a:r>
              <a:rPr sz="1400">
                <a:solidFill>
                  <a:srgbClr val="161B26"/>
                </a:solidFill>
                <a:latin typeface="Arial"/>
              </a:rPr>
              <a:t>Values can be text, numbers, true/false, lists [ ] or nested objects { }.</a:t>
            </a:r>
          </a:p>
          <a:p>
            <a:pPr>
              <a:spcBef>
                <a:spcPts val="0"/>
              </a:spcBef>
              <a:spcAft>
                <a:spcPts val="1000"/>
              </a:spcAft>
            </a:pPr>
            <a:r>
              <a:rPr sz="1400" b="1">
                <a:solidFill>
                  <a:srgbClr val="1F6FEB"/>
                </a:solidFill>
                <a:latin typeface="Arial"/>
              </a:rPr>
              <a:t>•  </a:t>
            </a:r>
            <a:r>
              <a:rPr sz="1400">
                <a:solidFill>
                  <a:srgbClr val="161B26"/>
                </a:solidFill>
                <a:latin typeface="Arial"/>
              </a:rPr>
              <a:t>Most APIs send and receive JSON — so does every n8n node.</a:t>
            </a:r>
          </a:p>
          <a:p>
            <a:pPr>
              <a:spcBef>
                <a:spcPts val="0"/>
              </a:spcBef>
              <a:spcAft>
                <a:spcPts val="1000"/>
              </a:spcAft>
            </a:pPr>
            <a:r>
              <a:rPr sz="1400" b="1">
                <a:solidFill>
                  <a:srgbClr val="1F6FEB"/>
                </a:solidFill>
                <a:latin typeface="Arial"/>
              </a:rPr>
              <a:t>•  </a:t>
            </a:r>
            <a:r>
              <a:rPr sz="1400">
                <a:solidFill>
                  <a:srgbClr val="161B26"/>
                </a:solidFill>
                <a:latin typeface="Arial"/>
              </a:rPr>
              <a:t>Click any node to inspect its input and output JSON.</a:t>
            </a:r>
          </a:p>
        </p:txBody>
      </p:sp>
      <p:sp>
        <p:nvSpPr>
          <p:cNvPr id="8" name="Rounded Rectangle 7"/>
          <p:cNvSpPr/>
          <p:nvPr/>
        </p:nvSpPr>
        <p:spPr>
          <a:xfrm>
            <a:off x="6217920" y="1874519"/>
            <a:ext cx="5193792" cy="310896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2057400"/>
            <a:ext cx="4663440" cy="274320"/>
          </a:xfrm>
          <a:prstGeom prst="rect">
            <a:avLst/>
          </a:prstGeom>
          <a:noFill/>
        </p:spPr>
        <p:txBody>
          <a:bodyPr wrap="square" anchor="t" lIns="0" rIns="0" tIns="0" bIns="0">
            <a:spAutoFit/>
          </a:bodyPr>
          <a:lstStyle/>
          <a:p>
            <a:pPr algn="l">
              <a:spcBef>
                <a:spcPts val="0"/>
              </a:spcBef>
              <a:spcAft>
                <a:spcPts val="400"/>
              </a:spcAft>
            </a:pPr>
            <a:r>
              <a:rPr sz="1100" b="1">
                <a:solidFill>
                  <a:srgbClr val="1F6FEB"/>
                </a:solidFill>
                <a:latin typeface="Arial"/>
              </a:rPr>
              <a:t>ONE FORM SUBMISSION AS JSON</a:t>
            </a:r>
          </a:p>
        </p:txBody>
      </p:sp>
      <p:sp>
        <p:nvSpPr>
          <p:cNvPr id="10" name="TextBox 9"/>
          <p:cNvSpPr txBox="1"/>
          <p:nvPr/>
        </p:nvSpPr>
        <p:spPr>
          <a:xfrm>
            <a:off x="6492240" y="2423160"/>
            <a:ext cx="4663440" cy="2377440"/>
          </a:xfrm>
          <a:prstGeom prst="rect">
            <a:avLst/>
          </a:prstGeom>
          <a:noFill/>
        </p:spPr>
        <p:txBody>
          <a:bodyPr wrap="square" anchor="t" lIns="0" rIns="0" tIns="0" bIns="0">
            <a:spAutoFit/>
          </a:bodyPr>
          <a:lstStyle/>
          <a:p>
            <a:pPr algn="l">
              <a:spcBef>
                <a:spcPts val="0"/>
              </a:spcBef>
              <a:spcAft>
                <a:spcPts val="300"/>
              </a:spcAft>
            </a:pPr>
            <a:r>
              <a:rPr sz="1300" b="0">
                <a:solidFill>
                  <a:srgbClr val="161B26"/>
                </a:solidFill>
                <a:latin typeface="Arial"/>
              </a:rPr>
              <a:t>{</a:t>
            </a:r>
          </a:p>
          <a:p>
            <a:pPr algn="l">
              <a:spcBef>
                <a:spcPts val="0"/>
              </a:spcBef>
              <a:spcAft>
                <a:spcPts val="300"/>
              </a:spcAft>
            </a:pPr>
            <a:r>
              <a:rPr sz="1300" b="0">
                <a:solidFill>
                  <a:srgbClr val="161B26"/>
                </a:solidFill>
                <a:latin typeface="Arial"/>
              </a:rPr>
              <a:t>  "Name": "Alice Tan",</a:t>
            </a:r>
          </a:p>
          <a:p>
            <a:pPr algn="l">
              <a:spcBef>
                <a:spcPts val="0"/>
              </a:spcBef>
              <a:spcAft>
                <a:spcPts val="300"/>
              </a:spcAft>
            </a:pPr>
            <a:r>
              <a:rPr sz="1300" b="0">
                <a:solidFill>
                  <a:srgbClr val="161B26"/>
                </a:solidFill>
                <a:latin typeface="Arial"/>
              </a:rPr>
              <a:t>  "Email": "alice@corp.com",</a:t>
            </a:r>
          </a:p>
          <a:p>
            <a:pPr algn="l">
              <a:spcBef>
                <a:spcPts val="0"/>
              </a:spcBef>
              <a:spcAft>
                <a:spcPts val="300"/>
              </a:spcAft>
            </a:pPr>
            <a:r>
              <a:rPr sz="1300" b="0">
                <a:solidFill>
                  <a:srgbClr val="161B26"/>
                </a:solidFill>
                <a:latin typeface="Arial"/>
              </a:rPr>
              <a:t>  "Attending": "Yes",</a:t>
            </a:r>
          </a:p>
          <a:p>
            <a:pPr algn="l">
              <a:spcBef>
                <a:spcPts val="0"/>
              </a:spcBef>
              <a:spcAft>
                <a:spcPts val="300"/>
              </a:spcAft>
            </a:pPr>
            <a:r>
              <a:rPr sz="1300" b="0">
                <a:solidFill>
                  <a:srgbClr val="161B26"/>
                </a:solidFill>
                <a:latin typeface="Arial"/>
              </a:rPr>
              <a:t>  "Pax": 2</a:t>
            </a:r>
          </a:p>
          <a:p>
            <a:pPr algn="l">
              <a:spcBef>
                <a:spcPts val="0"/>
              </a:spcBef>
              <a:spcAft>
                <a:spcPts val="300"/>
              </a:spcAft>
            </a:pPr>
            <a:r>
              <a:rPr sz="1300" b="0">
                <a:solidFill>
                  <a:srgbClr val="161B26"/>
                </a:solidFill>
                <a:latin typeface="Arial"/>
              </a:rPr>
              <a:t>}</a:t>
            </a:r>
          </a:p>
        </p:txBody>
      </p:sp>
      <p:sp>
        <p:nvSpPr>
          <p:cNvPr id="11" name="Rounded Rectangle 10"/>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Read any value later with an expression:  {{ $json.Name }}  →  "Alice Tan"</a:t>
            </a:r>
          </a:p>
        </p:txBody>
      </p:sp>
      <p:sp>
        <p:nvSpPr>
          <p:cNvPr id="13" name="TextBox 1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4" name="TextBox 1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5" name="TextBox 1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Expressions — The Token, Not the Text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An expression references a value that will exist at run time — it is resolved fresh on every run.</a:t>
            </a:r>
          </a:p>
        </p:txBody>
      </p:sp>
      <p:sp>
        <p:nvSpPr>
          <p:cNvPr id="7" name="Rounded Rectangle 6"/>
          <p:cNvSpPr/>
          <p:nvPr/>
        </p:nvSpPr>
        <p:spPr>
          <a:xfrm>
            <a:off x="777240"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Trigger runs</a:t>
            </a:r>
          </a:p>
          <a:p>
            <a:pPr algn="ctr">
              <a:spcBef>
                <a:spcPts val="0"/>
              </a:spcBef>
              <a:spcAft>
                <a:spcPts val="200"/>
              </a:spcAft>
            </a:pPr>
            <a:r>
              <a:rPr sz="900" b="0">
                <a:solidFill>
                  <a:srgbClr val="5B6372"/>
                </a:solidFill>
                <a:latin typeface="Arial"/>
              </a:rPr>
              <a:t>a submission arrives</a:t>
            </a:r>
          </a:p>
        </p:txBody>
      </p:sp>
      <p:sp>
        <p:nvSpPr>
          <p:cNvPr id="9" name="TextBox 8"/>
          <p:cNvSpPr txBox="1"/>
          <p:nvPr/>
        </p:nvSpPr>
        <p:spPr>
          <a:xfrm>
            <a:off x="3175254"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0" name="Rounded Rectangle 9"/>
          <p:cNvSpPr/>
          <p:nvPr/>
        </p:nvSpPr>
        <p:spPr>
          <a:xfrm>
            <a:off x="3513582"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Outputs exist</a:t>
            </a:r>
          </a:p>
          <a:p>
            <a:pPr algn="ctr">
              <a:spcBef>
                <a:spcPts val="0"/>
              </a:spcBef>
              <a:spcAft>
                <a:spcPts val="200"/>
              </a:spcAft>
            </a:pPr>
            <a:r>
              <a:rPr sz="900" b="0">
                <a:solidFill>
                  <a:srgbClr val="5B6372"/>
                </a:solidFill>
                <a:latin typeface="Arial"/>
              </a:rPr>
              <a:t>Name, Email, Attending…</a:t>
            </a:r>
          </a:p>
        </p:txBody>
      </p:sp>
      <p:sp>
        <p:nvSpPr>
          <p:cNvPr id="12" name="TextBox 11"/>
          <p:cNvSpPr txBox="1"/>
          <p:nvPr/>
        </p:nvSpPr>
        <p:spPr>
          <a:xfrm>
            <a:off x="5911596"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3" name="Rounded Rectangle 12"/>
          <p:cNvSpPr/>
          <p:nvPr/>
        </p:nvSpPr>
        <p:spPr>
          <a:xfrm>
            <a:off x="6249924"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Later node references them</a:t>
            </a:r>
          </a:p>
          <a:p>
            <a:pPr algn="ctr">
              <a:spcBef>
                <a:spcPts val="0"/>
              </a:spcBef>
              <a:spcAft>
                <a:spcPts val="200"/>
              </a:spcAft>
            </a:pPr>
            <a:r>
              <a:rPr sz="900" b="0">
                <a:solidFill>
                  <a:srgbClr val="5B6372"/>
                </a:solidFill>
                <a:latin typeface="Arial"/>
              </a:rPr>
              <a:t>{{ $json.Name }}</a:t>
            </a:r>
          </a:p>
        </p:txBody>
      </p:sp>
      <p:sp>
        <p:nvSpPr>
          <p:cNvPr id="15" name="TextBox 14"/>
          <p:cNvSpPr txBox="1"/>
          <p:nvPr/>
        </p:nvSpPr>
        <p:spPr>
          <a:xfrm>
            <a:off x="8647938"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6" name="Rounded Rectangle 15"/>
          <p:cNvSpPr/>
          <p:nvPr/>
        </p:nvSpPr>
        <p:spPr>
          <a:xfrm>
            <a:off x="8986266"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Value arrives at run time</a:t>
            </a:r>
          </a:p>
          <a:p>
            <a:pPr algn="ctr">
              <a:spcBef>
                <a:spcPts val="0"/>
              </a:spcBef>
              <a:spcAft>
                <a:spcPts val="200"/>
              </a:spcAft>
            </a:pPr>
            <a:r>
              <a:rPr sz="900" b="0">
                <a:solidFill>
                  <a:srgbClr val="5B6372"/>
                </a:solidFill>
                <a:latin typeface="Arial"/>
              </a:rPr>
              <a:t>different every run</a:t>
            </a:r>
          </a:p>
        </p:txBody>
      </p:sp>
      <p:sp>
        <p:nvSpPr>
          <p:cNvPr id="18" name="Rounded Rectangle 17"/>
          <p:cNvSpPr/>
          <p:nvPr/>
        </p:nvSpPr>
        <p:spPr>
          <a:xfrm>
            <a:off x="777240" y="3200400"/>
            <a:ext cx="5170932" cy="233172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8" y="3346704"/>
            <a:ext cx="4768596"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 Mapped with the picker</a:t>
            </a:r>
          </a:p>
        </p:txBody>
      </p:sp>
      <p:sp>
        <p:nvSpPr>
          <p:cNvPr id="20" name="TextBox 19"/>
          <p:cNvSpPr txBox="1"/>
          <p:nvPr/>
        </p:nvSpPr>
        <p:spPr>
          <a:xfrm>
            <a:off x="978408" y="3749040"/>
            <a:ext cx="476859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Drag the field from the input panel — n8n writes the expression for you and shows a live preview of the resolved value.</a:t>
            </a:r>
          </a:p>
        </p:txBody>
      </p:sp>
      <p:sp>
        <p:nvSpPr>
          <p:cNvPr id="21" name="Rounded Rectangle 20"/>
          <p:cNvSpPr/>
          <p:nvPr/>
        </p:nvSpPr>
        <p:spPr>
          <a:xfrm>
            <a:off x="6240780" y="3200400"/>
            <a:ext cx="5170932" cy="233172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1948" y="3346704"/>
            <a:ext cx="4768596"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 Typed as plain text</a:t>
            </a:r>
          </a:p>
        </p:txBody>
      </p:sp>
      <p:sp>
        <p:nvSpPr>
          <p:cNvPr id="23" name="TextBox 22"/>
          <p:cNvSpPr txBox="1"/>
          <p:nvPr/>
        </p:nvSpPr>
        <p:spPr>
          <a:xfrm>
            <a:off x="6441948" y="3749040"/>
            <a:ext cx="476859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Type 'Name' as literal text and every email says 'Name'. If the path is wrong the value resolves to empty — not to an error.</a:t>
            </a:r>
          </a:p>
        </p:txBody>
      </p:sp>
      <p:sp>
        <p:nvSpPr>
          <p:cNvPr id="24" name="Rounded Rectangle 2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Use expressions in any field — subject lines, URLs, conditions. Drag, don't type.</a:t>
            </a:r>
          </a:p>
        </p:txBody>
      </p:sp>
      <p:sp>
        <p:nvSpPr>
          <p:cNvPr id="26" name="TextBox 2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Test vs Production Executions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same workflow runs in two modes — know which one you are looking at.</a:t>
            </a:r>
          </a:p>
        </p:txBody>
      </p:sp>
      <p:sp>
        <p:nvSpPr>
          <p:cNvPr id="7" name="Rectangle 6"/>
          <p:cNvSpPr/>
          <p:nvPr/>
        </p:nvSpPr>
        <p:spPr>
          <a:xfrm>
            <a:off x="777240" y="1828800"/>
            <a:ext cx="519379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5193792" cy="457200"/>
          </a:xfrm>
          <a:prstGeom prst="rect">
            <a:avLst/>
          </a:prstGeom>
          <a:noFill/>
        </p:spPr>
        <p:txBody>
          <a:bodyPr wrap="square" anchor="ctr" lIns="0" rIns="0" tIns="0" bIns="0">
            <a:spAutoFit/>
          </a:bodyPr>
          <a:lstStyle/>
          <a:p>
            <a:pPr algn="ctr">
              <a:spcBef>
                <a:spcPts val="0"/>
              </a:spcBef>
              <a:spcAft>
                <a:spcPts val="400"/>
              </a:spcAft>
            </a:pPr>
            <a:r>
              <a:rPr sz="1350" b="1">
                <a:solidFill>
                  <a:srgbClr val="FFFFFF"/>
                </a:solidFill>
                <a:latin typeface="Arial"/>
              </a:rPr>
              <a:t>TEST — in the editor</a:t>
            </a:r>
          </a:p>
        </p:txBody>
      </p:sp>
      <p:sp>
        <p:nvSpPr>
          <p:cNvPr id="9" name="Rectangle 8"/>
          <p:cNvSpPr/>
          <p:nvPr/>
        </p:nvSpPr>
        <p:spPr>
          <a:xfrm>
            <a:off x="777240" y="2286000"/>
            <a:ext cx="5193792" cy="3108960"/>
          </a:xfrm>
          <a:prstGeom prst="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514600"/>
            <a:ext cx="4663440" cy="2743200"/>
          </a:xfrm>
          <a:prstGeom prst="rect">
            <a:avLst/>
          </a:prstGeom>
          <a:noFill/>
        </p:spPr>
        <p:txBody>
          <a:bodyPr wrap="square" lIns="0" rIns="0">
            <a:spAutoFit/>
          </a:bodyPr>
          <a:lstStyle/>
          <a:p>
            <a:pPr>
              <a:spcBef>
                <a:spcPts val="0"/>
              </a:spcBef>
              <a:spcAft>
                <a:spcPts val="900"/>
              </a:spcAft>
            </a:pPr>
            <a:r>
              <a:rPr sz="1300" b="1">
                <a:solidFill>
                  <a:srgbClr val="1F6FEB"/>
                </a:solidFill>
                <a:latin typeface="Arial"/>
              </a:rPr>
              <a:t>•  </a:t>
            </a:r>
            <a:r>
              <a:rPr sz="1300">
                <a:solidFill>
                  <a:srgbClr val="161B26"/>
                </a:solidFill>
                <a:latin typeface="Arial"/>
              </a:rPr>
              <a:t>Click Execute Workflow to run once.</a:t>
            </a:r>
          </a:p>
          <a:p>
            <a:pPr>
              <a:spcBef>
                <a:spcPts val="0"/>
              </a:spcBef>
              <a:spcAft>
                <a:spcPts val="900"/>
              </a:spcAft>
            </a:pPr>
            <a:r>
              <a:rPr sz="1300" b="1">
                <a:solidFill>
                  <a:srgbClr val="1F6FEB"/>
                </a:solidFill>
                <a:latin typeface="Arial"/>
              </a:rPr>
              <a:t>•  </a:t>
            </a:r>
            <a:r>
              <a:rPr sz="1300">
                <a:solidFill>
                  <a:srgbClr val="161B26"/>
                </a:solidFill>
                <a:latin typeface="Arial"/>
              </a:rPr>
              <a:t>Data is shown live on the canvas, node by node.</a:t>
            </a:r>
          </a:p>
          <a:p>
            <a:pPr>
              <a:spcBef>
                <a:spcPts val="0"/>
              </a:spcBef>
              <a:spcAft>
                <a:spcPts val="900"/>
              </a:spcAft>
            </a:pPr>
            <a:r>
              <a:rPr sz="1300" b="1">
                <a:solidFill>
                  <a:srgbClr val="1F6FEB"/>
                </a:solidFill>
                <a:latin typeface="Arial"/>
              </a:rPr>
              <a:t>•  </a:t>
            </a:r>
            <a:r>
              <a:rPr sz="1300">
                <a:solidFill>
                  <a:srgbClr val="161B26"/>
                </a:solidFill>
                <a:latin typeface="Arial"/>
              </a:rPr>
              <a:t>Pin a node's output to freeze it while you build downstream.</a:t>
            </a:r>
          </a:p>
          <a:p>
            <a:pPr>
              <a:spcBef>
                <a:spcPts val="0"/>
              </a:spcBef>
              <a:spcAft>
                <a:spcPts val="900"/>
              </a:spcAft>
            </a:pPr>
            <a:r>
              <a:rPr sz="1300" b="1">
                <a:solidFill>
                  <a:srgbClr val="1F6FEB"/>
                </a:solidFill>
                <a:latin typeface="Arial"/>
              </a:rPr>
              <a:t>•  </a:t>
            </a:r>
            <a:r>
              <a:rPr sz="1300">
                <a:solidFill>
                  <a:srgbClr val="161B26"/>
                </a:solidFill>
                <a:latin typeface="Arial"/>
              </a:rPr>
              <a:t>Perfect for building — nothing needs to be Active.</a:t>
            </a:r>
          </a:p>
        </p:txBody>
      </p:sp>
      <p:sp>
        <p:nvSpPr>
          <p:cNvPr id="11" name="Rectangle 10"/>
          <p:cNvSpPr/>
          <p:nvPr/>
        </p:nvSpPr>
        <p:spPr>
          <a:xfrm>
            <a:off x="6217920" y="1828800"/>
            <a:ext cx="5193792"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828800"/>
            <a:ext cx="5193792" cy="457200"/>
          </a:xfrm>
          <a:prstGeom prst="rect">
            <a:avLst/>
          </a:prstGeom>
          <a:noFill/>
        </p:spPr>
        <p:txBody>
          <a:bodyPr wrap="square" anchor="ctr" lIns="0" rIns="0" tIns="0" bIns="0">
            <a:spAutoFit/>
          </a:bodyPr>
          <a:lstStyle/>
          <a:p>
            <a:pPr algn="ctr">
              <a:spcBef>
                <a:spcPts val="0"/>
              </a:spcBef>
              <a:spcAft>
                <a:spcPts val="400"/>
              </a:spcAft>
            </a:pPr>
            <a:r>
              <a:rPr sz="1350" b="1">
                <a:solidFill>
                  <a:srgbClr val="FFFFFF"/>
                </a:solidFill>
                <a:latin typeface="Arial"/>
              </a:rPr>
              <a:t>PRODUCTION — Active toggle ON</a:t>
            </a:r>
          </a:p>
        </p:txBody>
      </p:sp>
      <p:sp>
        <p:nvSpPr>
          <p:cNvPr id="13" name="Rectangle 12"/>
          <p:cNvSpPr/>
          <p:nvPr/>
        </p:nvSpPr>
        <p:spPr>
          <a:xfrm>
            <a:off x="6217920" y="2286000"/>
            <a:ext cx="5193792" cy="3108960"/>
          </a:xfrm>
          <a:prstGeom prst="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514600"/>
            <a:ext cx="4663440" cy="2743200"/>
          </a:xfrm>
          <a:prstGeom prst="rect">
            <a:avLst/>
          </a:prstGeom>
          <a:noFill/>
        </p:spPr>
        <p:txBody>
          <a:bodyPr wrap="square" lIns="0" rIns="0">
            <a:spAutoFit/>
          </a:bodyPr>
          <a:lstStyle/>
          <a:p>
            <a:pPr>
              <a:spcBef>
                <a:spcPts val="0"/>
              </a:spcBef>
              <a:spcAft>
                <a:spcPts val="900"/>
              </a:spcAft>
            </a:pPr>
            <a:r>
              <a:rPr sz="1300" b="1">
                <a:solidFill>
                  <a:srgbClr val="7C3AED"/>
                </a:solidFill>
                <a:latin typeface="Arial"/>
              </a:rPr>
              <a:t>•  </a:t>
            </a:r>
            <a:r>
              <a:rPr sz="1300">
                <a:solidFill>
                  <a:srgbClr val="161B26"/>
                </a:solidFill>
                <a:latin typeface="Arial"/>
              </a:rPr>
              <a:t>Runs automatically when the trigger fires.</a:t>
            </a:r>
          </a:p>
          <a:p>
            <a:pPr>
              <a:spcBef>
                <a:spcPts val="0"/>
              </a:spcBef>
              <a:spcAft>
                <a:spcPts val="900"/>
              </a:spcAft>
            </a:pPr>
            <a:r>
              <a:rPr sz="1300" b="1">
                <a:solidFill>
                  <a:srgbClr val="7C3AED"/>
                </a:solidFill>
                <a:latin typeface="Arial"/>
              </a:rPr>
              <a:t>•  </a:t>
            </a:r>
            <a:r>
              <a:rPr sz="1300">
                <a:solidFill>
                  <a:srgbClr val="161B26"/>
                </a:solidFill>
                <a:latin typeface="Arial"/>
              </a:rPr>
              <a:t>Nothing appears on the canvas — runs are logged in Executions.</a:t>
            </a:r>
          </a:p>
          <a:p>
            <a:pPr>
              <a:spcBef>
                <a:spcPts val="0"/>
              </a:spcBef>
              <a:spcAft>
                <a:spcPts val="900"/>
              </a:spcAft>
            </a:pPr>
            <a:r>
              <a:rPr sz="1300" b="1">
                <a:solidFill>
                  <a:srgbClr val="7C3AED"/>
                </a:solidFill>
                <a:latin typeface="Arial"/>
              </a:rPr>
              <a:t>•  </a:t>
            </a:r>
            <a:r>
              <a:rPr sz="1300">
                <a:solidFill>
                  <a:srgbClr val="161B26"/>
                </a:solidFill>
                <a:latin typeface="Arial"/>
              </a:rPr>
              <a:t>Every run records status, timing and full data per node.</a:t>
            </a:r>
          </a:p>
          <a:p>
            <a:pPr>
              <a:spcBef>
                <a:spcPts val="0"/>
              </a:spcBef>
              <a:spcAft>
                <a:spcPts val="900"/>
              </a:spcAft>
            </a:pPr>
            <a:r>
              <a:rPr sz="1300" b="1">
                <a:solidFill>
                  <a:srgbClr val="7C3AED"/>
                </a:solidFill>
                <a:latin typeface="Arial"/>
              </a:rPr>
              <a:t>•  </a:t>
            </a:r>
            <a:r>
              <a:rPr sz="1300">
                <a:solidFill>
                  <a:srgbClr val="161B26"/>
                </a:solidFill>
                <a:latin typeface="Arial"/>
              </a:rPr>
              <a:t>This is what your users experience.</a:t>
            </a:r>
          </a:p>
        </p:txBody>
      </p:sp>
      <p:sp>
        <p:nvSpPr>
          <p:cNvPr id="15" name="Rounded Rectangle 14"/>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The Executions list is the honest account of what happened — debug from there, not from memory.</a:t>
            </a:r>
          </a:p>
        </p:txBody>
      </p:sp>
      <p:sp>
        <p:nvSpPr>
          <p:cNvPr id="17" name="TextBox 1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Execution History</a:t>
            </a:r>
          </a:p>
        </p:txBody>
      </p:sp>
      <p:pic>
        <p:nvPicPr>
          <p:cNvPr id="6" name="Picture 5" descr="n8n-execution-history.png"/>
          <p:cNvPicPr>
            <a:picLocks noChangeAspect="1"/>
          </p:cNvPicPr>
          <p:nvPr/>
        </p:nvPicPr>
        <p:blipFill>
          <a:blip r:embed="rId2"/>
          <a:stretch>
            <a:fillRect/>
          </a:stretch>
        </p:blipFill>
        <p:spPr>
          <a:xfrm>
            <a:off x="914400" y="1737360"/>
            <a:ext cx="10332720" cy="3738777"/>
          </a:xfrm>
          <a:prstGeom prst="rect">
            <a:avLst/>
          </a:prstGeom>
        </p:spPr>
      </p:pic>
      <p:sp>
        <p:nvSpPr>
          <p:cNvPr id="7" name="Rectangle 6"/>
          <p:cNvSpPr/>
          <p:nvPr/>
        </p:nvSpPr>
        <p:spPr>
          <a:xfrm>
            <a:off x="901700" y="1724660"/>
            <a:ext cx="10358120" cy="3764177"/>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Executions tab — each run shows status, duration, ID and the full data at every node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1 · WORKFLOW AUTOMATION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Credentials — Connect Your Accounts Once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Nodes reference credentials by name; set them up once under Credentials → Add credential.</a:t>
            </a:r>
          </a:p>
        </p:txBody>
      </p:sp>
      <p:sp>
        <p:nvSpPr>
          <p:cNvPr id="7" name="Rounded Rectangle 6"/>
          <p:cNvSpPr/>
          <p:nvPr/>
        </p:nvSpPr>
        <p:spPr>
          <a:xfrm>
            <a:off x="777240" y="1828800"/>
            <a:ext cx="5170932" cy="158191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7510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751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8424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Email</a:t>
            </a:r>
          </a:p>
        </p:txBody>
      </p:sp>
      <p:sp>
        <p:nvSpPr>
          <p:cNvPr id="11" name="TextBox 10"/>
          <p:cNvSpPr txBox="1"/>
          <p:nvPr/>
        </p:nvSpPr>
        <p:spPr>
          <a:xfrm>
            <a:off x="978408" y="237744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Gmail or Outlook via OAuth2 — used from Activity 1 onward.</a:t>
            </a:r>
          </a:p>
        </p:txBody>
      </p:sp>
      <p:sp>
        <p:nvSpPr>
          <p:cNvPr id="12" name="Rounded Rectangle 11"/>
          <p:cNvSpPr/>
          <p:nvPr/>
        </p:nvSpPr>
        <p:spPr>
          <a:xfrm>
            <a:off x="6240780" y="1828800"/>
            <a:ext cx="5170932" cy="1581912"/>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23660" y="197510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60" y="19751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6862572" y="198424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LLM</a:t>
            </a:r>
          </a:p>
        </p:txBody>
      </p:sp>
      <p:sp>
        <p:nvSpPr>
          <p:cNvPr id="16" name="TextBox 15"/>
          <p:cNvSpPr txBox="1"/>
          <p:nvPr/>
        </p:nvSpPr>
        <p:spPr>
          <a:xfrm>
            <a:off x="6441948" y="237744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Free n8n Gateway credits (no key needed), or your own OpenAI / Google Gemini API key — powers every AI agent from Activity 4.</a:t>
            </a:r>
          </a:p>
        </p:txBody>
      </p:sp>
      <p:sp>
        <p:nvSpPr>
          <p:cNvPr id="17" name="Rounded Rectangle 16"/>
          <p:cNvSpPr/>
          <p:nvPr/>
        </p:nvSpPr>
        <p:spPr>
          <a:xfrm>
            <a:off x="777240" y="3630168"/>
            <a:ext cx="5170932" cy="1581912"/>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77647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77647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1399032" y="378561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Telegram</a:t>
            </a:r>
          </a:p>
        </p:txBody>
      </p:sp>
      <p:sp>
        <p:nvSpPr>
          <p:cNvPr id="21" name="TextBox 20"/>
          <p:cNvSpPr txBox="1"/>
          <p:nvPr/>
        </p:nvSpPr>
        <p:spPr>
          <a:xfrm>
            <a:off x="978408" y="417880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Bot token from @BotFather — the chat front door for Activities 4, 6, 7a.</a:t>
            </a:r>
          </a:p>
        </p:txBody>
      </p:sp>
      <p:sp>
        <p:nvSpPr>
          <p:cNvPr id="22" name="Rounded Rectangle 21"/>
          <p:cNvSpPr/>
          <p:nvPr/>
        </p:nvSpPr>
        <p:spPr>
          <a:xfrm>
            <a:off x="6240780" y="3630168"/>
            <a:ext cx="5170932" cy="1581912"/>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3660" y="377647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3660" y="377647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6862572" y="378561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Google Sheets</a:t>
            </a:r>
          </a:p>
        </p:txBody>
      </p:sp>
      <p:sp>
        <p:nvSpPr>
          <p:cNvPr id="26" name="TextBox 25"/>
          <p:cNvSpPr txBox="1"/>
          <p:nvPr/>
        </p:nvSpPr>
        <p:spPr>
          <a:xfrm>
            <a:off x="6441948" y="417880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OAuth2 to your Google account — persistent storage in Activity 3b.</a:t>
            </a:r>
          </a:p>
        </p:txBody>
      </p:sp>
      <p:sp>
        <p:nvSpPr>
          <p:cNvPr id="27" name="Rounded Rectangle 2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Imported workflows keep credential NAMES only — always re-select your own after importing.</a:t>
            </a:r>
          </a:p>
        </p:txBody>
      </p:sp>
      <p:sp>
        <p:nvSpPr>
          <p:cNvPr id="29" name="TextBox 2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TOPIC 1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1 — Flyer with QR Code (Form → Email)</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Collect a visitor's RSVP with a hosted n8n Form and email it to the admin — then put the form's QR code on a real event flyer.</a:t>
            </a:r>
          </a:p>
        </p:txBody>
      </p:sp>
      <p:sp>
        <p:nvSpPr>
          <p:cNvPr id="7" name="Rounded Rectangle 6"/>
          <p:cNvSpPr/>
          <p:nvPr/>
        </p:nvSpPr>
        <p:spPr>
          <a:xfrm>
            <a:off x="777240" y="1810512"/>
            <a:ext cx="5161788"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4978908"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Form Trigger</a:t>
            </a:r>
          </a:p>
          <a:p>
            <a:pPr algn="ctr">
              <a:spcBef>
                <a:spcPts val="0"/>
              </a:spcBef>
              <a:spcAft>
                <a:spcPts val="200"/>
              </a:spcAft>
            </a:pPr>
            <a:r>
              <a:rPr sz="850" b="0">
                <a:solidFill>
                  <a:srgbClr val="5B6372"/>
                </a:solidFill>
                <a:latin typeface="Arial"/>
              </a:rPr>
              <a:t>visitor submits the RSVP</a:t>
            </a:r>
          </a:p>
        </p:txBody>
      </p:sp>
      <p:sp>
        <p:nvSpPr>
          <p:cNvPr id="9" name="TextBox 8"/>
          <p:cNvSpPr txBox="1"/>
          <p:nvPr/>
        </p:nvSpPr>
        <p:spPr>
          <a:xfrm>
            <a:off x="5911596"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0" name="Rounded Rectangle 9"/>
          <p:cNvSpPr/>
          <p:nvPr/>
        </p:nvSpPr>
        <p:spPr>
          <a:xfrm>
            <a:off x="6249924" y="1810512"/>
            <a:ext cx="5161788"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1364" y="1810512"/>
            <a:ext cx="4978908"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Gmail — Send</a:t>
            </a:r>
          </a:p>
          <a:p>
            <a:pPr algn="ctr">
              <a:spcBef>
                <a:spcPts val="0"/>
              </a:spcBef>
              <a:spcAft>
                <a:spcPts val="200"/>
              </a:spcAft>
            </a:pPr>
            <a:r>
              <a:rPr sz="850" b="0">
                <a:solidFill>
                  <a:srgbClr val="5B6372"/>
                </a:solidFill>
                <a:latin typeface="Arial"/>
              </a:rPr>
              <a:t>admin receives the details</a:t>
            </a:r>
          </a:p>
        </p:txBody>
      </p:sp>
      <p:pic>
        <p:nvPicPr>
          <p:cNvPr id="12" name="Picture 11" descr="Activity1-Flyer-Form.png"/>
          <p:cNvPicPr>
            <a:picLocks noChangeAspect="1"/>
          </p:cNvPicPr>
          <p:nvPr/>
        </p:nvPicPr>
        <p:blipFill>
          <a:blip r:embed="rId2"/>
          <a:stretch>
            <a:fillRect/>
          </a:stretch>
        </p:blipFill>
        <p:spPr>
          <a:xfrm>
            <a:off x="2727960" y="2761488"/>
            <a:ext cx="6705600" cy="2816352"/>
          </a:xfrm>
          <a:prstGeom prst="rect">
            <a:avLst/>
          </a:prstGeom>
        </p:spPr>
      </p:pic>
      <p:sp>
        <p:nvSpPr>
          <p:cNvPr id="13" name="Rectangle 12"/>
          <p:cNvSpPr/>
          <p:nvPr/>
        </p:nvSpPr>
        <p:spPr>
          <a:xfrm>
            <a:off x="2715260" y="2748788"/>
            <a:ext cx="6731000"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77240" y="5687568"/>
            <a:ext cx="10634472" cy="56692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 y="5806440"/>
            <a:ext cx="960120" cy="3291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1</a:t>
            </a:r>
          </a:p>
        </p:txBody>
      </p:sp>
      <p:sp>
        <p:nvSpPr>
          <p:cNvPr id="17" name="TextBox 16"/>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Flyer with QR Code (Form → Email)</a:t>
            </a:r>
          </a:p>
        </p:txBody>
      </p:sp>
      <p:sp>
        <p:nvSpPr>
          <p:cNvPr id="18" name="TextBox 17"/>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Form Trigger → Gmail  ·  Gmail OAuth2 credential  ·  full steps in the Learner Guide</a:t>
            </a:r>
          </a:p>
        </p:txBody>
      </p:sp>
      <p:sp>
        <p:nvSpPr>
          <p:cNvPr id="19" name="TextBox 1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0" name="TextBox 1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1" name="TextBox 2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ACT 1 · IN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1 — Add the n8n Form Trigger</a:t>
            </a:r>
          </a:p>
        </p:txBody>
      </p:sp>
      <p:pic>
        <p:nvPicPr>
          <p:cNvPr id="6" name="Picture 5" descr="lab1-add-trigger.png"/>
          <p:cNvPicPr>
            <a:picLocks noChangeAspect="1"/>
          </p:cNvPicPr>
          <p:nvPr/>
        </p:nvPicPr>
        <p:blipFill>
          <a:blip r:embed="rId2"/>
          <a:stretch>
            <a:fillRect/>
          </a:stretch>
        </p:blipFill>
        <p:spPr>
          <a:xfrm>
            <a:off x="1278611" y="1600200"/>
            <a:ext cx="5436489" cy="4069079"/>
          </a:xfrm>
          <a:prstGeom prst="rect">
            <a:avLst/>
          </a:prstGeom>
        </p:spPr>
      </p:pic>
      <p:sp>
        <p:nvSpPr>
          <p:cNvPr id="7" name="Rectangle 6"/>
          <p:cNvSpPr/>
          <p:nvPr/>
        </p:nvSpPr>
        <p:spPr>
          <a:xfrm>
            <a:off x="1265911" y="1587500"/>
            <a:ext cx="5461889" cy="4094479"/>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1-form-trigger.png"/>
          <p:cNvPicPr>
            <a:picLocks noChangeAspect="1"/>
          </p:cNvPicPr>
          <p:nvPr/>
        </p:nvPicPr>
        <p:blipFill>
          <a:blip r:embed="rId3"/>
          <a:stretch>
            <a:fillRect/>
          </a:stretch>
        </p:blipFill>
        <p:spPr>
          <a:xfrm>
            <a:off x="6989420" y="1600200"/>
            <a:ext cx="3920921" cy="4069080"/>
          </a:xfrm>
          <a:prstGeom prst="rect">
            <a:avLst/>
          </a:prstGeom>
        </p:spPr>
      </p:pic>
      <p:sp>
        <p:nvSpPr>
          <p:cNvPr id="9" name="Rectangle 8"/>
          <p:cNvSpPr/>
          <p:nvPr/>
        </p:nvSpPr>
        <p:spPr>
          <a:xfrm>
            <a:off x="6976720" y="1587500"/>
            <a:ext cx="3946321" cy="409448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806440"/>
            <a:ext cx="10634472" cy="54864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Click Add first step (+), search 'form' and choose n8n Form → On new n8n Form event. Then add the Name, Email, Phone and Message fields.</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49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ACT 1 · IN n8n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1 — Gmail: Send a Message with Expressions</a:t>
            </a:r>
          </a:p>
        </p:txBody>
      </p:sp>
      <p:pic>
        <p:nvPicPr>
          <p:cNvPr id="6" name="Picture 5" descr="lab1-gmail-actions.png"/>
          <p:cNvPicPr>
            <a:picLocks noChangeAspect="1"/>
          </p:cNvPicPr>
          <p:nvPr/>
        </p:nvPicPr>
        <p:blipFill>
          <a:blip r:embed="rId2"/>
          <a:stretch>
            <a:fillRect/>
          </a:stretch>
        </p:blipFill>
        <p:spPr>
          <a:xfrm>
            <a:off x="777241" y="1775445"/>
            <a:ext cx="2800121" cy="3718588"/>
          </a:xfrm>
          <a:prstGeom prst="rect">
            <a:avLst/>
          </a:prstGeom>
        </p:spPr>
      </p:pic>
      <p:sp>
        <p:nvSpPr>
          <p:cNvPr id="7" name="Rectangle 6"/>
          <p:cNvSpPr/>
          <p:nvPr/>
        </p:nvSpPr>
        <p:spPr>
          <a:xfrm>
            <a:off x="764541" y="1762745"/>
            <a:ext cx="2825521" cy="3743988"/>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1-gmail-expression.png"/>
          <p:cNvPicPr>
            <a:picLocks noChangeAspect="1"/>
          </p:cNvPicPr>
          <p:nvPr/>
        </p:nvPicPr>
        <p:blipFill>
          <a:blip r:embed="rId3"/>
          <a:stretch>
            <a:fillRect/>
          </a:stretch>
        </p:blipFill>
        <p:spPr>
          <a:xfrm>
            <a:off x="3851682" y="1775445"/>
            <a:ext cx="7560028" cy="3718589"/>
          </a:xfrm>
          <a:prstGeom prst="rect">
            <a:avLst/>
          </a:prstGeom>
        </p:spPr>
      </p:pic>
      <p:sp>
        <p:nvSpPr>
          <p:cNvPr id="9" name="Rectangle 8"/>
          <p:cNvSpPr/>
          <p:nvPr/>
        </p:nvSpPr>
        <p:spPr>
          <a:xfrm>
            <a:off x="3838982" y="1762745"/>
            <a:ext cx="7585428" cy="3743989"/>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806440"/>
            <a:ext cx="10634472" cy="54864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Add Gmail → Send a message. Switch Message to Expression and drag in the form fields — the Result panel previews the email before you run it.</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ACT 1 · GROUP ACTIVITY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Sample Flyers from Past Students</a:t>
            </a:r>
          </a:p>
        </p:txBody>
      </p:sp>
      <p:pic>
        <p:nvPicPr>
          <p:cNvPr id="6" name="Picture 5" descr="lab1-flyer-learner1.png"/>
          <p:cNvPicPr>
            <a:picLocks noChangeAspect="1"/>
          </p:cNvPicPr>
          <p:nvPr/>
        </p:nvPicPr>
        <p:blipFill>
          <a:blip r:embed="rId2"/>
          <a:stretch>
            <a:fillRect/>
          </a:stretch>
        </p:blipFill>
        <p:spPr>
          <a:xfrm>
            <a:off x="777242" y="2349763"/>
            <a:ext cx="1712523" cy="2569953"/>
          </a:xfrm>
          <a:prstGeom prst="rect">
            <a:avLst/>
          </a:prstGeom>
        </p:spPr>
      </p:pic>
      <p:sp>
        <p:nvSpPr>
          <p:cNvPr id="7" name="Rectangle 6"/>
          <p:cNvSpPr/>
          <p:nvPr/>
        </p:nvSpPr>
        <p:spPr>
          <a:xfrm>
            <a:off x="764542" y="2337063"/>
            <a:ext cx="1737923" cy="2595353"/>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lab1-flyer-learner2.png"/>
          <p:cNvPicPr>
            <a:picLocks noChangeAspect="1"/>
          </p:cNvPicPr>
          <p:nvPr/>
        </p:nvPicPr>
        <p:blipFill>
          <a:blip r:embed="rId3"/>
          <a:stretch>
            <a:fillRect/>
          </a:stretch>
        </p:blipFill>
        <p:spPr>
          <a:xfrm>
            <a:off x="2764085" y="2349763"/>
            <a:ext cx="1817657" cy="2569952"/>
          </a:xfrm>
          <a:prstGeom prst="rect">
            <a:avLst/>
          </a:prstGeom>
        </p:spPr>
      </p:pic>
      <p:sp>
        <p:nvSpPr>
          <p:cNvPr id="9" name="Rectangle 8"/>
          <p:cNvSpPr/>
          <p:nvPr/>
        </p:nvSpPr>
        <p:spPr>
          <a:xfrm>
            <a:off x="2751385" y="2337063"/>
            <a:ext cx="1843057" cy="25953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lab1-flyer-learner3.png"/>
          <p:cNvPicPr>
            <a:picLocks noChangeAspect="1"/>
          </p:cNvPicPr>
          <p:nvPr/>
        </p:nvPicPr>
        <p:blipFill>
          <a:blip r:embed="rId4"/>
          <a:stretch>
            <a:fillRect/>
          </a:stretch>
        </p:blipFill>
        <p:spPr>
          <a:xfrm>
            <a:off x="4856062" y="2349763"/>
            <a:ext cx="1712523" cy="2569953"/>
          </a:xfrm>
          <a:prstGeom prst="rect">
            <a:avLst/>
          </a:prstGeom>
        </p:spPr>
      </p:pic>
      <p:sp>
        <p:nvSpPr>
          <p:cNvPr id="11" name="Rectangle 10"/>
          <p:cNvSpPr/>
          <p:nvPr/>
        </p:nvSpPr>
        <p:spPr>
          <a:xfrm>
            <a:off x="4843362" y="2337063"/>
            <a:ext cx="1737923" cy="2595353"/>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ite-lab1-flyer.png"/>
          <p:cNvPicPr>
            <a:picLocks noChangeAspect="1"/>
          </p:cNvPicPr>
          <p:nvPr/>
        </p:nvPicPr>
        <p:blipFill>
          <a:blip r:embed="rId5"/>
          <a:stretch>
            <a:fillRect/>
          </a:stretch>
        </p:blipFill>
        <p:spPr>
          <a:xfrm>
            <a:off x="6842905" y="2349763"/>
            <a:ext cx="4568805" cy="2569953"/>
          </a:xfrm>
          <a:prstGeom prst="rect">
            <a:avLst/>
          </a:prstGeom>
        </p:spPr>
      </p:pic>
      <p:sp>
        <p:nvSpPr>
          <p:cNvPr id="13" name="Rectangle 12"/>
          <p:cNvSpPr/>
          <p:nvPr/>
        </p:nvSpPr>
        <p:spPr>
          <a:xfrm>
            <a:off x="6830205" y="2337063"/>
            <a:ext cx="4594205" cy="2595353"/>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806440"/>
            <a:ext cx="10634472" cy="54864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Each QR code encodes the form's Production URL — scan it, register, and the event administrator receives the details by email.</a:t>
            </a:r>
          </a:p>
        </p:txBody>
      </p:sp>
      <p:sp>
        <p:nvSpPr>
          <p:cNvPr id="15" name="TextBox 1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TOPIC 1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2 — Capture Submissions in a Data Table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Extend Activity 1 so every submission is also saved — your first taste of storing data, not just forwarding it.</a:t>
            </a:r>
          </a:p>
        </p:txBody>
      </p:sp>
      <p:sp>
        <p:nvSpPr>
          <p:cNvPr id="7" name="Rounded Rectangle 6"/>
          <p:cNvSpPr/>
          <p:nvPr/>
        </p:nvSpPr>
        <p:spPr>
          <a:xfrm>
            <a:off x="777240" y="1810512"/>
            <a:ext cx="3337560"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Form Trigger</a:t>
            </a:r>
          </a:p>
          <a:p>
            <a:pPr algn="ctr">
              <a:spcBef>
                <a:spcPts val="0"/>
              </a:spcBef>
              <a:spcAft>
                <a:spcPts val="200"/>
              </a:spcAft>
            </a:pPr>
            <a:r>
              <a:rPr sz="850" b="0">
                <a:solidFill>
                  <a:srgbClr val="5B6372"/>
                </a:solidFill>
                <a:latin typeface="Arial"/>
              </a:rPr>
              <a:t>same RSVP form</a:t>
            </a:r>
          </a:p>
        </p:txBody>
      </p:sp>
      <p:sp>
        <p:nvSpPr>
          <p:cNvPr id="9" name="TextBox 8"/>
          <p:cNvSpPr txBox="1"/>
          <p:nvPr/>
        </p:nvSpPr>
        <p:spPr>
          <a:xfrm>
            <a:off x="408736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0" name="Rounded Rectangle 9"/>
          <p:cNvSpPr/>
          <p:nvPr/>
        </p:nvSpPr>
        <p:spPr>
          <a:xfrm>
            <a:off x="4425696" y="1810512"/>
            <a:ext cx="3337560"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Data Table — Insert Row</a:t>
            </a:r>
          </a:p>
          <a:p>
            <a:pPr algn="ctr">
              <a:spcBef>
                <a:spcPts val="0"/>
              </a:spcBef>
              <a:spcAft>
                <a:spcPts val="200"/>
              </a:spcAft>
            </a:pPr>
            <a:r>
              <a:rPr sz="850" b="0">
                <a:solidFill>
                  <a:srgbClr val="5B6372"/>
                </a:solidFill>
                <a:latin typeface="Arial"/>
              </a:rPr>
              <a:t>every submission saved</a:t>
            </a:r>
          </a:p>
        </p:txBody>
      </p:sp>
      <p:sp>
        <p:nvSpPr>
          <p:cNvPr id="12" name="TextBox 11"/>
          <p:cNvSpPr txBox="1"/>
          <p:nvPr/>
        </p:nvSpPr>
        <p:spPr>
          <a:xfrm>
            <a:off x="773582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3" name="Rounded Rectangle 12"/>
          <p:cNvSpPr/>
          <p:nvPr/>
        </p:nvSpPr>
        <p:spPr>
          <a:xfrm>
            <a:off x="8074152" y="1810512"/>
            <a:ext cx="3337560"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65592"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Gmail — Send</a:t>
            </a:r>
          </a:p>
          <a:p>
            <a:pPr algn="ctr">
              <a:spcBef>
                <a:spcPts val="0"/>
              </a:spcBef>
              <a:spcAft>
                <a:spcPts val="200"/>
              </a:spcAft>
            </a:pPr>
            <a:r>
              <a:rPr sz="850" b="0">
                <a:solidFill>
                  <a:srgbClr val="5B6372"/>
                </a:solidFill>
                <a:latin typeface="Arial"/>
              </a:rPr>
              <a:t>admin still notified</a:t>
            </a:r>
          </a:p>
        </p:txBody>
      </p:sp>
      <p:pic>
        <p:nvPicPr>
          <p:cNvPr id="15" name="Picture 14" descr="Activity2-Data-Table.png"/>
          <p:cNvPicPr>
            <a:picLocks noChangeAspect="1"/>
          </p:cNvPicPr>
          <p:nvPr/>
        </p:nvPicPr>
        <p:blipFill>
          <a:blip r:embed="rId2"/>
          <a:stretch>
            <a:fillRect/>
          </a:stretch>
        </p:blipFill>
        <p:spPr>
          <a:xfrm>
            <a:off x="2144864" y="2761488"/>
            <a:ext cx="7871791" cy="2816352"/>
          </a:xfrm>
          <a:prstGeom prst="rect">
            <a:avLst/>
          </a:prstGeom>
        </p:spPr>
      </p:pic>
      <p:sp>
        <p:nvSpPr>
          <p:cNvPr id="16" name="Rectangle 15"/>
          <p:cNvSpPr/>
          <p:nvPr/>
        </p:nvSpPr>
        <p:spPr>
          <a:xfrm>
            <a:off x="2132164" y="2748788"/>
            <a:ext cx="7897191"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5687568"/>
            <a:ext cx="10634472" cy="56692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0120" y="5806440"/>
            <a:ext cx="960120" cy="3291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2</a:t>
            </a:r>
          </a:p>
        </p:txBody>
      </p:sp>
      <p:sp>
        <p:nvSpPr>
          <p:cNvPr id="20" name="TextBox 19"/>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Capture Submissions in a Data Table</a:t>
            </a:r>
          </a:p>
        </p:txBody>
      </p:sp>
      <p:sp>
        <p:nvSpPr>
          <p:cNvPr id="21" name="TextBox 20"/>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Form Trigger → Data Table + Gmail  ·  columns mapped with {{ $json.… }} expressions  ·  steps in the Learner Guide</a:t>
            </a:r>
          </a:p>
        </p:txBody>
      </p:sp>
      <p:sp>
        <p:nvSpPr>
          <p:cNvPr id="22" name="TextBox 2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3" name="TextBox 2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4" name="TextBox 2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1 hour  ·  see you at 2:00 pm</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TOPIC 1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3a — Conditional Response (Data Table)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Add decision-making: attending guests are saved; everyone else gets a polite thank-you email.</a:t>
            </a:r>
          </a:p>
        </p:txBody>
      </p:sp>
      <p:sp>
        <p:nvSpPr>
          <p:cNvPr id="7" name="Rounded Rectangle 6"/>
          <p:cNvSpPr/>
          <p:nvPr/>
        </p:nvSpPr>
        <p:spPr>
          <a:xfrm>
            <a:off x="777240"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Form Trigger</a:t>
            </a:r>
          </a:p>
          <a:p>
            <a:pPr algn="ctr">
              <a:spcBef>
                <a:spcPts val="0"/>
              </a:spcBef>
              <a:spcAft>
                <a:spcPts val="200"/>
              </a:spcAft>
            </a:pPr>
            <a:r>
              <a:rPr sz="850" b="0">
                <a:solidFill>
                  <a:srgbClr val="5B6372"/>
                </a:solidFill>
                <a:latin typeface="Arial"/>
              </a:rPr>
              <a:t>+ Attending? Yes/No field</a:t>
            </a:r>
          </a:p>
        </p:txBody>
      </p:sp>
      <p:sp>
        <p:nvSpPr>
          <p:cNvPr id="9" name="TextBox 8"/>
          <p:cNvSpPr txBox="1"/>
          <p:nvPr/>
        </p:nvSpPr>
        <p:spPr>
          <a:xfrm>
            <a:off x="317525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0" name="Rounded Rectangle 9"/>
          <p:cNvSpPr/>
          <p:nvPr/>
        </p:nvSpPr>
        <p:spPr>
          <a:xfrm>
            <a:off x="3513582"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IF</a:t>
            </a:r>
          </a:p>
          <a:p>
            <a:pPr algn="ctr">
              <a:spcBef>
                <a:spcPts val="0"/>
              </a:spcBef>
              <a:spcAft>
                <a:spcPts val="200"/>
              </a:spcAft>
            </a:pPr>
            <a:r>
              <a:rPr sz="850" b="0">
                <a:solidFill>
                  <a:srgbClr val="5B6372"/>
                </a:solidFill>
                <a:latin typeface="Arial"/>
              </a:rPr>
              <a:t>Attending = Yes ?</a:t>
            </a:r>
          </a:p>
        </p:txBody>
      </p:sp>
      <p:sp>
        <p:nvSpPr>
          <p:cNvPr id="12" name="TextBox 11"/>
          <p:cNvSpPr txBox="1"/>
          <p:nvPr/>
        </p:nvSpPr>
        <p:spPr>
          <a:xfrm>
            <a:off x="5911596"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3" name="Rounded Rectangle 12"/>
          <p:cNvSpPr/>
          <p:nvPr/>
        </p:nvSpPr>
        <p:spPr>
          <a:xfrm>
            <a:off x="6249924"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Data Table</a:t>
            </a:r>
          </a:p>
          <a:p>
            <a:pPr algn="ctr">
              <a:spcBef>
                <a:spcPts val="0"/>
              </a:spcBef>
              <a:spcAft>
                <a:spcPts val="200"/>
              </a:spcAft>
            </a:pPr>
            <a:r>
              <a:rPr sz="850" b="0">
                <a:solidFill>
                  <a:srgbClr val="5B6372"/>
                </a:solidFill>
                <a:latin typeface="Arial"/>
              </a:rPr>
              <a:t>YES → save the RSVP</a:t>
            </a:r>
          </a:p>
        </p:txBody>
      </p:sp>
      <p:sp>
        <p:nvSpPr>
          <p:cNvPr id="15" name="TextBox 14"/>
          <p:cNvSpPr txBox="1"/>
          <p:nvPr/>
        </p:nvSpPr>
        <p:spPr>
          <a:xfrm>
            <a:off x="864793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6" name="Rounded Rectangle 15"/>
          <p:cNvSpPr/>
          <p:nvPr/>
        </p:nvSpPr>
        <p:spPr>
          <a:xfrm>
            <a:off x="8986266"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Gmail</a:t>
            </a:r>
          </a:p>
          <a:p>
            <a:pPr algn="ctr">
              <a:spcBef>
                <a:spcPts val="0"/>
              </a:spcBef>
              <a:spcAft>
                <a:spcPts val="200"/>
              </a:spcAft>
            </a:pPr>
            <a:r>
              <a:rPr sz="850" b="0">
                <a:solidFill>
                  <a:srgbClr val="5B6372"/>
                </a:solidFill>
                <a:latin typeface="Arial"/>
              </a:rPr>
              <a:t>NO → thank-you email</a:t>
            </a:r>
          </a:p>
        </p:txBody>
      </p:sp>
      <p:pic>
        <p:nvPicPr>
          <p:cNvPr id="18" name="Picture 17" descr="Activity3a-Conditional-Data-Table.png"/>
          <p:cNvPicPr>
            <a:picLocks noChangeAspect="1"/>
          </p:cNvPicPr>
          <p:nvPr/>
        </p:nvPicPr>
        <p:blipFill>
          <a:blip r:embed="rId2"/>
          <a:stretch>
            <a:fillRect/>
          </a:stretch>
        </p:blipFill>
        <p:spPr>
          <a:xfrm>
            <a:off x="3576099" y="2761488"/>
            <a:ext cx="5009322" cy="2816352"/>
          </a:xfrm>
          <a:prstGeom prst="rect">
            <a:avLst/>
          </a:prstGeom>
        </p:spPr>
      </p:pic>
      <p:sp>
        <p:nvSpPr>
          <p:cNvPr id="19" name="Rectangle 18"/>
          <p:cNvSpPr/>
          <p:nvPr/>
        </p:nvSpPr>
        <p:spPr>
          <a:xfrm>
            <a:off x="3563399" y="2748788"/>
            <a:ext cx="5034722"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 y="5687568"/>
            <a:ext cx="10634472" cy="56692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0120" y="5806440"/>
            <a:ext cx="960120" cy="3291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3a</a:t>
            </a:r>
          </a:p>
        </p:txBody>
      </p:sp>
      <p:sp>
        <p:nvSpPr>
          <p:cNvPr id="23" name="TextBox 22"/>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Conditional Response (Data Table)</a:t>
            </a:r>
          </a:p>
        </p:txBody>
      </p:sp>
      <p:sp>
        <p:nvSpPr>
          <p:cNvPr id="24" name="TextBox 23"/>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Form → IF → Data Table / Gmail  ·  both branches must be built  ·  steps in the Learner Guide</a:t>
            </a:r>
          </a:p>
        </p:txBody>
      </p:sp>
      <p:sp>
        <p:nvSpPr>
          <p:cNvPr id="25" name="TextBox 2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6" name="TextBox 2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7" name="TextBox 2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TOPIC 1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3b — Conditional Response (Google Sheets)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Same logic, persistent storage: the YES branch appends to a real Google Sheet you keep after the trial.</a:t>
            </a:r>
          </a:p>
        </p:txBody>
      </p:sp>
      <p:sp>
        <p:nvSpPr>
          <p:cNvPr id="7" name="Rounded Rectangle 6"/>
          <p:cNvSpPr/>
          <p:nvPr/>
        </p:nvSpPr>
        <p:spPr>
          <a:xfrm>
            <a:off x="777240"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Form Trigger</a:t>
            </a:r>
          </a:p>
          <a:p>
            <a:pPr algn="ctr">
              <a:spcBef>
                <a:spcPts val="0"/>
              </a:spcBef>
              <a:spcAft>
                <a:spcPts val="200"/>
              </a:spcAft>
            </a:pPr>
            <a:r>
              <a:rPr sz="850" b="0">
                <a:solidFill>
                  <a:srgbClr val="5B6372"/>
                </a:solidFill>
                <a:latin typeface="Arial"/>
              </a:rPr>
              <a:t>same form</a:t>
            </a:r>
          </a:p>
        </p:txBody>
      </p:sp>
      <p:sp>
        <p:nvSpPr>
          <p:cNvPr id="9" name="TextBox 8"/>
          <p:cNvSpPr txBox="1"/>
          <p:nvPr/>
        </p:nvSpPr>
        <p:spPr>
          <a:xfrm>
            <a:off x="317525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0" name="Rounded Rectangle 9"/>
          <p:cNvSpPr/>
          <p:nvPr/>
        </p:nvSpPr>
        <p:spPr>
          <a:xfrm>
            <a:off x="3513582"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IF</a:t>
            </a:r>
          </a:p>
          <a:p>
            <a:pPr algn="ctr">
              <a:spcBef>
                <a:spcPts val="0"/>
              </a:spcBef>
              <a:spcAft>
                <a:spcPts val="200"/>
              </a:spcAft>
            </a:pPr>
            <a:r>
              <a:rPr sz="850" b="0">
                <a:solidFill>
                  <a:srgbClr val="5B6372"/>
                </a:solidFill>
                <a:latin typeface="Arial"/>
              </a:rPr>
              <a:t>Attending = Yes ?</a:t>
            </a:r>
          </a:p>
        </p:txBody>
      </p:sp>
      <p:sp>
        <p:nvSpPr>
          <p:cNvPr id="12" name="TextBox 11"/>
          <p:cNvSpPr txBox="1"/>
          <p:nvPr/>
        </p:nvSpPr>
        <p:spPr>
          <a:xfrm>
            <a:off x="5911596"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3" name="Rounded Rectangle 12"/>
          <p:cNvSpPr/>
          <p:nvPr/>
        </p:nvSpPr>
        <p:spPr>
          <a:xfrm>
            <a:off x="6249924"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Google Sheets — Append</a:t>
            </a:r>
          </a:p>
          <a:p>
            <a:pPr algn="ctr">
              <a:spcBef>
                <a:spcPts val="0"/>
              </a:spcBef>
              <a:spcAft>
                <a:spcPts val="200"/>
              </a:spcAft>
            </a:pPr>
            <a:r>
              <a:rPr sz="850" b="0">
                <a:solidFill>
                  <a:srgbClr val="5B6372"/>
                </a:solidFill>
                <a:latin typeface="Arial"/>
              </a:rPr>
              <a:t>YES → a spreadsheet you keep</a:t>
            </a:r>
          </a:p>
        </p:txBody>
      </p:sp>
      <p:sp>
        <p:nvSpPr>
          <p:cNvPr id="15" name="TextBox 14"/>
          <p:cNvSpPr txBox="1"/>
          <p:nvPr/>
        </p:nvSpPr>
        <p:spPr>
          <a:xfrm>
            <a:off x="864793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6" name="Rounded Rectangle 15"/>
          <p:cNvSpPr/>
          <p:nvPr/>
        </p:nvSpPr>
        <p:spPr>
          <a:xfrm>
            <a:off x="8986266"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Gmail</a:t>
            </a:r>
          </a:p>
          <a:p>
            <a:pPr algn="ctr">
              <a:spcBef>
                <a:spcPts val="0"/>
              </a:spcBef>
              <a:spcAft>
                <a:spcPts val="200"/>
              </a:spcAft>
            </a:pPr>
            <a:r>
              <a:rPr sz="850" b="0">
                <a:solidFill>
                  <a:srgbClr val="5B6372"/>
                </a:solidFill>
                <a:latin typeface="Arial"/>
              </a:rPr>
              <a:t>NO → thank-you email</a:t>
            </a:r>
          </a:p>
        </p:txBody>
      </p:sp>
      <p:pic>
        <p:nvPicPr>
          <p:cNvPr id="18" name="Picture 17" descr="Activity3b-Conditional-Google-Sheets.png"/>
          <p:cNvPicPr>
            <a:picLocks noChangeAspect="1"/>
          </p:cNvPicPr>
          <p:nvPr/>
        </p:nvPicPr>
        <p:blipFill>
          <a:blip r:embed="rId2"/>
          <a:stretch>
            <a:fillRect/>
          </a:stretch>
        </p:blipFill>
        <p:spPr>
          <a:xfrm>
            <a:off x="2884141" y="2761488"/>
            <a:ext cx="6393238" cy="2816352"/>
          </a:xfrm>
          <a:prstGeom prst="rect">
            <a:avLst/>
          </a:prstGeom>
        </p:spPr>
      </p:pic>
      <p:sp>
        <p:nvSpPr>
          <p:cNvPr id="19" name="Rectangle 18"/>
          <p:cNvSpPr/>
          <p:nvPr/>
        </p:nvSpPr>
        <p:spPr>
          <a:xfrm>
            <a:off x="2871441" y="2748788"/>
            <a:ext cx="6418638"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 y="5687568"/>
            <a:ext cx="10634472" cy="56692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0120" y="5806440"/>
            <a:ext cx="960120" cy="3291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3b</a:t>
            </a:r>
          </a:p>
        </p:txBody>
      </p:sp>
      <p:sp>
        <p:nvSpPr>
          <p:cNvPr id="23" name="TextBox 22"/>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Conditional Response (Google Sheets)</a:t>
            </a:r>
          </a:p>
        </p:txBody>
      </p:sp>
      <p:sp>
        <p:nvSpPr>
          <p:cNvPr id="24" name="TextBox 23"/>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Form → IF → Google Sheets / Gmail  ·  Google Sheets OAuth2  ·  steps in the Learner Guide</a:t>
            </a:r>
          </a:p>
        </p:txBody>
      </p:sp>
      <p:sp>
        <p:nvSpPr>
          <p:cNvPr id="25" name="TextBox 2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6" name="TextBox 2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7" name="TextBox 2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965960"/>
            <a:ext cx="9418320" cy="2926080"/>
          </a:xfrm>
          <a:prstGeom prst="roundRect">
            <a:avLst>
              <a:gd name="adj" fmla="val 5500"/>
            </a:avLst>
          </a:prstGeom>
          <a:solidFill>
            <a:srgbClr val="FFFFFF"/>
          </a:solidFill>
          <a:ln w="1905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965960"/>
            <a:ext cx="201168" cy="29260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286000"/>
            <a:ext cx="8503920" cy="365760"/>
          </a:xfrm>
          <a:prstGeom prst="rect">
            <a:avLst/>
          </a:prstGeom>
          <a:noFill/>
        </p:spPr>
        <p:txBody>
          <a:bodyPr wrap="square" anchor="t" lIns="0" rIns="0" tIns="0" bIns="0">
            <a:spAutoFit/>
          </a:bodyPr>
          <a:lstStyle/>
          <a:p>
            <a:pPr algn="l">
              <a:spcBef>
                <a:spcPts val="0"/>
              </a:spcBef>
              <a:spcAft>
                <a:spcPts val="400"/>
              </a:spcAft>
            </a:pPr>
            <a:r>
              <a:rPr sz="1500" b="1">
                <a:solidFill>
                  <a:srgbClr val="7C3AED"/>
                </a:solidFill>
                <a:latin typeface="Arial"/>
              </a:rPr>
              <a:t>TOPIC 2</a:t>
            </a:r>
          </a:p>
        </p:txBody>
      </p:sp>
      <p:sp>
        <p:nvSpPr>
          <p:cNvPr id="6" name="TextBox 5"/>
          <p:cNvSpPr txBox="1"/>
          <p:nvPr/>
        </p:nvSpPr>
        <p:spPr>
          <a:xfrm>
            <a:off x="1920240" y="2697480"/>
            <a:ext cx="8595360" cy="1097280"/>
          </a:xfrm>
          <a:prstGeom prst="rect">
            <a:avLst/>
          </a:prstGeom>
          <a:noFill/>
        </p:spPr>
        <p:txBody>
          <a:bodyPr wrap="square" anchor="t" lIns="0" rIns="0" tIns="0" bIns="0">
            <a:spAutoFit/>
          </a:bodyPr>
          <a:lstStyle/>
          <a:p>
            <a:pPr algn="l">
              <a:spcBef>
                <a:spcPts val="0"/>
              </a:spcBef>
              <a:spcAft>
                <a:spcPts val="400"/>
              </a:spcAft>
            </a:pPr>
            <a:r>
              <a:rPr sz="3400" b="1">
                <a:solidFill>
                  <a:srgbClr val="161B26"/>
                </a:solidFill>
                <a:latin typeface="Arial"/>
              </a:rPr>
              <a:t>AI Agents</a:t>
            </a:r>
          </a:p>
        </p:txBody>
      </p:sp>
      <p:sp>
        <p:nvSpPr>
          <p:cNvPr id="7" name="TextBox 6"/>
          <p:cNvSpPr txBox="1"/>
          <p:nvPr/>
        </p:nvSpPr>
        <p:spPr>
          <a:xfrm>
            <a:off x="1938528" y="3794760"/>
            <a:ext cx="8503920" cy="548640"/>
          </a:xfrm>
          <a:prstGeom prst="rect">
            <a:avLst/>
          </a:prstGeom>
          <a:noFill/>
        </p:spPr>
        <p:txBody>
          <a:bodyPr wrap="square" anchor="t" lIns="0" rIns="0" tIns="0" bIns="0">
            <a:spAutoFit/>
          </a:bodyPr>
          <a:lstStyle/>
          <a:p>
            <a:pPr algn="l">
              <a:spcBef>
                <a:spcPts val="0"/>
              </a:spcBef>
              <a:spcAft>
                <a:spcPts val="400"/>
              </a:spcAft>
            </a:pPr>
            <a:r>
              <a:rPr sz="1400" b="0">
                <a:solidFill>
                  <a:srgbClr val="5B6372"/>
                </a:solidFill>
                <a:latin typeface="Arial"/>
              </a:rPr>
              <a:t>Components of an agent · model, memory, tools, instructions · model parameters · MCP</a:t>
            </a:r>
          </a:p>
        </p:txBody>
      </p:sp>
      <p:sp>
        <p:nvSpPr>
          <p:cNvPr id="8" name="TextBox 7"/>
          <p:cNvSpPr txBox="1"/>
          <p:nvPr/>
        </p:nvSpPr>
        <p:spPr>
          <a:xfrm>
            <a:off x="1938528" y="4343400"/>
            <a:ext cx="8503920" cy="365760"/>
          </a:xfrm>
          <a:prstGeom prst="rect">
            <a:avLst/>
          </a:prstGeom>
          <a:noFill/>
        </p:spPr>
        <p:txBody>
          <a:bodyPr wrap="square" anchor="t" lIns="0" rIns="0" tIns="0" bIns="0">
            <a:spAutoFit/>
          </a:bodyPr>
          <a:lstStyle/>
          <a:p>
            <a:pPr algn="l">
              <a:spcBef>
                <a:spcPts val="0"/>
              </a:spcBef>
              <a:spcAft>
                <a:spcPts val="400"/>
              </a:spcAft>
            </a:pPr>
            <a:r>
              <a:rPr sz="1200" b="1">
                <a:solidFill>
                  <a:srgbClr val="7C3AED"/>
                </a:solidFill>
                <a:latin typeface="Arial"/>
              </a:rPr>
              <a:t>Applied in Activities 4a and 4b</a:t>
            </a:r>
          </a:p>
        </p:txBody>
      </p:sp>
      <p:sp>
        <p:nvSpPr>
          <p:cNvPr id="9" name="TextBox 8"/>
          <p:cNvSpPr txBox="1"/>
          <p:nvPr/>
        </p:nvSpPr>
        <p:spPr>
          <a:xfrm>
            <a:off x="9326880" y="54864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02</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Components of an AI Agent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Four parts, one hub: the agent node wires them together — and only some are under your direct control.</a:t>
            </a:r>
          </a:p>
        </p:txBody>
      </p:sp>
      <p:sp>
        <p:nvSpPr>
          <p:cNvPr id="7" name="Rounded Rectangle 6"/>
          <p:cNvSpPr/>
          <p:nvPr/>
        </p:nvSpPr>
        <p:spPr>
          <a:xfrm>
            <a:off x="4297680" y="3017520"/>
            <a:ext cx="3566160" cy="1051560"/>
          </a:xfrm>
          <a:prstGeom prst="roundRect">
            <a:avLst>
              <a:gd name="adj" fmla="val 5500"/>
            </a:avLst>
          </a:prstGeom>
          <a:solidFill>
            <a:srgbClr val="FFFFFF"/>
          </a:solidFill>
          <a:ln w="25400">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0" y="3017520"/>
            <a:ext cx="3566160" cy="1051560"/>
          </a:xfrm>
          <a:prstGeom prst="rect">
            <a:avLst/>
          </a:prstGeom>
          <a:noFill/>
        </p:spPr>
        <p:txBody>
          <a:bodyPr wrap="square" anchor="ctr" lIns="0" rIns="0" tIns="0" bIns="0">
            <a:spAutoFit/>
          </a:bodyPr>
          <a:lstStyle/>
          <a:p>
            <a:pPr algn="ctr">
              <a:spcBef>
                <a:spcPts val="0"/>
              </a:spcBef>
              <a:spcAft>
                <a:spcPts val="200"/>
              </a:spcAft>
            </a:pPr>
            <a:r>
              <a:rPr sz="1500" b="1">
                <a:solidFill>
                  <a:srgbClr val="7C3AED"/>
                </a:solidFill>
                <a:latin typeface="Arial"/>
              </a:rPr>
              <a:t>THE AI AGENT</a:t>
            </a:r>
          </a:p>
          <a:p>
            <a:pPr algn="ctr">
              <a:spcBef>
                <a:spcPts val="0"/>
              </a:spcBef>
              <a:spcAft>
                <a:spcPts val="200"/>
              </a:spcAft>
            </a:pPr>
            <a:r>
              <a:rPr sz="1050" b="0">
                <a:solidFill>
                  <a:srgbClr val="5B6372"/>
                </a:solidFill>
                <a:latin typeface="Arial"/>
              </a:rPr>
              <a:t>plans · decides · calls tools</a:t>
            </a:r>
          </a:p>
        </p:txBody>
      </p:sp>
      <p:sp>
        <p:nvSpPr>
          <p:cNvPr id="9" name="Rounded Rectangle 8"/>
          <p:cNvSpPr/>
          <p:nvPr/>
        </p:nvSpPr>
        <p:spPr>
          <a:xfrm>
            <a:off x="777240" y="1828800"/>
            <a:ext cx="3291840" cy="146304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956816"/>
            <a:ext cx="2926080" cy="292608"/>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MODEL</a:t>
            </a:r>
          </a:p>
        </p:txBody>
      </p:sp>
      <p:sp>
        <p:nvSpPr>
          <p:cNvPr id="11" name="TextBox 10"/>
          <p:cNvSpPr txBox="1"/>
          <p:nvPr/>
        </p:nvSpPr>
        <p:spPr>
          <a:xfrm>
            <a:off x="960120" y="2286000"/>
            <a:ext cx="2926080" cy="1005840"/>
          </a:xfrm>
          <a:prstGeom prst="rect">
            <a:avLst/>
          </a:prstGeom>
          <a:noFill/>
        </p:spPr>
        <p:txBody>
          <a:bodyPr wrap="square" anchor="t" lIns="0" rIns="0" tIns="0" bIns="0">
            <a:spAutoFit/>
          </a:bodyPr>
          <a:lstStyle/>
          <a:p>
            <a:pPr algn="l">
              <a:spcBef>
                <a:spcPts val="0"/>
              </a:spcBef>
              <a:spcAft>
                <a:spcPts val="400"/>
              </a:spcAft>
            </a:pPr>
            <a:r>
              <a:rPr sz="1050" b="0">
                <a:solidFill>
                  <a:srgbClr val="161B26"/>
                </a:solidFill>
                <a:latin typeface="Arial"/>
              </a:rPr>
              <a:t>The LLM 'brain' — interprets language, reasons, chooses the next step. gpt-4.1-mini in this course.</a:t>
            </a:r>
          </a:p>
        </p:txBody>
      </p:sp>
      <p:sp>
        <p:nvSpPr>
          <p:cNvPr id="12" name="Rounded Rectangle 11"/>
          <p:cNvSpPr/>
          <p:nvPr/>
        </p:nvSpPr>
        <p:spPr>
          <a:xfrm>
            <a:off x="8092440" y="1828800"/>
            <a:ext cx="3291840" cy="146304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956816"/>
            <a:ext cx="2926080" cy="292608"/>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MEMORY</a:t>
            </a:r>
          </a:p>
        </p:txBody>
      </p:sp>
      <p:sp>
        <p:nvSpPr>
          <p:cNvPr id="14" name="TextBox 13"/>
          <p:cNvSpPr txBox="1"/>
          <p:nvPr/>
        </p:nvSpPr>
        <p:spPr>
          <a:xfrm>
            <a:off x="8275320" y="2286000"/>
            <a:ext cx="2926080" cy="1005840"/>
          </a:xfrm>
          <a:prstGeom prst="rect">
            <a:avLst/>
          </a:prstGeom>
          <a:noFill/>
        </p:spPr>
        <p:txBody>
          <a:bodyPr wrap="square" anchor="t" lIns="0" rIns="0" tIns="0" bIns="0">
            <a:spAutoFit/>
          </a:bodyPr>
          <a:lstStyle/>
          <a:p>
            <a:pPr algn="l">
              <a:spcBef>
                <a:spcPts val="0"/>
              </a:spcBef>
              <a:spcAft>
                <a:spcPts val="400"/>
              </a:spcAft>
            </a:pPr>
            <a:r>
              <a:rPr sz="1050" b="0">
                <a:solidFill>
                  <a:srgbClr val="161B26"/>
                </a:solidFill>
                <a:latin typeface="Arial"/>
              </a:rPr>
              <a:t>Keeps the conversation — follow-up questions still make sense. Window buffer per chat/session.</a:t>
            </a:r>
          </a:p>
        </p:txBody>
      </p:sp>
      <p:sp>
        <p:nvSpPr>
          <p:cNvPr id="15" name="Rounded Rectangle 14"/>
          <p:cNvSpPr/>
          <p:nvPr/>
        </p:nvSpPr>
        <p:spPr>
          <a:xfrm>
            <a:off x="777240" y="4114800"/>
            <a:ext cx="3291840" cy="146304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242816"/>
            <a:ext cx="2926080" cy="292608"/>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TOOLS</a:t>
            </a:r>
          </a:p>
        </p:txBody>
      </p:sp>
      <p:sp>
        <p:nvSpPr>
          <p:cNvPr id="17" name="TextBox 16"/>
          <p:cNvSpPr txBox="1"/>
          <p:nvPr/>
        </p:nvSpPr>
        <p:spPr>
          <a:xfrm>
            <a:off x="960120" y="4572000"/>
            <a:ext cx="2926080" cy="1005840"/>
          </a:xfrm>
          <a:prstGeom prst="rect">
            <a:avLst/>
          </a:prstGeom>
          <a:noFill/>
        </p:spPr>
        <p:txBody>
          <a:bodyPr wrap="square" anchor="t" lIns="0" rIns="0" tIns="0" bIns="0">
            <a:spAutoFit/>
          </a:bodyPr>
          <a:lstStyle/>
          <a:p>
            <a:pPr algn="l">
              <a:spcBef>
                <a:spcPts val="0"/>
              </a:spcBef>
              <a:spcAft>
                <a:spcPts val="400"/>
              </a:spcAft>
            </a:pPr>
            <a:r>
              <a:rPr sz="1050" b="0">
                <a:solidFill>
                  <a:srgbClr val="161B26"/>
                </a:solidFill>
                <a:latin typeface="Arial"/>
              </a:rPr>
              <a:t>Abilities it may use: Data Table lookups, vector stores, HTTP calls, sub-workflows.</a:t>
            </a:r>
          </a:p>
        </p:txBody>
      </p:sp>
      <p:sp>
        <p:nvSpPr>
          <p:cNvPr id="18" name="Rounded Rectangle 17"/>
          <p:cNvSpPr/>
          <p:nvPr/>
        </p:nvSpPr>
        <p:spPr>
          <a:xfrm>
            <a:off x="8092440" y="4114800"/>
            <a:ext cx="3291840" cy="146304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4242816"/>
            <a:ext cx="2926080" cy="292608"/>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INSTRUCTIONS</a:t>
            </a:r>
          </a:p>
        </p:txBody>
      </p:sp>
      <p:sp>
        <p:nvSpPr>
          <p:cNvPr id="20" name="TextBox 19"/>
          <p:cNvSpPr txBox="1"/>
          <p:nvPr/>
        </p:nvSpPr>
        <p:spPr>
          <a:xfrm>
            <a:off x="8275320" y="4572000"/>
            <a:ext cx="2926080" cy="1005840"/>
          </a:xfrm>
          <a:prstGeom prst="rect">
            <a:avLst/>
          </a:prstGeom>
          <a:noFill/>
        </p:spPr>
        <p:txBody>
          <a:bodyPr wrap="square" anchor="t" lIns="0" rIns="0" tIns="0" bIns="0">
            <a:spAutoFit/>
          </a:bodyPr>
          <a:lstStyle/>
          <a:p>
            <a:pPr algn="l">
              <a:spcBef>
                <a:spcPts val="0"/>
              </a:spcBef>
              <a:spcAft>
                <a:spcPts val="400"/>
              </a:spcAft>
            </a:pPr>
            <a:r>
              <a:rPr sz="1050" b="0">
                <a:solidFill>
                  <a:srgbClr val="161B26"/>
                </a:solidFill>
                <a:latin typeface="Arial"/>
              </a:rPr>
              <a:t>The system message — identity, scope, rules and refusals. Always in force.</a:t>
            </a:r>
          </a:p>
        </p:txBody>
      </p:sp>
      <p:sp>
        <p:nvSpPr>
          <p:cNvPr id="21" name="Rounded Rectangle 20"/>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Model + Memory + Tools + Instructions — every agent in this course is exactly these four parts.</a:t>
            </a:r>
          </a:p>
        </p:txBody>
      </p:sp>
      <p:sp>
        <p:nvSpPr>
          <p:cNvPr id="23" name="TextBox 2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4" name="TextBox 2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5" name="TextBox 2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57</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The Model — Popular LLM Providers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Any chat model plugs into the same AI Agent node — swap the brain, keep the agent.</a:t>
            </a:r>
          </a:p>
        </p:txBody>
      </p:sp>
      <p:sp>
        <p:nvSpPr>
          <p:cNvPr id="7" name="Rectangle 6"/>
          <p:cNvSpPr/>
          <p:nvPr/>
        </p:nvSpPr>
        <p:spPr>
          <a:xfrm>
            <a:off x="777240" y="1828800"/>
            <a:ext cx="274320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28800"/>
            <a:ext cx="2487168" cy="457200"/>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Provider</a:t>
            </a:r>
          </a:p>
        </p:txBody>
      </p:sp>
      <p:sp>
        <p:nvSpPr>
          <p:cNvPr id="9" name="Rectangle 8"/>
          <p:cNvSpPr/>
          <p:nvPr/>
        </p:nvSpPr>
        <p:spPr>
          <a:xfrm>
            <a:off x="3520440" y="1828800"/>
            <a:ext cx="4023360"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48456" y="1828800"/>
            <a:ext cx="3767328" cy="457200"/>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Models</a:t>
            </a:r>
          </a:p>
        </p:txBody>
      </p:sp>
      <p:sp>
        <p:nvSpPr>
          <p:cNvPr id="11" name="Rectangle 10"/>
          <p:cNvSpPr/>
          <p:nvPr/>
        </p:nvSpPr>
        <p:spPr>
          <a:xfrm>
            <a:off x="7543800" y="1828800"/>
            <a:ext cx="386791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71816" y="1828800"/>
            <a:ext cx="3611880" cy="457200"/>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Notes</a:t>
            </a:r>
          </a:p>
        </p:txBody>
      </p:sp>
      <p:sp>
        <p:nvSpPr>
          <p:cNvPr id="13" name="Rectangle 12"/>
          <p:cNvSpPr/>
          <p:nvPr/>
        </p:nvSpPr>
        <p:spPr>
          <a:xfrm>
            <a:off x="777240" y="2286000"/>
            <a:ext cx="274320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860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OpenAI</a:t>
            </a:r>
          </a:p>
        </p:txBody>
      </p:sp>
      <p:sp>
        <p:nvSpPr>
          <p:cNvPr id="15" name="Rectangle 14"/>
          <p:cNvSpPr/>
          <p:nvPr/>
        </p:nvSpPr>
        <p:spPr>
          <a:xfrm>
            <a:off x="3520440" y="2286000"/>
            <a:ext cx="402336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48456" y="2286000"/>
            <a:ext cx="376732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gpt-4.1, gpt-4.1-mini, gpt-4o</a:t>
            </a:r>
          </a:p>
        </p:txBody>
      </p:sp>
      <p:sp>
        <p:nvSpPr>
          <p:cNvPr id="17" name="Rectangle 16"/>
          <p:cNvSpPr/>
          <p:nvPr/>
        </p:nvSpPr>
        <p:spPr>
          <a:xfrm>
            <a:off x="7543800" y="2286000"/>
            <a:ext cx="3867912"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71816" y="2286000"/>
            <a:ext cx="361188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Course default: gpt-4.1-mini</a:t>
            </a:r>
          </a:p>
        </p:txBody>
      </p:sp>
      <p:sp>
        <p:nvSpPr>
          <p:cNvPr id="19" name="Rectangle 18"/>
          <p:cNvSpPr/>
          <p:nvPr/>
        </p:nvSpPr>
        <p:spPr>
          <a:xfrm>
            <a:off x="777240" y="2743200"/>
            <a:ext cx="274320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32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Google</a:t>
            </a:r>
          </a:p>
        </p:txBody>
      </p:sp>
      <p:sp>
        <p:nvSpPr>
          <p:cNvPr id="21" name="Rectangle 20"/>
          <p:cNvSpPr/>
          <p:nvPr/>
        </p:nvSpPr>
        <p:spPr>
          <a:xfrm>
            <a:off x="3520440" y="2743200"/>
            <a:ext cx="402336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48456" y="2743200"/>
            <a:ext cx="376732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Gemini 2.x Flash / Pro</a:t>
            </a:r>
          </a:p>
        </p:txBody>
      </p:sp>
      <p:sp>
        <p:nvSpPr>
          <p:cNvPr id="23" name="Rectangle 22"/>
          <p:cNvSpPr/>
          <p:nvPr/>
        </p:nvSpPr>
        <p:spPr>
          <a:xfrm>
            <a:off x="7543800" y="2743200"/>
            <a:ext cx="3867912"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71816" y="2743200"/>
            <a:ext cx="361188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Used for embeddings in Activity 7</a:t>
            </a:r>
          </a:p>
        </p:txBody>
      </p:sp>
      <p:sp>
        <p:nvSpPr>
          <p:cNvPr id="25" name="Rectangle 24"/>
          <p:cNvSpPr/>
          <p:nvPr/>
        </p:nvSpPr>
        <p:spPr>
          <a:xfrm>
            <a:off x="777240" y="3200400"/>
            <a:ext cx="274320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004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Anthropic</a:t>
            </a:r>
          </a:p>
        </p:txBody>
      </p:sp>
      <p:sp>
        <p:nvSpPr>
          <p:cNvPr id="27" name="Rectangle 26"/>
          <p:cNvSpPr/>
          <p:nvPr/>
        </p:nvSpPr>
        <p:spPr>
          <a:xfrm>
            <a:off x="3520440" y="3200400"/>
            <a:ext cx="402336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48456" y="3200400"/>
            <a:ext cx="376732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Claude (Opus, Sonnet, Haiku)</a:t>
            </a:r>
          </a:p>
        </p:txBody>
      </p:sp>
      <p:sp>
        <p:nvSpPr>
          <p:cNvPr id="29" name="Rectangle 28"/>
          <p:cNvSpPr/>
          <p:nvPr/>
        </p:nvSpPr>
        <p:spPr>
          <a:xfrm>
            <a:off x="7543800" y="3200400"/>
            <a:ext cx="3867912"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71816" y="3200400"/>
            <a:ext cx="361188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Strong reasoning and safety</a:t>
            </a:r>
          </a:p>
        </p:txBody>
      </p:sp>
      <p:sp>
        <p:nvSpPr>
          <p:cNvPr id="31" name="Rectangle 30"/>
          <p:cNvSpPr/>
          <p:nvPr/>
        </p:nvSpPr>
        <p:spPr>
          <a:xfrm>
            <a:off x="777240" y="3657600"/>
            <a:ext cx="274320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576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Meta</a:t>
            </a:r>
          </a:p>
        </p:txBody>
      </p:sp>
      <p:sp>
        <p:nvSpPr>
          <p:cNvPr id="33" name="Rectangle 32"/>
          <p:cNvSpPr/>
          <p:nvPr/>
        </p:nvSpPr>
        <p:spPr>
          <a:xfrm>
            <a:off x="3520440" y="3657600"/>
            <a:ext cx="4023360"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48456" y="3657600"/>
            <a:ext cx="376732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Llama 3.x</a:t>
            </a:r>
          </a:p>
        </p:txBody>
      </p:sp>
      <p:sp>
        <p:nvSpPr>
          <p:cNvPr id="35" name="Rectangle 34"/>
          <p:cNvSpPr/>
          <p:nvPr/>
        </p:nvSpPr>
        <p:spPr>
          <a:xfrm>
            <a:off x="7543800" y="3657600"/>
            <a:ext cx="3867912" cy="457200"/>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71816" y="3657600"/>
            <a:ext cx="361188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Open weights — self-hostable</a:t>
            </a:r>
          </a:p>
        </p:txBody>
      </p:sp>
      <p:sp>
        <p:nvSpPr>
          <p:cNvPr id="37" name="Rectangle 36"/>
          <p:cNvSpPr/>
          <p:nvPr/>
        </p:nvSpPr>
        <p:spPr>
          <a:xfrm>
            <a:off x="777240" y="4114800"/>
            <a:ext cx="274320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14800"/>
            <a:ext cx="2487168" cy="457200"/>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Mistral</a:t>
            </a:r>
          </a:p>
        </p:txBody>
      </p:sp>
      <p:sp>
        <p:nvSpPr>
          <p:cNvPr id="39" name="Rectangle 38"/>
          <p:cNvSpPr/>
          <p:nvPr/>
        </p:nvSpPr>
        <p:spPr>
          <a:xfrm>
            <a:off x="3520440" y="4114800"/>
            <a:ext cx="4023360"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48456" y="4114800"/>
            <a:ext cx="3767328"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Mistral / Mixtral</a:t>
            </a:r>
          </a:p>
        </p:txBody>
      </p:sp>
      <p:sp>
        <p:nvSpPr>
          <p:cNvPr id="41" name="Rectangle 40"/>
          <p:cNvSpPr/>
          <p:nvPr/>
        </p:nvSpPr>
        <p:spPr>
          <a:xfrm>
            <a:off x="7543800" y="4114800"/>
            <a:ext cx="3867912"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71816" y="4114800"/>
            <a:ext cx="3611880" cy="457200"/>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Open weights — EU option</a:t>
            </a:r>
          </a:p>
        </p:txBody>
      </p:sp>
      <p:sp>
        <p:nvSpPr>
          <p:cNvPr id="43" name="Rounded Rectangle 42"/>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Pick by task: small fast models for classification and guardrails, larger models for reasoning.</a:t>
            </a:r>
          </a:p>
        </p:txBody>
      </p:sp>
      <p:sp>
        <p:nvSpPr>
          <p:cNvPr id="45" name="TextBox 4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6" name="TextBox 4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7" name="TextBox 4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Model Parameters — Temperature and Friends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Settings on the chat-model node shape how the model answers — the most important is temperature.</a:t>
            </a:r>
          </a:p>
        </p:txBody>
      </p:sp>
      <p:sp>
        <p:nvSpPr>
          <p:cNvPr id="7" name="Rounded Rectangle 6"/>
          <p:cNvSpPr/>
          <p:nvPr/>
        </p:nvSpPr>
        <p:spPr>
          <a:xfrm>
            <a:off x="777240" y="1783080"/>
            <a:ext cx="3349752" cy="201168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293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385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Temperature 0 – 0.3</a:t>
            </a:r>
          </a:p>
        </p:txBody>
      </p:sp>
      <p:sp>
        <p:nvSpPr>
          <p:cNvPr id="11" name="TextBox 10"/>
          <p:cNvSpPr txBox="1"/>
          <p:nvPr/>
        </p:nvSpPr>
        <p:spPr>
          <a:xfrm>
            <a:off x="978408" y="2331720"/>
            <a:ext cx="2947416" cy="13167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Deterministic and repeatable. Use for classification, guardrails, data extraction — automation that must give the same decision twice.</a:t>
            </a:r>
          </a:p>
        </p:txBody>
      </p:sp>
      <p:sp>
        <p:nvSpPr>
          <p:cNvPr id="12" name="Rounded Rectangle 11"/>
          <p:cNvSpPr/>
          <p:nvPr/>
        </p:nvSpPr>
        <p:spPr>
          <a:xfrm>
            <a:off x="4419600" y="1783080"/>
            <a:ext cx="3349752" cy="201168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602480" y="19293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0248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5041392" y="19385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Temperature ≈ 0.7</a:t>
            </a:r>
          </a:p>
        </p:txBody>
      </p:sp>
      <p:sp>
        <p:nvSpPr>
          <p:cNvPr id="16" name="TextBox 15"/>
          <p:cNvSpPr txBox="1"/>
          <p:nvPr/>
        </p:nvSpPr>
        <p:spPr>
          <a:xfrm>
            <a:off x="4620768" y="2331720"/>
            <a:ext cx="2947416" cy="13167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Balanced — natural-sounding chat with some variety. The default for customer-facing assistants.</a:t>
            </a:r>
          </a:p>
        </p:txBody>
      </p:sp>
      <p:sp>
        <p:nvSpPr>
          <p:cNvPr id="17" name="Rounded Rectangle 16"/>
          <p:cNvSpPr/>
          <p:nvPr/>
        </p:nvSpPr>
        <p:spPr>
          <a:xfrm>
            <a:off x="8061960" y="1783080"/>
            <a:ext cx="3349752" cy="201168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44840" y="1929384"/>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4484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8683752" y="193852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Temperature 1.0 +</a:t>
            </a:r>
          </a:p>
        </p:txBody>
      </p:sp>
      <p:sp>
        <p:nvSpPr>
          <p:cNvPr id="21" name="TextBox 20"/>
          <p:cNvSpPr txBox="1"/>
          <p:nvPr/>
        </p:nvSpPr>
        <p:spPr>
          <a:xfrm>
            <a:off x="8263128" y="2331720"/>
            <a:ext cx="2947416" cy="13167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Creative and surprising. Marketing copy and brainstorming — never for decisions.</a:t>
            </a:r>
          </a:p>
        </p:txBody>
      </p:sp>
      <p:sp>
        <p:nvSpPr>
          <p:cNvPr id="22" name="Rounded Rectangle 21"/>
          <p:cNvSpPr/>
          <p:nvPr/>
        </p:nvSpPr>
        <p:spPr>
          <a:xfrm>
            <a:off x="777240" y="3931920"/>
            <a:ext cx="3349752" cy="169164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0120" y="407822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07822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25" name="TextBox 24"/>
          <p:cNvSpPr txBox="1"/>
          <p:nvPr/>
        </p:nvSpPr>
        <p:spPr>
          <a:xfrm>
            <a:off x="1399032" y="408736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Top-p</a:t>
            </a:r>
          </a:p>
        </p:txBody>
      </p:sp>
      <p:sp>
        <p:nvSpPr>
          <p:cNvPr id="26" name="TextBox 25"/>
          <p:cNvSpPr txBox="1"/>
          <p:nvPr/>
        </p:nvSpPr>
        <p:spPr>
          <a:xfrm>
            <a:off x="978408" y="4480560"/>
            <a:ext cx="2947416" cy="9966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Alternative sampling control — limits choices to the most probable tokens. Tune temperature OR top-p, not both.</a:t>
            </a:r>
          </a:p>
        </p:txBody>
      </p:sp>
      <p:sp>
        <p:nvSpPr>
          <p:cNvPr id="27" name="Rounded Rectangle 26"/>
          <p:cNvSpPr/>
          <p:nvPr/>
        </p:nvSpPr>
        <p:spPr>
          <a:xfrm>
            <a:off x="4419600" y="3931920"/>
            <a:ext cx="3349752" cy="169164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02480" y="4078224"/>
            <a:ext cx="310896" cy="310896"/>
          </a:xfrm>
          <a:prstGeom prst="ellipse">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02480" y="407822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30" name="TextBox 29"/>
          <p:cNvSpPr txBox="1"/>
          <p:nvPr/>
        </p:nvSpPr>
        <p:spPr>
          <a:xfrm>
            <a:off x="5041392" y="408736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Max tokens</a:t>
            </a:r>
          </a:p>
        </p:txBody>
      </p:sp>
      <p:sp>
        <p:nvSpPr>
          <p:cNvPr id="31" name="TextBox 30"/>
          <p:cNvSpPr txBox="1"/>
          <p:nvPr/>
        </p:nvSpPr>
        <p:spPr>
          <a:xfrm>
            <a:off x="4620768" y="4480560"/>
            <a:ext cx="2947416" cy="9966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Caps the length of the reply — protects cost and keeps chat answers short.</a:t>
            </a:r>
          </a:p>
        </p:txBody>
      </p:sp>
      <p:sp>
        <p:nvSpPr>
          <p:cNvPr id="32" name="Rounded Rectangle 31"/>
          <p:cNvSpPr/>
          <p:nvPr/>
        </p:nvSpPr>
        <p:spPr>
          <a:xfrm>
            <a:off x="8061960" y="3931920"/>
            <a:ext cx="3349752" cy="16916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244840" y="4078224"/>
            <a:ext cx="310896" cy="310896"/>
          </a:xfrm>
          <a:prstGeom prst="ellipse">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44840" y="407822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35" name="TextBox 34"/>
          <p:cNvSpPr txBox="1"/>
          <p:nvPr/>
        </p:nvSpPr>
        <p:spPr>
          <a:xfrm>
            <a:off x="8683752" y="408736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Frequency / presence penalty</a:t>
            </a:r>
          </a:p>
        </p:txBody>
      </p:sp>
      <p:sp>
        <p:nvSpPr>
          <p:cNvPr id="36" name="TextBox 35"/>
          <p:cNvSpPr txBox="1"/>
          <p:nvPr/>
        </p:nvSpPr>
        <p:spPr>
          <a:xfrm>
            <a:off x="8263128" y="4480560"/>
            <a:ext cx="2947416" cy="9966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Discourage repetition and nudge new topics — useful for long generations.</a:t>
            </a:r>
          </a:p>
        </p:txBody>
      </p:sp>
      <p:sp>
        <p:nvSpPr>
          <p:cNvPr id="37" name="Rounded Rectangle 3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For business automation keep temperature LOW — the same input should produce the same decision.</a:t>
            </a:r>
          </a:p>
        </p:txBody>
      </p:sp>
      <p:sp>
        <p:nvSpPr>
          <p:cNvPr id="39" name="TextBox 3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0" name="TextBox 3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1" name="TextBox 4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59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Memory — Why the Agent Remembers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Without memory every message is a stranger; with it, 'what about tomorrow?' makes sense.</a:t>
            </a:r>
          </a:p>
        </p:txBody>
      </p:sp>
      <p:sp>
        <p:nvSpPr>
          <p:cNvPr id="7" name="Rounded Rectangle 6"/>
          <p:cNvSpPr/>
          <p:nvPr/>
        </p:nvSpPr>
        <p:spPr>
          <a:xfrm>
            <a:off x="777240" y="1920240"/>
            <a:ext cx="2425446" cy="960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Msg 1: 'Any leave left?'</a:t>
            </a:r>
          </a:p>
          <a:p>
            <a:pPr algn="ctr">
              <a:spcBef>
                <a:spcPts val="0"/>
              </a:spcBef>
              <a:spcAft>
                <a:spcPts val="200"/>
              </a:spcAft>
            </a:pPr>
            <a:r>
              <a:rPr sz="900" b="0">
                <a:solidFill>
                  <a:srgbClr val="5B6372"/>
                </a:solidFill>
                <a:latin typeface="Arial"/>
              </a:rPr>
              <a:t>agent answers: 12 days</a:t>
            </a:r>
          </a:p>
        </p:txBody>
      </p:sp>
      <p:sp>
        <p:nvSpPr>
          <p:cNvPr id="9" name="TextBox 8"/>
          <p:cNvSpPr txBox="1"/>
          <p:nvPr/>
        </p:nvSpPr>
        <p:spPr>
          <a:xfrm>
            <a:off x="3175254"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0" name="Rounded Rectangle 9"/>
          <p:cNvSpPr/>
          <p:nvPr/>
        </p:nvSpPr>
        <p:spPr>
          <a:xfrm>
            <a:off x="3513582" y="1920240"/>
            <a:ext cx="2425446" cy="960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Stored in memory</a:t>
            </a:r>
          </a:p>
          <a:p>
            <a:pPr algn="ctr">
              <a:spcBef>
                <a:spcPts val="0"/>
              </a:spcBef>
              <a:spcAft>
                <a:spcPts val="200"/>
              </a:spcAft>
            </a:pPr>
            <a:r>
              <a:rPr sz="900" b="0">
                <a:solidFill>
                  <a:srgbClr val="5B6372"/>
                </a:solidFill>
                <a:latin typeface="Arial"/>
              </a:rPr>
              <a:t>keyed by chat / session ID</a:t>
            </a:r>
          </a:p>
        </p:txBody>
      </p:sp>
      <p:sp>
        <p:nvSpPr>
          <p:cNvPr id="12" name="TextBox 11"/>
          <p:cNvSpPr txBox="1"/>
          <p:nvPr/>
        </p:nvSpPr>
        <p:spPr>
          <a:xfrm>
            <a:off x="5911596"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3" name="Rounded Rectangle 12"/>
          <p:cNvSpPr/>
          <p:nvPr/>
        </p:nvSpPr>
        <p:spPr>
          <a:xfrm>
            <a:off x="6249924" y="1920240"/>
            <a:ext cx="2425446" cy="960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Msg 2: 'What about Bob?'</a:t>
            </a:r>
          </a:p>
          <a:p>
            <a:pPr algn="ctr">
              <a:spcBef>
                <a:spcPts val="0"/>
              </a:spcBef>
              <a:spcAft>
                <a:spcPts val="200"/>
              </a:spcAft>
            </a:pPr>
            <a:r>
              <a:rPr sz="900" b="0">
                <a:solidFill>
                  <a:srgbClr val="5B6372"/>
                </a:solidFill>
                <a:latin typeface="Arial"/>
              </a:rPr>
              <a:t>agent knows the topic is leave</a:t>
            </a:r>
          </a:p>
        </p:txBody>
      </p:sp>
      <p:sp>
        <p:nvSpPr>
          <p:cNvPr id="15" name="TextBox 14"/>
          <p:cNvSpPr txBox="1"/>
          <p:nvPr/>
        </p:nvSpPr>
        <p:spPr>
          <a:xfrm>
            <a:off x="8647938"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6" name="Rounded Rectangle 15"/>
          <p:cNvSpPr/>
          <p:nvPr/>
        </p:nvSpPr>
        <p:spPr>
          <a:xfrm>
            <a:off x="8986266" y="1920240"/>
            <a:ext cx="2425446" cy="960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Window slides</a:t>
            </a:r>
          </a:p>
          <a:p>
            <a:pPr algn="ctr">
              <a:spcBef>
                <a:spcPts val="0"/>
              </a:spcBef>
              <a:spcAft>
                <a:spcPts val="200"/>
              </a:spcAft>
            </a:pPr>
            <a:r>
              <a:rPr sz="900" b="0">
                <a:solidFill>
                  <a:srgbClr val="5B6372"/>
                </a:solidFill>
                <a:latin typeface="Arial"/>
              </a:rPr>
              <a:t>only the last N turns kept</a:t>
            </a:r>
          </a:p>
        </p:txBody>
      </p:sp>
      <p:sp>
        <p:nvSpPr>
          <p:cNvPr id="18" name="Rounded Rectangle 17"/>
          <p:cNvSpPr/>
          <p:nvPr/>
        </p:nvSpPr>
        <p:spPr>
          <a:xfrm>
            <a:off x="777240" y="3200400"/>
            <a:ext cx="5170932" cy="219456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8" y="3346704"/>
            <a:ext cx="4768596"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Simple (buffer window) memory</a:t>
            </a:r>
          </a:p>
        </p:txBody>
      </p:sp>
      <p:sp>
        <p:nvSpPr>
          <p:cNvPr id="20" name="TextBox 19"/>
          <p:cNvSpPr txBox="1"/>
          <p:nvPr/>
        </p:nvSpPr>
        <p:spPr>
          <a:xfrm>
            <a:off x="978408" y="3749040"/>
            <a:ext cx="4768596" cy="149961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Keeps the last N exchanges of THIS conversation — n8n's default, used in all course agents.</a:t>
            </a:r>
          </a:p>
        </p:txBody>
      </p:sp>
      <p:sp>
        <p:nvSpPr>
          <p:cNvPr id="21" name="Rounded Rectangle 20"/>
          <p:cNvSpPr/>
          <p:nvPr/>
        </p:nvSpPr>
        <p:spPr>
          <a:xfrm>
            <a:off x="6240780" y="3200400"/>
            <a:ext cx="5170932" cy="219456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1948" y="3346704"/>
            <a:ext cx="4768596"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Session key</a:t>
            </a:r>
          </a:p>
        </p:txBody>
      </p:sp>
      <p:sp>
        <p:nvSpPr>
          <p:cNvPr id="23" name="TextBox 22"/>
          <p:cNvSpPr txBox="1"/>
          <p:nvPr/>
        </p:nvSpPr>
        <p:spPr>
          <a:xfrm>
            <a:off x="6441948" y="3749040"/>
            <a:ext cx="4768596" cy="149961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Memory is per chat ID — two Telegram users never see each other's context.</a:t>
            </a:r>
          </a:p>
        </p:txBody>
      </p:sp>
      <p:sp>
        <p:nvSpPr>
          <p:cNvPr id="24" name="Rounded Rectangle 2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Memory is conversation context — it is NOT long-term knowledge. Facts live in tools and documents (RAG).</a:t>
            </a:r>
          </a:p>
        </p:txBody>
      </p:sp>
      <p:sp>
        <p:nvSpPr>
          <p:cNvPr id="26" name="TextBox 2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Tools — What the Agent May Do</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Attach tools to the agent's Tool input; the model decides when to call one, based on your description.</a:t>
            </a:r>
          </a:p>
        </p:txBody>
      </p:sp>
      <p:sp>
        <p:nvSpPr>
          <p:cNvPr id="7" name="Rounded Rectangle 6"/>
          <p:cNvSpPr/>
          <p:nvPr/>
        </p:nvSpPr>
        <p:spPr>
          <a:xfrm>
            <a:off x="777240" y="1783080"/>
            <a:ext cx="5170932" cy="158191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293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Data Table / Sheets tool</a:t>
            </a:r>
          </a:p>
        </p:txBody>
      </p:sp>
      <p:sp>
        <p:nvSpPr>
          <p:cNvPr id="11" name="TextBox 10"/>
          <p:cNvSpPr txBox="1"/>
          <p:nvPr/>
        </p:nvSpPr>
        <p:spPr>
          <a:xfrm>
            <a:off x="978408" y="233172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Look up structured records — the Employees table in Activity 4b.</a:t>
            </a:r>
          </a:p>
        </p:txBody>
      </p:sp>
      <p:sp>
        <p:nvSpPr>
          <p:cNvPr id="12" name="Rounded Rectangle 11"/>
          <p:cNvSpPr/>
          <p:nvPr/>
        </p:nvSpPr>
        <p:spPr>
          <a:xfrm>
            <a:off x="6240780" y="1783080"/>
            <a:ext cx="5170932" cy="1581912"/>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23660" y="19293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6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686257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Vector Store tool</a:t>
            </a:r>
          </a:p>
        </p:txBody>
      </p:sp>
      <p:sp>
        <p:nvSpPr>
          <p:cNvPr id="16" name="TextBox 15"/>
          <p:cNvSpPr txBox="1"/>
          <p:nvPr/>
        </p:nvSpPr>
        <p:spPr>
          <a:xfrm>
            <a:off x="6441948" y="233172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Retrieve document chunks for grounded answers — the knowledge_base in Activity 7.</a:t>
            </a:r>
          </a:p>
        </p:txBody>
      </p:sp>
      <p:sp>
        <p:nvSpPr>
          <p:cNvPr id="17" name="Rounded Rectangle 16"/>
          <p:cNvSpPr/>
          <p:nvPr/>
        </p:nvSpPr>
        <p:spPr>
          <a:xfrm>
            <a:off x="777240" y="3584448"/>
            <a:ext cx="5170932" cy="1581912"/>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73075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7307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1399032" y="37398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HTTP Request tool</a:t>
            </a:r>
          </a:p>
        </p:txBody>
      </p:sp>
      <p:sp>
        <p:nvSpPr>
          <p:cNvPr id="21" name="TextBox 20"/>
          <p:cNvSpPr txBox="1"/>
          <p:nvPr/>
        </p:nvSpPr>
        <p:spPr>
          <a:xfrm>
            <a:off x="978408" y="413308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Call any external API mid-conversation — prices, weather, CRM.</a:t>
            </a:r>
          </a:p>
        </p:txBody>
      </p:sp>
      <p:sp>
        <p:nvSpPr>
          <p:cNvPr id="22" name="Rounded Rectangle 21"/>
          <p:cNvSpPr/>
          <p:nvPr/>
        </p:nvSpPr>
        <p:spPr>
          <a:xfrm>
            <a:off x="6240780" y="3584448"/>
            <a:ext cx="5170932" cy="1581912"/>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3660" y="373075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3660" y="37307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6862572" y="37398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Sub-workflow tool</a:t>
            </a:r>
          </a:p>
        </p:txBody>
      </p:sp>
      <p:sp>
        <p:nvSpPr>
          <p:cNvPr id="26" name="TextBox 25"/>
          <p:cNvSpPr txBox="1"/>
          <p:nvPr/>
        </p:nvSpPr>
        <p:spPr>
          <a:xfrm>
            <a:off x="6441948" y="413308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Wrap an entire n8n workflow as one callable tool — your own logic, on demand.</a:t>
            </a:r>
          </a:p>
        </p:txBody>
      </p:sp>
      <p:sp>
        <p:nvSpPr>
          <p:cNvPr id="27" name="Rounded Rectangle 2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The tool DESCRIPTION is how the agent knows when to call it — write it for the model, not for a developer.</a:t>
            </a:r>
          </a:p>
        </p:txBody>
      </p:sp>
      <p:sp>
        <p:nvSpPr>
          <p:cNvPr id="29" name="TextBox 2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61</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Instructions — The Four Parts That Constrain</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system message is always in force. Every good agent instruction in this course states four things.</a:t>
            </a:r>
          </a:p>
        </p:txBody>
      </p:sp>
      <p:sp>
        <p:nvSpPr>
          <p:cNvPr id="7" name="Rounded Rectangle 6"/>
          <p:cNvSpPr/>
          <p:nvPr/>
        </p:nvSpPr>
        <p:spPr>
          <a:xfrm>
            <a:off x="777240" y="1783080"/>
            <a:ext cx="5170932" cy="181051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293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Identity</a:t>
            </a:r>
          </a:p>
        </p:txBody>
      </p:sp>
      <p:sp>
        <p:nvSpPr>
          <p:cNvPr id="11" name="TextBox 10"/>
          <p:cNvSpPr txBox="1"/>
          <p:nvPr/>
        </p:nvSpPr>
        <p:spPr>
          <a:xfrm>
            <a:off x="978408" y="2331720"/>
            <a:ext cx="476859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Who the agent is and what it must never do. 'You are HR Buddy, the HR assistant for staff of Acme Pte Ltd.'</a:t>
            </a:r>
          </a:p>
        </p:txBody>
      </p:sp>
      <p:sp>
        <p:nvSpPr>
          <p:cNvPr id="12" name="Rounded Rectangle 11"/>
          <p:cNvSpPr/>
          <p:nvPr/>
        </p:nvSpPr>
        <p:spPr>
          <a:xfrm>
            <a:off x="6240780" y="1783080"/>
            <a:ext cx="5170932" cy="1810512"/>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23660" y="1929384"/>
            <a:ext cx="310896" cy="310896"/>
          </a:xfrm>
          <a:prstGeom prst="ellipse">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6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686257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Source rules</a:t>
            </a:r>
          </a:p>
        </p:txBody>
      </p:sp>
      <p:sp>
        <p:nvSpPr>
          <p:cNvPr id="16" name="TextBox 15"/>
          <p:cNvSpPr txBox="1"/>
          <p:nvPr/>
        </p:nvSpPr>
        <p:spPr>
          <a:xfrm>
            <a:off x="6441948" y="2331720"/>
            <a:ext cx="476859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Where answers come from. 'Answer ONLY from the Employees tool / the uploaded documents.'</a:t>
            </a:r>
          </a:p>
        </p:txBody>
      </p:sp>
      <p:sp>
        <p:nvSpPr>
          <p:cNvPr id="17" name="Rounded Rectangle 16"/>
          <p:cNvSpPr/>
          <p:nvPr/>
        </p:nvSpPr>
        <p:spPr>
          <a:xfrm>
            <a:off x="777240" y="3813048"/>
            <a:ext cx="5170932" cy="1810512"/>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959352"/>
            <a:ext cx="310896" cy="310896"/>
          </a:xfrm>
          <a:prstGeom prst="ellipse">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1399032" y="39684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Refusals</a:t>
            </a:r>
          </a:p>
        </p:txBody>
      </p:sp>
      <p:sp>
        <p:nvSpPr>
          <p:cNvPr id="21" name="TextBox 20"/>
          <p:cNvSpPr txBox="1"/>
          <p:nvPr/>
        </p:nvSpPr>
        <p:spPr>
          <a:xfrm>
            <a:off x="978408" y="4361688"/>
            <a:ext cx="476859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What is out of bounds, stated positively. 'Do not reveal salaries or another person's records.'</a:t>
            </a:r>
          </a:p>
        </p:txBody>
      </p:sp>
      <p:sp>
        <p:nvSpPr>
          <p:cNvPr id="22" name="Rounded Rectangle 21"/>
          <p:cNvSpPr/>
          <p:nvPr/>
        </p:nvSpPr>
        <p:spPr>
          <a:xfrm>
            <a:off x="6240780" y="3813048"/>
            <a:ext cx="5170932" cy="1810512"/>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3660" y="395935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3660" y="39593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6862572" y="39684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Escalation</a:t>
            </a:r>
          </a:p>
        </p:txBody>
      </p:sp>
      <p:sp>
        <p:nvSpPr>
          <p:cNvPr id="26" name="TextBox 25"/>
          <p:cNvSpPr txBox="1"/>
          <p:nvPr/>
        </p:nvSpPr>
        <p:spPr>
          <a:xfrm>
            <a:off x="6441948" y="4361688"/>
            <a:ext cx="4768596" cy="11155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What to do at the boundary. 'If unsure, say so and direct the user to hr@acme.com.'</a:t>
            </a:r>
          </a:p>
        </p:txBody>
      </p:sp>
      <p:sp>
        <p:nvSpPr>
          <p:cNvPr id="27" name="Rounded Rectangle 2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Vague instructions produce confident wrong answers — every rule you skip, the model improvises.</a:t>
            </a:r>
          </a:p>
        </p:txBody>
      </p:sp>
      <p:sp>
        <p:nvSpPr>
          <p:cNvPr id="29" name="TextBox 2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Good vs Bad Instructions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same bot, two system messages — one is testable, one is a hope.</a:t>
            </a:r>
          </a:p>
        </p:txBody>
      </p:sp>
      <p:sp>
        <p:nvSpPr>
          <p:cNvPr id="7" name="Rounded Rectangle 6"/>
          <p:cNvSpPr/>
          <p:nvPr/>
        </p:nvSpPr>
        <p:spPr>
          <a:xfrm>
            <a:off x="777240" y="1828800"/>
            <a:ext cx="5193792" cy="356616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011680"/>
            <a:ext cx="4663440" cy="274320"/>
          </a:xfrm>
          <a:prstGeom prst="rect">
            <a:avLst/>
          </a:prstGeom>
          <a:noFill/>
        </p:spPr>
        <p:txBody>
          <a:bodyPr wrap="square" anchor="t" lIns="0" rIns="0" tIns="0" bIns="0">
            <a:spAutoFit/>
          </a:bodyPr>
          <a:lstStyle/>
          <a:p>
            <a:pPr algn="l">
              <a:spcBef>
                <a:spcPts val="0"/>
              </a:spcBef>
              <a:spcAft>
                <a:spcPts val="400"/>
              </a:spcAft>
            </a:pPr>
            <a:r>
              <a:rPr sz="1250" b="1">
                <a:solidFill>
                  <a:srgbClr val="C62F2F"/>
                </a:solidFill>
                <a:latin typeface="Arial"/>
              </a:rPr>
              <a:t>✗  TOO VAGUE</a:t>
            </a:r>
          </a:p>
        </p:txBody>
      </p:sp>
      <p:sp>
        <p:nvSpPr>
          <p:cNvPr id="9" name="TextBox 8"/>
          <p:cNvSpPr txBox="1"/>
          <p:nvPr/>
        </p:nvSpPr>
        <p:spPr>
          <a:xfrm>
            <a:off x="1051560" y="2377440"/>
            <a:ext cx="4663440" cy="914400"/>
          </a:xfrm>
          <a:prstGeom prst="rect">
            <a:avLst/>
          </a:prstGeom>
          <a:noFill/>
        </p:spPr>
        <p:txBody>
          <a:bodyPr wrap="square" anchor="t" lIns="0" rIns="0" tIns="0" bIns="0">
            <a:spAutoFit/>
          </a:bodyPr>
          <a:lstStyle/>
          <a:p>
            <a:pPr algn="l">
              <a:spcBef>
                <a:spcPts val="0"/>
              </a:spcBef>
              <a:spcAft>
                <a:spcPts val="400"/>
              </a:spcAft>
            </a:pPr>
            <a:r>
              <a:rPr sz="1300" b="0">
                <a:solidFill>
                  <a:srgbClr val="161B26"/>
                </a:solidFill>
                <a:latin typeface="Arial"/>
              </a:rPr>
              <a:t>"You are a helpful assistant. Answer the user's questions politely."</a:t>
            </a:r>
          </a:p>
        </p:txBody>
      </p:sp>
      <p:sp>
        <p:nvSpPr>
          <p:cNvPr id="10" name="TextBox 9"/>
          <p:cNvSpPr txBox="1"/>
          <p:nvPr/>
        </p:nvSpPr>
        <p:spPr>
          <a:xfrm>
            <a:off x="1051560" y="3383280"/>
            <a:ext cx="4663440" cy="1828800"/>
          </a:xfrm>
          <a:prstGeom prst="rect">
            <a:avLst/>
          </a:prstGeom>
          <a:noFill/>
        </p:spPr>
        <p:txBody>
          <a:bodyPr wrap="square" anchor="t" lIns="0" rIns="0" tIns="0" bIns="0">
            <a:spAutoFit/>
          </a:bodyPr>
          <a:lstStyle/>
          <a:p>
            <a:pPr algn="l">
              <a:spcBef>
                <a:spcPts val="0"/>
              </a:spcBef>
              <a:spcAft>
                <a:spcPts val="600"/>
              </a:spcAft>
            </a:pPr>
            <a:r>
              <a:rPr sz="1100" b="0">
                <a:solidFill>
                  <a:srgbClr val="5B6372"/>
                </a:solidFill>
                <a:latin typeface="Arial"/>
              </a:rPr>
              <a:t>No identity · no sources · no refusals · no escalation.</a:t>
            </a:r>
          </a:p>
          <a:p>
            <a:pPr algn="l">
              <a:spcBef>
                <a:spcPts val="0"/>
              </a:spcBef>
              <a:spcAft>
                <a:spcPts val="600"/>
              </a:spcAft>
            </a:pPr>
            <a:r>
              <a:rPr sz="1100" b="0">
                <a:solidFill>
                  <a:srgbClr val="5B6372"/>
                </a:solidFill>
                <a:latin typeface="Arial"/>
              </a:rPr>
              <a:t>It will happily invent leave balances and reveal other people's data — politely.</a:t>
            </a:r>
          </a:p>
        </p:txBody>
      </p:sp>
      <p:sp>
        <p:nvSpPr>
          <p:cNvPr id="11" name="Rounded Rectangle 10"/>
          <p:cNvSpPr/>
          <p:nvPr/>
        </p:nvSpPr>
        <p:spPr>
          <a:xfrm>
            <a:off x="6217920" y="1828800"/>
            <a:ext cx="5193792" cy="356616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011680"/>
            <a:ext cx="4663440" cy="274320"/>
          </a:xfrm>
          <a:prstGeom prst="rect">
            <a:avLst/>
          </a:prstGeom>
          <a:noFill/>
        </p:spPr>
        <p:txBody>
          <a:bodyPr wrap="square" anchor="t" lIns="0" rIns="0" tIns="0" bIns="0">
            <a:spAutoFit/>
          </a:bodyPr>
          <a:lstStyle/>
          <a:p>
            <a:pPr algn="l">
              <a:spcBef>
                <a:spcPts val="0"/>
              </a:spcBef>
              <a:spcAft>
                <a:spcPts val="400"/>
              </a:spcAft>
            </a:pPr>
            <a:r>
              <a:rPr sz="1250" b="1">
                <a:solidFill>
                  <a:srgbClr val="127A3E"/>
                </a:solidFill>
                <a:latin typeface="Arial"/>
              </a:rPr>
              <a:t>✓  CONSTRAINED</a:t>
            </a:r>
          </a:p>
        </p:txBody>
      </p:sp>
      <p:sp>
        <p:nvSpPr>
          <p:cNvPr id="13" name="TextBox 12"/>
          <p:cNvSpPr txBox="1"/>
          <p:nvPr/>
        </p:nvSpPr>
        <p:spPr>
          <a:xfrm>
            <a:off x="6492240" y="2377440"/>
            <a:ext cx="4709160" cy="2926080"/>
          </a:xfrm>
          <a:prstGeom prst="rect">
            <a:avLst/>
          </a:prstGeom>
          <a:noFill/>
        </p:spPr>
        <p:txBody>
          <a:bodyPr wrap="square" anchor="t" lIns="0" rIns="0" tIns="0" bIns="0">
            <a:spAutoFit/>
          </a:bodyPr>
          <a:lstStyle/>
          <a:p>
            <a:pPr algn="l">
              <a:spcBef>
                <a:spcPts val="0"/>
              </a:spcBef>
              <a:spcAft>
                <a:spcPts val="500"/>
              </a:spcAft>
            </a:pPr>
            <a:r>
              <a:rPr sz="1200" b="0">
                <a:solidFill>
                  <a:srgbClr val="161B26"/>
                </a:solidFill>
                <a:latin typeface="Arial"/>
              </a:rPr>
              <a:t>"You are HR Buddy, the HR assistant for Acme staff.</a:t>
            </a:r>
          </a:p>
          <a:p>
            <a:pPr algn="l">
              <a:spcBef>
                <a:spcPts val="0"/>
              </a:spcBef>
              <a:spcAft>
                <a:spcPts val="500"/>
              </a:spcAft>
            </a:pPr>
            <a:r>
              <a:rPr sz="1200" b="0">
                <a:solidFill>
                  <a:srgbClr val="161B26"/>
                </a:solidFill>
                <a:latin typeface="Arial"/>
              </a:rPr>
              <a:t>Answer only questions on leave policy, payroll dates and claims.</a:t>
            </a:r>
          </a:p>
          <a:p>
            <a:pPr algn="l">
              <a:spcBef>
                <a:spcPts val="0"/>
              </a:spcBef>
              <a:spcAft>
                <a:spcPts val="500"/>
              </a:spcAft>
            </a:pPr>
            <a:r>
              <a:rPr sz="1200" b="0">
                <a:solidFill>
                  <a:srgbClr val="161B26"/>
                </a:solidFill>
                <a:latin typeface="Arial"/>
              </a:rPr>
              <a:t>Use the Employees tool for any staff lookup — never answer from general knowledge.</a:t>
            </a:r>
          </a:p>
          <a:p>
            <a:pPr algn="l">
              <a:spcBef>
                <a:spcPts val="0"/>
              </a:spcBef>
              <a:spcAft>
                <a:spcPts val="500"/>
              </a:spcAft>
            </a:pPr>
            <a:r>
              <a:rPr sz="1200" b="0">
                <a:solidFill>
                  <a:srgbClr val="161B26"/>
                </a:solidFill>
                <a:latin typeface="Arial"/>
              </a:rPr>
              <a:t>Never reveal salaries or another employee's personal data.</a:t>
            </a:r>
          </a:p>
          <a:p>
            <a:pPr algn="l">
              <a:spcBef>
                <a:spcPts val="0"/>
              </a:spcBef>
              <a:spcAft>
                <a:spcPts val="500"/>
              </a:spcAft>
            </a:pPr>
            <a:r>
              <a:rPr sz="1200" b="0">
                <a:solidFill>
                  <a:srgbClr val="161B26"/>
                </a:solidFill>
                <a:latin typeface="Arial"/>
              </a:rPr>
              <a:t>If you are not sure, say so and direct the user to hr@acme.com."</a:t>
            </a:r>
          </a:p>
        </p:txBody>
      </p:sp>
      <p:sp>
        <p:nvSpPr>
          <p:cNvPr id="14" name="Rounded Rectangle 1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Identity · source rules · refusals · escalation — you can test each line by trying to break it.</a:t>
            </a:r>
          </a:p>
        </p:txBody>
      </p:sp>
      <p:sp>
        <p:nvSpPr>
          <p:cNvPr id="16" name="TextBox 1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63</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MCP — Model Context Protocol</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An open standard that gives agents a common plug for tools and data — instead of one custom integration per pair.</a:t>
            </a:r>
          </a:p>
        </p:txBody>
      </p:sp>
      <p:sp>
        <p:nvSpPr>
          <p:cNvPr id="7" name="Rounded Rectangle 6"/>
          <p:cNvSpPr/>
          <p:nvPr/>
        </p:nvSpPr>
        <p:spPr>
          <a:xfrm>
            <a:off x="777240" y="1920240"/>
            <a:ext cx="2425446" cy="96012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AI Agent</a:t>
            </a:r>
          </a:p>
          <a:p>
            <a:pPr algn="ctr">
              <a:spcBef>
                <a:spcPts val="0"/>
              </a:spcBef>
              <a:spcAft>
                <a:spcPts val="200"/>
              </a:spcAft>
            </a:pPr>
            <a:r>
              <a:rPr sz="900" b="0">
                <a:solidFill>
                  <a:srgbClr val="5B6372"/>
                </a:solidFill>
                <a:latin typeface="Arial"/>
              </a:rPr>
              <a:t>any MCP-capable client</a:t>
            </a:r>
          </a:p>
        </p:txBody>
      </p:sp>
      <p:sp>
        <p:nvSpPr>
          <p:cNvPr id="9" name="TextBox 8"/>
          <p:cNvSpPr txBox="1"/>
          <p:nvPr/>
        </p:nvSpPr>
        <p:spPr>
          <a:xfrm>
            <a:off x="3175254"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0" name="Rounded Rectangle 9"/>
          <p:cNvSpPr/>
          <p:nvPr/>
        </p:nvSpPr>
        <p:spPr>
          <a:xfrm>
            <a:off x="3513582" y="1920240"/>
            <a:ext cx="2425446" cy="96012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MCP Client</a:t>
            </a:r>
          </a:p>
          <a:p>
            <a:pPr algn="ctr">
              <a:spcBef>
                <a:spcPts val="0"/>
              </a:spcBef>
              <a:spcAft>
                <a:spcPts val="200"/>
              </a:spcAft>
            </a:pPr>
            <a:r>
              <a:rPr sz="900" b="0">
                <a:solidFill>
                  <a:srgbClr val="5B6372"/>
                </a:solidFill>
                <a:latin typeface="Arial"/>
              </a:rPr>
              <a:t>speaks the protocol</a:t>
            </a:r>
          </a:p>
        </p:txBody>
      </p:sp>
      <p:sp>
        <p:nvSpPr>
          <p:cNvPr id="12" name="TextBox 11"/>
          <p:cNvSpPr txBox="1"/>
          <p:nvPr/>
        </p:nvSpPr>
        <p:spPr>
          <a:xfrm>
            <a:off x="5911596"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3" name="Rounded Rectangle 12"/>
          <p:cNvSpPr/>
          <p:nvPr/>
        </p:nvSpPr>
        <p:spPr>
          <a:xfrm>
            <a:off x="6249924" y="1920240"/>
            <a:ext cx="2425446" cy="96012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MCP Server</a:t>
            </a:r>
          </a:p>
          <a:p>
            <a:pPr algn="ctr">
              <a:spcBef>
                <a:spcPts val="0"/>
              </a:spcBef>
              <a:spcAft>
                <a:spcPts val="200"/>
              </a:spcAft>
            </a:pPr>
            <a:r>
              <a:rPr sz="900" b="0">
                <a:solidFill>
                  <a:srgbClr val="5B6372"/>
                </a:solidFill>
                <a:latin typeface="Arial"/>
              </a:rPr>
              <a:t>exposes tools + data</a:t>
            </a:r>
          </a:p>
        </p:txBody>
      </p:sp>
      <p:sp>
        <p:nvSpPr>
          <p:cNvPr id="15" name="TextBox 14"/>
          <p:cNvSpPr txBox="1"/>
          <p:nvPr/>
        </p:nvSpPr>
        <p:spPr>
          <a:xfrm>
            <a:off x="8647938"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6" name="Rounded Rectangle 15"/>
          <p:cNvSpPr/>
          <p:nvPr/>
        </p:nvSpPr>
        <p:spPr>
          <a:xfrm>
            <a:off x="8986266" y="1920240"/>
            <a:ext cx="2425446" cy="96012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Your Systems</a:t>
            </a:r>
          </a:p>
          <a:p>
            <a:pPr algn="ctr">
              <a:spcBef>
                <a:spcPts val="0"/>
              </a:spcBef>
              <a:spcAft>
                <a:spcPts val="200"/>
              </a:spcAft>
            </a:pPr>
            <a:r>
              <a:rPr sz="900" b="0">
                <a:solidFill>
                  <a:srgbClr val="5B6372"/>
                </a:solidFill>
                <a:latin typeface="Arial"/>
              </a:rPr>
              <a:t>databases, APIs, files</a:t>
            </a:r>
          </a:p>
        </p:txBody>
      </p:sp>
      <p:sp>
        <p:nvSpPr>
          <p:cNvPr id="18" name="Rounded Rectangle 17"/>
          <p:cNvSpPr/>
          <p:nvPr/>
        </p:nvSpPr>
        <p:spPr>
          <a:xfrm>
            <a:off x="777240" y="3200400"/>
            <a:ext cx="5170932" cy="233172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8" y="3346704"/>
            <a:ext cx="4768596"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Without MCP</a:t>
            </a:r>
          </a:p>
        </p:txBody>
      </p:sp>
      <p:sp>
        <p:nvSpPr>
          <p:cNvPr id="20" name="TextBox 19"/>
          <p:cNvSpPr txBox="1"/>
          <p:nvPr/>
        </p:nvSpPr>
        <p:spPr>
          <a:xfrm>
            <a:off x="978408" y="3749040"/>
            <a:ext cx="476859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Every agent × every tool needs its own custom integration — N agents and M tools means N × M connectors to build and maintain.</a:t>
            </a:r>
          </a:p>
        </p:txBody>
      </p:sp>
      <p:sp>
        <p:nvSpPr>
          <p:cNvPr id="21" name="Rounded Rectangle 20"/>
          <p:cNvSpPr/>
          <p:nvPr/>
        </p:nvSpPr>
        <p:spPr>
          <a:xfrm>
            <a:off x="6240780" y="3200400"/>
            <a:ext cx="5170932" cy="233172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1948" y="3346704"/>
            <a:ext cx="4768596"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With MCP</a:t>
            </a:r>
          </a:p>
        </p:txBody>
      </p:sp>
      <p:sp>
        <p:nvSpPr>
          <p:cNvPr id="23" name="TextBox 22"/>
          <p:cNvSpPr txBox="1"/>
          <p:nvPr/>
        </p:nvSpPr>
        <p:spPr>
          <a:xfrm>
            <a:off x="6441948" y="3749040"/>
            <a:ext cx="476859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Build ONE MCP server per system; any MCP-capable agent can use it. N + M pieces, and tools become reusable across agents.</a:t>
            </a:r>
          </a:p>
        </p:txBody>
      </p:sp>
      <p:sp>
        <p:nvSpPr>
          <p:cNvPr id="24" name="Rounded Rectangle 2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MCP is like USB-C for AI tools — one connector, many devices.</a:t>
            </a:r>
          </a:p>
        </p:txBody>
      </p:sp>
      <p:sp>
        <p:nvSpPr>
          <p:cNvPr id="26" name="TextBox 2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2 · AI AGENTS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MCP in n8n</a:t>
            </a:r>
          </a:p>
        </p:txBody>
      </p:sp>
      <p:sp>
        <p:nvSpPr>
          <p:cNvPr id="6" name="Rectangle 5"/>
          <p:cNvSpPr/>
          <p:nvPr/>
        </p:nvSpPr>
        <p:spPr>
          <a:xfrm>
            <a:off x="777240" y="1783080"/>
            <a:ext cx="5193792"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193792" cy="457200"/>
          </a:xfrm>
          <a:prstGeom prst="rect">
            <a:avLst/>
          </a:prstGeom>
          <a:noFill/>
        </p:spPr>
        <p:txBody>
          <a:bodyPr wrap="square" anchor="ctr" lIns="0" rIns="0" tIns="0" bIns="0">
            <a:spAutoFit/>
          </a:bodyPr>
          <a:lstStyle/>
          <a:p>
            <a:pPr algn="ctr">
              <a:spcBef>
                <a:spcPts val="0"/>
              </a:spcBef>
              <a:spcAft>
                <a:spcPts val="400"/>
              </a:spcAft>
            </a:pPr>
            <a:r>
              <a:rPr sz="1400" b="1">
                <a:solidFill>
                  <a:srgbClr val="FFFFFF"/>
                </a:solidFill>
                <a:latin typeface="Arial"/>
              </a:rPr>
              <a:t>MCP SERVER TRIGGER — n8n serves tools</a:t>
            </a:r>
          </a:p>
        </p:txBody>
      </p:sp>
      <p:sp>
        <p:nvSpPr>
          <p:cNvPr id="8" name="Rectangle 7"/>
          <p:cNvSpPr/>
          <p:nvPr/>
        </p:nvSpPr>
        <p:spPr>
          <a:xfrm>
            <a:off x="777240" y="2240280"/>
            <a:ext cx="5193792" cy="3383280"/>
          </a:xfrm>
          <a:prstGeom prst="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68880"/>
            <a:ext cx="4645152" cy="3017520"/>
          </a:xfrm>
          <a:prstGeom prst="rect">
            <a:avLst/>
          </a:prstGeom>
          <a:noFill/>
        </p:spPr>
        <p:txBody>
          <a:bodyPr wrap="square" lIns="0" rIns="0">
            <a:spAutoFit/>
          </a:bodyPr>
          <a:lstStyle/>
          <a:p>
            <a:pPr>
              <a:spcBef>
                <a:spcPts val="0"/>
              </a:spcBef>
              <a:spcAft>
                <a:spcPts val="900"/>
              </a:spcAft>
            </a:pPr>
            <a:r>
              <a:rPr sz="1350" b="1">
                <a:solidFill>
                  <a:srgbClr val="7C3AED"/>
                </a:solidFill>
                <a:latin typeface="Arial"/>
              </a:rPr>
              <a:t>•  </a:t>
            </a:r>
            <a:r>
              <a:rPr sz="1350">
                <a:solidFill>
                  <a:srgbClr val="161B26"/>
                </a:solidFill>
                <a:latin typeface="Arial"/>
              </a:rPr>
              <a:t>Expose your n8n workflows AS tools over MCP.</a:t>
            </a:r>
          </a:p>
          <a:p>
            <a:pPr>
              <a:spcBef>
                <a:spcPts val="0"/>
              </a:spcBef>
              <a:spcAft>
                <a:spcPts val="900"/>
              </a:spcAft>
            </a:pPr>
            <a:r>
              <a:rPr sz="1350" b="1">
                <a:solidFill>
                  <a:srgbClr val="7C3AED"/>
                </a:solidFill>
                <a:latin typeface="Arial"/>
              </a:rPr>
              <a:t>•  </a:t>
            </a:r>
            <a:r>
              <a:rPr sz="1350">
                <a:solidFill>
                  <a:srgbClr val="161B26"/>
                </a:solidFill>
                <a:latin typeface="Arial"/>
              </a:rPr>
              <a:t>Claude, IDEs or other agents call your flows directly.</a:t>
            </a:r>
          </a:p>
          <a:p>
            <a:pPr>
              <a:spcBef>
                <a:spcPts val="0"/>
              </a:spcBef>
              <a:spcAft>
                <a:spcPts val="900"/>
              </a:spcAft>
            </a:pPr>
            <a:r>
              <a:rPr sz="1350" b="1">
                <a:solidFill>
                  <a:srgbClr val="7C3AED"/>
                </a:solidFill>
                <a:latin typeface="Arial"/>
              </a:rPr>
              <a:t>•  </a:t>
            </a:r>
            <a:r>
              <a:rPr sz="1350">
                <a:solidFill>
                  <a:srgbClr val="161B26"/>
                </a:solidFill>
                <a:latin typeface="Arial"/>
              </a:rPr>
              <a:t>n8n becomes the tool layer for any MCP client.</a:t>
            </a:r>
          </a:p>
          <a:p>
            <a:pPr>
              <a:spcBef>
                <a:spcPts val="0"/>
              </a:spcBef>
              <a:spcAft>
                <a:spcPts val="900"/>
              </a:spcAft>
            </a:pPr>
            <a:r>
              <a:rPr sz="1350" b="1">
                <a:solidFill>
                  <a:srgbClr val="7C3AED"/>
                </a:solidFill>
                <a:latin typeface="Arial"/>
              </a:rPr>
              <a:t>•  </a:t>
            </a:r>
            <a:r>
              <a:rPr sz="1350">
                <a:solidFill>
                  <a:srgbClr val="161B26"/>
                </a:solidFill>
                <a:latin typeface="Arial"/>
              </a:rPr>
              <a:t>Auth via bearer token on the server URL.</a:t>
            </a:r>
          </a:p>
        </p:txBody>
      </p:sp>
      <p:sp>
        <p:nvSpPr>
          <p:cNvPr id="10" name="Rectangle 9"/>
          <p:cNvSpPr/>
          <p:nvPr/>
        </p:nvSpPr>
        <p:spPr>
          <a:xfrm>
            <a:off x="6217920" y="1783080"/>
            <a:ext cx="519379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783080"/>
            <a:ext cx="5193792" cy="457200"/>
          </a:xfrm>
          <a:prstGeom prst="rect">
            <a:avLst/>
          </a:prstGeom>
          <a:noFill/>
        </p:spPr>
        <p:txBody>
          <a:bodyPr wrap="square" anchor="ctr" lIns="0" rIns="0" tIns="0" bIns="0">
            <a:spAutoFit/>
          </a:bodyPr>
          <a:lstStyle/>
          <a:p>
            <a:pPr algn="ctr">
              <a:spcBef>
                <a:spcPts val="0"/>
              </a:spcBef>
              <a:spcAft>
                <a:spcPts val="400"/>
              </a:spcAft>
            </a:pPr>
            <a:r>
              <a:rPr sz="1400" b="1">
                <a:solidFill>
                  <a:srgbClr val="FFFFFF"/>
                </a:solidFill>
                <a:latin typeface="Arial"/>
              </a:rPr>
              <a:t>MCP CLIENT TOOL — n8n consumes tools</a:t>
            </a:r>
          </a:p>
        </p:txBody>
      </p:sp>
      <p:sp>
        <p:nvSpPr>
          <p:cNvPr id="12" name="Rectangle 11"/>
          <p:cNvSpPr/>
          <p:nvPr/>
        </p:nvSpPr>
        <p:spPr>
          <a:xfrm>
            <a:off x="6217920" y="2240280"/>
            <a:ext cx="5193792" cy="3383280"/>
          </a:xfrm>
          <a:prstGeom prst="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468880"/>
            <a:ext cx="4645152" cy="3017520"/>
          </a:xfrm>
          <a:prstGeom prst="rect">
            <a:avLst/>
          </a:prstGeom>
          <a:noFill/>
        </p:spPr>
        <p:txBody>
          <a:bodyPr wrap="square" lIns="0" rIns="0">
            <a:spAutoFit/>
          </a:bodyPr>
          <a:lstStyle/>
          <a:p>
            <a:pPr>
              <a:spcBef>
                <a:spcPts val="0"/>
              </a:spcBef>
              <a:spcAft>
                <a:spcPts val="900"/>
              </a:spcAft>
            </a:pPr>
            <a:r>
              <a:rPr sz="1350" b="1">
                <a:solidFill>
                  <a:srgbClr val="1F6FEB"/>
                </a:solidFill>
                <a:latin typeface="Arial"/>
              </a:rPr>
              <a:t>•  </a:t>
            </a:r>
            <a:r>
              <a:rPr sz="1350">
                <a:solidFill>
                  <a:srgbClr val="161B26"/>
                </a:solidFill>
                <a:latin typeface="Arial"/>
              </a:rPr>
              <a:t>Attach external MCP servers to your n8n AI Agent.</a:t>
            </a:r>
          </a:p>
          <a:p>
            <a:pPr>
              <a:spcBef>
                <a:spcPts val="0"/>
              </a:spcBef>
              <a:spcAft>
                <a:spcPts val="900"/>
              </a:spcAft>
            </a:pPr>
            <a:r>
              <a:rPr sz="1350" b="1">
                <a:solidFill>
                  <a:srgbClr val="1F6FEB"/>
                </a:solidFill>
                <a:latin typeface="Arial"/>
              </a:rPr>
              <a:t>•  </a:t>
            </a:r>
            <a:r>
              <a:rPr sz="1350">
                <a:solidFill>
                  <a:srgbClr val="161B26"/>
                </a:solidFill>
                <a:latin typeface="Arial"/>
              </a:rPr>
              <a:t>The agent gains their tools without custom nodes.</a:t>
            </a:r>
          </a:p>
          <a:p>
            <a:pPr>
              <a:spcBef>
                <a:spcPts val="0"/>
              </a:spcBef>
              <a:spcAft>
                <a:spcPts val="900"/>
              </a:spcAft>
            </a:pPr>
            <a:r>
              <a:rPr sz="1350" b="1">
                <a:solidFill>
                  <a:srgbClr val="1F6FEB"/>
                </a:solidFill>
                <a:latin typeface="Arial"/>
              </a:rPr>
              <a:t>•  </a:t>
            </a:r>
            <a:r>
              <a:rPr sz="1350">
                <a:solidFill>
                  <a:srgbClr val="161B26"/>
                </a:solidFill>
                <a:latin typeface="Arial"/>
              </a:rPr>
              <a:t>Mix MCP tools with native n8n tools freely.</a:t>
            </a:r>
          </a:p>
          <a:p>
            <a:pPr>
              <a:spcBef>
                <a:spcPts val="0"/>
              </a:spcBef>
              <a:spcAft>
                <a:spcPts val="900"/>
              </a:spcAft>
            </a:pPr>
            <a:r>
              <a:rPr sz="1350" b="1">
                <a:solidFill>
                  <a:srgbClr val="1F6FEB"/>
                </a:solidFill>
                <a:latin typeface="Arial"/>
              </a:rPr>
              <a:t>•  </a:t>
            </a:r>
            <a:r>
              <a:rPr sz="1350">
                <a:solidFill>
                  <a:srgbClr val="161B26"/>
                </a:solidFill>
                <a:latin typeface="Arial"/>
              </a:rPr>
              <a:t>Same agent loop — more reach.</a:t>
            </a:r>
          </a:p>
        </p:txBody>
      </p:sp>
      <p:sp>
        <p:nvSpPr>
          <p:cNvPr id="14" name="Rounded Rectangle 1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Two directions, one protocol: n8n can serve tools to other agents, and borrow tools for its own.</a:t>
            </a:r>
          </a:p>
        </p:txBody>
      </p:sp>
      <p:sp>
        <p:nvSpPr>
          <p:cNvPr id="16" name="TextBox 1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65</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TOPIC 2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4a — An HR Policy Chatbot on Telegram</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What is a chatbot? An agent behind a chat channel. Your first agent, Ava, answers staff questions on company HR policies.</a:t>
            </a:r>
          </a:p>
        </p:txBody>
      </p:sp>
      <p:sp>
        <p:nvSpPr>
          <p:cNvPr id="7" name="Rounded Rectangle 6"/>
          <p:cNvSpPr/>
          <p:nvPr/>
        </p:nvSpPr>
        <p:spPr>
          <a:xfrm>
            <a:off x="777240" y="1828800"/>
            <a:ext cx="2425446" cy="86868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28800"/>
            <a:ext cx="2242566" cy="86868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Telegram Trigger</a:t>
            </a:r>
          </a:p>
          <a:p>
            <a:pPr algn="ctr">
              <a:spcBef>
                <a:spcPts val="0"/>
              </a:spcBef>
              <a:spcAft>
                <a:spcPts val="200"/>
              </a:spcAft>
            </a:pPr>
            <a:r>
              <a:rPr sz="850" b="0">
                <a:solidFill>
                  <a:srgbClr val="5B6372"/>
                </a:solidFill>
                <a:latin typeface="Arial"/>
              </a:rPr>
              <a:t>an employee messages the bot</a:t>
            </a:r>
          </a:p>
        </p:txBody>
      </p:sp>
      <p:sp>
        <p:nvSpPr>
          <p:cNvPr id="9" name="TextBox 8"/>
          <p:cNvSpPr txBox="1"/>
          <p:nvPr/>
        </p:nvSpPr>
        <p:spPr>
          <a:xfrm>
            <a:off x="3175254" y="20985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0" name="Rounded Rectangle 9"/>
          <p:cNvSpPr/>
          <p:nvPr/>
        </p:nvSpPr>
        <p:spPr>
          <a:xfrm>
            <a:off x="3513582" y="1828800"/>
            <a:ext cx="2425446" cy="86868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828800"/>
            <a:ext cx="2242566" cy="86868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HR Agent — Ava</a:t>
            </a:r>
          </a:p>
          <a:p>
            <a:pPr algn="ctr">
              <a:spcBef>
                <a:spcPts val="0"/>
              </a:spcBef>
              <a:spcAft>
                <a:spcPts val="200"/>
              </a:spcAft>
            </a:pPr>
            <a:r>
              <a:rPr sz="850" b="0">
                <a:solidFill>
                  <a:srgbClr val="5B6372"/>
                </a:solidFill>
                <a:latin typeface="Arial"/>
              </a:rPr>
              <a:t>HR policies + memory</a:t>
            </a:r>
          </a:p>
        </p:txBody>
      </p:sp>
      <p:sp>
        <p:nvSpPr>
          <p:cNvPr id="12" name="TextBox 11"/>
          <p:cNvSpPr txBox="1"/>
          <p:nvPr/>
        </p:nvSpPr>
        <p:spPr>
          <a:xfrm>
            <a:off x="5911596" y="20985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3" name="Rounded Rectangle 12"/>
          <p:cNvSpPr/>
          <p:nvPr/>
        </p:nvSpPr>
        <p:spPr>
          <a:xfrm>
            <a:off x="6249924" y="1828800"/>
            <a:ext cx="2425446" cy="86868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828800"/>
            <a:ext cx="2242566" cy="86868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Chat model</a:t>
            </a:r>
          </a:p>
          <a:p>
            <a:pPr algn="ctr">
              <a:spcBef>
                <a:spcPts val="0"/>
              </a:spcBef>
              <a:spcAft>
                <a:spcPts val="200"/>
              </a:spcAft>
            </a:pPr>
            <a:r>
              <a:rPr sz="850" b="0">
                <a:solidFill>
                  <a:srgbClr val="5B6372"/>
                </a:solidFill>
                <a:latin typeface="Arial"/>
              </a:rPr>
              <a:t>Gateway credits, no API key</a:t>
            </a:r>
          </a:p>
        </p:txBody>
      </p:sp>
      <p:sp>
        <p:nvSpPr>
          <p:cNvPr id="15" name="TextBox 14"/>
          <p:cNvSpPr txBox="1"/>
          <p:nvPr/>
        </p:nvSpPr>
        <p:spPr>
          <a:xfrm>
            <a:off x="8647938" y="20985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6" name="Rounded Rectangle 15"/>
          <p:cNvSpPr/>
          <p:nvPr/>
        </p:nvSpPr>
        <p:spPr>
          <a:xfrm>
            <a:off x="8986266" y="1828800"/>
            <a:ext cx="2425446" cy="86868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828800"/>
            <a:ext cx="2242566" cy="86868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Reply on Telegram</a:t>
            </a:r>
          </a:p>
          <a:p>
            <a:pPr algn="ctr">
              <a:spcBef>
                <a:spcPts val="0"/>
              </a:spcBef>
              <a:spcAft>
                <a:spcPts val="200"/>
              </a:spcAft>
            </a:pPr>
            <a:r>
              <a:rPr sz="850" b="0">
                <a:solidFill>
                  <a:srgbClr val="5B6372"/>
                </a:solidFill>
                <a:latin typeface="Arial"/>
              </a:rPr>
              <a:t>back to the same chat</a:t>
            </a:r>
          </a:p>
        </p:txBody>
      </p:sp>
      <p:sp>
        <p:nvSpPr>
          <p:cNvPr id="18" name="Rounded Rectangle 17"/>
          <p:cNvSpPr/>
          <p:nvPr/>
        </p:nvSpPr>
        <p:spPr>
          <a:xfrm>
            <a:off x="777240" y="3017520"/>
            <a:ext cx="3349752" cy="251460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16382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16382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21" name="TextBox 20"/>
          <p:cNvSpPr txBox="1"/>
          <p:nvPr/>
        </p:nvSpPr>
        <p:spPr>
          <a:xfrm>
            <a:off x="1399032" y="317296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What Ava knows</a:t>
            </a:r>
          </a:p>
        </p:txBody>
      </p:sp>
      <p:sp>
        <p:nvSpPr>
          <p:cNvPr id="22" name="TextBox 21"/>
          <p:cNvSpPr txBox="1"/>
          <p:nvPr/>
        </p:nvSpPr>
        <p:spPr>
          <a:xfrm>
            <a:off x="978408" y="3566160"/>
            <a:ext cx="2947416" cy="18196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Sample HR policies written into the system instruction — leave, sick leave, claims, hours, probation.</a:t>
            </a:r>
          </a:p>
        </p:txBody>
      </p:sp>
      <p:sp>
        <p:nvSpPr>
          <p:cNvPr id="23" name="Rounded Rectangle 22"/>
          <p:cNvSpPr/>
          <p:nvPr/>
        </p:nvSpPr>
        <p:spPr>
          <a:xfrm>
            <a:off x="4419600" y="3017520"/>
            <a:ext cx="3349752" cy="251460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602480" y="3163824"/>
            <a:ext cx="310896" cy="310896"/>
          </a:xfrm>
          <a:prstGeom prst="ellipse">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02480" y="316382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26" name="TextBox 25"/>
          <p:cNvSpPr txBox="1"/>
          <p:nvPr/>
        </p:nvSpPr>
        <p:spPr>
          <a:xfrm>
            <a:off x="5041392" y="317296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Guardrails in the prompt</a:t>
            </a:r>
          </a:p>
        </p:txBody>
      </p:sp>
      <p:sp>
        <p:nvSpPr>
          <p:cNvPr id="27" name="TextBox 26"/>
          <p:cNvSpPr txBox="1"/>
          <p:nvPr/>
        </p:nvSpPr>
        <p:spPr>
          <a:xfrm>
            <a:off x="4620768" y="3566160"/>
            <a:ext cx="2947416" cy="18196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Answer only from the policies, never invent a number, and refer salary, medical or disciplinary questions to HR.</a:t>
            </a:r>
          </a:p>
        </p:txBody>
      </p:sp>
      <p:sp>
        <p:nvSpPr>
          <p:cNvPr id="28" name="Rounded Rectangle 27"/>
          <p:cNvSpPr/>
          <p:nvPr/>
        </p:nvSpPr>
        <p:spPr>
          <a:xfrm>
            <a:off x="8061960" y="3017520"/>
            <a:ext cx="3349752" cy="251460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44840" y="316382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4840" y="316382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31" name="TextBox 30"/>
          <p:cNvSpPr txBox="1"/>
          <p:nvPr/>
        </p:nvSpPr>
        <p:spPr>
          <a:xfrm>
            <a:off x="8683752" y="317296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Then give her a tool</a:t>
            </a:r>
          </a:p>
        </p:txBody>
      </p:sp>
      <p:sp>
        <p:nvSpPr>
          <p:cNvPr id="32" name="TextBox 31"/>
          <p:cNvSpPr txBox="1"/>
          <p:nvPr/>
        </p:nvSpPr>
        <p:spPr>
          <a:xfrm>
            <a:off x="8263128" y="3566160"/>
            <a:ext cx="2947416" cy="18196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Activity 4b attaches an Employees Data Table, so Ava can also answer from real staff records.</a:t>
            </a:r>
          </a:p>
        </p:txBody>
      </p:sp>
      <p:sp>
        <p:nvSpPr>
          <p:cNvPr id="33" name="Rounded Rectangle 32"/>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You will: create a bot with BotFather  →  build the workflow with n8n Assistant  →  connect, publish and chat.</a:t>
            </a:r>
          </a:p>
        </p:txBody>
      </p:sp>
      <p:sp>
        <p:nvSpPr>
          <p:cNvPr id="35" name="TextBox 3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TOPIC 2 · ACTIVITY 4a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Step 1: Create a Telegram Bot with BotFather</a:t>
            </a:r>
          </a:p>
        </p:txBody>
      </p:sp>
      <p:sp>
        <p:nvSpPr>
          <p:cNvPr id="6" name="Rectangle 5"/>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1424"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1</a:t>
            </a:r>
          </a:p>
        </p:txBody>
      </p:sp>
      <p:sp>
        <p:nvSpPr>
          <p:cNvPr id="10" name="TextBox 9"/>
          <p:cNvSpPr txBox="1"/>
          <p:nvPr/>
        </p:nvSpPr>
        <p:spPr>
          <a:xfrm>
            <a:off x="923544" y="3749040"/>
            <a:ext cx="1585569" cy="1325880"/>
          </a:xfrm>
          <a:prstGeom prst="rect">
            <a:avLst/>
          </a:prstGeom>
          <a:noFill/>
        </p:spPr>
        <p:txBody>
          <a:bodyPr wrap="square" anchor="t" lIns="0" rIns="0" tIns="0" bIns="0">
            <a:spAutoFit/>
          </a:bodyPr>
          <a:lstStyle/>
          <a:p>
            <a:pPr algn="ctr">
              <a:spcBef>
                <a:spcPts val="0"/>
              </a:spcBef>
              <a:spcAft>
                <a:spcPts val="0"/>
              </a:spcAft>
            </a:pPr>
            <a:r>
              <a:rPr sz="1200" b="0">
                <a:solidFill>
                  <a:srgbClr val="161B26"/>
                </a:solidFill>
                <a:latin typeface="Arial"/>
              </a:rPr>
              <a:t>Open Telegram and search for BotFather (blue checkmark)</a:t>
            </a:r>
          </a:p>
        </p:txBody>
      </p:sp>
      <p:sp>
        <p:nvSpPr>
          <p:cNvPr id="11" name="TextBox 10"/>
          <p:cNvSpPr txBox="1"/>
          <p:nvPr/>
        </p:nvSpPr>
        <p:spPr>
          <a:xfrm>
            <a:off x="2618841"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7C3AED"/>
                </a:solidFill>
                <a:latin typeface="Arial"/>
              </a:rPr>
              <a:t>▶</a:t>
            </a:r>
          </a:p>
        </p:txBody>
      </p:sp>
      <p:sp>
        <p:nvSpPr>
          <p:cNvPr id="12" name="Rectangle 11"/>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0497"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2</a:t>
            </a:r>
          </a:p>
        </p:txBody>
      </p:sp>
      <p:sp>
        <p:nvSpPr>
          <p:cNvPr id="16" name="TextBox 15"/>
          <p:cNvSpPr txBox="1"/>
          <p:nvPr/>
        </p:nvSpPr>
        <p:spPr>
          <a:xfrm>
            <a:off x="3112617" y="3749040"/>
            <a:ext cx="1585569" cy="1325880"/>
          </a:xfrm>
          <a:prstGeom prst="rect">
            <a:avLst/>
          </a:prstGeom>
          <a:noFill/>
        </p:spPr>
        <p:txBody>
          <a:bodyPr wrap="square" anchor="t" lIns="0" rIns="0" tIns="0" bIns="0">
            <a:spAutoFit/>
          </a:bodyPr>
          <a:lstStyle/>
          <a:p>
            <a:pPr algn="ctr">
              <a:spcBef>
                <a:spcPts val="0"/>
              </a:spcBef>
              <a:spcAft>
                <a:spcPts val="0"/>
              </a:spcAft>
            </a:pPr>
            <a:r>
              <a:rPr sz="1200" b="0">
                <a:solidFill>
                  <a:srgbClr val="161B26"/>
                </a:solidFill>
                <a:latin typeface="Arial"/>
              </a:rPr>
              <a:t>Start a chat and send /newbot</a:t>
            </a:r>
          </a:p>
        </p:txBody>
      </p:sp>
      <p:sp>
        <p:nvSpPr>
          <p:cNvPr id="17" name="TextBox 16"/>
          <p:cNvSpPr txBox="1"/>
          <p:nvPr/>
        </p:nvSpPr>
        <p:spPr>
          <a:xfrm>
            <a:off x="4807914"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7C3AED"/>
                </a:solidFill>
                <a:latin typeface="Arial"/>
              </a:rPr>
              <a:t>▶</a:t>
            </a:r>
          </a:p>
        </p:txBody>
      </p:sp>
      <p:sp>
        <p:nvSpPr>
          <p:cNvPr id="18" name="Rectangle 17"/>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19570"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3</a:t>
            </a:r>
          </a:p>
        </p:txBody>
      </p:sp>
      <p:sp>
        <p:nvSpPr>
          <p:cNvPr id="22" name="TextBox 21"/>
          <p:cNvSpPr txBox="1"/>
          <p:nvPr/>
        </p:nvSpPr>
        <p:spPr>
          <a:xfrm>
            <a:off x="5301690" y="3749040"/>
            <a:ext cx="1585569" cy="1325880"/>
          </a:xfrm>
          <a:prstGeom prst="rect">
            <a:avLst/>
          </a:prstGeom>
          <a:noFill/>
        </p:spPr>
        <p:txBody>
          <a:bodyPr wrap="square" anchor="t" lIns="0" rIns="0" tIns="0" bIns="0">
            <a:spAutoFit/>
          </a:bodyPr>
          <a:lstStyle/>
          <a:p>
            <a:pPr algn="ctr">
              <a:spcBef>
                <a:spcPts val="0"/>
              </a:spcBef>
              <a:spcAft>
                <a:spcPts val="0"/>
              </a:spcAft>
            </a:pPr>
            <a:r>
              <a:rPr sz="1200" b="0">
                <a:solidFill>
                  <a:srgbClr val="161B26"/>
                </a:solidFill>
                <a:latin typeface="Arial"/>
              </a:rPr>
              <a:t>Type a display name, e.g. My Free Helper Bot</a:t>
            </a:r>
          </a:p>
        </p:txBody>
      </p:sp>
      <p:sp>
        <p:nvSpPr>
          <p:cNvPr id="23" name="TextBox 22"/>
          <p:cNvSpPr txBox="1"/>
          <p:nvPr/>
        </p:nvSpPr>
        <p:spPr>
          <a:xfrm>
            <a:off x="6996987"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7C3AED"/>
                </a:solidFill>
                <a:latin typeface="Arial"/>
              </a:rPr>
              <a:t>▶</a:t>
            </a:r>
          </a:p>
        </p:txBody>
      </p:sp>
      <p:sp>
        <p:nvSpPr>
          <p:cNvPr id="24" name="Rectangle 23"/>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8643"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4</a:t>
            </a:r>
          </a:p>
        </p:txBody>
      </p:sp>
      <p:sp>
        <p:nvSpPr>
          <p:cNvPr id="28" name="TextBox 27"/>
          <p:cNvSpPr txBox="1"/>
          <p:nvPr/>
        </p:nvSpPr>
        <p:spPr>
          <a:xfrm>
            <a:off x="7490763" y="3749040"/>
            <a:ext cx="1585569" cy="1325880"/>
          </a:xfrm>
          <a:prstGeom prst="rect">
            <a:avLst/>
          </a:prstGeom>
          <a:noFill/>
        </p:spPr>
        <p:txBody>
          <a:bodyPr wrap="square" anchor="t" lIns="0" rIns="0" tIns="0" bIns="0">
            <a:spAutoFit/>
          </a:bodyPr>
          <a:lstStyle/>
          <a:p>
            <a:pPr algn="ctr">
              <a:spcBef>
                <a:spcPts val="0"/>
              </a:spcBef>
              <a:spcAft>
                <a:spcPts val="0"/>
              </a:spcAft>
            </a:pPr>
            <a:r>
              <a:rPr sz="1200" b="0">
                <a:solidFill>
                  <a:srgbClr val="161B26"/>
                </a:solidFill>
                <a:latin typeface="Arial"/>
              </a:rPr>
              <a:t>Choose a unique username ending in bot, e.g. my_free_helper_bot</a:t>
            </a:r>
          </a:p>
        </p:txBody>
      </p:sp>
      <p:sp>
        <p:nvSpPr>
          <p:cNvPr id="29" name="TextBox 28"/>
          <p:cNvSpPr txBox="1"/>
          <p:nvPr/>
        </p:nvSpPr>
        <p:spPr>
          <a:xfrm>
            <a:off x="9186060"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7C3AED"/>
                </a:solidFill>
                <a:latin typeface="Arial"/>
              </a:rPr>
              <a:t>▶</a:t>
            </a:r>
          </a:p>
        </p:txBody>
      </p:sp>
      <p:sp>
        <p:nvSpPr>
          <p:cNvPr id="30" name="Rectangle 29"/>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97716"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5</a:t>
            </a:r>
          </a:p>
        </p:txBody>
      </p:sp>
      <p:sp>
        <p:nvSpPr>
          <p:cNvPr id="34" name="TextBox 33"/>
          <p:cNvSpPr txBox="1"/>
          <p:nvPr/>
        </p:nvSpPr>
        <p:spPr>
          <a:xfrm>
            <a:off x="9679836" y="3749040"/>
            <a:ext cx="1585569" cy="1325880"/>
          </a:xfrm>
          <a:prstGeom prst="rect">
            <a:avLst/>
          </a:prstGeom>
          <a:noFill/>
        </p:spPr>
        <p:txBody>
          <a:bodyPr wrap="square" anchor="t" lIns="0" rIns="0" tIns="0" bIns="0">
            <a:spAutoFit/>
          </a:bodyPr>
          <a:lstStyle/>
          <a:p>
            <a:pPr algn="ctr">
              <a:spcBef>
                <a:spcPts val="0"/>
              </a:spcBef>
              <a:spcAft>
                <a:spcPts val="0"/>
              </a:spcAft>
            </a:pPr>
            <a:r>
              <a:rPr sz="1200" b="0">
                <a:solidFill>
                  <a:srgbClr val="161B26"/>
                </a:solidFill>
                <a:latin typeface="Arial"/>
              </a:rPr>
              <a:t>Copy the HTTP API token BotFather sends back</a:t>
            </a:r>
          </a:p>
        </p:txBody>
      </p:sp>
      <p:sp>
        <p:nvSpPr>
          <p:cNvPr id="35" name="TextBox 3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67</a:t>
            </a:r>
          </a:p>
        </p:txBody>
      </p:sp>
      <p:sp>
        <p:nvSpPr>
          <p:cNvPr id="38" name="Rounded Rectangle 37"/>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The token is the bot's password — never share or commit it. If it leaks, send /revoke to BotFather for a new one.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TOPIC 2 · ACTIVITY 4a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Step 2a: Open n8n Assistant with Build with AI</a:t>
            </a:r>
          </a:p>
        </p:txBody>
      </p:sp>
      <p:sp>
        <p:nvSpPr>
          <p:cNvPr id="6" name="TextBox 5"/>
          <p:cNvSpPr txBox="1"/>
          <p:nvPr/>
        </p:nvSpPr>
        <p:spPr>
          <a:xfrm>
            <a:off x="777240" y="1828800"/>
            <a:ext cx="5852160" cy="3657600"/>
          </a:xfrm>
          <a:prstGeom prst="rect">
            <a:avLst/>
          </a:prstGeom>
          <a:noFill/>
        </p:spPr>
        <p:txBody>
          <a:bodyPr wrap="square" lIns="0" rIns="0">
            <a:spAutoFit/>
          </a:bodyPr>
          <a:lstStyle/>
          <a:p>
            <a:pPr>
              <a:spcBef>
                <a:spcPts val="0"/>
              </a:spcBef>
              <a:spcAft>
                <a:spcPts val="1000"/>
              </a:spcAft>
            </a:pPr>
            <a:r>
              <a:rPr sz="1400" b="1">
                <a:solidFill>
                  <a:srgbClr val="7C3AED"/>
                </a:solidFill>
                <a:latin typeface="Arial"/>
              </a:rPr>
              <a:t>•  </a:t>
            </a:r>
            <a:r>
              <a:rPr sz="1400">
                <a:solidFill>
                  <a:srgbClr val="161B26"/>
                </a:solidFill>
                <a:latin typeface="Arial"/>
              </a:rPr>
              <a:t>Create a new workflow. The empty canvas offers two starts: Add first step, or Build with AI.</a:t>
            </a:r>
          </a:p>
          <a:p>
            <a:pPr>
              <a:spcBef>
                <a:spcPts val="0"/>
              </a:spcBef>
              <a:spcAft>
                <a:spcPts val="1000"/>
              </a:spcAft>
            </a:pPr>
            <a:r>
              <a:rPr sz="1400" b="1">
                <a:solidFill>
                  <a:srgbClr val="7C3AED"/>
                </a:solidFill>
                <a:latin typeface="Arial"/>
              </a:rPr>
              <a:t>•  </a:t>
            </a:r>
            <a:r>
              <a:rPr sz="1400">
                <a:solidFill>
                  <a:srgbClr val="161B26"/>
                </a:solidFill>
                <a:latin typeface="Arial"/>
              </a:rPr>
              <a:t>Click Build with AI — this opens n8n Assistant, which builds the workflow from a plain-English prompt.</a:t>
            </a:r>
          </a:p>
          <a:p>
            <a:pPr>
              <a:spcBef>
                <a:spcPts val="0"/>
              </a:spcBef>
              <a:spcAft>
                <a:spcPts val="1000"/>
              </a:spcAft>
            </a:pPr>
            <a:r>
              <a:rPr sz="1400" b="1">
                <a:solidFill>
                  <a:srgbClr val="7C3AED"/>
                </a:solidFill>
                <a:latin typeface="Arial"/>
              </a:rPr>
              <a:t>•  </a:t>
            </a:r>
            <a:r>
              <a:rPr sz="1400">
                <a:solidFill>
                  <a:srgbClr val="161B26"/>
                </a:solidFill>
                <a:latin typeface="Arial"/>
              </a:rPr>
              <a:t>Add first step is the manual route: it opens the node search, here filtered to 'ai agent'.</a:t>
            </a:r>
          </a:p>
          <a:p>
            <a:pPr>
              <a:spcBef>
                <a:spcPts val="0"/>
              </a:spcBef>
              <a:spcAft>
                <a:spcPts val="1000"/>
              </a:spcAft>
            </a:pPr>
            <a:r>
              <a:rPr sz="1400" b="1">
                <a:solidFill>
                  <a:srgbClr val="7C3AED"/>
                </a:solidFill>
                <a:latin typeface="Arial"/>
              </a:rPr>
              <a:t>•  </a:t>
            </a:r>
            <a:r>
              <a:rPr sz="1400">
                <a:solidFill>
                  <a:srgbClr val="161B26"/>
                </a:solidFill>
                <a:latin typeface="Arial"/>
              </a:rPr>
              <a:t>Either way you get the same nodes. The Assistant just writes the first draft for you.</a:t>
            </a:r>
          </a:p>
        </p:txBody>
      </p:sp>
      <p:pic>
        <p:nvPicPr>
          <p:cNvPr id="7" name="Picture 6" descr="n8n-build-with-ai.png"/>
          <p:cNvPicPr>
            <a:picLocks noChangeAspect="1"/>
          </p:cNvPicPr>
          <p:nvPr/>
        </p:nvPicPr>
        <p:blipFill>
          <a:blip r:embed="rId2"/>
          <a:stretch>
            <a:fillRect/>
          </a:stretch>
        </p:blipFill>
        <p:spPr>
          <a:xfrm>
            <a:off x="6949440" y="1691640"/>
            <a:ext cx="4462272" cy="3848198"/>
          </a:xfrm>
          <a:prstGeom prst="rect">
            <a:avLst/>
          </a:prstGeom>
        </p:spPr>
      </p:pic>
      <p:sp>
        <p:nvSpPr>
          <p:cNvPr id="8" name="Rectangle 7"/>
          <p:cNvSpPr/>
          <p:nvPr/>
        </p:nvSpPr>
        <p:spPr>
          <a:xfrm>
            <a:off x="6936740" y="1678940"/>
            <a:ext cx="4487672" cy="3873598"/>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Build with AI drafts the workflow; you still review every node before you publish.</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68</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TOPIC 2 · ACTIVITY 4a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Step 2b: Paste the Prompt into n8n Assistant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Create a new workflow, open n8n Assistant and paste this prompt — it plans and builds the chatbot for you.</a:t>
            </a:r>
          </a:p>
        </p:txBody>
      </p:sp>
      <p:sp>
        <p:nvSpPr>
          <p:cNvPr id="7" name="Rounded Rectangle 6"/>
          <p:cNvSpPr/>
          <p:nvPr/>
        </p:nvSpPr>
        <p:spPr>
          <a:xfrm>
            <a:off x="777240" y="1828800"/>
            <a:ext cx="6949440" cy="374904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38528"/>
            <a:ext cx="6492240" cy="274320"/>
          </a:xfrm>
          <a:prstGeom prst="rect">
            <a:avLst/>
          </a:prstGeom>
          <a:noFill/>
        </p:spPr>
        <p:txBody>
          <a:bodyPr wrap="square" anchor="t" lIns="0" rIns="0" tIns="0" bIns="0">
            <a:spAutoFit/>
          </a:bodyPr>
          <a:lstStyle/>
          <a:p>
            <a:pPr algn="l">
              <a:spcBef>
                <a:spcPts val="0"/>
              </a:spcBef>
              <a:spcAft>
                <a:spcPts val="400"/>
              </a:spcAft>
            </a:pPr>
            <a:r>
              <a:rPr sz="1100" b="1">
                <a:solidFill>
                  <a:srgbClr val="7C3AED"/>
                </a:solidFill>
                <a:latin typeface="Arial"/>
              </a:rPr>
              <a:t>THE PROMPT</a:t>
            </a:r>
          </a:p>
        </p:txBody>
      </p:sp>
      <p:sp>
        <p:nvSpPr>
          <p:cNvPr id="9" name="TextBox 8"/>
          <p:cNvSpPr txBox="1"/>
          <p:nvPr/>
        </p:nvSpPr>
        <p:spPr>
          <a:xfrm>
            <a:off x="1005840" y="2240280"/>
            <a:ext cx="6537960" cy="3291840"/>
          </a:xfrm>
          <a:prstGeom prst="rect">
            <a:avLst/>
          </a:prstGeom>
          <a:noFill/>
        </p:spPr>
        <p:txBody>
          <a:bodyPr wrap="square" anchor="t" lIns="0" rIns="0" tIns="0" bIns="0">
            <a:spAutoFit/>
          </a:bodyPr>
          <a:lstStyle/>
          <a:p>
            <a:pPr algn="l">
              <a:spcBef>
                <a:spcPts val="0"/>
              </a:spcBef>
              <a:spcAft>
                <a:spcPts val="200"/>
              </a:spcAft>
            </a:pPr>
            <a:r>
              <a:rPr sz="1250" b="0">
                <a:solidFill>
                  <a:srgbClr val="161B26"/>
                </a:solidFill>
                <a:latin typeface="Arial"/>
              </a:rPr>
              <a:t>Create a 3-node workflow:</a:t>
            </a:r>
          </a:p>
          <a:p>
            <a:pPr algn="l">
              <a:spcBef>
                <a:spcPts val="0"/>
              </a:spcBef>
              <a:spcAft>
                <a:spcPts val="200"/>
              </a:spcAft>
            </a:pPr>
            <a:r>
              <a:rPr sz="1250" b="0">
                <a:solidFill>
                  <a:srgbClr val="161B26"/>
                </a:solidFill>
                <a:latin typeface="Arial"/>
              </a:rPr>
              <a:t>•  A user posts a message to a Telegram bot.</a:t>
            </a:r>
          </a:p>
          <a:p>
            <a:pPr algn="l">
              <a:spcBef>
                <a:spcPts val="0"/>
              </a:spcBef>
              <a:spcAft>
                <a:spcPts val="200"/>
              </a:spcAft>
            </a:pPr>
            <a:r>
              <a:rPr sz="1250" b="0">
                <a:solidFill>
                  <a:srgbClr val="161B26"/>
                </a:solidFill>
                <a:latin typeface="Arial"/>
              </a:rPr>
              <a:t>•  Telegram sends the data to an HR agent.</a:t>
            </a:r>
          </a:p>
          <a:p>
            <a:pPr algn="l">
              <a:spcBef>
                <a:spcPts val="0"/>
              </a:spcBef>
              <a:spcAft>
                <a:spcPts val="200"/>
              </a:spcAft>
            </a:pPr>
            <a:r>
              <a:rPr sz="1250" b="0">
                <a:solidFill>
                  <a:srgbClr val="161B26"/>
                </a:solidFill>
                <a:latin typeface="Arial"/>
              </a:rPr>
              <a:t>•  The HR agent responds to the user on the company HR policies. Create a system instruction for the HR agent with sample company policies in it. The HR agent has a memory.</a:t>
            </a:r>
          </a:p>
          <a:p>
            <a:pPr algn="l">
              <a:spcBef>
                <a:spcPts val="0"/>
              </a:spcBef>
              <a:spcAft>
                <a:spcPts val="200"/>
              </a:spcAft>
            </a:pPr>
            <a:r>
              <a:rPr sz="1250" b="0">
                <a:solidFill>
                  <a:srgbClr val="161B26"/>
                </a:solidFill>
                <a:latin typeface="Arial"/>
              </a:rPr>
              <a:t>•  Respond to Telegram.</a:t>
            </a:r>
          </a:p>
        </p:txBody>
      </p:sp>
      <p:sp>
        <p:nvSpPr>
          <p:cNvPr id="10" name="Rounded Rectangle 9"/>
          <p:cNvSpPr/>
          <p:nvPr/>
        </p:nvSpPr>
        <p:spPr>
          <a:xfrm>
            <a:off x="7955279" y="1828800"/>
            <a:ext cx="3456432" cy="374904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1938528"/>
            <a:ext cx="3108960" cy="274320"/>
          </a:xfrm>
          <a:prstGeom prst="rect">
            <a:avLst/>
          </a:prstGeom>
          <a:noFill/>
        </p:spPr>
        <p:txBody>
          <a:bodyPr wrap="square" anchor="t" lIns="0" rIns="0" tIns="0" bIns="0">
            <a:spAutoFit/>
          </a:bodyPr>
          <a:lstStyle/>
          <a:p>
            <a:pPr algn="l">
              <a:spcBef>
                <a:spcPts val="0"/>
              </a:spcBef>
              <a:spcAft>
                <a:spcPts val="400"/>
              </a:spcAft>
            </a:pPr>
            <a:r>
              <a:rPr sz="1100" b="1">
                <a:solidFill>
                  <a:srgbClr val="10B981"/>
                </a:solidFill>
                <a:latin typeface="Arial"/>
              </a:rPr>
              <a:t>THEN YOU</a:t>
            </a:r>
          </a:p>
        </p:txBody>
      </p:sp>
      <p:sp>
        <p:nvSpPr>
          <p:cNvPr id="12" name="TextBox 11"/>
          <p:cNvSpPr txBox="1"/>
          <p:nvPr/>
        </p:nvSpPr>
        <p:spPr>
          <a:xfrm>
            <a:off x="8183879" y="2258568"/>
            <a:ext cx="3063240" cy="3246120"/>
          </a:xfrm>
          <a:prstGeom prst="rect">
            <a:avLst/>
          </a:prstGeom>
          <a:noFill/>
        </p:spPr>
        <p:txBody>
          <a:bodyPr wrap="square" lIns="0" rIns="0">
            <a:spAutoFit/>
          </a:bodyPr>
          <a:lstStyle/>
          <a:p>
            <a:pPr>
              <a:spcBef>
                <a:spcPts val="0"/>
              </a:spcBef>
              <a:spcAft>
                <a:spcPts val="600"/>
              </a:spcAft>
            </a:pPr>
            <a:r>
              <a:rPr sz="1150" b="1">
                <a:solidFill>
                  <a:srgbClr val="10B981"/>
                </a:solidFill>
                <a:latin typeface="Arial"/>
              </a:rPr>
              <a:t>•  </a:t>
            </a:r>
            <a:r>
              <a:rPr sz="1150">
                <a:solidFill>
                  <a:srgbClr val="161B26"/>
                </a:solidFill>
                <a:latin typeface="Arial"/>
              </a:rPr>
              <a:t>Review the plan before it builds</a:t>
            </a:r>
          </a:p>
          <a:p>
            <a:pPr>
              <a:spcBef>
                <a:spcPts val="0"/>
              </a:spcBef>
              <a:spcAft>
                <a:spcPts val="600"/>
              </a:spcAft>
            </a:pPr>
            <a:r>
              <a:rPr sz="1150" b="1">
                <a:solidFill>
                  <a:srgbClr val="10B981"/>
                </a:solidFill>
                <a:latin typeface="Arial"/>
              </a:rPr>
              <a:t>•  </a:t>
            </a:r>
            <a:r>
              <a:rPr sz="1150">
                <a:solidFill>
                  <a:srgbClr val="161B26"/>
                </a:solidFill>
                <a:latin typeface="Arial"/>
              </a:rPr>
              <a:t>Read the system instruction it wrote — edit the sample policies if you like</a:t>
            </a:r>
          </a:p>
          <a:p>
            <a:pPr>
              <a:spcBef>
                <a:spcPts val="0"/>
              </a:spcBef>
              <a:spcAft>
                <a:spcPts val="600"/>
              </a:spcAft>
            </a:pPr>
            <a:r>
              <a:rPr sz="1150" b="1">
                <a:solidFill>
                  <a:srgbClr val="10B981"/>
                </a:solidFill>
                <a:latin typeface="Arial"/>
              </a:rPr>
              <a:t>•  </a:t>
            </a:r>
            <a:r>
              <a:rPr sz="1150">
                <a:solidFill>
                  <a:srgbClr val="161B26"/>
                </a:solidFill>
                <a:latin typeface="Arial"/>
              </a:rPr>
              <a:t>Check a memory node is attached to the HR agent</a:t>
            </a:r>
          </a:p>
          <a:p>
            <a:pPr>
              <a:spcBef>
                <a:spcPts val="0"/>
              </a:spcBef>
              <a:spcAft>
                <a:spcPts val="600"/>
              </a:spcAft>
            </a:pPr>
            <a:r>
              <a:rPr sz="1150" b="1">
                <a:solidFill>
                  <a:srgbClr val="10B981"/>
                </a:solidFill>
                <a:latin typeface="Arial"/>
              </a:rPr>
              <a:t>•  </a:t>
            </a:r>
            <a:r>
              <a:rPr sz="1150">
                <a:solidFill>
                  <a:srgbClr val="161B26"/>
                </a:solidFill>
                <a:latin typeface="Arial"/>
              </a:rPr>
              <a:t>Stuck? Import the reference solution instead</a:t>
            </a:r>
          </a:p>
        </p:txBody>
      </p:sp>
      <p:sp>
        <p:nvSpPr>
          <p:cNvPr id="13" name="Rounded Rectangle 12"/>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Reference solution: labs/activity4-telegram-agent/Activity4a-Telegram-HR-Agent.json</a:t>
            </a:r>
          </a:p>
        </p:txBody>
      </p:sp>
      <p:sp>
        <p:nvSpPr>
          <p:cNvPr id="15" name="TextBox 1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6" name="TextBox 1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7" name="TextBox 1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69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TOPIC 2 · ACTIVITY 4a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The Workflow n8n Assistant Builds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Your canvas should look like this: trigger, agent, reply — with the chat model and memory hanging under the agent.</a:t>
            </a:r>
          </a:p>
        </p:txBody>
      </p:sp>
      <p:pic>
        <p:nvPicPr>
          <p:cNvPr id="7" name="Picture 6" descr="n8n-flow-telegram-demo.png"/>
          <p:cNvPicPr>
            <a:picLocks noChangeAspect="1"/>
          </p:cNvPicPr>
          <p:nvPr/>
        </p:nvPicPr>
        <p:blipFill>
          <a:blip r:embed="rId2"/>
          <a:stretch>
            <a:fillRect/>
          </a:stretch>
        </p:blipFill>
        <p:spPr>
          <a:xfrm>
            <a:off x="3466351" y="1783080"/>
            <a:ext cx="5256250" cy="2331720"/>
          </a:xfrm>
          <a:prstGeom prst="rect">
            <a:avLst/>
          </a:prstGeom>
        </p:spPr>
      </p:pic>
      <p:sp>
        <p:nvSpPr>
          <p:cNvPr id="8" name="Rectangle 7"/>
          <p:cNvSpPr/>
          <p:nvPr/>
        </p:nvSpPr>
        <p:spPr>
          <a:xfrm>
            <a:off x="3453651" y="1770380"/>
            <a:ext cx="5281650" cy="235712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4251960"/>
            <a:ext cx="2439162" cy="137160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60120" y="439826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39826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2" name="TextBox 11"/>
          <p:cNvSpPr txBox="1"/>
          <p:nvPr/>
        </p:nvSpPr>
        <p:spPr>
          <a:xfrm>
            <a:off x="1399032" y="4407408"/>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Telegram Trigger</a:t>
            </a:r>
          </a:p>
        </p:txBody>
      </p:sp>
      <p:sp>
        <p:nvSpPr>
          <p:cNvPr id="13" name="TextBox 12"/>
          <p:cNvSpPr txBox="1"/>
          <p:nvPr/>
        </p:nvSpPr>
        <p:spPr>
          <a:xfrm>
            <a:off x="978408" y="4800600"/>
            <a:ext cx="2036826" cy="6766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Updates: message — every message sent to the bot starts one execution.</a:t>
            </a:r>
          </a:p>
        </p:txBody>
      </p:sp>
      <p:sp>
        <p:nvSpPr>
          <p:cNvPr id="14" name="Rounded Rectangle 13"/>
          <p:cNvSpPr/>
          <p:nvPr/>
        </p:nvSpPr>
        <p:spPr>
          <a:xfrm>
            <a:off x="3509010" y="4251960"/>
            <a:ext cx="2439162" cy="13716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691890" y="439826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91890" y="439826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7" name="TextBox 16"/>
          <p:cNvSpPr txBox="1"/>
          <p:nvPr/>
        </p:nvSpPr>
        <p:spPr>
          <a:xfrm>
            <a:off x="4130802" y="4407408"/>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HR Agent</a:t>
            </a:r>
          </a:p>
        </p:txBody>
      </p:sp>
      <p:sp>
        <p:nvSpPr>
          <p:cNvPr id="18" name="TextBox 17"/>
          <p:cNvSpPr txBox="1"/>
          <p:nvPr/>
        </p:nvSpPr>
        <p:spPr>
          <a:xfrm>
            <a:off x="3710178" y="4800600"/>
            <a:ext cx="2036826" cy="6766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Ava's role, rules and sample HR policies live in the system instruction n8n Assistant wrote.</a:t>
            </a:r>
          </a:p>
        </p:txBody>
      </p:sp>
      <p:sp>
        <p:nvSpPr>
          <p:cNvPr id="19" name="Rounded Rectangle 18"/>
          <p:cNvSpPr/>
          <p:nvPr/>
        </p:nvSpPr>
        <p:spPr>
          <a:xfrm>
            <a:off x="6240780" y="4251960"/>
            <a:ext cx="2439162" cy="137160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23660" y="439826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3660" y="439826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2" name="TextBox 21"/>
          <p:cNvSpPr txBox="1"/>
          <p:nvPr/>
        </p:nvSpPr>
        <p:spPr>
          <a:xfrm>
            <a:off x="6862572" y="4407408"/>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Model and memory</a:t>
            </a:r>
          </a:p>
        </p:txBody>
      </p:sp>
      <p:sp>
        <p:nvSpPr>
          <p:cNvPr id="23" name="TextBox 22"/>
          <p:cNvSpPr txBox="1"/>
          <p:nvPr/>
        </p:nvSpPr>
        <p:spPr>
          <a:xfrm>
            <a:off x="6441948" y="4800600"/>
            <a:ext cx="2036826" cy="6766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Chat model on Gateway credits; memory keeps each employee's conversation, keyed on the chat ID.</a:t>
            </a:r>
          </a:p>
        </p:txBody>
      </p:sp>
      <p:sp>
        <p:nvSpPr>
          <p:cNvPr id="24" name="Rounded Rectangle 23"/>
          <p:cNvSpPr/>
          <p:nvPr/>
        </p:nvSpPr>
        <p:spPr>
          <a:xfrm>
            <a:off x="8972550" y="4251960"/>
            <a:ext cx="2439162" cy="137160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55430" y="4398264"/>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55430" y="439826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7" name="TextBox 26"/>
          <p:cNvSpPr txBox="1"/>
          <p:nvPr/>
        </p:nvSpPr>
        <p:spPr>
          <a:xfrm>
            <a:off x="9594342" y="4407408"/>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Reply out</a:t>
            </a:r>
          </a:p>
        </p:txBody>
      </p:sp>
      <p:sp>
        <p:nvSpPr>
          <p:cNvPr id="28" name="TextBox 27"/>
          <p:cNvSpPr txBox="1"/>
          <p:nvPr/>
        </p:nvSpPr>
        <p:spPr>
          <a:xfrm>
            <a:off x="9173718" y="4800600"/>
            <a:ext cx="2036826" cy="6766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Reply on Telegram sends back to the chat ID the trigger received, so the reply lands in the same chat.</a:t>
            </a:r>
          </a:p>
        </p:txBody>
      </p:sp>
      <p:sp>
        <p:nvSpPr>
          <p:cNvPr id="29" name="Rounded Rectangle 28"/>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Shown before memory was added — check yours has a memory node (the reference file has one).</a:t>
            </a:r>
          </a:p>
        </p:txBody>
      </p:sp>
      <p:sp>
        <p:nvSpPr>
          <p:cNvPr id="31" name="TextBox 3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2" name="TextBox 3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3" name="TextBox 3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TOPIC 2 · ACTIVITY 4a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Step 3: Connect the Bot, Publish and Chat</a:t>
            </a:r>
          </a:p>
        </p:txBody>
      </p:sp>
      <p:sp>
        <p:nvSpPr>
          <p:cNvPr id="6" name="Rectangle 5"/>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1424"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1</a:t>
            </a:r>
          </a:p>
        </p:txBody>
      </p:sp>
      <p:sp>
        <p:nvSpPr>
          <p:cNvPr id="10" name="TextBox 9"/>
          <p:cNvSpPr txBox="1"/>
          <p:nvPr/>
        </p:nvSpPr>
        <p:spPr>
          <a:xfrm>
            <a:off x="923544" y="3749040"/>
            <a:ext cx="1585569" cy="1325880"/>
          </a:xfrm>
          <a:prstGeom prst="rect">
            <a:avLst/>
          </a:prstGeom>
          <a:noFill/>
        </p:spPr>
        <p:txBody>
          <a:bodyPr wrap="square" anchor="t" lIns="0" rIns="0" tIns="0" bIns="0">
            <a:spAutoFit/>
          </a:bodyPr>
          <a:lstStyle/>
          <a:p>
            <a:pPr algn="ctr">
              <a:spcBef>
                <a:spcPts val="0"/>
              </a:spcBef>
              <a:spcAft>
                <a:spcPts val="0"/>
              </a:spcAft>
            </a:pPr>
            <a:r>
              <a:rPr sz="1250" b="0">
                <a:solidFill>
                  <a:srgbClr val="161B26"/>
                </a:solidFill>
                <a:latin typeface="Arial"/>
              </a:rPr>
              <a:t>Telegram Trigger → Credential → Create new → paste the token</a:t>
            </a:r>
          </a:p>
        </p:txBody>
      </p:sp>
      <p:sp>
        <p:nvSpPr>
          <p:cNvPr id="11" name="TextBox 10"/>
          <p:cNvSpPr txBox="1"/>
          <p:nvPr/>
        </p:nvSpPr>
        <p:spPr>
          <a:xfrm>
            <a:off x="2618841"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7C3AED"/>
                </a:solidFill>
                <a:latin typeface="Arial"/>
              </a:rPr>
              <a:t>▶</a:t>
            </a:r>
          </a:p>
        </p:txBody>
      </p:sp>
      <p:sp>
        <p:nvSpPr>
          <p:cNvPr id="12" name="Rectangle 11"/>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0497"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2</a:t>
            </a:r>
          </a:p>
        </p:txBody>
      </p:sp>
      <p:sp>
        <p:nvSpPr>
          <p:cNvPr id="16" name="TextBox 15"/>
          <p:cNvSpPr txBox="1"/>
          <p:nvPr/>
        </p:nvSpPr>
        <p:spPr>
          <a:xfrm>
            <a:off x="3112617" y="3749040"/>
            <a:ext cx="1585569" cy="1325880"/>
          </a:xfrm>
          <a:prstGeom prst="rect">
            <a:avLst/>
          </a:prstGeom>
          <a:noFill/>
        </p:spPr>
        <p:txBody>
          <a:bodyPr wrap="square" anchor="t" lIns="0" rIns="0" tIns="0" bIns="0">
            <a:spAutoFit/>
          </a:bodyPr>
          <a:lstStyle/>
          <a:p>
            <a:pPr algn="ctr">
              <a:spcBef>
                <a:spcPts val="0"/>
              </a:spcBef>
              <a:spcAft>
                <a:spcPts val="0"/>
              </a:spcAft>
            </a:pPr>
            <a:r>
              <a:rPr sz="1250" b="0">
                <a:solidFill>
                  <a:srgbClr val="161B26"/>
                </a:solidFill>
                <a:latin typeface="Arial"/>
              </a:rPr>
              <a:t>Telegram reply node → select the same credential</a:t>
            </a:r>
          </a:p>
        </p:txBody>
      </p:sp>
      <p:sp>
        <p:nvSpPr>
          <p:cNvPr id="17" name="TextBox 16"/>
          <p:cNvSpPr txBox="1"/>
          <p:nvPr/>
        </p:nvSpPr>
        <p:spPr>
          <a:xfrm>
            <a:off x="4807914"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7C3AED"/>
                </a:solidFill>
                <a:latin typeface="Arial"/>
              </a:rPr>
              <a:t>▶</a:t>
            </a:r>
          </a:p>
        </p:txBody>
      </p:sp>
      <p:sp>
        <p:nvSpPr>
          <p:cNvPr id="18" name="Rectangle 17"/>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19570"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3</a:t>
            </a:r>
          </a:p>
        </p:txBody>
      </p:sp>
      <p:sp>
        <p:nvSpPr>
          <p:cNvPr id="22" name="TextBox 21"/>
          <p:cNvSpPr txBox="1"/>
          <p:nvPr/>
        </p:nvSpPr>
        <p:spPr>
          <a:xfrm>
            <a:off x="5301690" y="3749040"/>
            <a:ext cx="1585569" cy="1325880"/>
          </a:xfrm>
          <a:prstGeom prst="rect">
            <a:avLst/>
          </a:prstGeom>
          <a:noFill/>
        </p:spPr>
        <p:txBody>
          <a:bodyPr wrap="square" anchor="t" lIns="0" rIns="0" tIns="0" bIns="0">
            <a:spAutoFit/>
          </a:bodyPr>
          <a:lstStyle/>
          <a:p>
            <a:pPr algn="ctr">
              <a:spcBef>
                <a:spcPts val="0"/>
              </a:spcBef>
              <a:spcAft>
                <a:spcPts val="0"/>
              </a:spcAft>
            </a:pPr>
            <a:r>
              <a:rPr sz="1250" b="0">
                <a:solidFill>
                  <a:srgbClr val="161B26"/>
                </a:solidFill>
                <a:latin typeface="Arial"/>
              </a:rPr>
              <a:t>Chat model → Use Gateway credits</a:t>
            </a:r>
          </a:p>
        </p:txBody>
      </p:sp>
      <p:sp>
        <p:nvSpPr>
          <p:cNvPr id="23" name="TextBox 22"/>
          <p:cNvSpPr txBox="1"/>
          <p:nvPr/>
        </p:nvSpPr>
        <p:spPr>
          <a:xfrm>
            <a:off x="6996987"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7C3AED"/>
                </a:solidFill>
                <a:latin typeface="Arial"/>
              </a:rPr>
              <a:t>▶</a:t>
            </a:r>
          </a:p>
        </p:txBody>
      </p:sp>
      <p:sp>
        <p:nvSpPr>
          <p:cNvPr id="24" name="Rectangle 23"/>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8643"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4</a:t>
            </a:r>
          </a:p>
        </p:txBody>
      </p:sp>
      <p:sp>
        <p:nvSpPr>
          <p:cNvPr id="28" name="TextBox 27"/>
          <p:cNvSpPr txBox="1"/>
          <p:nvPr/>
        </p:nvSpPr>
        <p:spPr>
          <a:xfrm>
            <a:off x="7490763" y="3749040"/>
            <a:ext cx="1585569" cy="1325880"/>
          </a:xfrm>
          <a:prstGeom prst="rect">
            <a:avLst/>
          </a:prstGeom>
          <a:noFill/>
        </p:spPr>
        <p:txBody>
          <a:bodyPr wrap="square" anchor="t" lIns="0" rIns="0" tIns="0" bIns="0">
            <a:spAutoFit/>
          </a:bodyPr>
          <a:lstStyle/>
          <a:p>
            <a:pPr algn="ctr">
              <a:spcBef>
                <a:spcPts val="0"/>
              </a:spcBef>
              <a:spcAft>
                <a:spcPts val="0"/>
              </a:spcAft>
            </a:pPr>
            <a:r>
              <a:rPr sz="1250" b="0">
                <a:solidFill>
                  <a:srgbClr val="161B26"/>
                </a:solidFill>
                <a:latin typeface="Arial"/>
              </a:rPr>
              <a:t>Publish — n8n registers its webhook with Telegram</a:t>
            </a:r>
          </a:p>
        </p:txBody>
      </p:sp>
      <p:sp>
        <p:nvSpPr>
          <p:cNvPr id="29" name="TextBox 28"/>
          <p:cNvSpPr txBox="1"/>
          <p:nvPr/>
        </p:nvSpPr>
        <p:spPr>
          <a:xfrm>
            <a:off x="9186060"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7C3AED"/>
                </a:solidFill>
                <a:latin typeface="Arial"/>
              </a:rPr>
              <a:t>▶</a:t>
            </a:r>
          </a:p>
        </p:txBody>
      </p:sp>
      <p:sp>
        <p:nvSpPr>
          <p:cNvPr id="30" name="Rectangle 29"/>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97716"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5</a:t>
            </a:r>
          </a:p>
        </p:txBody>
      </p:sp>
      <p:sp>
        <p:nvSpPr>
          <p:cNvPr id="34" name="TextBox 33"/>
          <p:cNvSpPr txBox="1"/>
          <p:nvPr/>
        </p:nvSpPr>
        <p:spPr>
          <a:xfrm>
            <a:off x="9679836" y="3749040"/>
            <a:ext cx="1585569" cy="1325880"/>
          </a:xfrm>
          <a:prstGeom prst="rect">
            <a:avLst/>
          </a:prstGeom>
          <a:noFill/>
        </p:spPr>
        <p:txBody>
          <a:bodyPr wrap="square" anchor="t" lIns="0" rIns="0" tIns="0" bIns="0">
            <a:spAutoFit/>
          </a:bodyPr>
          <a:lstStyle/>
          <a:p>
            <a:pPr algn="ctr">
              <a:spcBef>
                <a:spcPts val="0"/>
              </a:spcBef>
              <a:spcAft>
                <a:spcPts val="0"/>
              </a:spcAft>
            </a:pPr>
            <a:r>
              <a:rPr sz="1250" b="0">
                <a:solidFill>
                  <a:srgbClr val="161B26"/>
                </a:solidFill>
                <a:latin typeface="Arial"/>
              </a:rPr>
              <a:t>Open t.me/&lt;username&gt;, tap Start, ask about annual leave</a:t>
            </a:r>
          </a:p>
        </p:txBody>
      </p:sp>
      <p:sp>
        <p:nvSpPr>
          <p:cNvPr id="35" name="TextBox 3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71</a:t>
            </a:r>
          </a:p>
        </p:txBody>
      </p:sp>
      <p:sp>
        <p:nvSpPr>
          <p:cNvPr id="38" name="Rounded Rectangle 37"/>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A Telegram bot has ONE webhook at a time — testing in the editor swaps in the Test URL, so publish again when you are done.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TOPIC 2 · ACTIVITY 4a</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Chatting with Ava on Telegram</a:t>
            </a:r>
          </a:p>
        </p:txBody>
      </p:sp>
      <p:sp>
        <p:nvSpPr>
          <p:cNvPr id="6" name="TextBox 5"/>
          <p:cNvSpPr txBox="1"/>
          <p:nvPr/>
        </p:nvSpPr>
        <p:spPr>
          <a:xfrm>
            <a:off x="777240" y="1828800"/>
            <a:ext cx="5852160" cy="3657600"/>
          </a:xfrm>
          <a:prstGeom prst="rect">
            <a:avLst/>
          </a:prstGeom>
          <a:noFill/>
        </p:spPr>
        <p:txBody>
          <a:bodyPr wrap="square" lIns="0" rIns="0">
            <a:spAutoFit/>
          </a:bodyPr>
          <a:lstStyle/>
          <a:p>
            <a:pPr>
              <a:spcBef>
                <a:spcPts val="0"/>
              </a:spcBef>
              <a:spcAft>
                <a:spcPts val="1000"/>
              </a:spcAft>
            </a:pPr>
            <a:r>
              <a:rPr sz="1400" b="1">
                <a:solidFill>
                  <a:srgbClr val="7C3AED"/>
                </a:solidFill>
                <a:latin typeface="Arial"/>
              </a:rPr>
              <a:t>•  </a:t>
            </a:r>
            <a:r>
              <a:rPr sz="1400">
                <a:solidFill>
                  <a:srgbClr val="161B26"/>
                </a:solidFill>
                <a:latin typeface="Arial"/>
              </a:rPr>
              <a:t>/start opens the chat — Ava introduces herself exactly as her system message tells her to.</a:t>
            </a:r>
          </a:p>
          <a:p>
            <a:pPr>
              <a:spcBef>
                <a:spcPts val="0"/>
              </a:spcBef>
              <a:spcAft>
                <a:spcPts val="1000"/>
              </a:spcAft>
            </a:pPr>
            <a:r>
              <a:rPr sz="1400" b="1">
                <a:solidFill>
                  <a:srgbClr val="7C3AED"/>
                </a:solidFill>
                <a:latin typeface="Arial"/>
              </a:rPr>
              <a:t>•  </a:t>
            </a:r>
            <a:r>
              <a:rPr sz="1400">
                <a:solidFill>
                  <a:srgbClr val="161B26"/>
                </a:solidFill>
                <a:latin typeface="Arial"/>
              </a:rPr>
              <a:t>Ask how many days of leave you get: the answer quotes the policy — 14, 18 or 21 days by length of service.</a:t>
            </a:r>
          </a:p>
          <a:p>
            <a:pPr>
              <a:spcBef>
                <a:spcPts val="0"/>
              </a:spcBef>
              <a:spcAft>
                <a:spcPts val="1000"/>
              </a:spcAft>
            </a:pPr>
            <a:r>
              <a:rPr sz="1400" b="1">
                <a:solidFill>
                  <a:srgbClr val="7C3AED"/>
                </a:solidFill>
                <a:latin typeface="Arial"/>
              </a:rPr>
              <a:t>•  </a:t>
            </a:r>
            <a:r>
              <a:rPr sz="1400">
                <a:solidFill>
                  <a:srgbClr val="161B26"/>
                </a:solidFill>
                <a:latin typeface="Arial"/>
              </a:rPr>
              <a:t>Ask a follow-up — memory keeps the context. Then ask about a colleague's salary: Ava must refer you to HR.</a:t>
            </a:r>
          </a:p>
          <a:p>
            <a:pPr>
              <a:spcBef>
                <a:spcPts val="0"/>
              </a:spcBef>
              <a:spcAft>
                <a:spcPts val="1000"/>
              </a:spcAft>
            </a:pPr>
            <a:r>
              <a:rPr sz="1400" b="1">
                <a:solidFill>
                  <a:srgbClr val="7C3AED"/>
                </a:solidFill>
                <a:latin typeface="Arial"/>
              </a:rPr>
              <a:t>•  </a:t>
            </a:r>
            <a:r>
              <a:rPr sz="1400">
                <a:solidFill>
                  <a:srgbClr val="161B26"/>
                </a:solidFill>
                <a:latin typeface="Arial"/>
              </a:rPr>
              <a:t>Every message is one workflow run — open Executions in n8n to watch it happen.</a:t>
            </a:r>
          </a:p>
        </p:txBody>
      </p:sp>
      <p:pic>
        <p:nvPicPr>
          <p:cNvPr id="7" name="Picture 6" descr="telegram-chat-demo.png"/>
          <p:cNvPicPr>
            <a:picLocks noChangeAspect="1"/>
          </p:cNvPicPr>
          <p:nvPr/>
        </p:nvPicPr>
        <p:blipFill>
          <a:blip r:embed="rId2"/>
          <a:stretch>
            <a:fillRect/>
          </a:stretch>
        </p:blipFill>
        <p:spPr>
          <a:xfrm>
            <a:off x="7506203" y="1691640"/>
            <a:ext cx="3348745" cy="3931920"/>
          </a:xfrm>
          <a:prstGeom prst="rect">
            <a:avLst/>
          </a:prstGeom>
        </p:spPr>
      </p:pic>
      <p:sp>
        <p:nvSpPr>
          <p:cNvPr id="8" name="Rectangle 7"/>
          <p:cNvSpPr/>
          <p:nvPr/>
        </p:nvSpPr>
        <p:spPr>
          <a:xfrm>
            <a:off x="7493503" y="1678940"/>
            <a:ext cx="3374145" cy="395732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The bot is only as safe as its system message. Activity 4b gives Ava a tool: the Employees Data Table.</a:t>
            </a:r>
          </a:p>
        </p:txBody>
      </p:sp>
      <p:sp>
        <p:nvSpPr>
          <p:cNvPr id="11" name="TextBox 10"/>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2" name="TextBox 11"/>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3" name="TextBox 12"/>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TOPIC 2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4b — Agent + Data Table Tool (HR Admin)</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Give Ava a tool: an Employees Data Table (100 records) she can query — answers now come from real staff records.</a:t>
            </a:r>
          </a:p>
        </p:txBody>
      </p:sp>
      <p:sp>
        <p:nvSpPr>
          <p:cNvPr id="7" name="Rounded Rectangle 6"/>
          <p:cNvSpPr/>
          <p:nvPr/>
        </p:nvSpPr>
        <p:spPr>
          <a:xfrm>
            <a:off x="777240" y="1810512"/>
            <a:ext cx="3337560" cy="749808"/>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Telegram Trigger</a:t>
            </a:r>
          </a:p>
          <a:p>
            <a:pPr algn="ctr">
              <a:spcBef>
                <a:spcPts val="0"/>
              </a:spcBef>
              <a:spcAft>
                <a:spcPts val="200"/>
              </a:spcAft>
            </a:pPr>
            <a:r>
              <a:rPr sz="850" b="0">
                <a:solidFill>
                  <a:srgbClr val="5B6372"/>
                </a:solidFill>
                <a:latin typeface="Arial"/>
              </a:rPr>
              <a:t>same bot</a:t>
            </a:r>
          </a:p>
        </p:txBody>
      </p:sp>
      <p:sp>
        <p:nvSpPr>
          <p:cNvPr id="9" name="TextBox 8"/>
          <p:cNvSpPr txBox="1"/>
          <p:nvPr/>
        </p:nvSpPr>
        <p:spPr>
          <a:xfrm>
            <a:off x="408736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0" name="Rounded Rectangle 9"/>
          <p:cNvSpPr/>
          <p:nvPr/>
        </p:nvSpPr>
        <p:spPr>
          <a:xfrm>
            <a:off x="4425696" y="1810512"/>
            <a:ext cx="3337560" cy="749808"/>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AI Agent</a:t>
            </a:r>
          </a:p>
          <a:p>
            <a:pPr algn="ctr">
              <a:spcBef>
                <a:spcPts val="0"/>
              </a:spcBef>
              <a:spcAft>
                <a:spcPts val="200"/>
              </a:spcAft>
            </a:pPr>
            <a:r>
              <a:rPr sz="850" b="0">
                <a:solidFill>
                  <a:srgbClr val="5B6372"/>
                </a:solidFill>
                <a:latin typeface="Arial"/>
              </a:rPr>
              <a:t>+ Employees Data Table tool</a:t>
            </a:r>
          </a:p>
        </p:txBody>
      </p:sp>
      <p:sp>
        <p:nvSpPr>
          <p:cNvPr id="12" name="TextBox 11"/>
          <p:cNvSpPr txBox="1"/>
          <p:nvPr/>
        </p:nvSpPr>
        <p:spPr>
          <a:xfrm>
            <a:off x="773582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3" name="Rounded Rectangle 12"/>
          <p:cNvSpPr/>
          <p:nvPr/>
        </p:nvSpPr>
        <p:spPr>
          <a:xfrm>
            <a:off x="8074152" y="1810512"/>
            <a:ext cx="3337560" cy="749808"/>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65592"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Telegram — Send</a:t>
            </a:r>
          </a:p>
          <a:p>
            <a:pPr algn="ctr">
              <a:spcBef>
                <a:spcPts val="0"/>
              </a:spcBef>
              <a:spcAft>
                <a:spcPts val="200"/>
              </a:spcAft>
            </a:pPr>
            <a:r>
              <a:rPr sz="850" b="0">
                <a:solidFill>
                  <a:srgbClr val="5B6372"/>
                </a:solidFill>
                <a:latin typeface="Arial"/>
              </a:rPr>
              <a:t>answers grounded in the table</a:t>
            </a:r>
          </a:p>
        </p:txBody>
      </p:sp>
      <p:pic>
        <p:nvPicPr>
          <p:cNvPr id="15" name="Picture 14" descr="Activity4b-Telegram-Data-Table.png"/>
          <p:cNvPicPr>
            <a:picLocks noChangeAspect="1"/>
          </p:cNvPicPr>
          <p:nvPr/>
        </p:nvPicPr>
        <p:blipFill>
          <a:blip r:embed="rId2"/>
          <a:stretch>
            <a:fillRect/>
          </a:stretch>
        </p:blipFill>
        <p:spPr>
          <a:xfrm>
            <a:off x="3082998" y="2761488"/>
            <a:ext cx="5995523" cy="2560320"/>
          </a:xfrm>
          <a:prstGeom prst="rect">
            <a:avLst/>
          </a:prstGeom>
        </p:spPr>
      </p:pic>
      <p:sp>
        <p:nvSpPr>
          <p:cNvPr id="16" name="Rectangle 15"/>
          <p:cNvSpPr/>
          <p:nvPr/>
        </p:nvSpPr>
        <p:spPr>
          <a:xfrm>
            <a:off x="3070298" y="2748788"/>
            <a:ext cx="6020923" cy="258572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394960"/>
            <a:ext cx="10607040" cy="219456"/>
          </a:xfrm>
          <a:prstGeom prst="rect">
            <a:avLst/>
          </a:prstGeom>
          <a:noFill/>
        </p:spPr>
        <p:txBody>
          <a:bodyPr wrap="square" anchor="t" lIns="0" rIns="0" tIns="0" bIns="0">
            <a:spAutoFit/>
          </a:bodyPr>
          <a:lstStyle/>
          <a:p>
            <a:pPr algn="ctr">
              <a:spcBef>
                <a:spcPts val="0"/>
              </a:spcBef>
              <a:spcAft>
                <a:spcPts val="400"/>
              </a:spcAft>
            </a:pPr>
            <a:r>
              <a:rPr sz="950" b="0">
                <a:solidFill>
                  <a:srgbClr val="5B6372"/>
                </a:solidFill>
                <a:latin typeface="Arial"/>
              </a:rPr>
              <a:t>Reference layout — in your build the agent is Ava (HR Agent) and the reply node is Reply on Telegram.</a:t>
            </a:r>
          </a:p>
        </p:txBody>
      </p:sp>
      <p:sp>
        <p:nvSpPr>
          <p:cNvPr id="18" name="Rounded Rectangle 17"/>
          <p:cNvSpPr/>
          <p:nvPr/>
        </p:nvSpPr>
        <p:spPr>
          <a:xfrm>
            <a:off x="777240" y="5687568"/>
            <a:ext cx="10634472" cy="566928"/>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60120" y="5806440"/>
            <a:ext cx="960120" cy="3291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4b</a:t>
            </a:r>
          </a:p>
        </p:txBody>
      </p:sp>
      <p:sp>
        <p:nvSpPr>
          <p:cNvPr id="21" name="TextBox 20"/>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Agent + Data Table Tool (HR Admin)</a:t>
            </a:r>
          </a:p>
        </p:txBody>
      </p:sp>
      <p:sp>
        <p:nvSpPr>
          <p:cNvPr id="22" name="TextBox 21"/>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Tool description tells the agent WHEN to use it  ·  instruction updated to route staff questions  ·  steps in the Learner Guide</a:t>
            </a:r>
          </a:p>
        </p:txBody>
      </p:sp>
      <p:sp>
        <p:nvSpPr>
          <p:cNvPr id="23" name="TextBox 2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4" name="TextBox 2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5" name="TextBox 2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73</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End of Day 1 — Recap</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 built form automations, conditional logic and storage (Data Table → Google Sheets).</a:t>
            </a:r>
          </a:p>
          <a:p>
            <a:pPr>
              <a:spcBef>
                <a:spcPts val="0"/>
              </a:spcBef>
              <a:spcAft>
                <a:spcPts val="1000"/>
              </a:spcAft>
            </a:pPr>
            <a:r>
              <a:rPr sz="2000" b="1">
                <a:solidFill>
                  <a:srgbClr val="1F6FEB"/>
                </a:solidFill>
                <a:latin typeface="Arial"/>
              </a:rPr>
              <a:t>•  </a:t>
            </a:r>
            <a:r>
              <a:rPr sz="2000">
                <a:solidFill>
                  <a:srgbClr val="161B26"/>
                </a:solidFill>
                <a:latin typeface="Arial"/>
              </a:rPr>
              <a:t>You met the agent's four parts — model, memory, tools, instructions — and MCP.</a:t>
            </a:r>
          </a:p>
          <a:p>
            <a:pPr>
              <a:spcBef>
                <a:spcPts val="0"/>
              </a:spcBef>
              <a:spcAft>
                <a:spcPts val="1000"/>
              </a:spcAft>
            </a:pPr>
            <a:r>
              <a:rPr sz="2000" b="1">
                <a:solidFill>
                  <a:srgbClr val="1F6FEB"/>
                </a:solidFill>
                <a:latin typeface="Arial"/>
              </a:rPr>
              <a:t>•  </a:t>
            </a:r>
            <a:r>
              <a:rPr sz="2000">
                <a:solidFill>
                  <a:srgbClr val="161B26"/>
                </a:solidFill>
                <a:latin typeface="Arial"/>
              </a:rPr>
              <a:t>You shipped a Telegram AI agent, then grounded it in an Employees table.</a:t>
            </a:r>
          </a:p>
          <a:p>
            <a:pPr>
              <a:spcBef>
                <a:spcPts val="0"/>
              </a:spcBef>
              <a:spcAft>
                <a:spcPts val="1000"/>
              </a:spcAft>
            </a:pPr>
            <a:r>
              <a:rPr sz="2000" b="1">
                <a:solidFill>
                  <a:srgbClr val="1F6FEB"/>
                </a:solidFill>
                <a:latin typeface="Arial"/>
              </a:rPr>
              <a:t>•  </a:t>
            </a:r>
            <a:r>
              <a:rPr sz="2000">
                <a:solidFill>
                  <a:srgbClr val="161B26"/>
                </a:solidFill>
                <a:latin typeface="Arial"/>
              </a:rPr>
              <a:t>Tomorrow: webhooks, external APIs, and RAG.</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965960"/>
            <a:ext cx="9418320" cy="2926080"/>
          </a:xfrm>
          <a:prstGeom prst="roundRect">
            <a:avLst>
              <a:gd name="adj" fmla="val 5500"/>
            </a:avLst>
          </a:prstGeom>
          <a:solidFill>
            <a:srgbClr val="FFFFFF"/>
          </a:solidFill>
          <a:ln w="19050">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965960"/>
            <a:ext cx="201168" cy="29260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286000"/>
            <a:ext cx="8503920" cy="365760"/>
          </a:xfrm>
          <a:prstGeom prst="rect">
            <a:avLst/>
          </a:prstGeom>
          <a:noFill/>
        </p:spPr>
        <p:txBody>
          <a:bodyPr wrap="square" anchor="t" lIns="0" rIns="0" tIns="0" bIns="0">
            <a:spAutoFit/>
          </a:bodyPr>
          <a:lstStyle/>
          <a:p>
            <a:pPr algn="l">
              <a:spcBef>
                <a:spcPts val="0"/>
              </a:spcBef>
              <a:spcAft>
                <a:spcPts val="400"/>
              </a:spcAft>
            </a:pPr>
            <a:r>
              <a:rPr sz="1500" b="1">
                <a:solidFill>
                  <a:srgbClr val="10B981"/>
                </a:solidFill>
                <a:latin typeface="Arial"/>
              </a:rPr>
              <a:t>TOPIC 3</a:t>
            </a:r>
          </a:p>
        </p:txBody>
      </p:sp>
      <p:sp>
        <p:nvSpPr>
          <p:cNvPr id="6" name="TextBox 5"/>
          <p:cNvSpPr txBox="1"/>
          <p:nvPr/>
        </p:nvSpPr>
        <p:spPr>
          <a:xfrm>
            <a:off x="1920240" y="2697480"/>
            <a:ext cx="8595360" cy="1097280"/>
          </a:xfrm>
          <a:prstGeom prst="rect">
            <a:avLst/>
          </a:prstGeom>
          <a:noFill/>
        </p:spPr>
        <p:txBody>
          <a:bodyPr wrap="square" anchor="t" lIns="0" rIns="0" tIns="0" bIns="0">
            <a:spAutoFit/>
          </a:bodyPr>
          <a:lstStyle/>
          <a:p>
            <a:pPr algn="l">
              <a:spcBef>
                <a:spcPts val="0"/>
              </a:spcBef>
              <a:spcAft>
                <a:spcPts val="400"/>
              </a:spcAft>
            </a:pPr>
            <a:r>
              <a:rPr sz="3400" b="1">
                <a:solidFill>
                  <a:srgbClr val="161B26"/>
                </a:solidFill>
                <a:latin typeface="Arial"/>
              </a:rPr>
              <a:t>Webhooks</a:t>
            </a:r>
          </a:p>
        </p:txBody>
      </p:sp>
      <p:sp>
        <p:nvSpPr>
          <p:cNvPr id="7" name="TextBox 6"/>
          <p:cNvSpPr txBox="1"/>
          <p:nvPr/>
        </p:nvSpPr>
        <p:spPr>
          <a:xfrm>
            <a:off x="1938528" y="3794760"/>
            <a:ext cx="8503920" cy="548640"/>
          </a:xfrm>
          <a:prstGeom prst="rect">
            <a:avLst/>
          </a:prstGeom>
          <a:noFill/>
        </p:spPr>
        <p:txBody>
          <a:bodyPr wrap="square" anchor="t" lIns="0" rIns="0" tIns="0" bIns="0">
            <a:spAutoFit/>
          </a:bodyPr>
          <a:lstStyle/>
          <a:p>
            <a:pPr algn="l">
              <a:spcBef>
                <a:spcPts val="0"/>
              </a:spcBef>
              <a:spcAft>
                <a:spcPts val="400"/>
              </a:spcAft>
            </a:pPr>
            <a:r>
              <a:rPr sz="1400" b="0">
                <a:solidFill>
                  <a:srgbClr val="5B6372"/>
                </a:solidFill>
                <a:latin typeface="Arial"/>
              </a:rPr>
              <a:t>The inbound URL · GET vs POST · Test vs Production URL · responding to the caller</a:t>
            </a:r>
          </a:p>
        </p:txBody>
      </p:sp>
      <p:sp>
        <p:nvSpPr>
          <p:cNvPr id="8" name="TextBox 7"/>
          <p:cNvSpPr txBox="1"/>
          <p:nvPr/>
        </p:nvSpPr>
        <p:spPr>
          <a:xfrm>
            <a:off x="1938528" y="4343400"/>
            <a:ext cx="8503920" cy="365760"/>
          </a:xfrm>
          <a:prstGeom prst="rect">
            <a:avLst/>
          </a:prstGeom>
          <a:noFill/>
        </p:spPr>
        <p:txBody>
          <a:bodyPr wrap="square" anchor="t" lIns="0" rIns="0" tIns="0" bIns="0">
            <a:spAutoFit/>
          </a:bodyPr>
          <a:lstStyle/>
          <a:p>
            <a:pPr algn="l">
              <a:spcBef>
                <a:spcPts val="0"/>
              </a:spcBef>
              <a:spcAft>
                <a:spcPts val="400"/>
              </a:spcAft>
            </a:pPr>
            <a:r>
              <a:rPr sz="1200" b="1">
                <a:solidFill>
                  <a:srgbClr val="10B981"/>
                </a:solidFill>
                <a:latin typeface="Arial"/>
              </a:rPr>
              <a:t>Applied in Activity 5</a:t>
            </a:r>
          </a:p>
        </p:txBody>
      </p:sp>
      <p:sp>
        <p:nvSpPr>
          <p:cNvPr id="9" name="TextBox 8"/>
          <p:cNvSpPr txBox="1"/>
          <p:nvPr/>
        </p:nvSpPr>
        <p:spPr>
          <a:xfrm>
            <a:off x="9326880" y="54864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03</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75</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What Is a Webhook?</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 URL your workflow listens on. When the outside world calls it, your workflow runs — the reverse of you calling an API.</a:t>
            </a:r>
          </a:p>
        </p:txBody>
      </p:sp>
      <p:sp>
        <p:nvSpPr>
          <p:cNvPr id="7" name="Rounded Rectangle 6"/>
          <p:cNvSpPr/>
          <p:nvPr/>
        </p:nvSpPr>
        <p:spPr>
          <a:xfrm>
            <a:off x="777240" y="1920240"/>
            <a:ext cx="2425446" cy="960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Event happens</a:t>
            </a:r>
          </a:p>
          <a:p>
            <a:pPr algn="ctr">
              <a:spcBef>
                <a:spcPts val="0"/>
              </a:spcBef>
              <a:spcAft>
                <a:spcPts val="200"/>
              </a:spcAft>
            </a:pPr>
            <a:r>
              <a:rPr sz="900" b="0">
                <a:solidFill>
                  <a:srgbClr val="5B6372"/>
                </a:solidFill>
                <a:latin typeface="Arial"/>
              </a:rPr>
              <a:t>visitor sends a chat message</a:t>
            </a:r>
          </a:p>
        </p:txBody>
      </p:sp>
      <p:sp>
        <p:nvSpPr>
          <p:cNvPr id="9" name="TextBox 8"/>
          <p:cNvSpPr txBox="1"/>
          <p:nvPr/>
        </p:nvSpPr>
        <p:spPr>
          <a:xfrm>
            <a:off x="3175254"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0" name="Rounded Rectangle 9"/>
          <p:cNvSpPr/>
          <p:nvPr/>
        </p:nvSpPr>
        <p:spPr>
          <a:xfrm>
            <a:off x="3513582" y="1920240"/>
            <a:ext cx="2425446" cy="960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HTTP request to your URL</a:t>
            </a:r>
          </a:p>
          <a:p>
            <a:pPr algn="ctr">
              <a:spcBef>
                <a:spcPts val="0"/>
              </a:spcBef>
              <a:spcAft>
                <a:spcPts val="200"/>
              </a:spcAft>
            </a:pPr>
            <a:r>
              <a:rPr sz="900" b="0">
                <a:solidFill>
                  <a:srgbClr val="5B6372"/>
                </a:solidFill>
                <a:latin typeface="Arial"/>
              </a:rPr>
              <a:t>the website POSTs JSON</a:t>
            </a:r>
          </a:p>
        </p:txBody>
      </p:sp>
      <p:sp>
        <p:nvSpPr>
          <p:cNvPr id="12" name="TextBox 11"/>
          <p:cNvSpPr txBox="1"/>
          <p:nvPr/>
        </p:nvSpPr>
        <p:spPr>
          <a:xfrm>
            <a:off x="5911596"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3" name="Rounded Rectangle 12"/>
          <p:cNvSpPr/>
          <p:nvPr/>
        </p:nvSpPr>
        <p:spPr>
          <a:xfrm>
            <a:off x="6249924" y="1920240"/>
            <a:ext cx="2425446" cy="960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Workflow runs</a:t>
            </a:r>
          </a:p>
          <a:p>
            <a:pPr algn="ctr">
              <a:spcBef>
                <a:spcPts val="0"/>
              </a:spcBef>
              <a:spcAft>
                <a:spcPts val="200"/>
              </a:spcAft>
            </a:pPr>
            <a:r>
              <a:rPr sz="900" b="0">
                <a:solidFill>
                  <a:srgbClr val="5B6372"/>
                </a:solidFill>
                <a:latin typeface="Arial"/>
              </a:rPr>
              <a:t>n8n receives the data as input</a:t>
            </a:r>
          </a:p>
        </p:txBody>
      </p:sp>
      <p:sp>
        <p:nvSpPr>
          <p:cNvPr id="15" name="TextBox 14"/>
          <p:cNvSpPr txBox="1"/>
          <p:nvPr/>
        </p:nvSpPr>
        <p:spPr>
          <a:xfrm>
            <a:off x="8647938"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6" name="Rounded Rectangle 15"/>
          <p:cNvSpPr/>
          <p:nvPr/>
        </p:nvSpPr>
        <p:spPr>
          <a:xfrm>
            <a:off x="8986266" y="1920240"/>
            <a:ext cx="2425446" cy="9601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Respond to Webhook</a:t>
            </a:r>
          </a:p>
          <a:p>
            <a:pPr algn="ctr">
              <a:spcBef>
                <a:spcPts val="0"/>
              </a:spcBef>
              <a:spcAft>
                <a:spcPts val="200"/>
              </a:spcAft>
            </a:pPr>
            <a:r>
              <a:rPr sz="900" b="0">
                <a:solidFill>
                  <a:srgbClr val="5B6372"/>
                </a:solidFill>
                <a:latin typeface="Arial"/>
              </a:rPr>
              <a:t>your reply returns to the caller</a:t>
            </a:r>
          </a:p>
        </p:txBody>
      </p:sp>
      <p:sp>
        <p:nvSpPr>
          <p:cNvPr id="18" name="Rounded Rectangle 17"/>
          <p:cNvSpPr/>
          <p:nvPr/>
        </p:nvSpPr>
        <p:spPr>
          <a:xfrm>
            <a:off x="777240" y="3200400"/>
            <a:ext cx="3349752" cy="23317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34670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21" name="TextBox 20"/>
          <p:cNvSpPr txBox="1"/>
          <p:nvPr/>
        </p:nvSpPr>
        <p:spPr>
          <a:xfrm>
            <a:off x="139903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Push, not pull</a:t>
            </a:r>
          </a:p>
        </p:txBody>
      </p:sp>
      <p:sp>
        <p:nvSpPr>
          <p:cNvPr id="22" name="TextBox 21"/>
          <p:cNvSpPr txBox="1"/>
          <p:nvPr/>
        </p:nvSpPr>
        <p:spPr>
          <a:xfrm>
            <a:off x="97840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No polling, no schedule — the caller notifies you the moment something happens.</a:t>
            </a:r>
          </a:p>
        </p:txBody>
      </p:sp>
      <p:sp>
        <p:nvSpPr>
          <p:cNvPr id="23" name="Rounded Rectangle 22"/>
          <p:cNvSpPr/>
          <p:nvPr/>
        </p:nvSpPr>
        <p:spPr>
          <a:xfrm>
            <a:off x="4419600" y="3200400"/>
            <a:ext cx="3349752" cy="23317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602480" y="334670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0248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26" name="TextBox 25"/>
          <p:cNvSpPr txBox="1"/>
          <p:nvPr/>
        </p:nvSpPr>
        <p:spPr>
          <a:xfrm>
            <a:off x="504139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Any caller</a:t>
            </a:r>
          </a:p>
        </p:txBody>
      </p:sp>
      <p:sp>
        <p:nvSpPr>
          <p:cNvPr id="27" name="TextBox 26"/>
          <p:cNvSpPr txBox="1"/>
          <p:nvPr/>
        </p:nvSpPr>
        <p:spPr>
          <a:xfrm>
            <a:off x="462076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Websites, payment providers, forms, apps — anything that can send an HTTP request.</a:t>
            </a:r>
          </a:p>
        </p:txBody>
      </p:sp>
      <p:sp>
        <p:nvSpPr>
          <p:cNvPr id="28" name="Rounded Rectangle 27"/>
          <p:cNvSpPr/>
          <p:nvPr/>
        </p:nvSpPr>
        <p:spPr>
          <a:xfrm>
            <a:off x="8061960" y="3200400"/>
            <a:ext cx="3349752" cy="233172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44840" y="334670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484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31" name="TextBox 30"/>
          <p:cNvSpPr txBox="1"/>
          <p:nvPr/>
        </p:nvSpPr>
        <p:spPr>
          <a:xfrm>
            <a:off x="868375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Paired node</a:t>
            </a:r>
          </a:p>
        </p:txBody>
      </p:sp>
      <p:sp>
        <p:nvSpPr>
          <p:cNvPr id="32" name="TextBox 31"/>
          <p:cNvSpPr txBox="1"/>
          <p:nvPr/>
        </p:nvSpPr>
        <p:spPr>
          <a:xfrm>
            <a:off x="826312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Webhook starts the flow; Respond to Webhook sends the answer back on the same connection.</a:t>
            </a:r>
          </a:p>
        </p:txBody>
      </p:sp>
      <p:sp>
        <p:nvSpPr>
          <p:cNvPr id="33" name="Rounded Rectangle 32"/>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A webhook is the reverse of an API call — the outside world calls YOU when an event happens.</a:t>
            </a:r>
          </a:p>
        </p:txBody>
      </p:sp>
      <p:sp>
        <p:nvSpPr>
          <p:cNvPr id="35" name="TextBox 3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Webhook Nodes in n8n</a:t>
            </a:r>
          </a:p>
        </p:txBody>
      </p:sp>
      <p:pic>
        <p:nvPicPr>
          <p:cNvPr id="6" name="Picture 5" descr="n8n-webhook.png"/>
          <p:cNvPicPr>
            <a:picLocks noChangeAspect="1"/>
          </p:cNvPicPr>
          <p:nvPr/>
        </p:nvPicPr>
        <p:blipFill>
          <a:blip r:embed="rId2"/>
          <a:stretch>
            <a:fillRect/>
          </a:stretch>
        </p:blipFill>
        <p:spPr>
          <a:xfrm>
            <a:off x="1620103" y="1737360"/>
            <a:ext cx="8921314" cy="4160520"/>
          </a:xfrm>
          <a:prstGeom prst="rect">
            <a:avLst/>
          </a:prstGeom>
        </p:spPr>
      </p:pic>
      <p:sp>
        <p:nvSpPr>
          <p:cNvPr id="7" name="Rectangle 6"/>
          <p:cNvSpPr/>
          <p:nvPr/>
        </p:nvSpPr>
        <p:spPr>
          <a:xfrm>
            <a:off x="1607403" y="1724660"/>
            <a:ext cx="8946714" cy="418592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Webhook node starts the workflow when called · Respond to Webhook node returns data to the caller</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77</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Webhook vs HTTP Request — Direction of the Call</a:t>
            </a:r>
          </a:p>
        </p:txBody>
      </p:sp>
      <p:sp>
        <p:nvSpPr>
          <p:cNvPr id="6" name="Rectangle 5"/>
          <p:cNvSpPr/>
          <p:nvPr/>
        </p:nvSpPr>
        <p:spPr>
          <a:xfrm>
            <a:off x="777240" y="1783080"/>
            <a:ext cx="519379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5193792" cy="457200"/>
          </a:xfrm>
          <a:prstGeom prst="rect">
            <a:avLst/>
          </a:prstGeom>
          <a:noFill/>
        </p:spPr>
        <p:txBody>
          <a:bodyPr wrap="square" anchor="ctr" lIns="0" rIns="0" tIns="0" bIns="0">
            <a:spAutoFit/>
          </a:bodyPr>
          <a:lstStyle/>
          <a:p>
            <a:pPr algn="ctr">
              <a:spcBef>
                <a:spcPts val="0"/>
              </a:spcBef>
              <a:spcAft>
                <a:spcPts val="400"/>
              </a:spcAft>
            </a:pPr>
            <a:r>
              <a:rPr sz="1400" b="1">
                <a:solidFill>
                  <a:srgbClr val="FFFFFF"/>
                </a:solidFill>
                <a:latin typeface="Arial"/>
              </a:rPr>
              <a:t>WEBHOOK — inbound</a:t>
            </a:r>
          </a:p>
        </p:txBody>
      </p:sp>
      <p:sp>
        <p:nvSpPr>
          <p:cNvPr id="8" name="Rectangle 7"/>
          <p:cNvSpPr/>
          <p:nvPr/>
        </p:nvSpPr>
        <p:spPr>
          <a:xfrm>
            <a:off x="777240" y="2240280"/>
            <a:ext cx="5193792" cy="3383280"/>
          </a:xfrm>
          <a:prstGeom prst="rect">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468880"/>
            <a:ext cx="4645152" cy="3017520"/>
          </a:xfrm>
          <a:prstGeom prst="rect">
            <a:avLst/>
          </a:prstGeom>
          <a:noFill/>
        </p:spPr>
        <p:txBody>
          <a:bodyPr wrap="square" lIns="0" rIns="0">
            <a:spAutoFit/>
          </a:bodyPr>
          <a:lstStyle/>
          <a:p>
            <a:pPr>
              <a:spcBef>
                <a:spcPts val="0"/>
              </a:spcBef>
              <a:spcAft>
                <a:spcPts val="900"/>
              </a:spcAft>
            </a:pPr>
            <a:r>
              <a:rPr sz="1350" b="1">
                <a:solidFill>
                  <a:srgbClr val="10B981"/>
                </a:solidFill>
                <a:latin typeface="Arial"/>
              </a:rPr>
              <a:t>•  </a:t>
            </a:r>
            <a:r>
              <a:rPr sz="1350">
                <a:solidFill>
                  <a:srgbClr val="161B26"/>
                </a:solidFill>
                <a:latin typeface="Arial"/>
              </a:rPr>
              <a:t>An external service calls YOUR workflow.</a:t>
            </a:r>
          </a:p>
          <a:p>
            <a:pPr>
              <a:spcBef>
                <a:spcPts val="0"/>
              </a:spcBef>
              <a:spcAft>
                <a:spcPts val="900"/>
              </a:spcAft>
            </a:pPr>
            <a:r>
              <a:rPr sz="1350" b="1">
                <a:solidFill>
                  <a:srgbClr val="10B981"/>
                </a:solidFill>
                <a:latin typeface="Arial"/>
              </a:rPr>
              <a:t>•  </a:t>
            </a:r>
            <a:r>
              <a:rPr sz="1350">
                <a:solidFill>
                  <a:srgbClr val="161B26"/>
                </a:solidFill>
                <a:latin typeface="Arial"/>
              </a:rPr>
              <a:t>You react the moment an event happens.</a:t>
            </a:r>
          </a:p>
          <a:p>
            <a:pPr>
              <a:spcBef>
                <a:spcPts val="0"/>
              </a:spcBef>
              <a:spcAft>
                <a:spcPts val="900"/>
              </a:spcAft>
            </a:pPr>
            <a:r>
              <a:rPr sz="1350" b="1">
                <a:solidFill>
                  <a:srgbClr val="10B981"/>
                </a:solidFill>
                <a:latin typeface="Arial"/>
              </a:rPr>
              <a:t>•  </a:t>
            </a:r>
            <a:r>
              <a:rPr sz="1350">
                <a:solidFill>
                  <a:srgbClr val="161B26"/>
                </a:solidFill>
                <a:latin typeface="Arial"/>
              </a:rPr>
              <a:t>The trigger of the flow.</a:t>
            </a:r>
          </a:p>
          <a:p>
            <a:pPr>
              <a:spcBef>
                <a:spcPts val="0"/>
              </a:spcBef>
              <a:spcAft>
                <a:spcPts val="900"/>
              </a:spcAft>
            </a:pPr>
            <a:r>
              <a:rPr sz="1350" b="1">
                <a:solidFill>
                  <a:srgbClr val="10B981"/>
                </a:solidFill>
                <a:latin typeface="Arial"/>
              </a:rPr>
              <a:t>•  </a:t>
            </a:r>
            <a:r>
              <a:rPr sz="1350">
                <a:solidFill>
                  <a:srgbClr val="161B26"/>
                </a:solidFill>
                <a:latin typeface="Arial"/>
              </a:rPr>
              <a:t>Activity 5: the website calls your agent.</a:t>
            </a:r>
          </a:p>
        </p:txBody>
      </p:sp>
      <p:sp>
        <p:nvSpPr>
          <p:cNvPr id="10" name="Rectangle 9"/>
          <p:cNvSpPr/>
          <p:nvPr/>
        </p:nvSpPr>
        <p:spPr>
          <a:xfrm>
            <a:off x="6217920" y="1783080"/>
            <a:ext cx="519379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0" y="1783080"/>
            <a:ext cx="5193792" cy="457200"/>
          </a:xfrm>
          <a:prstGeom prst="rect">
            <a:avLst/>
          </a:prstGeom>
          <a:noFill/>
        </p:spPr>
        <p:txBody>
          <a:bodyPr wrap="square" anchor="ctr" lIns="0" rIns="0" tIns="0" bIns="0">
            <a:spAutoFit/>
          </a:bodyPr>
          <a:lstStyle/>
          <a:p>
            <a:pPr algn="ctr">
              <a:spcBef>
                <a:spcPts val="0"/>
              </a:spcBef>
              <a:spcAft>
                <a:spcPts val="400"/>
              </a:spcAft>
            </a:pPr>
            <a:r>
              <a:rPr sz="1400" b="1">
                <a:solidFill>
                  <a:srgbClr val="FFFFFF"/>
                </a:solidFill>
                <a:latin typeface="Arial"/>
              </a:rPr>
              <a:t>HTTP REQUEST — outbound</a:t>
            </a:r>
          </a:p>
        </p:txBody>
      </p:sp>
      <p:sp>
        <p:nvSpPr>
          <p:cNvPr id="12" name="Rectangle 11"/>
          <p:cNvSpPr/>
          <p:nvPr/>
        </p:nvSpPr>
        <p:spPr>
          <a:xfrm>
            <a:off x="6217920" y="2240280"/>
            <a:ext cx="5193792" cy="3383280"/>
          </a:xfrm>
          <a:prstGeom prst="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2468880"/>
            <a:ext cx="4645152" cy="3017520"/>
          </a:xfrm>
          <a:prstGeom prst="rect">
            <a:avLst/>
          </a:prstGeom>
          <a:noFill/>
        </p:spPr>
        <p:txBody>
          <a:bodyPr wrap="square" lIns="0" rIns="0">
            <a:spAutoFit/>
          </a:bodyPr>
          <a:lstStyle/>
          <a:p>
            <a:pPr>
              <a:spcBef>
                <a:spcPts val="0"/>
              </a:spcBef>
              <a:spcAft>
                <a:spcPts val="900"/>
              </a:spcAft>
            </a:pPr>
            <a:r>
              <a:rPr sz="1350" b="1">
                <a:solidFill>
                  <a:srgbClr val="1F6FEB"/>
                </a:solidFill>
                <a:latin typeface="Arial"/>
              </a:rPr>
              <a:t>•  </a:t>
            </a:r>
            <a:r>
              <a:rPr sz="1350">
                <a:solidFill>
                  <a:srgbClr val="161B26"/>
                </a:solidFill>
                <a:latin typeface="Arial"/>
              </a:rPr>
              <a:t>YOUR workflow calls an external service.</a:t>
            </a:r>
          </a:p>
          <a:p>
            <a:pPr>
              <a:spcBef>
                <a:spcPts val="0"/>
              </a:spcBef>
              <a:spcAft>
                <a:spcPts val="900"/>
              </a:spcAft>
            </a:pPr>
            <a:r>
              <a:rPr sz="1350" b="1">
                <a:solidFill>
                  <a:srgbClr val="1F6FEB"/>
                </a:solidFill>
                <a:latin typeface="Arial"/>
              </a:rPr>
              <a:t>•  </a:t>
            </a:r>
            <a:r>
              <a:rPr sz="1350">
                <a:solidFill>
                  <a:srgbClr val="161B26"/>
                </a:solidFill>
                <a:latin typeface="Arial"/>
              </a:rPr>
              <a:t>You pull data when you choose.</a:t>
            </a:r>
          </a:p>
          <a:p>
            <a:pPr>
              <a:spcBef>
                <a:spcPts val="0"/>
              </a:spcBef>
              <a:spcAft>
                <a:spcPts val="900"/>
              </a:spcAft>
            </a:pPr>
            <a:r>
              <a:rPr sz="1350" b="1">
                <a:solidFill>
                  <a:srgbClr val="1F6FEB"/>
                </a:solidFill>
                <a:latin typeface="Arial"/>
              </a:rPr>
              <a:t>•  </a:t>
            </a:r>
            <a:r>
              <a:rPr sz="1350">
                <a:solidFill>
                  <a:srgbClr val="161B26"/>
                </a:solidFill>
                <a:latin typeface="Arial"/>
              </a:rPr>
              <a:t>An action inside the flow.</a:t>
            </a:r>
          </a:p>
          <a:p>
            <a:pPr>
              <a:spcBef>
                <a:spcPts val="0"/>
              </a:spcBef>
              <a:spcAft>
                <a:spcPts val="900"/>
              </a:spcAft>
            </a:pPr>
            <a:r>
              <a:rPr sz="1350" b="1">
                <a:solidFill>
                  <a:srgbClr val="1F6FEB"/>
                </a:solidFill>
                <a:latin typeface="Arial"/>
              </a:rPr>
              <a:t>•  </a:t>
            </a:r>
            <a:r>
              <a:rPr sz="1350">
                <a:solidFill>
                  <a:srgbClr val="161B26"/>
                </a:solidFill>
                <a:latin typeface="Arial"/>
              </a:rPr>
              <a:t>Activity 6: your flow calls Twelve Data.</a:t>
            </a:r>
          </a:p>
        </p:txBody>
      </p:sp>
      <p:sp>
        <p:nvSpPr>
          <p:cNvPr id="14" name="Rounded Rectangle 1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Same HTTP underneath — the only difference is who dials.</a:t>
            </a:r>
          </a:p>
        </p:txBody>
      </p:sp>
      <p:sp>
        <p:nvSpPr>
          <p:cNvPr id="16" name="TextBox 1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7" name="TextBox 1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8" name="TextBox 1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78</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HTTP Methods on a Webhook — GET vs POST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method is part of the contract with the caller: where the data rides, and what the call means.</a:t>
            </a:r>
          </a:p>
        </p:txBody>
      </p:sp>
      <p:sp>
        <p:nvSpPr>
          <p:cNvPr id="7" name="Rectangle 6"/>
          <p:cNvSpPr/>
          <p:nvPr/>
        </p:nvSpPr>
        <p:spPr>
          <a:xfrm>
            <a:off x="777240" y="1828800"/>
            <a:ext cx="519379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5193792" cy="457200"/>
          </a:xfrm>
          <a:prstGeom prst="rect">
            <a:avLst/>
          </a:prstGeom>
          <a:noFill/>
        </p:spPr>
        <p:txBody>
          <a:bodyPr wrap="square" anchor="ctr" lIns="0" rIns="0" tIns="0" bIns="0">
            <a:spAutoFit/>
          </a:bodyPr>
          <a:lstStyle/>
          <a:p>
            <a:pPr algn="ctr">
              <a:spcBef>
                <a:spcPts val="0"/>
              </a:spcBef>
              <a:spcAft>
                <a:spcPts val="400"/>
              </a:spcAft>
            </a:pPr>
            <a:r>
              <a:rPr sz="1350" b="1">
                <a:solidFill>
                  <a:srgbClr val="FFFFFF"/>
                </a:solidFill>
                <a:latin typeface="Arial"/>
              </a:rPr>
              <a:t>GET — read</a:t>
            </a:r>
          </a:p>
        </p:txBody>
      </p:sp>
      <p:sp>
        <p:nvSpPr>
          <p:cNvPr id="9" name="Rectangle 8"/>
          <p:cNvSpPr/>
          <p:nvPr/>
        </p:nvSpPr>
        <p:spPr>
          <a:xfrm>
            <a:off x="777240" y="2286000"/>
            <a:ext cx="5193792" cy="3246120"/>
          </a:xfrm>
          <a:prstGeom prst="rect">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487168"/>
            <a:ext cx="4663440" cy="2926080"/>
          </a:xfrm>
          <a:prstGeom prst="rect">
            <a:avLst/>
          </a:prstGeom>
          <a:noFill/>
        </p:spPr>
        <p:txBody>
          <a:bodyPr wrap="square" lIns="0" rIns="0">
            <a:spAutoFit/>
          </a:bodyPr>
          <a:lstStyle/>
          <a:p>
            <a:pPr>
              <a:spcBef>
                <a:spcPts val="0"/>
              </a:spcBef>
              <a:spcAft>
                <a:spcPts val="800"/>
              </a:spcAft>
            </a:pPr>
            <a:r>
              <a:rPr sz="1250" b="1">
                <a:solidFill>
                  <a:srgbClr val="1F6FEB"/>
                </a:solidFill>
                <a:latin typeface="Arial"/>
              </a:rPr>
              <a:t>•  </a:t>
            </a:r>
            <a:r>
              <a:rPr sz="1250">
                <a:solidFill>
                  <a:srgbClr val="161B26"/>
                </a:solidFill>
                <a:latin typeface="Arial"/>
              </a:rPr>
              <a:t>Data rides in the URL query string:</a:t>
            </a:r>
          </a:p>
          <a:p>
            <a:pPr>
              <a:spcBef>
                <a:spcPts val="0"/>
              </a:spcBef>
              <a:spcAft>
                <a:spcPts val="800"/>
              </a:spcAft>
            </a:pPr>
            <a:r>
              <a:rPr sz="1250" b="1">
                <a:solidFill>
                  <a:srgbClr val="5B6372"/>
                </a:solidFill>
                <a:latin typeface="Arial"/>
              </a:rPr>
              <a:t>   –  </a:t>
            </a:r>
            <a:r>
              <a:rPr sz="1150">
                <a:solidFill>
                  <a:srgbClr val="161B26"/>
                </a:solidFill>
                <a:latin typeface="Arial"/>
              </a:rPr>
              <a:t>   ?email=alice@corp.com</a:t>
            </a:r>
          </a:p>
          <a:p>
            <a:pPr>
              <a:spcBef>
                <a:spcPts val="0"/>
              </a:spcBef>
              <a:spcAft>
                <a:spcPts val="800"/>
              </a:spcAft>
            </a:pPr>
            <a:r>
              <a:rPr sz="1250" b="1">
                <a:solidFill>
                  <a:srgbClr val="1F6FEB"/>
                </a:solidFill>
                <a:latin typeface="Arial"/>
              </a:rPr>
              <a:t>•  </a:t>
            </a:r>
            <a:r>
              <a:rPr sz="1250">
                <a:solidFill>
                  <a:srgbClr val="161B26"/>
                </a:solidFill>
                <a:latin typeface="Arial"/>
              </a:rPr>
              <a:t>A browser can call it by just visiting the URL.</a:t>
            </a:r>
          </a:p>
          <a:p>
            <a:pPr>
              <a:spcBef>
                <a:spcPts val="0"/>
              </a:spcBef>
              <a:spcAft>
                <a:spcPts val="800"/>
              </a:spcAft>
            </a:pPr>
            <a:r>
              <a:rPr sz="1250" b="1">
                <a:solidFill>
                  <a:srgbClr val="1F6FEB"/>
                </a:solidFill>
                <a:latin typeface="Arial"/>
              </a:rPr>
              <a:t>•  </a:t>
            </a:r>
            <a:r>
              <a:rPr sz="1250">
                <a:solidFill>
                  <a:srgbClr val="161B26"/>
                </a:solidFill>
                <a:latin typeface="Arial"/>
              </a:rPr>
              <a:t>Read in n8n as {{ $json.query.email }}.</a:t>
            </a:r>
          </a:p>
          <a:p>
            <a:pPr>
              <a:spcBef>
                <a:spcPts val="0"/>
              </a:spcBef>
              <a:spcAft>
                <a:spcPts val="800"/>
              </a:spcAft>
            </a:pPr>
            <a:r>
              <a:rPr sz="1250" b="1">
                <a:solidFill>
                  <a:srgbClr val="1F6FEB"/>
                </a:solidFill>
                <a:latin typeface="Arial"/>
              </a:rPr>
              <a:t>•  </a:t>
            </a:r>
            <a:r>
              <a:rPr sz="1250">
                <a:solidFill>
                  <a:srgbClr val="161B26"/>
                </a:solidFill>
                <a:latin typeface="Arial"/>
              </a:rPr>
              <a:t>Activity 8b: the dashboard GETs its leave data.</a:t>
            </a:r>
          </a:p>
        </p:txBody>
      </p:sp>
      <p:sp>
        <p:nvSpPr>
          <p:cNvPr id="11" name="Rectangle 10"/>
          <p:cNvSpPr/>
          <p:nvPr/>
        </p:nvSpPr>
        <p:spPr>
          <a:xfrm>
            <a:off x="6217920" y="1828800"/>
            <a:ext cx="5193792" cy="4572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828800"/>
            <a:ext cx="5193792" cy="457200"/>
          </a:xfrm>
          <a:prstGeom prst="rect">
            <a:avLst/>
          </a:prstGeom>
          <a:noFill/>
        </p:spPr>
        <p:txBody>
          <a:bodyPr wrap="square" anchor="ctr" lIns="0" rIns="0" tIns="0" bIns="0">
            <a:spAutoFit/>
          </a:bodyPr>
          <a:lstStyle/>
          <a:p>
            <a:pPr algn="ctr">
              <a:spcBef>
                <a:spcPts val="0"/>
              </a:spcBef>
              <a:spcAft>
                <a:spcPts val="400"/>
              </a:spcAft>
            </a:pPr>
            <a:r>
              <a:rPr sz="1350" b="1">
                <a:solidFill>
                  <a:srgbClr val="FFFFFF"/>
                </a:solidFill>
                <a:latin typeface="Arial"/>
              </a:rPr>
              <a:t>POST — send</a:t>
            </a:r>
          </a:p>
        </p:txBody>
      </p:sp>
      <p:sp>
        <p:nvSpPr>
          <p:cNvPr id="13" name="Rectangle 12"/>
          <p:cNvSpPr/>
          <p:nvPr/>
        </p:nvSpPr>
        <p:spPr>
          <a:xfrm>
            <a:off x="6217920" y="2286000"/>
            <a:ext cx="5193792" cy="3246120"/>
          </a:xfrm>
          <a:prstGeom prst="rect">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487168"/>
            <a:ext cx="4663440" cy="2926080"/>
          </a:xfrm>
          <a:prstGeom prst="rect">
            <a:avLst/>
          </a:prstGeom>
          <a:noFill/>
        </p:spPr>
        <p:txBody>
          <a:bodyPr wrap="square" lIns="0" rIns="0">
            <a:spAutoFit/>
          </a:bodyPr>
          <a:lstStyle/>
          <a:p>
            <a:pPr>
              <a:spcBef>
                <a:spcPts val="0"/>
              </a:spcBef>
              <a:spcAft>
                <a:spcPts val="800"/>
              </a:spcAft>
            </a:pPr>
            <a:r>
              <a:rPr sz="1250" b="1">
                <a:solidFill>
                  <a:srgbClr val="7C3AED"/>
                </a:solidFill>
                <a:latin typeface="Arial"/>
              </a:rPr>
              <a:t>•  </a:t>
            </a:r>
            <a:r>
              <a:rPr sz="1250">
                <a:solidFill>
                  <a:srgbClr val="161B26"/>
                </a:solidFill>
                <a:latin typeface="Arial"/>
              </a:rPr>
              <a:t>Data rides in the request body as JSON:</a:t>
            </a:r>
          </a:p>
          <a:p>
            <a:pPr>
              <a:spcBef>
                <a:spcPts val="0"/>
              </a:spcBef>
              <a:spcAft>
                <a:spcPts val="800"/>
              </a:spcAft>
            </a:pPr>
            <a:r>
              <a:rPr sz="1250" b="1">
                <a:solidFill>
                  <a:srgbClr val="5B6372"/>
                </a:solidFill>
                <a:latin typeface="Arial"/>
              </a:rPr>
              <a:t>   –  </a:t>
            </a:r>
            <a:r>
              <a:rPr sz="1150">
                <a:solidFill>
                  <a:srgbClr val="161B26"/>
                </a:solidFill>
                <a:latin typeface="Arial"/>
              </a:rPr>
              <a:t>   { "message": "How much is the course?" }</a:t>
            </a:r>
          </a:p>
          <a:p>
            <a:pPr>
              <a:spcBef>
                <a:spcPts val="0"/>
              </a:spcBef>
              <a:spcAft>
                <a:spcPts val="800"/>
              </a:spcAft>
            </a:pPr>
            <a:r>
              <a:rPr sz="1250" b="1">
                <a:solidFill>
                  <a:srgbClr val="7C3AED"/>
                </a:solidFill>
                <a:latin typeface="Arial"/>
              </a:rPr>
              <a:t>•  </a:t>
            </a:r>
            <a:r>
              <a:rPr sz="1250">
                <a:solidFill>
                  <a:srgbClr val="161B26"/>
                </a:solidFill>
                <a:latin typeface="Arial"/>
              </a:rPr>
              <a:t>Used by website chat, forms and app callbacks.</a:t>
            </a:r>
          </a:p>
          <a:p>
            <a:pPr>
              <a:spcBef>
                <a:spcPts val="0"/>
              </a:spcBef>
              <a:spcAft>
                <a:spcPts val="800"/>
              </a:spcAft>
            </a:pPr>
            <a:r>
              <a:rPr sz="1250" b="1">
                <a:solidFill>
                  <a:srgbClr val="7C3AED"/>
                </a:solidFill>
                <a:latin typeface="Arial"/>
              </a:rPr>
              <a:t>•  </a:t>
            </a:r>
            <a:r>
              <a:rPr sz="1250">
                <a:solidFill>
                  <a:srgbClr val="161B26"/>
                </a:solidFill>
                <a:latin typeface="Arial"/>
              </a:rPr>
              <a:t>Read in n8n as {{ $json.body.message }}.</a:t>
            </a:r>
          </a:p>
          <a:p>
            <a:pPr>
              <a:spcBef>
                <a:spcPts val="0"/>
              </a:spcBef>
              <a:spcAft>
                <a:spcPts val="800"/>
              </a:spcAft>
            </a:pPr>
            <a:r>
              <a:rPr sz="1250" b="1">
                <a:solidFill>
                  <a:srgbClr val="7C3AED"/>
                </a:solidFill>
                <a:latin typeface="Arial"/>
              </a:rPr>
              <a:t>•  </a:t>
            </a:r>
            <a:r>
              <a:rPr sz="1250">
                <a:solidFill>
                  <a:srgbClr val="161B26"/>
                </a:solidFill>
                <a:latin typeface="Arial"/>
              </a:rPr>
              <a:t>Activities 5, 7b, 8a, 8c: the site POSTs to the flow.</a:t>
            </a:r>
          </a:p>
        </p:txBody>
      </p:sp>
      <p:sp>
        <p:nvSpPr>
          <p:cNvPr id="15" name="Rounded Rectangle 14"/>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GET reads, POST sends. Set the method on the Webhook node — the caller must match it.</a:t>
            </a:r>
          </a:p>
        </p:txBody>
      </p:sp>
      <p:sp>
        <p:nvSpPr>
          <p:cNvPr id="17" name="TextBox 1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79</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Test URL vs Production URL</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Every Webhook node gives you TWO URLs — they behave differently, and mixing them up is the #1 webhook bug.</a:t>
            </a:r>
          </a:p>
        </p:txBody>
      </p:sp>
      <p:sp>
        <p:nvSpPr>
          <p:cNvPr id="7" name="Rectangle 6"/>
          <p:cNvSpPr/>
          <p:nvPr/>
        </p:nvSpPr>
        <p:spPr>
          <a:xfrm>
            <a:off x="777240" y="1828800"/>
            <a:ext cx="5193792"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5193792" cy="457200"/>
          </a:xfrm>
          <a:prstGeom prst="rect">
            <a:avLst/>
          </a:prstGeom>
          <a:noFill/>
        </p:spPr>
        <p:txBody>
          <a:bodyPr wrap="square" anchor="ctr" lIns="0" rIns="0" tIns="0" bIns="0">
            <a:spAutoFit/>
          </a:bodyPr>
          <a:lstStyle/>
          <a:p>
            <a:pPr algn="ctr">
              <a:spcBef>
                <a:spcPts val="0"/>
              </a:spcBef>
              <a:spcAft>
                <a:spcPts val="400"/>
              </a:spcAft>
            </a:pPr>
            <a:r>
              <a:rPr sz="1350" b="1">
                <a:solidFill>
                  <a:srgbClr val="FFFFFF"/>
                </a:solidFill>
                <a:latin typeface="Arial"/>
              </a:rPr>
              <a:t>TEST URL — /webhook-test/…</a:t>
            </a:r>
          </a:p>
        </p:txBody>
      </p:sp>
      <p:sp>
        <p:nvSpPr>
          <p:cNvPr id="9" name="Rectangle 8"/>
          <p:cNvSpPr/>
          <p:nvPr/>
        </p:nvSpPr>
        <p:spPr>
          <a:xfrm>
            <a:off x="777240" y="2286000"/>
            <a:ext cx="5193792" cy="3108960"/>
          </a:xfrm>
          <a:prstGeom prst="rect">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514600"/>
            <a:ext cx="4663440" cy="2743200"/>
          </a:xfrm>
          <a:prstGeom prst="rect">
            <a:avLst/>
          </a:prstGeom>
          <a:noFill/>
        </p:spPr>
        <p:txBody>
          <a:bodyPr wrap="square" lIns="0" rIns="0">
            <a:spAutoFit/>
          </a:bodyPr>
          <a:lstStyle/>
          <a:p>
            <a:pPr>
              <a:spcBef>
                <a:spcPts val="0"/>
              </a:spcBef>
              <a:spcAft>
                <a:spcPts val="900"/>
              </a:spcAft>
            </a:pPr>
            <a:r>
              <a:rPr sz="1300" b="1">
                <a:solidFill>
                  <a:srgbClr val="F59E0B"/>
                </a:solidFill>
                <a:latin typeface="Arial"/>
              </a:rPr>
              <a:t>•  </a:t>
            </a:r>
            <a:r>
              <a:rPr sz="1300">
                <a:solidFill>
                  <a:srgbClr val="161B26"/>
                </a:solidFill>
                <a:latin typeface="Arial"/>
              </a:rPr>
              <a:t>Works only while you click 'Listen for test event'.</a:t>
            </a:r>
          </a:p>
          <a:p>
            <a:pPr>
              <a:spcBef>
                <a:spcPts val="0"/>
              </a:spcBef>
              <a:spcAft>
                <a:spcPts val="900"/>
              </a:spcAft>
            </a:pPr>
            <a:r>
              <a:rPr sz="1300" b="1">
                <a:solidFill>
                  <a:srgbClr val="F59E0B"/>
                </a:solidFill>
                <a:latin typeface="Arial"/>
              </a:rPr>
              <a:t>•  </a:t>
            </a:r>
            <a:r>
              <a:rPr sz="1300">
                <a:solidFill>
                  <a:srgbClr val="161B26"/>
                </a:solidFill>
                <a:latin typeface="Arial"/>
              </a:rPr>
              <a:t>Handles ONE call, then stops listening.</a:t>
            </a:r>
          </a:p>
          <a:p>
            <a:pPr>
              <a:spcBef>
                <a:spcPts val="0"/>
              </a:spcBef>
              <a:spcAft>
                <a:spcPts val="900"/>
              </a:spcAft>
            </a:pPr>
            <a:r>
              <a:rPr sz="1300" b="1">
                <a:solidFill>
                  <a:srgbClr val="F59E0B"/>
                </a:solidFill>
                <a:latin typeface="Arial"/>
              </a:rPr>
              <a:t>•  </a:t>
            </a:r>
            <a:r>
              <a:rPr sz="1300">
                <a:solidFill>
                  <a:srgbClr val="161B26"/>
                </a:solidFill>
                <a:latin typeface="Arial"/>
              </a:rPr>
              <a:t>The run appears live on the canvas — great for debugging.</a:t>
            </a:r>
          </a:p>
          <a:p>
            <a:pPr>
              <a:spcBef>
                <a:spcPts val="0"/>
              </a:spcBef>
              <a:spcAft>
                <a:spcPts val="900"/>
              </a:spcAft>
            </a:pPr>
            <a:r>
              <a:rPr sz="1300" b="1">
                <a:solidFill>
                  <a:srgbClr val="F59E0B"/>
                </a:solidFill>
                <a:latin typeface="Arial"/>
              </a:rPr>
              <a:t>•  </a:t>
            </a:r>
            <a:r>
              <a:rPr sz="1300">
                <a:solidFill>
                  <a:srgbClr val="161B26"/>
                </a:solidFill>
                <a:latin typeface="Arial"/>
              </a:rPr>
              <a:t>Dies the moment you leave the editor.</a:t>
            </a:r>
          </a:p>
        </p:txBody>
      </p:sp>
      <p:sp>
        <p:nvSpPr>
          <p:cNvPr id="11" name="Rectangle 10"/>
          <p:cNvSpPr/>
          <p:nvPr/>
        </p:nvSpPr>
        <p:spPr>
          <a:xfrm>
            <a:off x="6217920" y="1828800"/>
            <a:ext cx="5193792" cy="45720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828800"/>
            <a:ext cx="5193792" cy="457200"/>
          </a:xfrm>
          <a:prstGeom prst="rect">
            <a:avLst/>
          </a:prstGeom>
          <a:noFill/>
        </p:spPr>
        <p:txBody>
          <a:bodyPr wrap="square" anchor="ctr" lIns="0" rIns="0" tIns="0" bIns="0">
            <a:spAutoFit/>
          </a:bodyPr>
          <a:lstStyle/>
          <a:p>
            <a:pPr algn="ctr">
              <a:spcBef>
                <a:spcPts val="0"/>
              </a:spcBef>
              <a:spcAft>
                <a:spcPts val="400"/>
              </a:spcAft>
            </a:pPr>
            <a:r>
              <a:rPr sz="1350" b="1">
                <a:solidFill>
                  <a:srgbClr val="FFFFFF"/>
                </a:solidFill>
                <a:latin typeface="Arial"/>
              </a:rPr>
              <a:t>PRODUCTION URL — /webhook/…</a:t>
            </a:r>
          </a:p>
        </p:txBody>
      </p:sp>
      <p:sp>
        <p:nvSpPr>
          <p:cNvPr id="13" name="Rectangle 12"/>
          <p:cNvSpPr/>
          <p:nvPr/>
        </p:nvSpPr>
        <p:spPr>
          <a:xfrm>
            <a:off x="6217920" y="2286000"/>
            <a:ext cx="5193792" cy="3108960"/>
          </a:xfrm>
          <a:prstGeom prst="rect">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2514600"/>
            <a:ext cx="4663440" cy="2743200"/>
          </a:xfrm>
          <a:prstGeom prst="rect">
            <a:avLst/>
          </a:prstGeom>
          <a:noFill/>
        </p:spPr>
        <p:txBody>
          <a:bodyPr wrap="square" lIns="0" rIns="0">
            <a:spAutoFit/>
          </a:bodyPr>
          <a:lstStyle/>
          <a:p>
            <a:pPr>
              <a:spcBef>
                <a:spcPts val="0"/>
              </a:spcBef>
              <a:spcAft>
                <a:spcPts val="900"/>
              </a:spcAft>
            </a:pPr>
            <a:r>
              <a:rPr sz="1300" b="1">
                <a:solidFill>
                  <a:srgbClr val="127A3E"/>
                </a:solidFill>
                <a:latin typeface="Arial"/>
              </a:rPr>
              <a:t>•  </a:t>
            </a:r>
            <a:r>
              <a:rPr sz="1300">
                <a:solidFill>
                  <a:srgbClr val="161B26"/>
                </a:solidFill>
                <a:latin typeface="Arial"/>
              </a:rPr>
              <a:t>Requires the workflow toggled Active.</a:t>
            </a:r>
          </a:p>
          <a:p>
            <a:pPr>
              <a:spcBef>
                <a:spcPts val="0"/>
              </a:spcBef>
              <a:spcAft>
                <a:spcPts val="900"/>
              </a:spcAft>
            </a:pPr>
            <a:r>
              <a:rPr sz="1300" b="1">
                <a:solidFill>
                  <a:srgbClr val="127A3E"/>
                </a:solidFill>
                <a:latin typeface="Arial"/>
              </a:rPr>
              <a:t>•  </a:t>
            </a:r>
            <a:r>
              <a:rPr sz="1300">
                <a:solidFill>
                  <a:srgbClr val="161B26"/>
                </a:solidFill>
                <a:latin typeface="Arial"/>
              </a:rPr>
              <a:t>Always on — every call starts a run.</a:t>
            </a:r>
          </a:p>
          <a:p>
            <a:pPr>
              <a:spcBef>
                <a:spcPts val="0"/>
              </a:spcBef>
              <a:spcAft>
                <a:spcPts val="900"/>
              </a:spcAft>
            </a:pPr>
            <a:r>
              <a:rPr sz="1300" b="1">
                <a:solidFill>
                  <a:srgbClr val="127A3E"/>
                </a:solidFill>
                <a:latin typeface="Arial"/>
              </a:rPr>
              <a:t>•  </a:t>
            </a:r>
            <a:r>
              <a:rPr sz="1300">
                <a:solidFill>
                  <a:srgbClr val="161B26"/>
                </a:solidFill>
                <a:latin typeface="Arial"/>
              </a:rPr>
              <a:t>Runs are logged in the Executions list, not on the canvas.</a:t>
            </a:r>
          </a:p>
          <a:p>
            <a:pPr>
              <a:spcBef>
                <a:spcPts val="0"/>
              </a:spcBef>
              <a:spcAft>
                <a:spcPts val="900"/>
              </a:spcAft>
            </a:pPr>
            <a:r>
              <a:rPr sz="1300" b="1">
                <a:solidFill>
                  <a:srgbClr val="127A3E"/>
                </a:solidFill>
                <a:latin typeface="Arial"/>
              </a:rPr>
              <a:t>•  </a:t>
            </a:r>
            <a:r>
              <a:rPr sz="1300">
                <a:solidFill>
                  <a:srgbClr val="161B26"/>
                </a:solidFill>
                <a:latin typeface="Arial"/>
              </a:rPr>
              <a:t>This is the URL you give to websites and apps.</a:t>
            </a:r>
          </a:p>
        </p:txBody>
      </p:sp>
      <p:sp>
        <p:nvSpPr>
          <p:cNvPr id="15" name="Rounded Rectangle 14"/>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Websites must call the PRODUCTION URL of an ACTIVE workflow — the Test URL stops when you leave the editor.</a:t>
            </a:r>
          </a:p>
        </p:txBody>
      </p:sp>
      <p:sp>
        <p:nvSpPr>
          <p:cNvPr id="17" name="TextBox 1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8" name="TextBox 1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9" name="TextBox 1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3 · WEBHOOKS</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Configuring the Webhook Node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Four settings decide whether the browser's call succeeds.</a:t>
            </a:r>
          </a:p>
        </p:txBody>
      </p:sp>
      <p:sp>
        <p:nvSpPr>
          <p:cNvPr id="7" name="Rounded Rectangle 6"/>
          <p:cNvSpPr/>
          <p:nvPr/>
        </p:nvSpPr>
        <p:spPr>
          <a:xfrm>
            <a:off x="777240" y="1783080"/>
            <a:ext cx="5170932" cy="1581912"/>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2938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Method + Path</a:t>
            </a:r>
          </a:p>
        </p:txBody>
      </p:sp>
      <p:sp>
        <p:nvSpPr>
          <p:cNvPr id="11" name="TextBox 10"/>
          <p:cNvSpPr txBox="1"/>
          <p:nvPr/>
        </p:nvSpPr>
        <p:spPr>
          <a:xfrm>
            <a:off x="978408" y="233172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GET or POST, and the path that ends your URL — e.g. POST /webhook/hr-chat.</a:t>
            </a:r>
          </a:p>
        </p:txBody>
      </p:sp>
      <p:sp>
        <p:nvSpPr>
          <p:cNvPr id="12" name="Rounded Rectangle 11"/>
          <p:cNvSpPr/>
          <p:nvPr/>
        </p:nvSpPr>
        <p:spPr>
          <a:xfrm>
            <a:off x="6240780" y="1783080"/>
            <a:ext cx="5170932" cy="1581912"/>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23660" y="192938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6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686257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Allowed Origins (CORS)</a:t>
            </a:r>
          </a:p>
        </p:txBody>
      </p:sp>
      <p:sp>
        <p:nvSpPr>
          <p:cNvPr id="16" name="TextBox 15"/>
          <p:cNvSpPr txBox="1"/>
          <p:nvPr/>
        </p:nvSpPr>
        <p:spPr>
          <a:xfrm>
            <a:off x="6441948" y="233172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Browsers block cross-site calls unless allowed — set * in class so a local HTML page can call n8n.</a:t>
            </a:r>
          </a:p>
        </p:txBody>
      </p:sp>
      <p:sp>
        <p:nvSpPr>
          <p:cNvPr id="17" name="Rounded Rectangle 16"/>
          <p:cNvSpPr/>
          <p:nvPr/>
        </p:nvSpPr>
        <p:spPr>
          <a:xfrm>
            <a:off x="777240" y="3584448"/>
            <a:ext cx="5170932" cy="1581912"/>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73075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7307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1399032" y="37398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Response mode</a:t>
            </a:r>
          </a:p>
        </p:txBody>
      </p:sp>
      <p:sp>
        <p:nvSpPr>
          <p:cNvPr id="21" name="TextBox 20"/>
          <p:cNvSpPr txBox="1"/>
          <p:nvPr/>
        </p:nvSpPr>
        <p:spPr>
          <a:xfrm>
            <a:off x="978408" y="413308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Immediately (ack), when the flow finishes, or via a Respond to Webhook node — the course flows use Respond to Webhook.</a:t>
            </a:r>
          </a:p>
        </p:txBody>
      </p:sp>
      <p:sp>
        <p:nvSpPr>
          <p:cNvPr id="22" name="Rounded Rectangle 21"/>
          <p:cNvSpPr/>
          <p:nvPr/>
        </p:nvSpPr>
        <p:spPr>
          <a:xfrm>
            <a:off x="6240780" y="3584448"/>
            <a:ext cx="5170932" cy="1581912"/>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3660" y="3730752"/>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3660" y="37307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6862572" y="37398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Authentication</a:t>
            </a:r>
          </a:p>
        </p:txBody>
      </p:sp>
      <p:sp>
        <p:nvSpPr>
          <p:cNvPr id="26" name="TextBox 25"/>
          <p:cNvSpPr txBox="1"/>
          <p:nvPr/>
        </p:nvSpPr>
        <p:spPr>
          <a:xfrm>
            <a:off x="6441948" y="413308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None for demos; Basic / Header / JWT for anything real — a public URL is a public door.</a:t>
            </a:r>
          </a:p>
        </p:txBody>
      </p:sp>
      <p:sp>
        <p:nvSpPr>
          <p:cNvPr id="27" name="Rounded Rectangle 2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'Failed to fetch' in the browser is usually CORS or a dead Test URL — check both first.</a:t>
            </a:r>
          </a:p>
        </p:txBody>
      </p:sp>
      <p:sp>
        <p:nvSpPr>
          <p:cNvPr id="29" name="TextBox 2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TOPIC 3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5 — Website Chatbot via Webhook (Investment Advisor)</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Put your agent behind a public web page: the enquiry form and the floating chatbot both POST to one n8n webhook.</a:t>
            </a:r>
          </a:p>
        </p:txBody>
      </p:sp>
      <p:sp>
        <p:nvSpPr>
          <p:cNvPr id="7" name="Rounded Rectangle 6"/>
          <p:cNvSpPr/>
          <p:nvPr/>
        </p:nvSpPr>
        <p:spPr>
          <a:xfrm>
            <a:off x="777240"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Webhook — POST</a:t>
            </a:r>
          </a:p>
          <a:p>
            <a:pPr algn="ctr">
              <a:spcBef>
                <a:spcPts val="0"/>
              </a:spcBef>
              <a:spcAft>
                <a:spcPts val="200"/>
              </a:spcAft>
            </a:pPr>
            <a:r>
              <a:rPr sz="850" b="0">
                <a:solidFill>
                  <a:srgbClr val="5B6372"/>
                </a:solidFill>
                <a:latin typeface="Arial"/>
              </a:rPr>
              <a:t>chat + enquiry form call it</a:t>
            </a:r>
          </a:p>
        </p:txBody>
      </p:sp>
      <p:sp>
        <p:nvSpPr>
          <p:cNvPr id="9" name="TextBox 8"/>
          <p:cNvSpPr txBox="1"/>
          <p:nvPr/>
        </p:nvSpPr>
        <p:spPr>
          <a:xfrm>
            <a:off x="317525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0" name="Rounded Rectangle 9"/>
          <p:cNvSpPr/>
          <p:nvPr/>
        </p:nvSpPr>
        <p:spPr>
          <a:xfrm>
            <a:off x="3513582"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AI Agent</a:t>
            </a:r>
          </a:p>
          <a:p>
            <a:pPr algn="ctr">
              <a:spcBef>
                <a:spcPts val="0"/>
              </a:spcBef>
              <a:spcAft>
                <a:spcPts val="200"/>
              </a:spcAft>
            </a:pPr>
            <a:r>
              <a:rPr sz="850" b="0">
                <a:solidFill>
                  <a:srgbClr val="5B6372"/>
                </a:solidFill>
                <a:latin typeface="Arial"/>
              </a:rPr>
              <a:t>compliance instruction — no advice</a:t>
            </a:r>
          </a:p>
        </p:txBody>
      </p:sp>
      <p:sp>
        <p:nvSpPr>
          <p:cNvPr id="12" name="TextBox 11"/>
          <p:cNvSpPr txBox="1"/>
          <p:nvPr/>
        </p:nvSpPr>
        <p:spPr>
          <a:xfrm>
            <a:off x="5911596"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3" name="Rounded Rectangle 12"/>
          <p:cNvSpPr/>
          <p:nvPr/>
        </p:nvSpPr>
        <p:spPr>
          <a:xfrm>
            <a:off x="6249924"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Respond to Webhook</a:t>
            </a:r>
          </a:p>
          <a:p>
            <a:pPr algn="ctr">
              <a:spcBef>
                <a:spcPts val="0"/>
              </a:spcBef>
              <a:spcAft>
                <a:spcPts val="200"/>
              </a:spcAft>
            </a:pPr>
            <a:r>
              <a:rPr sz="850" b="0">
                <a:solidFill>
                  <a:srgbClr val="5B6372"/>
                </a:solidFill>
                <a:latin typeface="Arial"/>
              </a:rPr>
              <a:t>reply returns to the page</a:t>
            </a:r>
          </a:p>
        </p:txBody>
      </p:sp>
      <p:sp>
        <p:nvSpPr>
          <p:cNvPr id="15" name="TextBox 14"/>
          <p:cNvSpPr txBox="1"/>
          <p:nvPr/>
        </p:nvSpPr>
        <p:spPr>
          <a:xfrm>
            <a:off x="864793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0B981"/>
                </a:solidFill>
                <a:latin typeface="Arial"/>
              </a:rPr>
              <a:t>▶</a:t>
            </a:r>
          </a:p>
        </p:txBody>
      </p:sp>
      <p:sp>
        <p:nvSpPr>
          <p:cNvPr id="16" name="Rounded Rectangle 15"/>
          <p:cNvSpPr/>
          <p:nvPr/>
        </p:nvSpPr>
        <p:spPr>
          <a:xfrm>
            <a:off x="8986266" y="1810512"/>
            <a:ext cx="2425446" cy="74980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Gmail</a:t>
            </a:r>
          </a:p>
          <a:p>
            <a:pPr algn="ctr">
              <a:spcBef>
                <a:spcPts val="0"/>
              </a:spcBef>
              <a:spcAft>
                <a:spcPts val="200"/>
              </a:spcAft>
            </a:pPr>
            <a:r>
              <a:rPr sz="850" b="0">
                <a:solidFill>
                  <a:srgbClr val="5B6372"/>
                </a:solidFill>
                <a:latin typeface="Arial"/>
              </a:rPr>
              <a:t>enquiry → advisor inbox</a:t>
            </a:r>
          </a:p>
        </p:txBody>
      </p:sp>
      <p:pic>
        <p:nvPicPr>
          <p:cNvPr id="18" name="Picture 17" descr="Activity5-Investment-Advisor.png"/>
          <p:cNvPicPr>
            <a:picLocks noChangeAspect="1"/>
          </p:cNvPicPr>
          <p:nvPr/>
        </p:nvPicPr>
        <p:blipFill>
          <a:blip r:embed="rId2"/>
          <a:stretch>
            <a:fillRect/>
          </a:stretch>
        </p:blipFill>
        <p:spPr>
          <a:xfrm>
            <a:off x="3712656" y="2761488"/>
            <a:ext cx="4736208" cy="2816352"/>
          </a:xfrm>
          <a:prstGeom prst="rect">
            <a:avLst/>
          </a:prstGeom>
        </p:spPr>
      </p:pic>
      <p:sp>
        <p:nvSpPr>
          <p:cNvPr id="19" name="Rectangle 18"/>
          <p:cNvSpPr/>
          <p:nvPr/>
        </p:nvSpPr>
        <p:spPr>
          <a:xfrm>
            <a:off x="3699956" y="2748788"/>
            <a:ext cx="4761608"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77240" y="5687568"/>
            <a:ext cx="10634472" cy="566928"/>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0120" y="5806440"/>
            <a:ext cx="960120" cy="3291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5</a:t>
            </a:r>
          </a:p>
        </p:txBody>
      </p:sp>
      <p:sp>
        <p:nvSpPr>
          <p:cNvPr id="23" name="TextBox 22"/>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Website Chatbot via Webhook (Investment Advisor)</a:t>
            </a:r>
          </a:p>
        </p:txBody>
      </p:sp>
      <p:sp>
        <p:nvSpPr>
          <p:cNvPr id="24" name="TextBox 23"/>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Production URL pasted into script.js  ·  CORS = *  ·  workflow Active  ·  steps in the Learner Guide</a:t>
            </a:r>
          </a:p>
        </p:txBody>
      </p:sp>
      <p:sp>
        <p:nvSpPr>
          <p:cNvPr id="25" name="TextBox 2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6" name="TextBox 2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7" name="TextBox 2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ACT 5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5 — The Investment Advisor Website</a:t>
            </a:r>
          </a:p>
        </p:txBody>
      </p:sp>
      <p:sp>
        <p:nvSpPr>
          <p:cNvPr id="6" name="TextBox 5"/>
          <p:cNvSpPr txBox="1"/>
          <p:nvPr/>
        </p:nvSpPr>
        <p:spPr>
          <a:xfrm>
            <a:off x="777240" y="1828800"/>
            <a:ext cx="4937760" cy="3566160"/>
          </a:xfrm>
          <a:prstGeom prst="rect">
            <a:avLst/>
          </a:prstGeom>
          <a:noFill/>
        </p:spPr>
        <p:txBody>
          <a:bodyPr wrap="square" lIns="0" rIns="0">
            <a:spAutoFit/>
          </a:bodyPr>
          <a:lstStyle/>
          <a:p>
            <a:pPr>
              <a:spcBef>
                <a:spcPts val="0"/>
              </a:spcBef>
              <a:spcAft>
                <a:spcPts val="900"/>
              </a:spcAft>
            </a:pPr>
            <a:r>
              <a:rPr sz="1500" b="1">
                <a:solidFill>
                  <a:srgbClr val="1F6FEB"/>
                </a:solidFill>
                <a:latin typeface="Arial"/>
              </a:rPr>
              <a:t>•  </a:t>
            </a:r>
            <a:r>
              <a:rPr sz="1500">
                <a:solidFill>
                  <a:srgbClr val="161B26"/>
                </a:solidFill>
                <a:latin typeface="Arial"/>
              </a:rPr>
              <a:t>A public landing page with an enquiry form and a floating 'Ask Advisor' chatbot.</a:t>
            </a:r>
          </a:p>
          <a:p>
            <a:pPr>
              <a:spcBef>
                <a:spcPts val="0"/>
              </a:spcBef>
              <a:spcAft>
                <a:spcPts val="900"/>
              </a:spcAft>
            </a:pPr>
            <a:r>
              <a:rPr sz="1500" b="1">
                <a:solidFill>
                  <a:srgbClr val="1F6FEB"/>
                </a:solidFill>
                <a:latin typeface="Arial"/>
              </a:rPr>
              <a:t>•  </a:t>
            </a:r>
            <a:r>
              <a:rPr sz="1500">
                <a:solidFill>
                  <a:srgbClr val="161B26"/>
                </a:solidFill>
                <a:latin typeface="Arial"/>
              </a:rPr>
              <a:t>Both the form and the chat POST to one n8n Webhook.</a:t>
            </a:r>
          </a:p>
          <a:p>
            <a:pPr>
              <a:spcBef>
                <a:spcPts val="0"/>
              </a:spcBef>
              <a:spcAft>
                <a:spcPts val="900"/>
              </a:spcAft>
            </a:pPr>
            <a:r>
              <a:rPr sz="1500" b="1">
                <a:solidFill>
                  <a:srgbClr val="1F6FEB"/>
                </a:solidFill>
                <a:latin typeface="Arial"/>
              </a:rPr>
              <a:t>•  </a:t>
            </a:r>
            <a:r>
              <a:rPr sz="1500">
                <a:solidFill>
                  <a:srgbClr val="161B26"/>
                </a:solidFill>
                <a:latin typeface="Arial"/>
              </a:rPr>
              <a:t>The AI Agent replies in the chat; the advisor is emailed the enquiry.</a:t>
            </a:r>
          </a:p>
          <a:p>
            <a:pPr>
              <a:spcBef>
                <a:spcPts val="0"/>
              </a:spcBef>
              <a:spcAft>
                <a:spcPts val="900"/>
              </a:spcAft>
            </a:pPr>
            <a:r>
              <a:rPr sz="1500" b="1">
                <a:solidFill>
                  <a:srgbClr val="1F6FEB"/>
                </a:solidFill>
                <a:latin typeface="Arial"/>
              </a:rPr>
              <a:t>•  </a:t>
            </a:r>
            <a:r>
              <a:rPr sz="1500">
                <a:solidFill>
                  <a:srgbClr val="161B26"/>
                </a:solidFill>
                <a:latin typeface="Arial"/>
              </a:rPr>
              <a:t>Set the webhook Production URL in script.js, then open index.html.</a:t>
            </a:r>
          </a:p>
        </p:txBody>
      </p:sp>
      <p:pic>
        <p:nvPicPr>
          <p:cNvPr id="7" name="Picture 6" descr="Activity5-website.png"/>
          <p:cNvPicPr>
            <a:picLocks noChangeAspect="1"/>
          </p:cNvPicPr>
          <p:nvPr/>
        </p:nvPicPr>
        <p:blipFill>
          <a:blip r:embed="rId2"/>
          <a:stretch>
            <a:fillRect/>
          </a:stretch>
        </p:blipFill>
        <p:spPr>
          <a:xfrm>
            <a:off x="5943600" y="1828800"/>
            <a:ext cx="5486400" cy="3429000"/>
          </a:xfrm>
          <a:prstGeom prst="rect">
            <a:avLst/>
          </a:prstGeom>
        </p:spPr>
      </p:pic>
      <p:sp>
        <p:nvSpPr>
          <p:cNvPr id="8" name="Rectangle 7"/>
          <p:cNvSpPr/>
          <p:nvPr/>
        </p:nvSpPr>
        <p:spPr>
          <a:xfrm>
            <a:off x="5930900" y="1816100"/>
            <a:ext cx="5511800" cy="345440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965960"/>
            <a:ext cx="9418320" cy="2926080"/>
          </a:xfrm>
          <a:prstGeom prst="roundRect">
            <a:avLst>
              <a:gd name="adj" fmla="val 5500"/>
            </a:avLst>
          </a:prstGeom>
          <a:solidFill>
            <a:srgbClr val="FFFFFF"/>
          </a:solidFill>
          <a:ln w="19050">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965960"/>
            <a:ext cx="201168" cy="29260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286000"/>
            <a:ext cx="8503920" cy="365760"/>
          </a:xfrm>
          <a:prstGeom prst="rect">
            <a:avLst/>
          </a:prstGeom>
          <a:noFill/>
        </p:spPr>
        <p:txBody>
          <a:bodyPr wrap="square" anchor="t" lIns="0" rIns="0" tIns="0" bIns="0">
            <a:spAutoFit/>
          </a:bodyPr>
          <a:lstStyle/>
          <a:p>
            <a:pPr algn="l">
              <a:spcBef>
                <a:spcPts val="0"/>
              </a:spcBef>
              <a:spcAft>
                <a:spcPts val="400"/>
              </a:spcAft>
            </a:pPr>
            <a:r>
              <a:rPr sz="1500" b="1">
                <a:solidFill>
                  <a:srgbClr val="1F6FEB"/>
                </a:solidFill>
                <a:latin typeface="Arial"/>
              </a:rPr>
              <a:t>TOPIC 4</a:t>
            </a:r>
          </a:p>
        </p:txBody>
      </p:sp>
      <p:sp>
        <p:nvSpPr>
          <p:cNvPr id="6" name="TextBox 5"/>
          <p:cNvSpPr txBox="1"/>
          <p:nvPr/>
        </p:nvSpPr>
        <p:spPr>
          <a:xfrm>
            <a:off x="1920240" y="2697480"/>
            <a:ext cx="8595360" cy="1097280"/>
          </a:xfrm>
          <a:prstGeom prst="rect">
            <a:avLst/>
          </a:prstGeom>
          <a:noFill/>
        </p:spPr>
        <p:txBody>
          <a:bodyPr wrap="square" anchor="t" lIns="0" rIns="0" tIns="0" bIns="0">
            <a:spAutoFit/>
          </a:bodyPr>
          <a:lstStyle/>
          <a:p>
            <a:pPr algn="l">
              <a:spcBef>
                <a:spcPts val="0"/>
              </a:spcBef>
              <a:spcAft>
                <a:spcPts val="400"/>
              </a:spcAft>
            </a:pPr>
            <a:r>
              <a:rPr sz="3400" b="1">
                <a:solidFill>
                  <a:srgbClr val="161B26"/>
                </a:solidFill>
                <a:latin typeface="Arial"/>
              </a:rPr>
              <a:t>APIs and the HTTP Request Node</a:t>
            </a:r>
          </a:p>
        </p:txBody>
      </p:sp>
      <p:sp>
        <p:nvSpPr>
          <p:cNvPr id="7" name="TextBox 6"/>
          <p:cNvSpPr txBox="1"/>
          <p:nvPr/>
        </p:nvSpPr>
        <p:spPr>
          <a:xfrm>
            <a:off x="1938528" y="3794760"/>
            <a:ext cx="8503920" cy="548640"/>
          </a:xfrm>
          <a:prstGeom prst="rect">
            <a:avLst/>
          </a:prstGeom>
          <a:noFill/>
        </p:spPr>
        <p:txBody>
          <a:bodyPr wrap="square" anchor="t" lIns="0" rIns="0" tIns="0" bIns="0">
            <a:spAutoFit/>
          </a:bodyPr>
          <a:lstStyle/>
          <a:p>
            <a:pPr algn="l">
              <a:spcBef>
                <a:spcPts val="0"/>
              </a:spcBef>
              <a:spcAft>
                <a:spcPts val="400"/>
              </a:spcAft>
            </a:pPr>
            <a:r>
              <a:rPr sz="1400" b="0">
                <a:solidFill>
                  <a:srgbClr val="5B6372"/>
                </a:solidFill>
                <a:latin typeface="Arial"/>
              </a:rPr>
              <a:t>Calling external services · request anatomy · status codes · API keys</a:t>
            </a:r>
          </a:p>
        </p:txBody>
      </p:sp>
      <p:sp>
        <p:nvSpPr>
          <p:cNvPr id="8" name="TextBox 7"/>
          <p:cNvSpPr txBox="1"/>
          <p:nvPr/>
        </p:nvSpPr>
        <p:spPr>
          <a:xfrm>
            <a:off x="1938528" y="4343400"/>
            <a:ext cx="8503920" cy="365760"/>
          </a:xfrm>
          <a:prstGeom prst="rect">
            <a:avLst/>
          </a:prstGeom>
          <a:noFill/>
        </p:spPr>
        <p:txBody>
          <a:bodyPr wrap="square" anchor="t" lIns="0" rIns="0" tIns="0" bIns="0">
            <a:spAutoFit/>
          </a:bodyPr>
          <a:lstStyle/>
          <a:p>
            <a:pPr algn="l">
              <a:spcBef>
                <a:spcPts val="0"/>
              </a:spcBef>
              <a:spcAft>
                <a:spcPts val="400"/>
              </a:spcAft>
            </a:pPr>
            <a:r>
              <a:rPr sz="1200" b="1">
                <a:solidFill>
                  <a:srgbClr val="1F6FEB"/>
                </a:solidFill>
                <a:latin typeface="Arial"/>
              </a:rPr>
              <a:t>Applied in Activity 6</a:t>
            </a:r>
          </a:p>
        </p:txBody>
      </p:sp>
      <p:sp>
        <p:nvSpPr>
          <p:cNvPr id="9" name="TextBox 8"/>
          <p:cNvSpPr txBox="1"/>
          <p:nvPr/>
        </p:nvSpPr>
        <p:spPr>
          <a:xfrm>
            <a:off x="9326880" y="54864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04</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85</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What Is an API?</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 service's front desk: you send a structured request over HTTP, it returns structured data — usually JSON.</a:t>
            </a:r>
          </a:p>
        </p:txBody>
      </p:sp>
      <p:sp>
        <p:nvSpPr>
          <p:cNvPr id="7" name="Rounded Rectangle 6"/>
          <p:cNvSpPr/>
          <p:nvPr/>
        </p:nvSpPr>
        <p:spPr>
          <a:xfrm>
            <a:off x="777240"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Your workflow</a:t>
            </a:r>
          </a:p>
          <a:p>
            <a:pPr algn="ctr">
              <a:spcBef>
                <a:spcPts val="0"/>
              </a:spcBef>
              <a:spcAft>
                <a:spcPts val="200"/>
              </a:spcAft>
            </a:pPr>
            <a:r>
              <a:rPr sz="900" b="0">
                <a:solidFill>
                  <a:srgbClr val="5B6372"/>
                </a:solidFill>
                <a:latin typeface="Arial"/>
              </a:rPr>
              <a:t>the client</a:t>
            </a:r>
          </a:p>
        </p:txBody>
      </p:sp>
      <p:sp>
        <p:nvSpPr>
          <p:cNvPr id="9" name="TextBox 8"/>
          <p:cNvSpPr txBox="1"/>
          <p:nvPr/>
        </p:nvSpPr>
        <p:spPr>
          <a:xfrm>
            <a:off x="3175254"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0" name="Rounded Rectangle 9"/>
          <p:cNvSpPr/>
          <p:nvPr/>
        </p:nvSpPr>
        <p:spPr>
          <a:xfrm>
            <a:off x="3513582"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HTTP request</a:t>
            </a:r>
          </a:p>
          <a:p>
            <a:pPr algn="ctr">
              <a:spcBef>
                <a:spcPts val="0"/>
              </a:spcBef>
              <a:spcAft>
                <a:spcPts val="200"/>
              </a:spcAft>
            </a:pPr>
            <a:r>
              <a:rPr sz="900" b="0">
                <a:solidFill>
                  <a:srgbClr val="5B6372"/>
                </a:solidFill>
                <a:latin typeface="Arial"/>
              </a:rPr>
              <a:t>method + URL + key + params</a:t>
            </a:r>
          </a:p>
        </p:txBody>
      </p:sp>
      <p:sp>
        <p:nvSpPr>
          <p:cNvPr id="12" name="TextBox 11"/>
          <p:cNvSpPr txBox="1"/>
          <p:nvPr/>
        </p:nvSpPr>
        <p:spPr>
          <a:xfrm>
            <a:off x="5911596"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3" name="Rounded Rectangle 12"/>
          <p:cNvSpPr/>
          <p:nvPr/>
        </p:nvSpPr>
        <p:spPr>
          <a:xfrm>
            <a:off x="6249924"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API server</a:t>
            </a:r>
          </a:p>
          <a:p>
            <a:pPr algn="ctr">
              <a:spcBef>
                <a:spcPts val="0"/>
              </a:spcBef>
              <a:spcAft>
                <a:spcPts val="200"/>
              </a:spcAft>
            </a:pPr>
            <a:r>
              <a:rPr sz="900" b="0">
                <a:solidFill>
                  <a:srgbClr val="5B6372"/>
                </a:solidFill>
                <a:latin typeface="Arial"/>
              </a:rPr>
              <a:t>processes the request</a:t>
            </a:r>
          </a:p>
        </p:txBody>
      </p:sp>
      <p:sp>
        <p:nvSpPr>
          <p:cNvPr id="15" name="TextBox 14"/>
          <p:cNvSpPr txBox="1"/>
          <p:nvPr/>
        </p:nvSpPr>
        <p:spPr>
          <a:xfrm>
            <a:off x="8647938" y="22357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6" name="Rounded Rectangle 15"/>
          <p:cNvSpPr/>
          <p:nvPr/>
        </p:nvSpPr>
        <p:spPr>
          <a:xfrm>
            <a:off x="8986266" y="1920240"/>
            <a:ext cx="2425446" cy="9601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920240"/>
            <a:ext cx="2242566" cy="960120"/>
          </a:xfrm>
          <a:prstGeom prst="rect">
            <a:avLst/>
          </a:prstGeom>
          <a:noFill/>
        </p:spPr>
        <p:txBody>
          <a:bodyPr wrap="square" anchor="ctr" lIns="0" rIns="0" tIns="0" bIns="0">
            <a:spAutoFit/>
          </a:bodyPr>
          <a:lstStyle/>
          <a:p>
            <a:pPr algn="ctr">
              <a:spcBef>
                <a:spcPts val="0"/>
              </a:spcBef>
              <a:spcAft>
                <a:spcPts val="200"/>
              </a:spcAft>
            </a:pPr>
            <a:r>
              <a:rPr sz="1250" b="1">
                <a:solidFill>
                  <a:srgbClr val="161B26"/>
                </a:solidFill>
                <a:latin typeface="Arial"/>
              </a:rPr>
              <a:t>JSON response</a:t>
            </a:r>
          </a:p>
          <a:p>
            <a:pPr algn="ctr">
              <a:spcBef>
                <a:spcPts val="0"/>
              </a:spcBef>
              <a:spcAft>
                <a:spcPts val="200"/>
              </a:spcAft>
            </a:pPr>
            <a:r>
              <a:rPr sz="900" b="0">
                <a:solidFill>
                  <a:srgbClr val="5B6372"/>
                </a:solidFill>
                <a:latin typeface="Arial"/>
              </a:rPr>
              <a:t>fields your next node can read</a:t>
            </a:r>
          </a:p>
        </p:txBody>
      </p:sp>
      <p:sp>
        <p:nvSpPr>
          <p:cNvPr id="18" name="Rounded Rectangle 17"/>
          <p:cNvSpPr/>
          <p:nvPr/>
        </p:nvSpPr>
        <p:spPr>
          <a:xfrm>
            <a:off x="777240" y="3200400"/>
            <a:ext cx="3349752" cy="233172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34670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21" name="TextBox 20"/>
          <p:cNvSpPr txBox="1"/>
          <p:nvPr/>
        </p:nvSpPr>
        <p:spPr>
          <a:xfrm>
            <a:off x="139903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Live data on demand</a:t>
            </a:r>
          </a:p>
        </p:txBody>
      </p:sp>
      <p:sp>
        <p:nvSpPr>
          <p:cNvPr id="22" name="TextBox 21"/>
          <p:cNvSpPr txBox="1"/>
          <p:nvPr/>
        </p:nvSpPr>
        <p:spPr>
          <a:xfrm>
            <a:off x="97840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Prices, weather, news, CRM records — data your workflow pulls the moment it needs it.</a:t>
            </a:r>
          </a:p>
        </p:txBody>
      </p:sp>
      <p:sp>
        <p:nvSpPr>
          <p:cNvPr id="23" name="Rounded Rectangle 22"/>
          <p:cNvSpPr/>
          <p:nvPr/>
        </p:nvSpPr>
        <p:spPr>
          <a:xfrm>
            <a:off x="4419600" y="3200400"/>
            <a:ext cx="3349752" cy="233172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602480" y="334670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0248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26" name="TextBox 25"/>
          <p:cNvSpPr txBox="1"/>
          <p:nvPr/>
        </p:nvSpPr>
        <p:spPr>
          <a:xfrm>
            <a:off x="504139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You dial out</a:t>
            </a:r>
          </a:p>
        </p:txBody>
      </p:sp>
      <p:sp>
        <p:nvSpPr>
          <p:cNvPr id="27" name="TextBox 26"/>
          <p:cNvSpPr txBox="1"/>
          <p:nvPr/>
        </p:nvSpPr>
        <p:spPr>
          <a:xfrm>
            <a:off x="462076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The opposite of a webhook: YOUR flow calls THEIR server, on your schedule.</a:t>
            </a:r>
          </a:p>
        </p:txBody>
      </p:sp>
      <p:sp>
        <p:nvSpPr>
          <p:cNvPr id="28" name="Rounded Rectangle 27"/>
          <p:cNvSpPr/>
          <p:nvPr/>
        </p:nvSpPr>
        <p:spPr>
          <a:xfrm>
            <a:off x="8061960" y="3200400"/>
            <a:ext cx="3349752" cy="233172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244840" y="334670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4840" y="334670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31" name="TextBox 30"/>
          <p:cNvSpPr txBox="1"/>
          <p:nvPr/>
        </p:nvSpPr>
        <p:spPr>
          <a:xfrm>
            <a:off x="8683752" y="3355848"/>
            <a:ext cx="252679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One node fits all</a:t>
            </a:r>
          </a:p>
        </p:txBody>
      </p:sp>
      <p:sp>
        <p:nvSpPr>
          <p:cNvPr id="32" name="TextBox 31"/>
          <p:cNvSpPr txBox="1"/>
          <p:nvPr/>
        </p:nvSpPr>
        <p:spPr>
          <a:xfrm>
            <a:off x="8263128" y="3749040"/>
            <a:ext cx="2947416" cy="163677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The HTTP Request node calls any API on the internet — even ones n8n has no integration for.</a:t>
            </a:r>
          </a:p>
        </p:txBody>
      </p:sp>
      <p:sp>
        <p:nvSpPr>
          <p:cNvPr id="33" name="Rounded Rectangle 32"/>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If a service has an API, n8n can use it — the HTTP Request node is the universal connector.</a:t>
            </a:r>
          </a:p>
        </p:txBody>
      </p:sp>
      <p:sp>
        <p:nvSpPr>
          <p:cNvPr id="35" name="TextBox 3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Anatomy of an HTTP Request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Four parts you configure on the HTTP Request node.</a:t>
            </a:r>
          </a:p>
        </p:txBody>
      </p:sp>
      <p:sp>
        <p:nvSpPr>
          <p:cNvPr id="7" name="Rectangle 6"/>
          <p:cNvSpPr/>
          <p:nvPr/>
        </p:nvSpPr>
        <p:spPr>
          <a:xfrm>
            <a:off x="777240" y="1828800"/>
            <a:ext cx="2377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28800"/>
            <a:ext cx="2121408"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Part</a:t>
            </a:r>
          </a:p>
        </p:txBody>
      </p:sp>
      <p:sp>
        <p:nvSpPr>
          <p:cNvPr id="9" name="Rectangle 8"/>
          <p:cNvSpPr/>
          <p:nvPr/>
        </p:nvSpPr>
        <p:spPr>
          <a:xfrm>
            <a:off x="3154680" y="1828800"/>
            <a:ext cx="42062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82696" y="1828800"/>
            <a:ext cx="3950208"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What it is</a:t>
            </a:r>
          </a:p>
        </p:txBody>
      </p:sp>
      <p:sp>
        <p:nvSpPr>
          <p:cNvPr id="11" name="Rectangle 10"/>
          <p:cNvSpPr/>
          <p:nvPr/>
        </p:nvSpPr>
        <p:spPr>
          <a:xfrm>
            <a:off x="7360920" y="1828800"/>
            <a:ext cx="4050791"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88936" y="1828800"/>
            <a:ext cx="3794759"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Activity 6 example</a:t>
            </a:r>
          </a:p>
        </p:txBody>
      </p:sp>
      <p:sp>
        <p:nvSpPr>
          <p:cNvPr id="13" name="Rectangle 12"/>
          <p:cNvSpPr/>
          <p:nvPr/>
        </p:nvSpPr>
        <p:spPr>
          <a:xfrm>
            <a:off x="777240" y="2304288"/>
            <a:ext cx="237744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304288"/>
            <a:ext cx="2121408" cy="475488"/>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Method</a:t>
            </a:r>
          </a:p>
        </p:txBody>
      </p:sp>
      <p:sp>
        <p:nvSpPr>
          <p:cNvPr id="15" name="Rectangle 14"/>
          <p:cNvSpPr/>
          <p:nvPr/>
        </p:nvSpPr>
        <p:spPr>
          <a:xfrm>
            <a:off x="3154680" y="2304288"/>
            <a:ext cx="420624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82696" y="2304288"/>
            <a:ext cx="395020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GET (read) · POST (send) · PUT · DELETE</a:t>
            </a:r>
          </a:p>
        </p:txBody>
      </p:sp>
      <p:sp>
        <p:nvSpPr>
          <p:cNvPr id="17" name="Rectangle 16"/>
          <p:cNvSpPr/>
          <p:nvPr/>
        </p:nvSpPr>
        <p:spPr>
          <a:xfrm>
            <a:off x="7360920" y="2304288"/>
            <a:ext cx="405079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88936" y="2304288"/>
            <a:ext cx="3794759"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GET — read market candles</a:t>
            </a:r>
          </a:p>
        </p:txBody>
      </p:sp>
      <p:sp>
        <p:nvSpPr>
          <p:cNvPr id="19" name="Rectangle 18"/>
          <p:cNvSpPr/>
          <p:nvPr/>
        </p:nvSpPr>
        <p:spPr>
          <a:xfrm>
            <a:off x="777240" y="2779776"/>
            <a:ext cx="237744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79776"/>
            <a:ext cx="2121408" cy="475488"/>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URL / endpoint</a:t>
            </a:r>
          </a:p>
        </p:txBody>
      </p:sp>
      <p:sp>
        <p:nvSpPr>
          <p:cNvPr id="21" name="Rectangle 20"/>
          <p:cNvSpPr/>
          <p:nvPr/>
        </p:nvSpPr>
        <p:spPr>
          <a:xfrm>
            <a:off x="3154680" y="2779776"/>
            <a:ext cx="420624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82696" y="2779776"/>
            <a:ext cx="395020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The address of the resource</a:t>
            </a:r>
          </a:p>
        </p:txBody>
      </p:sp>
      <p:sp>
        <p:nvSpPr>
          <p:cNvPr id="23" name="Rectangle 22"/>
          <p:cNvSpPr/>
          <p:nvPr/>
        </p:nvSpPr>
        <p:spPr>
          <a:xfrm>
            <a:off x="7360920" y="2779776"/>
            <a:ext cx="405079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88936" y="2779776"/>
            <a:ext cx="3794759"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api.twelvedata.com/time_series</a:t>
            </a:r>
          </a:p>
        </p:txBody>
      </p:sp>
      <p:sp>
        <p:nvSpPr>
          <p:cNvPr id="25" name="Rectangle 24"/>
          <p:cNvSpPr/>
          <p:nvPr/>
        </p:nvSpPr>
        <p:spPr>
          <a:xfrm>
            <a:off x="777240" y="3255264"/>
            <a:ext cx="237744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55264"/>
            <a:ext cx="2121408" cy="475488"/>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Headers</a:t>
            </a:r>
          </a:p>
        </p:txBody>
      </p:sp>
      <p:sp>
        <p:nvSpPr>
          <p:cNvPr id="27" name="Rectangle 26"/>
          <p:cNvSpPr/>
          <p:nvPr/>
        </p:nvSpPr>
        <p:spPr>
          <a:xfrm>
            <a:off x="3154680" y="3255264"/>
            <a:ext cx="420624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82696" y="3255264"/>
            <a:ext cx="395020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Metadata, incl. authentication</a:t>
            </a:r>
          </a:p>
        </p:txBody>
      </p:sp>
      <p:sp>
        <p:nvSpPr>
          <p:cNvPr id="29" name="Rectangle 28"/>
          <p:cNvSpPr/>
          <p:nvPr/>
        </p:nvSpPr>
        <p:spPr>
          <a:xfrm>
            <a:off x="7360920" y="3255264"/>
            <a:ext cx="4050791"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88936" y="3255264"/>
            <a:ext cx="3794759"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(Twelve Data uses a query key instead)</a:t>
            </a:r>
          </a:p>
        </p:txBody>
      </p:sp>
      <p:sp>
        <p:nvSpPr>
          <p:cNvPr id="31" name="Rectangle 30"/>
          <p:cNvSpPr/>
          <p:nvPr/>
        </p:nvSpPr>
        <p:spPr>
          <a:xfrm>
            <a:off x="777240" y="3730752"/>
            <a:ext cx="237744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30752"/>
            <a:ext cx="2121408" cy="475488"/>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Query params / body</a:t>
            </a:r>
          </a:p>
        </p:txBody>
      </p:sp>
      <p:sp>
        <p:nvSpPr>
          <p:cNvPr id="33" name="Rectangle 32"/>
          <p:cNvSpPr/>
          <p:nvPr/>
        </p:nvSpPr>
        <p:spPr>
          <a:xfrm>
            <a:off x="3154680" y="3730752"/>
            <a:ext cx="420624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82696" y="3730752"/>
            <a:ext cx="395020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The inputs you send</a:t>
            </a:r>
          </a:p>
        </p:txBody>
      </p:sp>
      <p:sp>
        <p:nvSpPr>
          <p:cNvPr id="35" name="Rectangle 34"/>
          <p:cNvSpPr/>
          <p:nvPr/>
        </p:nvSpPr>
        <p:spPr>
          <a:xfrm>
            <a:off x="7360920" y="3730752"/>
            <a:ext cx="4050791"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88936" y="3730752"/>
            <a:ext cx="3794759"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symbol=AAPL &amp; interval=1min &amp; apikey=…</a:t>
            </a:r>
          </a:p>
        </p:txBody>
      </p:sp>
      <p:sp>
        <p:nvSpPr>
          <p:cNvPr id="37" name="Rounded Rectangle 3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Store API keys in Credentials — never hard-code them into the URL you share.</a:t>
            </a:r>
          </a:p>
        </p:txBody>
      </p:sp>
      <p:sp>
        <p:nvSpPr>
          <p:cNvPr id="39" name="TextBox 3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0" name="TextBox 3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1" name="TextBox 4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87</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Reading the Response — Status Codes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status code tells you whose problem it is before you read a single byte of the body.</a:t>
            </a:r>
          </a:p>
        </p:txBody>
      </p:sp>
      <p:sp>
        <p:nvSpPr>
          <p:cNvPr id="7" name="Rounded Rectangle 6"/>
          <p:cNvSpPr/>
          <p:nvPr/>
        </p:nvSpPr>
        <p:spPr>
          <a:xfrm>
            <a:off x="777240" y="1783080"/>
            <a:ext cx="5170932" cy="1581912"/>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929384"/>
            <a:ext cx="310896" cy="310896"/>
          </a:xfrm>
          <a:prstGeom prst="ellipse">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10" name="TextBox 9"/>
          <p:cNvSpPr txBox="1"/>
          <p:nvPr/>
        </p:nvSpPr>
        <p:spPr>
          <a:xfrm>
            <a:off x="139903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2xx — success</a:t>
            </a:r>
          </a:p>
        </p:txBody>
      </p:sp>
      <p:sp>
        <p:nvSpPr>
          <p:cNvPr id="11" name="TextBox 10"/>
          <p:cNvSpPr txBox="1"/>
          <p:nvPr/>
        </p:nvSpPr>
        <p:spPr>
          <a:xfrm>
            <a:off x="978408" y="233172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200 OK, 201 Created. The JSON body holds your data — map it to the next node.</a:t>
            </a:r>
          </a:p>
        </p:txBody>
      </p:sp>
      <p:sp>
        <p:nvSpPr>
          <p:cNvPr id="12" name="Rounded Rectangle 11"/>
          <p:cNvSpPr/>
          <p:nvPr/>
        </p:nvSpPr>
        <p:spPr>
          <a:xfrm>
            <a:off x="6240780" y="1783080"/>
            <a:ext cx="5170932" cy="1581912"/>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23660" y="1929384"/>
            <a:ext cx="310896" cy="3108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3660" y="192938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15" name="TextBox 14"/>
          <p:cNvSpPr txBox="1"/>
          <p:nvPr/>
        </p:nvSpPr>
        <p:spPr>
          <a:xfrm>
            <a:off x="6862572" y="193852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401 / 403 — auth</a:t>
            </a:r>
          </a:p>
        </p:txBody>
      </p:sp>
      <p:sp>
        <p:nvSpPr>
          <p:cNvPr id="16" name="TextBox 15"/>
          <p:cNvSpPr txBox="1"/>
          <p:nvPr/>
        </p:nvSpPr>
        <p:spPr>
          <a:xfrm>
            <a:off x="6441948" y="2331720"/>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Bad or missing API key. Check the credential, not the flow.</a:t>
            </a:r>
          </a:p>
        </p:txBody>
      </p:sp>
      <p:sp>
        <p:nvSpPr>
          <p:cNvPr id="17" name="Rounded Rectangle 16"/>
          <p:cNvSpPr/>
          <p:nvPr/>
        </p:nvSpPr>
        <p:spPr>
          <a:xfrm>
            <a:off x="777240" y="3584448"/>
            <a:ext cx="5170932" cy="1581912"/>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730752"/>
            <a:ext cx="310896" cy="310896"/>
          </a:xfrm>
          <a:prstGeom prst="ellipse">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7307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20" name="TextBox 19"/>
          <p:cNvSpPr txBox="1"/>
          <p:nvPr/>
        </p:nvSpPr>
        <p:spPr>
          <a:xfrm>
            <a:off x="1399032" y="37398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429 — rate limited</a:t>
            </a:r>
          </a:p>
        </p:txBody>
      </p:sp>
      <p:sp>
        <p:nvSpPr>
          <p:cNvPr id="21" name="TextBox 20"/>
          <p:cNvSpPr txBox="1"/>
          <p:nvPr/>
        </p:nvSpPr>
        <p:spPr>
          <a:xfrm>
            <a:off x="978408" y="413308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Too many calls for your plan — slow down or upgrade. Free tiers hit this fast.</a:t>
            </a:r>
          </a:p>
        </p:txBody>
      </p:sp>
      <p:sp>
        <p:nvSpPr>
          <p:cNvPr id="22" name="Rounded Rectangle 21"/>
          <p:cNvSpPr/>
          <p:nvPr/>
        </p:nvSpPr>
        <p:spPr>
          <a:xfrm>
            <a:off x="6240780" y="3584448"/>
            <a:ext cx="5170932" cy="1581912"/>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3660" y="3730752"/>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3660" y="3730752"/>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25" name="TextBox 24"/>
          <p:cNvSpPr txBox="1"/>
          <p:nvPr/>
        </p:nvSpPr>
        <p:spPr>
          <a:xfrm>
            <a:off x="6862572" y="3739896"/>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4xx vs 5xx</a:t>
            </a:r>
          </a:p>
        </p:txBody>
      </p:sp>
      <p:sp>
        <p:nvSpPr>
          <p:cNvPr id="26" name="TextBox 25"/>
          <p:cNvSpPr txBox="1"/>
          <p:nvPr/>
        </p:nvSpPr>
        <p:spPr>
          <a:xfrm>
            <a:off x="6441948" y="4133088"/>
            <a:ext cx="4768596" cy="886968"/>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4xx: your request is wrong. 5xx: their server is broken. Retry helps only with 5xx.</a:t>
            </a:r>
          </a:p>
        </p:txBody>
      </p:sp>
      <p:sp>
        <p:nvSpPr>
          <p:cNvPr id="27" name="Rounded Rectangle 2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4xx = fix your request · 5xx = wait and retry — never guess from the body alone.</a:t>
            </a:r>
          </a:p>
        </p:txBody>
      </p:sp>
      <p:sp>
        <p:nvSpPr>
          <p:cNvPr id="29" name="TextBox 2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88</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4 · API &amp; HTTP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The HTTP Request Node</a:t>
            </a:r>
          </a:p>
        </p:txBody>
      </p:sp>
      <p:pic>
        <p:nvPicPr>
          <p:cNvPr id="6" name="Picture 5" descr="n8n-http-request.png"/>
          <p:cNvPicPr>
            <a:picLocks noChangeAspect="1"/>
          </p:cNvPicPr>
          <p:nvPr/>
        </p:nvPicPr>
        <p:blipFill>
          <a:blip r:embed="rId2"/>
          <a:stretch>
            <a:fillRect/>
          </a:stretch>
        </p:blipFill>
        <p:spPr>
          <a:xfrm>
            <a:off x="943057" y="1737360"/>
            <a:ext cx="10275405" cy="4160520"/>
          </a:xfrm>
          <a:prstGeom prst="rect">
            <a:avLst/>
          </a:prstGeom>
        </p:spPr>
      </p:pic>
      <p:sp>
        <p:nvSpPr>
          <p:cNvPr id="7" name="Rectangle 6"/>
          <p:cNvSpPr/>
          <p:nvPr/>
        </p:nvSpPr>
        <p:spPr>
          <a:xfrm>
            <a:off x="930357" y="1724660"/>
            <a:ext cx="10300805" cy="418592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HTTP Request node — configure method, URL, auth, query parameters; the JSON response flows to the next node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89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ACT 6 · MARKET DATA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Twelve Data — Market Data API</a:t>
            </a:r>
          </a:p>
        </p:txBody>
      </p:sp>
      <p:sp>
        <p:nvSpPr>
          <p:cNvPr id="6" name="TextBox 5"/>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Live stock / forex / crypto data over a simple REST API.</a:t>
            </a:r>
          </a:p>
          <a:p>
            <a:pPr>
              <a:spcBef>
                <a:spcPts val="0"/>
              </a:spcBef>
              <a:spcAft>
                <a:spcPts val="1000"/>
              </a:spcAft>
            </a:pPr>
            <a:r>
              <a:rPr sz="1600" b="1">
                <a:solidFill>
                  <a:srgbClr val="1F6FEB"/>
                </a:solidFill>
                <a:latin typeface="Arial"/>
              </a:rPr>
              <a:t>•  </a:t>
            </a:r>
            <a:r>
              <a:rPr sz="1600">
                <a:solidFill>
                  <a:srgbClr val="161B26"/>
                </a:solidFill>
                <a:latin typeface="Arial"/>
              </a:rPr>
              <a:t>Sign up (free Basic plan), then Account → API Keys.</a:t>
            </a:r>
          </a:p>
          <a:p>
            <a:pPr>
              <a:spcBef>
                <a:spcPts val="0"/>
              </a:spcBef>
              <a:spcAft>
                <a:spcPts val="1000"/>
              </a:spcAft>
            </a:pPr>
            <a:r>
              <a:rPr sz="1600" b="1">
                <a:solidFill>
                  <a:srgbClr val="1F6FEB"/>
                </a:solidFill>
                <a:latin typeface="Arial"/>
              </a:rPr>
              <a:t>•  </a:t>
            </a:r>
            <a:r>
              <a:rPr sz="1600">
                <a:solidFill>
                  <a:srgbClr val="161B26"/>
                </a:solidFill>
                <a:latin typeface="Arial"/>
              </a:rPr>
              <a:t>Paste the apikey into the three 'candles' HTTP nodes.</a:t>
            </a:r>
          </a:p>
          <a:p>
            <a:pPr>
              <a:spcBef>
                <a:spcPts val="0"/>
              </a:spcBef>
              <a:spcAft>
                <a:spcPts val="1000"/>
              </a:spcAft>
            </a:pPr>
            <a:r>
              <a:rPr sz="1600" b="1">
                <a:solidFill>
                  <a:srgbClr val="1F6FEB"/>
                </a:solidFill>
                <a:latin typeface="Arial"/>
              </a:rPr>
              <a:t>•  </a:t>
            </a:r>
            <a:r>
              <a:rPr sz="1600">
                <a:solidFill>
                  <a:srgbClr val="161B26"/>
                </a:solidFill>
                <a:latin typeface="Arial"/>
              </a:rPr>
              <a:t>Free tier: 8 calls/min — enough for the lab.</a:t>
            </a:r>
          </a:p>
        </p:txBody>
      </p:sp>
      <p:pic>
        <p:nvPicPr>
          <p:cNvPr id="7" name="Picture 6" descr="site-twelvedata.png"/>
          <p:cNvPicPr>
            <a:picLocks noChangeAspect="1"/>
          </p:cNvPicPr>
          <p:nvPr/>
        </p:nvPicPr>
        <p:blipFill>
          <a:blip r:embed="rId2"/>
          <a:stretch>
            <a:fillRect/>
          </a:stretch>
        </p:blipFill>
        <p:spPr>
          <a:xfrm>
            <a:off x="5943600" y="1783080"/>
            <a:ext cx="5486400" cy="3429000"/>
          </a:xfrm>
          <a:prstGeom prst="rect">
            <a:avLst/>
          </a:prstGeom>
        </p:spPr>
      </p:pic>
      <p:sp>
        <p:nvSpPr>
          <p:cNvPr id="8" name="Rectangle 7"/>
          <p:cNvSpPr/>
          <p:nvPr/>
        </p:nvSpPr>
        <p:spPr>
          <a:xfrm>
            <a:off x="5930900" y="1770380"/>
            <a:ext cx="5511800" cy="345440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ACT 6 · NEWS API</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NewsAPI — Headlines API</a:t>
            </a:r>
          </a:p>
        </p:txBody>
      </p:sp>
      <p:sp>
        <p:nvSpPr>
          <p:cNvPr id="6" name="TextBox 5"/>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Recent news articles for any search query.</a:t>
            </a:r>
          </a:p>
          <a:p>
            <a:pPr>
              <a:spcBef>
                <a:spcPts val="0"/>
              </a:spcBef>
              <a:spcAft>
                <a:spcPts val="1000"/>
              </a:spcAft>
            </a:pPr>
            <a:r>
              <a:rPr sz="1600" b="1">
                <a:solidFill>
                  <a:srgbClr val="1F6FEB"/>
                </a:solidFill>
                <a:latin typeface="Arial"/>
              </a:rPr>
              <a:t>•  </a:t>
            </a:r>
            <a:r>
              <a:rPr sz="1600">
                <a:solidFill>
                  <a:srgbClr val="161B26"/>
                </a:solidFill>
                <a:latin typeface="Arial"/>
              </a:rPr>
              <a:t>Register (free Developer plan) and copy your API key.</a:t>
            </a:r>
          </a:p>
          <a:p>
            <a:pPr>
              <a:spcBef>
                <a:spcPts val="0"/>
              </a:spcBef>
              <a:spcAft>
                <a:spcPts val="1000"/>
              </a:spcAft>
            </a:pPr>
            <a:r>
              <a:rPr sz="1600" b="1">
                <a:solidFill>
                  <a:srgbClr val="1F6FEB"/>
                </a:solidFill>
                <a:latin typeface="Arial"/>
              </a:rPr>
              <a:t>•  </a:t>
            </a:r>
            <a:r>
              <a:rPr sz="1600">
                <a:solidFill>
                  <a:srgbClr val="161B26"/>
                </a:solidFill>
                <a:latin typeface="Arial"/>
              </a:rPr>
              <a:t>Store it as a Query Auth credential (name = apiKey) on the news node.</a:t>
            </a:r>
          </a:p>
          <a:p>
            <a:pPr>
              <a:spcBef>
                <a:spcPts val="0"/>
              </a:spcBef>
              <a:spcAft>
                <a:spcPts val="1000"/>
              </a:spcAft>
            </a:pPr>
            <a:r>
              <a:rPr sz="1600" b="1">
                <a:solidFill>
                  <a:srgbClr val="1F6FEB"/>
                </a:solidFill>
                <a:latin typeface="Arial"/>
              </a:rPr>
              <a:t>•  </a:t>
            </a:r>
            <a:r>
              <a:rPr sz="1600">
                <a:solidFill>
                  <a:srgbClr val="161B26"/>
                </a:solidFill>
                <a:latin typeface="Arial"/>
              </a:rPr>
              <a:t>The agent reads sentiment from the headlines.</a:t>
            </a:r>
          </a:p>
        </p:txBody>
      </p:sp>
      <p:pic>
        <p:nvPicPr>
          <p:cNvPr id="7" name="Picture 6" descr="site-newsapi.png"/>
          <p:cNvPicPr>
            <a:picLocks noChangeAspect="1"/>
          </p:cNvPicPr>
          <p:nvPr/>
        </p:nvPicPr>
        <p:blipFill>
          <a:blip r:embed="rId2"/>
          <a:stretch>
            <a:fillRect/>
          </a:stretch>
        </p:blipFill>
        <p:spPr>
          <a:xfrm>
            <a:off x="5943600" y="1783080"/>
            <a:ext cx="5486400" cy="3429000"/>
          </a:xfrm>
          <a:prstGeom prst="rect">
            <a:avLst/>
          </a:prstGeom>
        </p:spPr>
      </p:pic>
      <p:sp>
        <p:nvSpPr>
          <p:cNvPr id="8" name="Rectangle 7"/>
          <p:cNvSpPr/>
          <p:nvPr/>
        </p:nvSpPr>
        <p:spPr>
          <a:xfrm>
            <a:off x="5930900" y="1770380"/>
            <a:ext cx="5511800" cy="345440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91</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4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6 — Finance APIs → Telegram (AI Day-Trading Agent)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Ask the bot about a stock: it pulls candles on three timeframes plus news, and the agent argues a Buy / Sell / Hold call.</a:t>
            </a:r>
          </a:p>
        </p:txBody>
      </p:sp>
      <p:sp>
        <p:nvSpPr>
          <p:cNvPr id="7" name="Rounded Rectangle 6"/>
          <p:cNvSpPr/>
          <p:nvPr/>
        </p:nvSpPr>
        <p:spPr>
          <a:xfrm>
            <a:off x="777240" y="1810512"/>
            <a:ext cx="1878177" cy="749808"/>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Telegram Trigger</a:t>
            </a:r>
          </a:p>
          <a:p>
            <a:pPr algn="ctr">
              <a:spcBef>
                <a:spcPts val="0"/>
              </a:spcBef>
              <a:spcAft>
                <a:spcPts val="200"/>
              </a:spcAft>
            </a:pPr>
            <a:r>
              <a:rPr sz="850" b="0">
                <a:solidFill>
                  <a:srgbClr val="5B6372"/>
                </a:solidFill>
                <a:latin typeface="Arial"/>
              </a:rPr>
              <a:t>'Should I buy AAPL?'</a:t>
            </a:r>
          </a:p>
        </p:txBody>
      </p:sp>
      <p:sp>
        <p:nvSpPr>
          <p:cNvPr id="9" name="TextBox 8"/>
          <p:cNvSpPr txBox="1"/>
          <p:nvPr/>
        </p:nvSpPr>
        <p:spPr>
          <a:xfrm>
            <a:off x="2627985"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0" name="Rounded Rectangle 9"/>
          <p:cNvSpPr/>
          <p:nvPr/>
        </p:nvSpPr>
        <p:spPr>
          <a:xfrm>
            <a:off x="2966313" y="1810512"/>
            <a:ext cx="1878177" cy="749808"/>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7753"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Code — Extract Ticker</a:t>
            </a:r>
          </a:p>
          <a:p>
            <a:pPr algn="ctr">
              <a:spcBef>
                <a:spcPts val="0"/>
              </a:spcBef>
              <a:spcAft>
                <a:spcPts val="200"/>
              </a:spcAft>
            </a:pPr>
            <a:r>
              <a:rPr sz="850" b="0">
                <a:solidFill>
                  <a:srgbClr val="5B6372"/>
                </a:solidFill>
                <a:latin typeface="Arial"/>
              </a:rPr>
              <a:t>AAPL</a:t>
            </a:r>
          </a:p>
        </p:txBody>
      </p:sp>
      <p:sp>
        <p:nvSpPr>
          <p:cNvPr id="12" name="TextBox 11"/>
          <p:cNvSpPr txBox="1"/>
          <p:nvPr/>
        </p:nvSpPr>
        <p:spPr>
          <a:xfrm>
            <a:off x="481705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3" name="Rounded Rectangle 12"/>
          <p:cNvSpPr/>
          <p:nvPr/>
        </p:nvSpPr>
        <p:spPr>
          <a:xfrm>
            <a:off x="5155386" y="1810512"/>
            <a:ext cx="1878177" cy="749808"/>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6826"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HTTP ×4</a:t>
            </a:r>
          </a:p>
          <a:p>
            <a:pPr algn="ctr">
              <a:spcBef>
                <a:spcPts val="0"/>
              </a:spcBef>
              <a:spcAft>
                <a:spcPts val="200"/>
              </a:spcAft>
            </a:pPr>
            <a:r>
              <a:rPr sz="850" b="0">
                <a:solidFill>
                  <a:srgbClr val="5B6372"/>
                </a:solidFill>
                <a:latin typeface="Arial"/>
              </a:rPr>
              <a:t>candles 1m / 15m / 1h + news</a:t>
            </a:r>
          </a:p>
        </p:txBody>
      </p:sp>
      <p:sp>
        <p:nvSpPr>
          <p:cNvPr id="15" name="TextBox 14"/>
          <p:cNvSpPr txBox="1"/>
          <p:nvPr/>
        </p:nvSpPr>
        <p:spPr>
          <a:xfrm>
            <a:off x="7006131"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6" name="Rounded Rectangle 15"/>
          <p:cNvSpPr/>
          <p:nvPr/>
        </p:nvSpPr>
        <p:spPr>
          <a:xfrm>
            <a:off x="7344459" y="1810512"/>
            <a:ext cx="1878177" cy="749808"/>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5899"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AI Agent</a:t>
            </a:r>
          </a:p>
          <a:p>
            <a:pPr algn="ctr">
              <a:spcBef>
                <a:spcPts val="0"/>
              </a:spcBef>
              <a:spcAft>
                <a:spcPts val="200"/>
              </a:spcAft>
            </a:pPr>
            <a:r>
              <a:rPr sz="850" b="0">
                <a:solidFill>
                  <a:srgbClr val="5B6372"/>
                </a:solidFill>
                <a:latin typeface="Arial"/>
              </a:rPr>
              <a:t>technicals + sentiment → call</a:t>
            </a:r>
          </a:p>
        </p:txBody>
      </p:sp>
      <p:sp>
        <p:nvSpPr>
          <p:cNvPr id="18" name="TextBox 17"/>
          <p:cNvSpPr txBox="1"/>
          <p:nvPr/>
        </p:nvSpPr>
        <p:spPr>
          <a:xfrm>
            <a:off x="919520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F6FEB"/>
                </a:solidFill>
                <a:latin typeface="Arial"/>
              </a:rPr>
              <a:t>▶</a:t>
            </a:r>
          </a:p>
        </p:txBody>
      </p:sp>
      <p:sp>
        <p:nvSpPr>
          <p:cNvPr id="19" name="Rounded Rectangle 18"/>
          <p:cNvSpPr/>
          <p:nvPr/>
        </p:nvSpPr>
        <p:spPr>
          <a:xfrm>
            <a:off x="9533532" y="1810512"/>
            <a:ext cx="1878177" cy="749808"/>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24972"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Telegram — Send</a:t>
            </a:r>
          </a:p>
          <a:p>
            <a:pPr algn="ctr">
              <a:spcBef>
                <a:spcPts val="0"/>
              </a:spcBef>
              <a:spcAft>
                <a:spcPts val="200"/>
              </a:spcAft>
            </a:pPr>
            <a:r>
              <a:rPr sz="850" b="0">
                <a:solidFill>
                  <a:srgbClr val="5B6372"/>
                </a:solidFill>
                <a:latin typeface="Arial"/>
              </a:rPr>
              <a:t>recommendation + reasoning</a:t>
            </a:r>
          </a:p>
        </p:txBody>
      </p:sp>
      <p:pic>
        <p:nvPicPr>
          <p:cNvPr id="21" name="Picture 20" descr="Activity6-Finance-Advisor.png"/>
          <p:cNvPicPr>
            <a:picLocks noChangeAspect="1"/>
          </p:cNvPicPr>
          <p:nvPr/>
        </p:nvPicPr>
        <p:blipFill>
          <a:blip r:embed="rId2"/>
          <a:stretch>
            <a:fillRect/>
          </a:stretch>
        </p:blipFill>
        <p:spPr>
          <a:xfrm>
            <a:off x="3712656" y="2761488"/>
            <a:ext cx="4736208" cy="2816352"/>
          </a:xfrm>
          <a:prstGeom prst="rect">
            <a:avLst/>
          </a:prstGeom>
        </p:spPr>
      </p:pic>
      <p:sp>
        <p:nvSpPr>
          <p:cNvPr id="22" name="Rectangle 21"/>
          <p:cNvSpPr/>
          <p:nvPr/>
        </p:nvSpPr>
        <p:spPr>
          <a:xfrm>
            <a:off x="3699956" y="2748788"/>
            <a:ext cx="4761608"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5687568"/>
            <a:ext cx="10634472" cy="566928"/>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5806440"/>
            <a:ext cx="960120" cy="3291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6</a:t>
            </a:r>
          </a:p>
        </p:txBody>
      </p:sp>
      <p:sp>
        <p:nvSpPr>
          <p:cNvPr id="26" name="TextBox 25"/>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Finance APIs → Telegram (AI Day-Trading Agent)</a:t>
            </a:r>
          </a:p>
        </p:txBody>
      </p:sp>
      <p:sp>
        <p:nvSpPr>
          <p:cNvPr id="27" name="TextBox 26"/>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Twelve Data + NewsAPI keys  ·  imported flow, re-select credentials  ·  steps in the Learner Guide</a:t>
            </a:r>
          </a:p>
        </p:txBody>
      </p:sp>
      <p:sp>
        <p:nvSpPr>
          <p:cNvPr id="28" name="TextBox 2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9" name="TextBox 2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0" name="TextBox 2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ACT 6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6 — The Stock Analysis Dashboard</a:t>
            </a:r>
          </a:p>
        </p:txBody>
      </p:sp>
      <p:sp>
        <p:nvSpPr>
          <p:cNvPr id="6" name="TextBox 5"/>
          <p:cNvSpPr txBox="1"/>
          <p:nvPr/>
        </p:nvSpPr>
        <p:spPr>
          <a:xfrm>
            <a:off x="777240" y="1828800"/>
            <a:ext cx="4937760" cy="3566160"/>
          </a:xfrm>
          <a:prstGeom prst="rect">
            <a:avLst/>
          </a:prstGeom>
          <a:noFill/>
        </p:spPr>
        <p:txBody>
          <a:bodyPr wrap="square" lIns="0" rIns="0">
            <a:spAutoFit/>
          </a:bodyPr>
          <a:lstStyle/>
          <a:p>
            <a:pPr>
              <a:spcBef>
                <a:spcPts val="0"/>
              </a:spcBef>
              <a:spcAft>
                <a:spcPts val="900"/>
              </a:spcAft>
            </a:pPr>
            <a:r>
              <a:rPr sz="1500" b="1">
                <a:solidFill>
                  <a:srgbClr val="1F6FEB"/>
                </a:solidFill>
                <a:latin typeface="Arial"/>
              </a:rPr>
              <a:t>•  </a:t>
            </a:r>
            <a:r>
              <a:rPr sz="1500">
                <a:solidFill>
                  <a:srgbClr val="161B26"/>
                </a:solidFill>
                <a:latin typeface="Arial"/>
              </a:rPr>
              <a:t>A real-time dashboard with a live TradingView candlestick chart.</a:t>
            </a:r>
          </a:p>
          <a:p>
            <a:pPr>
              <a:spcBef>
                <a:spcPts val="0"/>
              </a:spcBef>
              <a:spcAft>
                <a:spcPts val="900"/>
              </a:spcAft>
            </a:pPr>
            <a:r>
              <a:rPr sz="1500" b="1">
                <a:solidFill>
                  <a:srgbClr val="1F6FEB"/>
                </a:solidFill>
                <a:latin typeface="Arial"/>
              </a:rPr>
              <a:t>•  </a:t>
            </a:r>
            <a:r>
              <a:rPr sz="1500">
                <a:solidFill>
                  <a:srgbClr val="161B26"/>
                </a:solidFill>
                <a:latin typeface="Arial"/>
              </a:rPr>
              <a:t>Quote stats (price, change, OHLC, volume, 52-week range) from Twelve Data.</a:t>
            </a:r>
          </a:p>
          <a:p>
            <a:pPr>
              <a:spcBef>
                <a:spcPts val="0"/>
              </a:spcBef>
              <a:spcAft>
                <a:spcPts val="900"/>
              </a:spcAft>
            </a:pPr>
            <a:r>
              <a:rPr sz="1500" b="1">
                <a:solidFill>
                  <a:srgbClr val="1F6FEB"/>
                </a:solidFill>
                <a:latin typeface="Arial"/>
              </a:rPr>
              <a:t>•  </a:t>
            </a:r>
            <a:r>
              <a:rPr sz="1500">
                <a:solidFill>
                  <a:srgbClr val="161B26"/>
                </a:solidFill>
                <a:latin typeface="Arial"/>
              </a:rPr>
              <a:t>A floating Telegram chat widget opens the AI day-trading agent.</a:t>
            </a:r>
          </a:p>
          <a:p>
            <a:pPr>
              <a:spcBef>
                <a:spcPts val="0"/>
              </a:spcBef>
              <a:spcAft>
                <a:spcPts val="900"/>
              </a:spcAft>
            </a:pPr>
            <a:r>
              <a:rPr sz="1500" b="1">
                <a:solidFill>
                  <a:srgbClr val="1F6FEB"/>
                </a:solidFill>
                <a:latin typeface="Arial"/>
              </a:rPr>
              <a:t>•  </a:t>
            </a:r>
            <a:r>
              <a:rPr sz="1500">
                <a:solidFill>
                  <a:srgbClr val="161B26"/>
                </a:solidFill>
                <a:latin typeface="Arial"/>
              </a:rPr>
              <a:t>Save your Twelve Data key + bot username in the Settings panel.</a:t>
            </a:r>
          </a:p>
        </p:txBody>
      </p:sp>
      <p:pic>
        <p:nvPicPr>
          <p:cNvPr id="7" name="Picture 6" descr="Activity6-website.png"/>
          <p:cNvPicPr>
            <a:picLocks noChangeAspect="1"/>
          </p:cNvPicPr>
          <p:nvPr/>
        </p:nvPicPr>
        <p:blipFill>
          <a:blip r:embed="rId2"/>
          <a:stretch>
            <a:fillRect/>
          </a:stretch>
        </p:blipFill>
        <p:spPr>
          <a:xfrm>
            <a:off x="5943600" y="1828800"/>
            <a:ext cx="5486400" cy="3191256"/>
          </a:xfrm>
          <a:prstGeom prst="rect">
            <a:avLst/>
          </a:prstGeom>
        </p:spPr>
      </p:pic>
      <p:sp>
        <p:nvSpPr>
          <p:cNvPr id="8" name="Rectangle 7"/>
          <p:cNvSpPr/>
          <p:nvPr/>
        </p:nvSpPr>
        <p:spPr>
          <a:xfrm>
            <a:off x="5930900" y="1816100"/>
            <a:ext cx="5511800" cy="3216656"/>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End of Day 2 — Recap</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You exposed an AI agent to a public website via a webhook (Production URL + CORS).</a:t>
            </a:r>
          </a:p>
          <a:p>
            <a:pPr>
              <a:spcBef>
                <a:spcPts val="0"/>
              </a:spcBef>
              <a:spcAft>
                <a:spcPts val="1000"/>
              </a:spcAft>
            </a:pPr>
            <a:r>
              <a:rPr sz="2000" b="1">
                <a:solidFill>
                  <a:srgbClr val="1F6FEB"/>
                </a:solidFill>
                <a:latin typeface="Arial"/>
              </a:rPr>
              <a:t>•  </a:t>
            </a:r>
            <a:r>
              <a:rPr sz="2000">
                <a:solidFill>
                  <a:srgbClr val="161B26"/>
                </a:solidFill>
                <a:latin typeface="Arial"/>
              </a:rPr>
              <a:t>You pulled live market and news data through APIs into a Telegram agent.</a:t>
            </a:r>
          </a:p>
          <a:p>
            <a:pPr>
              <a:spcBef>
                <a:spcPts val="0"/>
              </a:spcBef>
              <a:spcAft>
                <a:spcPts val="1000"/>
              </a:spcAft>
            </a:pPr>
            <a:r>
              <a:rPr sz="2000" b="1">
                <a:solidFill>
                  <a:srgbClr val="1F6FEB"/>
                </a:solidFill>
                <a:latin typeface="Arial"/>
              </a:rPr>
              <a:t>•  </a:t>
            </a:r>
            <a:r>
              <a:rPr sz="2000">
                <a:solidFill>
                  <a:srgbClr val="161B26"/>
                </a:solidFill>
                <a:latin typeface="Arial"/>
              </a:rPr>
              <a:t>Tomorrow: RAG at production scale, human-in-the-loop, guardrails, and the capstone.</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1 hour</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95</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965960"/>
            <a:ext cx="9418320" cy="2926080"/>
          </a:xfrm>
          <a:prstGeom prst="roundRect">
            <a:avLst>
              <a:gd name="adj" fmla="val 5500"/>
            </a:avLst>
          </a:prstGeom>
          <a:solidFill>
            <a:srgbClr val="FFFFFF"/>
          </a:solidFill>
          <a:ln w="1905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965960"/>
            <a:ext cx="201168" cy="29260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286000"/>
            <a:ext cx="8503920" cy="365760"/>
          </a:xfrm>
          <a:prstGeom prst="rect">
            <a:avLst/>
          </a:prstGeom>
          <a:noFill/>
        </p:spPr>
        <p:txBody>
          <a:bodyPr wrap="square" anchor="t" lIns="0" rIns="0" tIns="0" bIns="0">
            <a:spAutoFit/>
          </a:bodyPr>
          <a:lstStyle/>
          <a:p>
            <a:pPr algn="l">
              <a:spcBef>
                <a:spcPts val="0"/>
              </a:spcBef>
              <a:spcAft>
                <a:spcPts val="400"/>
              </a:spcAft>
            </a:pPr>
            <a:r>
              <a:rPr sz="1500" b="1">
                <a:solidFill>
                  <a:srgbClr val="F59E0B"/>
                </a:solidFill>
                <a:latin typeface="Arial"/>
              </a:rPr>
              <a:t>TOPIC 5</a:t>
            </a:r>
          </a:p>
        </p:txBody>
      </p:sp>
      <p:sp>
        <p:nvSpPr>
          <p:cNvPr id="6" name="TextBox 5"/>
          <p:cNvSpPr txBox="1"/>
          <p:nvPr/>
        </p:nvSpPr>
        <p:spPr>
          <a:xfrm>
            <a:off x="1920240" y="2697480"/>
            <a:ext cx="8595360" cy="1097280"/>
          </a:xfrm>
          <a:prstGeom prst="rect">
            <a:avLst/>
          </a:prstGeom>
          <a:noFill/>
        </p:spPr>
        <p:txBody>
          <a:bodyPr wrap="square" anchor="t" lIns="0" rIns="0" tIns="0" bIns="0">
            <a:spAutoFit/>
          </a:bodyPr>
          <a:lstStyle/>
          <a:p>
            <a:pPr algn="l">
              <a:spcBef>
                <a:spcPts val="0"/>
              </a:spcBef>
              <a:spcAft>
                <a:spcPts val="400"/>
              </a:spcAft>
            </a:pPr>
            <a:r>
              <a:rPr sz="3400" b="1">
                <a:solidFill>
                  <a:srgbClr val="161B26"/>
                </a:solidFill>
                <a:latin typeface="Arial"/>
              </a:rPr>
              <a:t>Retrieval-Augmented Generation</a:t>
            </a:r>
          </a:p>
        </p:txBody>
      </p:sp>
      <p:sp>
        <p:nvSpPr>
          <p:cNvPr id="7" name="TextBox 6"/>
          <p:cNvSpPr txBox="1"/>
          <p:nvPr/>
        </p:nvSpPr>
        <p:spPr>
          <a:xfrm>
            <a:off x="1938528" y="3794760"/>
            <a:ext cx="8503920" cy="548640"/>
          </a:xfrm>
          <a:prstGeom prst="rect">
            <a:avLst/>
          </a:prstGeom>
          <a:noFill/>
        </p:spPr>
        <p:txBody>
          <a:bodyPr wrap="square" anchor="t" lIns="0" rIns="0" tIns="0" bIns="0">
            <a:spAutoFit/>
          </a:bodyPr>
          <a:lstStyle/>
          <a:p>
            <a:pPr algn="l">
              <a:spcBef>
                <a:spcPts val="0"/>
              </a:spcBef>
              <a:spcAft>
                <a:spcPts val="400"/>
              </a:spcAft>
            </a:pPr>
            <a:r>
              <a:rPr sz="1400" b="0">
                <a:solidFill>
                  <a:srgbClr val="5B6372"/>
                </a:solidFill>
                <a:latin typeface="Arial"/>
              </a:rPr>
              <a:t>Why retrieval · embeddings and vector stores · chunking and top_k · production vector DBs</a:t>
            </a:r>
          </a:p>
        </p:txBody>
      </p:sp>
      <p:sp>
        <p:nvSpPr>
          <p:cNvPr id="8" name="TextBox 7"/>
          <p:cNvSpPr txBox="1"/>
          <p:nvPr/>
        </p:nvSpPr>
        <p:spPr>
          <a:xfrm>
            <a:off x="1938528" y="4343400"/>
            <a:ext cx="8503920" cy="365760"/>
          </a:xfrm>
          <a:prstGeom prst="rect">
            <a:avLst/>
          </a:prstGeom>
          <a:noFill/>
        </p:spPr>
        <p:txBody>
          <a:bodyPr wrap="square" anchor="t" lIns="0" rIns="0" tIns="0" bIns="0">
            <a:spAutoFit/>
          </a:bodyPr>
          <a:lstStyle/>
          <a:p>
            <a:pPr algn="l">
              <a:spcBef>
                <a:spcPts val="0"/>
              </a:spcBef>
              <a:spcAft>
                <a:spcPts val="400"/>
              </a:spcAft>
            </a:pPr>
            <a:r>
              <a:rPr sz="1200" b="1">
                <a:solidFill>
                  <a:srgbClr val="F59E0B"/>
                </a:solidFill>
                <a:latin typeface="Arial"/>
              </a:rPr>
              <a:t>Applied in Activities 7a and 7b</a:t>
            </a:r>
          </a:p>
        </p:txBody>
      </p:sp>
      <p:sp>
        <p:nvSpPr>
          <p:cNvPr id="9" name="TextBox 8"/>
          <p:cNvSpPr txBox="1"/>
          <p:nvPr/>
        </p:nvSpPr>
        <p:spPr>
          <a:xfrm>
            <a:off x="9326880" y="54864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05</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Why Retrieval, Rather Than a Bigger Prompt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You could paste all your documents into the instruction — until you can't.</a:t>
            </a:r>
          </a:p>
        </p:txBody>
      </p:sp>
      <p:sp>
        <p:nvSpPr>
          <p:cNvPr id="7" name="Rounded Rectangle 6"/>
          <p:cNvSpPr/>
          <p:nvPr/>
        </p:nvSpPr>
        <p:spPr>
          <a:xfrm>
            <a:off x="777240" y="1828800"/>
            <a:ext cx="5170932" cy="228600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1975104"/>
            <a:ext cx="4768596"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Everything in the prompt</a:t>
            </a:r>
          </a:p>
        </p:txBody>
      </p:sp>
      <p:sp>
        <p:nvSpPr>
          <p:cNvPr id="9" name="TextBox 8"/>
          <p:cNvSpPr txBox="1"/>
          <p:nvPr/>
        </p:nvSpPr>
        <p:spPr>
          <a:xfrm>
            <a:off x="978408" y="2377440"/>
            <a:ext cx="4768596" cy="15910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Beyond a point the model ignores the middle. Every question pays tokens for ALL documents. Add document #41 and quality quietly drops.</a:t>
            </a:r>
          </a:p>
        </p:txBody>
      </p:sp>
      <p:sp>
        <p:nvSpPr>
          <p:cNvPr id="10" name="Rounded Rectangle 9"/>
          <p:cNvSpPr/>
          <p:nvPr/>
        </p:nvSpPr>
        <p:spPr>
          <a:xfrm>
            <a:off x="6240780" y="1828800"/>
            <a:ext cx="5170932" cy="228600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1948" y="1975104"/>
            <a:ext cx="4768596"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Retrieve, then generate</a:t>
            </a:r>
          </a:p>
        </p:txBody>
      </p:sp>
      <p:sp>
        <p:nvSpPr>
          <p:cNvPr id="12" name="TextBox 11"/>
          <p:cNvSpPr txBox="1"/>
          <p:nvPr/>
        </p:nvSpPr>
        <p:spPr>
          <a:xfrm>
            <a:off x="6441948" y="2377440"/>
            <a:ext cx="4768596" cy="15910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Find the two or three chunks that resemble the question and give the model ONLY those. Cost stays flat as the library grows.</a:t>
            </a:r>
          </a:p>
        </p:txBody>
      </p:sp>
      <p:sp>
        <p:nvSpPr>
          <p:cNvPr id="13" name="Rounded Rectangle 12"/>
          <p:cNvSpPr/>
          <p:nvPr/>
        </p:nvSpPr>
        <p:spPr>
          <a:xfrm>
            <a:off x="777240" y="4343400"/>
            <a:ext cx="2425446" cy="86868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343400"/>
            <a:ext cx="2242566"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Question</a:t>
            </a:r>
          </a:p>
          <a:p>
            <a:pPr algn="ctr">
              <a:spcBef>
                <a:spcPts val="0"/>
              </a:spcBef>
              <a:spcAft>
                <a:spcPts val="200"/>
              </a:spcAft>
            </a:pPr>
            <a:r>
              <a:rPr sz="900" b="0">
                <a:solidFill>
                  <a:srgbClr val="5B6372"/>
                </a:solidFill>
                <a:latin typeface="Arial"/>
              </a:rPr>
              <a:t>embed it</a:t>
            </a:r>
          </a:p>
        </p:txBody>
      </p:sp>
      <p:sp>
        <p:nvSpPr>
          <p:cNvPr id="15" name="TextBox 14"/>
          <p:cNvSpPr txBox="1"/>
          <p:nvPr/>
        </p:nvSpPr>
        <p:spPr>
          <a:xfrm>
            <a:off x="3175254" y="46131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6" name="Rounded Rectangle 15"/>
          <p:cNvSpPr/>
          <p:nvPr/>
        </p:nvSpPr>
        <p:spPr>
          <a:xfrm>
            <a:off x="3513582" y="4343400"/>
            <a:ext cx="2425446" cy="86868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5022" y="4343400"/>
            <a:ext cx="2242566"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Search the store</a:t>
            </a:r>
          </a:p>
          <a:p>
            <a:pPr algn="ctr">
              <a:spcBef>
                <a:spcPts val="0"/>
              </a:spcBef>
              <a:spcAft>
                <a:spcPts val="200"/>
              </a:spcAft>
            </a:pPr>
            <a:r>
              <a:rPr sz="900" b="0">
                <a:solidFill>
                  <a:srgbClr val="5B6372"/>
                </a:solidFill>
                <a:latin typeface="Arial"/>
              </a:rPr>
              <a:t>nearest chunks</a:t>
            </a:r>
          </a:p>
        </p:txBody>
      </p:sp>
      <p:sp>
        <p:nvSpPr>
          <p:cNvPr id="18" name="TextBox 17"/>
          <p:cNvSpPr txBox="1"/>
          <p:nvPr/>
        </p:nvSpPr>
        <p:spPr>
          <a:xfrm>
            <a:off x="5911596" y="46131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9" name="Rounded Rectangle 18"/>
          <p:cNvSpPr/>
          <p:nvPr/>
        </p:nvSpPr>
        <p:spPr>
          <a:xfrm>
            <a:off x="6249924" y="4343400"/>
            <a:ext cx="2425446" cy="86868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1364" y="4343400"/>
            <a:ext cx="2242566"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Paste into the prompt</a:t>
            </a:r>
          </a:p>
          <a:p>
            <a:pPr algn="ctr">
              <a:spcBef>
                <a:spcPts val="0"/>
              </a:spcBef>
              <a:spcAft>
                <a:spcPts val="200"/>
              </a:spcAft>
            </a:pPr>
            <a:r>
              <a:rPr sz="900" b="0">
                <a:solidFill>
                  <a:srgbClr val="5B6372"/>
                </a:solidFill>
                <a:latin typeface="Arial"/>
              </a:rPr>
              <a:t>only what matched</a:t>
            </a:r>
          </a:p>
        </p:txBody>
      </p:sp>
      <p:sp>
        <p:nvSpPr>
          <p:cNvPr id="21" name="TextBox 20"/>
          <p:cNvSpPr txBox="1"/>
          <p:nvPr/>
        </p:nvSpPr>
        <p:spPr>
          <a:xfrm>
            <a:off x="8647938" y="46131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22" name="Rounded Rectangle 21"/>
          <p:cNvSpPr/>
          <p:nvPr/>
        </p:nvSpPr>
        <p:spPr>
          <a:xfrm>
            <a:off x="8986266" y="4343400"/>
            <a:ext cx="2425446" cy="86868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77706" y="4343400"/>
            <a:ext cx="2242566"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Grounded answer</a:t>
            </a:r>
          </a:p>
          <a:p>
            <a:pPr algn="ctr">
              <a:spcBef>
                <a:spcPts val="0"/>
              </a:spcBef>
              <a:spcAft>
                <a:spcPts val="200"/>
              </a:spcAft>
            </a:pPr>
            <a:r>
              <a:rPr sz="900" b="0">
                <a:solidFill>
                  <a:srgbClr val="5B6372"/>
                </a:solidFill>
                <a:latin typeface="Arial"/>
              </a:rPr>
              <a:t>cites what it saw</a:t>
            </a:r>
          </a:p>
        </p:txBody>
      </p:sp>
      <p:sp>
        <p:nvSpPr>
          <p:cNvPr id="24" name="Rounded Rectangle 2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RAG = retrieval + generation. The retrieval decides whether the generation can possibly be right.</a:t>
            </a:r>
          </a:p>
        </p:txBody>
      </p:sp>
      <p:sp>
        <p:nvSpPr>
          <p:cNvPr id="26" name="TextBox 2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97</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The RAG Pipeline — Ingest Once, Retrieve Every Question</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Two phases: ingestion happens once per document; retrieval happens on every question.</a:t>
            </a:r>
          </a:p>
        </p:txBody>
      </p:sp>
      <p:sp>
        <p:nvSpPr>
          <p:cNvPr id="7" name="TextBox 6"/>
          <p:cNvSpPr txBox="1"/>
          <p:nvPr/>
        </p:nvSpPr>
        <p:spPr>
          <a:xfrm>
            <a:off x="777240" y="1828800"/>
            <a:ext cx="1828800" cy="365760"/>
          </a:xfrm>
          <a:prstGeom prst="rect">
            <a:avLst/>
          </a:prstGeom>
          <a:noFill/>
        </p:spPr>
        <p:txBody>
          <a:bodyPr wrap="square" anchor="t" lIns="0" rIns="0" tIns="0" bIns="0">
            <a:spAutoFit/>
          </a:bodyPr>
          <a:lstStyle/>
          <a:p>
            <a:pPr algn="l">
              <a:spcBef>
                <a:spcPts val="0"/>
              </a:spcBef>
              <a:spcAft>
                <a:spcPts val="400"/>
              </a:spcAft>
            </a:pPr>
            <a:r>
              <a:rPr sz="1100" b="1">
                <a:solidFill>
                  <a:srgbClr val="7C3AED"/>
                </a:solidFill>
                <a:latin typeface="Arial"/>
              </a:rPr>
              <a:t>INGESTION — once</a:t>
            </a:r>
          </a:p>
        </p:txBody>
      </p:sp>
      <p:sp>
        <p:nvSpPr>
          <p:cNvPr id="8" name="Rounded Rectangle 7"/>
          <p:cNvSpPr/>
          <p:nvPr/>
        </p:nvSpPr>
        <p:spPr>
          <a:xfrm>
            <a:off x="777240" y="2194560"/>
            <a:ext cx="2425446" cy="6858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94560"/>
            <a:ext cx="2242566"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Documents</a:t>
            </a:r>
          </a:p>
        </p:txBody>
      </p:sp>
      <p:sp>
        <p:nvSpPr>
          <p:cNvPr id="10" name="TextBox 9"/>
          <p:cNvSpPr txBox="1"/>
          <p:nvPr/>
        </p:nvSpPr>
        <p:spPr>
          <a:xfrm>
            <a:off x="3175254" y="23728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1" name="Rounded Rectangle 10"/>
          <p:cNvSpPr/>
          <p:nvPr/>
        </p:nvSpPr>
        <p:spPr>
          <a:xfrm>
            <a:off x="3513582" y="2194560"/>
            <a:ext cx="2425446" cy="6858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05022" y="2194560"/>
            <a:ext cx="2242566"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Chunk</a:t>
            </a:r>
          </a:p>
        </p:txBody>
      </p:sp>
      <p:sp>
        <p:nvSpPr>
          <p:cNvPr id="13" name="TextBox 12"/>
          <p:cNvSpPr txBox="1"/>
          <p:nvPr/>
        </p:nvSpPr>
        <p:spPr>
          <a:xfrm>
            <a:off x="5911596" y="23728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4" name="Rounded Rectangle 13"/>
          <p:cNvSpPr/>
          <p:nvPr/>
        </p:nvSpPr>
        <p:spPr>
          <a:xfrm>
            <a:off x="6249924" y="2194560"/>
            <a:ext cx="2425446" cy="6858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1364" y="2194560"/>
            <a:ext cx="2242566"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Embed</a:t>
            </a:r>
          </a:p>
        </p:txBody>
      </p:sp>
      <p:sp>
        <p:nvSpPr>
          <p:cNvPr id="16" name="TextBox 15"/>
          <p:cNvSpPr txBox="1"/>
          <p:nvPr/>
        </p:nvSpPr>
        <p:spPr>
          <a:xfrm>
            <a:off x="8647938" y="23728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7C3AED"/>
                </a:solidFill>
                <a:latin typeface="Arial"/>
              </a:rPr>
              <a:t>▶</a:t>
            </a:r>
          </a:p>
        </p:txBody>
      </p:sp>
      <p:sp>
        <p:nvSpPr>
          <p:cNvPr id="17" name="Rounded Rectangle 16"/>
          <p:cNvSpPr/>
          <p:nvPr/>
        </p:nvSpPr>
        <p:spPr>
          <a:xfrm>
            <a:off x="8986266" y="2194560"/>
            <a:ext cx="2425446" cy="6858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77706" y="2194560"/>
            <a:ext cx="2242566"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Store as vectors</a:t>
            </a:r>
          </a:p>
        </p:txBody>
      </p:sp>
      <p:sp>
        <p:nvSpPr>
          <p:cNvPr id="19" name="TextBox 18"/>
          <p:cNvSpPr txBox="1"/>
          <p:nvPr/>
        </p:nvSpPr>
        <p:spPr>
          <a:xfrm>
            <a:off x="777240" y="3063240"/>
            <a:ext cx="2743200" cy="365760"/>
          </a:xfrm>
          <a:prstGeom prst="rect">
            <a:avLst/>
          </a:prstGeom>
          <a:noFill/>
        </p:spPr>
        <p:txBody>
          <a:bodyPr wrap="square" anchor="t" lIns="0" rIns="0" tIns="0" bIns="0">
            <a:spAutoFit/>
          </a:bodyPr>
          <a:lstStyle/>
          <a:p>
            <a:pPr algn="l">
              <a:spcBef>
                <a:spcPts val="0"/>
              </a:spcBef>
              <a:spcAft>
                <a:spcPts val="400"/>
              </a:spcAft>
            </a:pPr>
            <a:r>
              <a:rPr sz="1100" b="1">
                <a:solidFill>
                  <a:srgbClr val="F59E0B"/>
                </a:solidFill>
                <a:latin typeface="Arial"/>
              </a:rPr>
              <a:t>RETRIEVAL — every question</a:t>
            </a:r>
          </a:p>
        </p:txBody>
      </p:sp>
      <p:sp>
        <p:nvSpPr>
          <p:cNvPr id="20" name="Rounded Rectangle 19"/>
          <p:cNvSpPr/>
          <p:nvPr/>
        </p:nvSpPr>
        <p:spPr>
          <a:xfrm>
            <a:off x="777240" y="3429000"/>
            <a:ext cx="1878177" cy="68580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429000"/>
            <a:ext cx="1695297"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Question</a:t>
            </a:r>
          </a:p>
        </p:txBody>
      </p:sp>
      <p:sp>
        <p:nvSpPr>
          <p:cNvPr id="22" name="TextBox 21"/>
          <p:cNvSpPr txBox="1"/>
          <p:nvPr/>
        </p:nvSpPr>
        <p:spPr>
          <a:xfrm>
            <a:off x="2627985" y="36073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23" name="Rounded Rectangle 22"/>
          <p:cNvSpPr/>
          <p:nvPr/>
        </p:nvSpPr>
        <p:spPr>
          <a:xfrm>
            <a:off x="2966313" y="3429000"/>
            <a:ext cx="1878177" cy="68580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7753" y="3429000"/>
            <a:ext cx="1695297"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Embed</a:t>
            </a:r>
          </a:p>
        </p:txBody>
      </p:sp>
      <p:sp>
        <p:nvSpPr>
          <p:cNvPr id="25" name="TextBox 24"/>
          <p:cNvSpPr txBox="1"/>
          <p:nvPr/>
        </p:nvSpPr>
        <p:spPr>
          <a:xfrm>
            <a:off x="4817058" y="36073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26" name="Rounded Rectangle 25"/>
          <p:cNvSpPr/>
          <p:nvPr/>
        </p:nvSpPr>
        <p:spPr>
          <a:xfrm>
            <a:off x="5155386" y="3429000"/>
            <a:ext cx="1878177" cy="68580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46826" y="3429000"/>
            <a:ext cx="1695297"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Nearest top_k</a:t>
            </a:r>
          </a:p>
        </p:txBody>
      </p:sp>
      <p:sp>
        <p:nvSpPr>
          <p:cNvPr id="28" name="TextBox 27"/>
          <p:cNvSpPr txBox="1"/>
          <p:nvPr/>
        </p:nvSpPr>
        <p:spPr>
          <a:xfrm>
            <a:off x="7006131" y="36073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29" name="Rounded Rectangle 28"/>
          <p:cNvSpPr/>
          <p:nvPr/>
        </p:nvSpPr>
        <p:spPr>
          <a:xfrm>
            <a:off x="7344459" y="3429000"/>
            <a:ext cx="1878177" cy="68580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35899" y="3429000"/>
            <a:ext cx="1695297"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Into the prompt</a:t>
            </a:r>
          </a:p>
        </p:txBody>
      </p:sp>
      <p:sp>
        <p:nvSpPr>
          <p:cNvPr id="31" name="TextBox 30"/>
          <p:cNvSpPr txBox="1"/>
          <p:nvPr/>
        </p:nvSpPr>
        <p:spPr>
          <a:xfrm>
            <a:off x="9195204" y="360730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32" name="Rounded Rectangle 31"/>
          <p:cNvSpPr/>
          <p:nvPr/>
        </p:nvSpPr>
        <p:spPr>
          <a:xfrm>
            <a:off x="9533532" y="3429000"/>
            <a:ext cx="1878177" cy="68580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24972" y="3429000"/>
            <a:ext cx="1695297" cy="6858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Answer</a:t>
            </a:r>
          </a:p>
        </p:txBody>
      </p:sp>
      <p:sp>
        <p:nvSpPr>
          <p:cNvPr id="34" name="Rounded Rectangle 33"/>
          <p:cNvSpPr/>
          <p:nvPr/>
        </p:nvSpPr>
        <p:spPr>
          <a:xfrm>
            <a:off x="777240" y="4343400"/>
            <a:ext cx="2439162" cy="123444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 y="4489704"/>
            <a:ext cx="2036826"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Chunk</a:t>
            </a:r>
          </a:p>
        </p:txBody>
      </p:sp>
      <p:sp>
        <p:nvSpPr>
          <p:cNvPr id="36" name="TextBox 35"/>
          <p:cNvSpPr txBox="1"/>
          <p:nvPr/>
        </p:nvSpPr>
        <p:spPr>
          <a:xfrm>
            <a:off x="978408" y="4892040"/>
            <a:ext cx="2036826" cy="5394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How a document is split — here one brochure = one chunk.</a:t>
            </a:r>
          </a:p>
        </p:txBody>
      </p:sp>
      <p:sp>
        <p:nvSpPr>
          <p:cNvPr id="37" name="Rounded Rectangle 36"/>
          <p:cNvSpPr/>
          <p:nvPr/>
        </p:nvSpPr>
        <p:spPr>
          <a:xfrm>
            <a:off x="3509010" y="4343400"/>
            <a:ext cx="2439162" cy="123444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710178" y="4489704"/>
            <a:ext cx="2036826"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Embedding</a:t>
            </a:r>
          </a:p>
        </p:txBody>
      </p:sp>
      <p:sp>
        <p:nvSpPr>
          <p:cNvPr id="39" name="TextBox 38"/>
          <p:cNvSpPr txBox="1"/>
          <p:nvPr/>
        </p:nvSpPr>
        <p:spPr>
          <a:xfrm>
            <a:off x="3710178" y="4892040"/>
            <a:ext cx="2036826" cy="5394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Text as a list of numbers; similar meaning → nearby vectors.</a:t>
            </a:r>
          </a:p>
        </p:txBody>
      </p:sp>
      <p:sp>
        <p:nvSpPr>
          <p:cNvPr id="40" name="Rounded Rectangle 39"/>
          <p:cNvSpPr/>
          <p:nvPr/>
        </p:nvSpPr>
        <p:spPr>
          <a:xfrm>
            <a:off x="6240780" y="4343400"/>
            <a:ext cx="2439162" cy="123444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41948" y="4489704"/>
            <a:ext cx="2036826"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Similarity</a:t>
            </a:r>
          </a:p>
        </p:txBody>
      </p:sp>
      <p:sp>
        <p:nvSpPr>
          <p:cNvPr id="42" name="TextBox 41"/>
          <p:cNvSpPr txBox="1"/>
          <p:nvPr/>
        </p:nvSpPr>
        <p:spPr>
          <a:xfrm>
            <a:off x="6441948" y="4892040"/>
            <a:ext cx="2036826" cy="5394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Nearness of two vectors — how 'related' two texts are.</a:t>
            </a:r>
          </a:p>
        </p:txBody>
      </p:sp>
      <p:sp>
        <p:nvSpPr>
          <p:cNvPr id="43" name="Rounded Rectangle 42"/>
          <p:cNvSpPr/>
          <p:nvPr/>
        </p:nvSpPr>
        <p:spPr>
          <a:xfrm>
            <a:off x="8972550" y="4343400"/>
            <a:ext cx="2439162" cy="123444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73718" y="4489704"/>
            <a:ext cx="2036826"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top_k</a:t>
            </a:r>
          </a:p>
        </p:txBody>
      </p:sp>
      <p:sp>
        <p:nvSpPr>
          <p:cNvPr id="45" name="TextBox 44"/>
          <p:cNvSpPr txBox="1"/>
          <p:nvPr/>
        </p:nvSpPr>
        <p:spPr>
          <a:xfrm>
            <a:off x="9173718" y="4892040"/>
            <a:ext cx="2036826" cy="53949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How many chunks come back per question — 3 here.</a:t>
            </a:r>
          </a:p>
        </p:txBody>
      </p:sp>
      <p:sp>
        <p:nvSpPr>
          <p:cNvPr id="46" name="Rounded Rectangle 45"/>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Four words — chunk, embedding, similarity, top_k — explain every RAG behaviour you will see.</a:t>
            </a:r>
          </a:p>
        </p:txBody>
      </p:sp>
      <p:sp>
        <p:nvSpPr>
          <p:cNvPr id="48" name="TextBox 4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9" name="TextBox 4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50" name="TextBox 4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98</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How RAG Works</a:t>
            </a:r>
          </a:p>
        </p:txBody>
      </p:sp>
      <p:pic>
        <p:nvPicPr>
          <p:cNvPr id="6" name="Picture 5" descr="rag-flow.png"/>
          <p:cNvPicPr>
            <a:picLocks noChangeAspect="1"/>
          </p:cNvPicPr>
          <p:nvPr/>
        </p:nvPicPr>
        <p:blipFill>
          <a:blip r:embed="rId2"/>
          <a:stretch>
            <a:fillRect/>
          </a:stretch>
        </p:blipFill>
        <p:spPr>
          <a:xfrm>
            <a:off x="1949298" y="1737360"/>
            <a:ext cx="8262923" cy="4160520"/>
          </a:xfrm>
          <a:prstGeom prst="rect">
            <a:avLst/>
          </a:prstGeom>
        </p:spPr>
      </p:pic>
      <p:sp>
        <p:nvSpPr>
          <p:cNvPr id="7" name="Rectangle 6"/>
          <p:cNvSpPr/>
          <p:nvPr/>
        </p:nvSpPr>
        <p:spPr>
          <a:xfrm>
            <a:off x="1936598" y="1724660"/>
            <a:ext cx="8288323" cy="418592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989320"/>
            <a:ext cx="10698480" cy="365760"/>
          </a:xfrm>
          <a:prstGeom prst="rect">
            <a:avLst/>
          </a:prstGeom>
          <a:noFill/>
        </p:spPr>
        <p:txBody>
          <a:bodyPr wrap="square" anchor="t" lIns="0" rIns="0" tIns="0" bIns="0">
            <a:spAutoFit/>
          </a:bodyPr>
          <a:lstStyle/>
          <a:p>
            <a:pPr algn="ctr">
              <a:spcBef>
                <a:spcPts val="0"/>
              </a:spcBef>
              <a:spcAft>
                <a:spcPts val="400"/>
              </a:spcAft>
            </a:pPr>
            <a:r>
              <a:rPr sz="1200" b="0">
                <a:solidFill>
                  <a:srgbClr val="5B6372"/>
                </a:solidFill>
                <a:latin typeface="Arial"/>
              </a:rPr>
              <a:t>User → Prompt → Data Retrieval (search/retrieve over your data sources) → Generator → Response</a:t>
            </a: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99</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5 · RAG</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Vector Databases — Where the Embeddings Live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In-memory for demos; a hosted store for anything that must survive a restart.</a:t>
            </a:r>
          </a:p>
        </p:txBody>
      </p:sp>
      <p:sp>
        <p:nvSpPr>
          <p:cNvPr id="7" name="Rectangle 6"/>
          <p:cNvSpPr/>
          <p:nvPr/>
        </p:nvSpPr>
        <p:spPr>
          <a:xfrm>
            <a:off x="777240" y="1828800"/>
            <a:ext cx="237744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28800"/>
            <a:ext cx="2121408"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
            </a:r>
          </a:p>
        </p:txBody>
      </p:sp>
      <p:sp>
        <p:nvSpPr>
          <p:cNvPr id="9" name="Rectangle 8"/>
          <p:cNvSpPr/>
          <p:nvPr/>
        </p:nvSpPr>
        <p:spPr>
          <a:xfrm>
            <a:off x="3154680" y="1828800"/>
            <a:ext cx="274320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82696" y="1828800"/>
            <a:ext cx="2487168"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Supabase (pgvector)</a:t>
            </a:r>
          </a:p>
        </p:txBody>
      </p:sp>
      <p:sp>
        <p:nvSpPr>
          <p:cNvPr id="11" name="Rectangle 10"/>
          <p:cNvSpPr/>
          <p:nvPr/>
        </p:nvSpPr>
        <p:spPr>
          <a:xfrm>
            <a:off x="5897880" y="1828800"/>
            <a:ext cx="274320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25896" y="1828800"/>
            <a:ext cx="2487168"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Pinecone</a:t>
            </a:r>
          </a:p>
        </p:txBody>
      </p:sp>
      <p:sp>
        <p:nvSpPr>
          <p:cNvPr id="13" name="Rectangle 12"/>
          <p:cNvSpPr/>
          <p:nvPr/>
        </p:nvSpPr>
        <p:spPr>
          <a:xfrm>
            <a:off x="8641080" y="1828800"/>
            <a:ext cx="277063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69096" y="1828800"/>
            <a:ext cx="2514600" cy="475488"/>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Qdrant</a:t>
            </a:r>
          </a:p>
        </p:txBody>
      </p:sp>
      <p:sp>
        <p:nvSpPr>
          <p:cNvPr id="15" name="Rectangle 14"/>
          <p:cNvSpPr/>
          <p:nvPr/>
        </p:nvSpPr>
        <p:spPr>
          <a:xfrm>
            <a:off x="777240" y="2304288"/>
            <a:ext cx="237744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304288"/>
            <a:ext cx="2121408" cy="475488"/>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What it is</a:t>
            </a:r>
          </a:p>
        </p:txBody>
      </p:sp>
      <p:sp>
        <p:nvSpPr>
          <p:cNvPr id="17" name="Rectangle 16"/>
          <p:cNvSpPr/>
          <p:nvPr/>
        </p:nvSpPr>
        <p:spPr>
          <a:xfrm>
            <a:off x="3154680" y="2304288"/>
            <a:ext cx="27432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82696" y="2304288"/>
            <a:ext cx="248716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Postgres + extension</a:t>
            </a:r>
          </a:p>
        </p:txBody>
      </p:sp>
      <p:sp>
        <p:nvSpPr>
          <p:cNvPr id="19" name="Rectangle 18"/>
          <p:cNvSpPr/>
          <p:nvPr/>
        </p:nvSpPr>
        <p:spPr>
          <a:xfrm>
            <a:off x="5897880" y="2304288"/>
            <a:ext cx="27432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25896" y="2304288"/>
            <a:ext cx="248716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Managed SaaS index</a:t>
            </a:r>
          </a:p>
        </p:txBody>
      </p:sp>
      <p:sp>
        <p:nvSpPr>
          <p:cNvPr id="21" name="Rectangle 20"/>
          <p:cNvSpPr/>
          <p:nvPr/>
        </p:nvSpPr>
        <p:spPr>
          <a:xfrm>
            <a:off x="8641080" y="2304288"/>
            <a:ext cx="277063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69096" y="2304288"/>
            <a:ext cx="2514600"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Open-source vector DB</a:t>
            </a:r>
          </a:p>
        </p:txBody>
      </p:sp>
      <p:sp>
        <p:nvSpPr>
          <p:cNvPr id="23" name="Rectangle 22"/>
          <p:cNvSpPr/>
          <p:nvPr/>
        </p:nvSpPr>
        <p:spPr>
          <a:xfrm>
            <a:off x="777240" y="2779776"/>
            <a:ext cx="237744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779776"/>
            <a:ext cx="2121408" cy="475488"/>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Setup</a:t>
            </a:r>
          </a:p>
        </p:txBody>
      </p:sp>
      <p:sp>
        <p:nvSpPr>
          <p:cNvPr id="25" name="Rectangle 24"/>
          <p:cNvSpPr/>
          <p:nvPr/>
        </p:nvSpPr>
        <p:spPr>
          <a:xfrm>
            <a:off x="3154680" y="2779776"/>
            <a:ext cx="274320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82696" y="2779776"/>
            <a:ext cx="248716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SQL table + function</a:t>
            </a:r>
          </a:p>
        </p:txBody>
      </p:sp>
      <p:sp>
        <p:nvSpPr>
          <p:cNvPr id="27" name="Rectangle 26"/>
          <p:cNvSpPr/>
          <p:nvPr/>
        </p:nvSpPr>
        <p:spPr>
          <a:xfrm>
            <a:off x="5897880" y="2779776"/>
            <a:ext cx="274320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25896" y="2779776"/>
            <a:ext cx="248716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Create an index — no schema</a:t>
            </a:r>
          </a:p>
        </p:txBody>
      </p:sp>
      <p:sp>
        <p:nvSpPr>
          <p:cNvPr id="29" name="Rectangle 28"/>
          <p:cNvSpPr/>
          <p:nvPr/>
        </p:nvSpPr>
        <p:spPr>
          <a:xfrm>
            <a:off x="8641080" y="2779776"/>
            <a:ext cx="277063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69096" y="2779776"/>
            <a:ext cx="2514600"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Docker or Qdrant Cloud</a:t>
            </a:r>
          </a:p>
        </p:txBody>
      </p:sp>
      <p:sp>
        <p:nvSpPr>
          <p:cNvPr id="31" name="Rectangle 30"/>
          <p:cNvSpPr/>
          <p:nvPr/>
        </p:nvSpPr>
        <p:spPr>
          <a:xfrm>
            <a:off x="777240" y="3255264"/>
            <a:ext cx="237744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255264"/>
            <a:ext cx="2121408" cy="475488"/>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Best for</a:t>
            </a:r>
          </a:p>
        </p:txBody>
      </p:sp>
      <p:sp>
        <p:nvSpPr>
          <p:cNvPr id="33" name="Rectangle 32"/>
          <p:cNvSpPr/>
          <p:nvPr/>
        </p:nvSpPr>
        <p:spPr>
          <a:xfrm>
            <a:off x="3154680" y="3255264"/>
            <a:ext cx="27432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82696" y="3255264"/>
            <a:ext cx="248716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Teams already on Postgres</a:t>
            </a:r>
          </a:p>
        </p:txBody>
      </p:sp>
      <p:sp>
        <p:nvSpPr>
          <p:cNvPr id="35" name="Rectangle 34"/>
          <p:cNvSpPr/>
          <p:nvPr/>
        </p:nvSpPr>
        <p:spPr>
          <a:xfrm>
            <a:off x="5897880" y="3255264"/>
            <a:ext cx="27432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25896" y="3255264"/>
            <a:ext cx="248716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Zero-ops, scales fast</a:t>
            </a:r>
          </a:p>
        </p:txBody>
      </p:sp>
      <p:sp>
        <p:nvSpPr>
          <p:cNvPr id="37" name="Rectangle 36"/>
          <p:cNvSpPr/>
          <p:nvPr/>
        </p:nvSpPr>
        <p:spPr>
          <a:xfrm>
            <a:off x="8641080" y="3255264"/>
            <a:ext cx="277063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69096" y="3255264"/>
            <a:ext cx="2514600"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Full control, self-hosted</a:t>
            </a:r>
          </a:p>
        </p:txBody>
      </p:sp>
      <p:sp>
        <p:nvSpPr>
          <p:cNvPr id="39" name="Rectangle 38"/>
          <p:cNvSpPr/>
          <p:nvPr/>
        </p:nvSpPr>
        <p:spPr>
          <a:xfrm>
            <a:off x="777240" y="3730752"/>
            <a:ext cx="237744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30752"/>
            <a:ext cx="2121408" cy="475488"/>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Course embedding</a:t>
            </a:r>
          </a:p>
        </p:txBody>
      </p:sp>
      <p:sp>
        <p:nvSpPr>
          <p:cNvPr id="41" name="Rectangle 40"/>
          <p:cNvSpPr/>
          <p:nvPr/>
        </p:nvSpPr>
        <p:spPr>
          <a:xfrm>
            <a:off x="3154680" y="3730752"/>
            <a:ext cx="274320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82696" y="3730752"/>
            <a:ext cx="248716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OpenAI 1536-dim</a:t>
            </a:r>
          </a:p>
        </p:txBody>
      </p:sp>
      <p:sp>
        <p:nvSpPr>
          <p:cNvPr id="43" name="Rectangle 42"/>
          <p:cNvSpPr/>
          <p:nvPr/>
        </p:nvSpPr>
        <p:spPr>
          <a:xfrm>
            <a:off x="5897880" y="3730752"/>
            <a:ext cx="2743200"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25896" y="3730752"/>
            <a:ext cx="2487168"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Gemini 3072-dim</a:t>
            </a:r>
          </a:p>
        </p:txBody>
      </p:sp>
      <p:sp>
        <p:nvSpPr>
          <p:cNvPr id="45" name="Rectangle 44"/>
          <p:cNvSpPr/>
          <p:nvPr/>
        </p:nvSpPr>
        <p:spPr>
          <a:xfrm>
            <a:off x="8641080" y="3730752"/>
            <a:ext cx="277063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769096" y="3730752"/>
            <a:ext cx="2514600" cy="475488"/>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OpenAI 1536-dim</a:t>
            </a:r>
          </a:p>
        </p:txBody>
      </p:sp>
      <p:sp>
        <p:nvSpPr>
          <p:cNvPr id="47" name="Rounded Rectangle 46"/>
          <p:cNvSpPr/>
          <p:nvPr/>
        </p:nvSpPr>
        <p:spPr>
          <a:xfrm>
            <a:off x="777240" y="4343400"/>
            <a:ext cx="10634472" cy="118872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51560" y="4507992"/>
            <a:ext cx="10058400" cy="292608"/>
          </a:xfrm>
          <a:prstGeom prst="rect">
            <a:avLst/>
          </a:prstGeom>
          <a:noFill/>
        </p:spPr>
        <p:txBody>
          <a:bodyPr wrap="square" anchor="t" lIns="0" rIns="0" tIns="0" bIns="0">
            <a:spAutoFit/>
          </a:bodyPr>
          <a:lstStyle/>
          <a:p>
            <a:pPr algn="l">
              <a:spcBef>
                <a:spcPts val="0"/>
              </a:spcBef>
              <a:spcAft>
                <a:spcPts val="400"/>
              </a:spcAft>
            </a:pPr>
            <a:r>
              <a:rPr sz="1200" b="1">
                <a:solidFill>
                  <a:srgbClr val="C62F2F"/>
                </a:solidFill>
                <a:latin typeface="Arial"/>
              </a:rPr>
              <a:t>THE DIMENSION RULE</a:t>
            </a:r>
          </a:p>
        </p:txBody>
      </p:sp>
      <p:sp>
        <p:nvSpPr>
          <p:cNvPr id="49" name="TextBox 48"/>
          <p:cNvSpPr txBox="1"/>
          <p:nvPr/>
        </p:nvSpPr>
        <p:spPr>
          <a:xfrm>
            <a:off x="1051560" y="4828032"/>
            <a:ext cx="10058400" cy="594360"/>
          </a:xfrm>
          <a:prstGeom prst="rect">
            <a:avLst/>
          </a:prstGeom>
          <a:noFill/>
        </p:spPr>
        <p:txBody>
          <a:bodyPr wrap="square" anchor="t" lIns="0" rIns="0" tIns="0" bIns="0">
            <a:spAutoFit/>
          </a:bodyPr>
          <a:lstStyle/>
          <a:p>
            <a:pPr algn="l">
              <a:spcBef>
                <a:spcPts val="0"/>
              </a:spcBef>
              <a:spcAft>
                <a:spcPts val="400"/>
              </a:spcAft>
            </a:pPr>
            <a:r>
              <a:rPr sz="1150" b="0">
                <a:solidFill>
                  <a:srgbClr val="161B26"/>
                </a:solidFill>
                <a:latin typeface="Arial"/>
              </a:rPr>
              <a:t>The store's dimension MUST equal the embedding model's output — OpenAI text-embedding-3-small = 1536, Gemini gemini-embedding-001 = 3072. Mismatched dimensions are the #1 cause of failed inserts.</a:t>
            </a:r>
          </a:p>
        </p:txBody>
      </p:sp>
      <p:sp>
        <p:nvSpPr>
          <p:cNvPr id="50" name="Rounded Rectangle 49"/>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Swap the store, keep the RAG flow — but ingestion and retrieval must use the SAME embedding model.</a:t>
            </a:r>
          </a:p>
        </p:txBody>
      </p:sp>
      <p:sp>
        <p:nvSpPr>
          <p:cNvPr id="52" name="TextBox 5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53" name="TextBox 5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54" name="TextBox 5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ACT 7b · VECTOR DATABASE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Pinecone — Example Managed Store</a:t>
            </a:r>
          </a:p>
        </p:txBody>
      </p:sp>
      <p:sp>
        <p:nvSpPr>
          <p:cNvPr id="6" name="TextBox 5"/>
          <p:cNvSpPr txBox="1"/>
          <p:nvPr/>
        </p:nvSpPr>
        <p:spPr>
          <a:xfrm>
            <a:off x="777240" y="1783080"/>
            <a:ext cx="4937760" cy="4206240"/>
          </a:xfrm>
          <a:prstGeom prst="rect">
            <a:avLst/>
          </a:prstGeom>
          <a:noFill/>
        </p:spPr>
        <p:txBody>
          <a:bodyPr wrap="square" lIns="0" rIns="0">
            <a:spAutoFit/>
          </a:bodyPr>
          <a:lstStyle/>
          <a:p>
            <a:pPr>
              <a:spcBef>
                <a:spcPts val="0"/>
              </a:spcBef>
              <a:spcAft>
                <a:spcPts val="1000"/>
              </a:spcAft>
            </a:pPr>
            <a:r>
              <a:rPr sz="1600" b="1">
                <a:solidFill>
                  <a:srgbClr val="1F6FEB"/>
                </a:solidFill>
                <a:latin typeface="Arial"/>
              </a:rPr>
              <a:t>•  </a:t>
            </a:r>
            <a:r>
              <a:rPr sz="1600">
                <a:solidFill>
                  <a:srgbClr val="161B26"/>
                </a:solidFill>
                <a:latin typeface="Arial"/>
              </a:rPr>
              <a:t>Pinecone is a managed (cloud) vector database for RAG.</a:t>
            </a:r>
          </a:p>
          <a:p>
            <a:pPr>
              <a:spcBef>
                <a:spcPts val="0"/>
              </a:spcBef>
              <a:spcAft>
                <a:spcPts val="1000"/>
              </a:spcAft>
            </a:pPr>
            <a:r>
              <a:rPr sz="1600" b="1">
                <a:solidFill>
                  <a:srgbClr val="1F6FEB"/>
                </a:solidFill>
                <a:latin typeface="Arial"/>
              </a:rPr>
              <a:t>•  </a:t>
            </a:r>
            <a:r>
              <a:rPr sz="1600">
                <a:solidFill>
                  <a:srgbClr val="161B26"/>
                </a:solidFill>
                <a:latin typeface="Arial"/>
              </a:rPr>
              <a:t>Free 'Starter' tier is enough for this lab.</a:t>
            </a:r>
          </a:p>
          <a:p>
            <a:pPr>
              <a:spcBef>
                <a:spcPts val="0"/>
              </a:spcBef>
              <a:spcAft>
                <a:spcPts val="1000"/>
              </a:spcAft>
            </a:pPr>
            <a:r>
              <a:rPr sz="1600" b="1">
                <a:solidFill>
                  <a:srgbClr val="1F6FEB"/>
                </a:solidFill>
                <a:latin typeface="Arial"/>
              </a:rPr>
              <a:t>•  </a:t>
            </a:r>
            <a:r>
              <a:rPr sz="1600">
                <a:solidFill>
                  <a:srgbClr val="161B26"/>
                </a:solidFill>
                <a:latin typeface="Arial"/>
              </a:rPr>
              <a:t>Create an index: Dimensions = 3072 (Gemini), Metric = cosine.</a:t>
            </a:r>
          </a:p>
          <a:p>
            <a:pPr>
              <a:spcBef>
                <a:spcPts val="0"/>
              </a:spcBef>
              <a:spcAft>
                <a:spcPts val="1000"/>
              </a:spcAft>
            </a:pPr>
            <a:r>
              <a:rPr sz="1600" b="1">
                <a:solidFill>
                  <a:srgbClr val="1F6FEB"/>
                </a:solidFill>
                <a:latin typeface="Arial"/>
              </a:rPr>
              <a:t>•  </a:t>
            </a:r>
            <a:r>
              <a:rPr sz="1600">
                <a:solidFill>
                  <a:srgbClr val="161B26"/>
                </a:solidFill>
                <a:latin typeface="Arial"/>
              </a:rPr>
              <a:t>Upload and retrieval must use the same namespace.</a:t>
            </a:r>
          </a:p>
        </p:txBody>
      </p:sp>
      <p:pic>
        <p:nvPicPr>
          <p:cNvPr id="7" name="Picture 6" descr="site-pinecone.png"/>
          <p:cNvPicPr>
            <a:picLocks noChangeAspect="1"/>
          </p:cNvPicPr>
          <p:nvPr/>
        </p:nvPicPr>
        <p:blipFill>
          <a:blip r:embed="rId2"/>
          <a:stretch>
            <a:fillRect/>
          </a:stretch>
        </p:blipFill>
        <p:spPr>
          <a:xfrm>
            <a:off x="5943600" y="1783080"/>
            <a:ext cx="5486400" cy="3429000"/>
          </a:xfrm>
          <a:prstGeom prst="rect">
            <a:avLst/>
          </a:prstGeom>
        </p:spPr>
      </p:pic>
      <p:sp>
        <p:nvSpPr>
          <p:cNvPr id="8" name="Rectangle 7"/>
          <p:cNvSpPr/>
          <p:nvPr/>
        </p:nvSpPr>
        <p:spPr>
          <a:xfrm>
            <a:off x="5930900" y="1770380"/>
            <a:ext cx="5511800" cy="345440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101</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TOPIC 5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7a — RAG Chatbot: Upload a PDF, Ask in Telegram</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full RAG loop, no code: a web page ingests your IT-Support FAQ; a Telegram bot answers only from that document.</a:t>
            </a:r>
          </a:p>
        </p:txBody>
      </p:sp>
      <p:sp>
        <p:nvSpPr>
          <p:cNvPr id="7" name="Rounded Rectangle 6"/>
          <p:cNvSpPr/>
          <p:nvPr/>
        </p:nvSpPr>
        <p:spPr>
          <a:xfrm>
            <a:off x="777240" y="1810512"/>
            <a:ext cx="2425446"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Web Uploader</a:t>
            </a:r>
          </a:p>
          <a:p>
            <a:pPr algn="ctr">
              <a:spcBef>
                <a:spcPts val="0"/>
              </a:spcBef>
              <a:spcAft>
                <a:spcPts val="200"/>
              </a:spcAft>
            </a:pPr>
            <a:r>
              <a:rPr sz="850" b="0">
                <a:solidFill>
                  <a:srgbClr val="5B6372"/>
                </a:solidFill>
                <a:latin typeface="Arial"/>
              </a:rPr>
              <a:t>PDF text extracted in browser</a:t>
            </a:r>
          </a:p>
        </p:txBody>
      </p:sp>
      <p:sp>
        <p:nvSpPr>
          <p:cNvPr id="9" name="TextBox 8"/>
          <p:cNvSpPr txBox="1"/>
          <p:nvPr/>
        </p:nvSpPr>
        <p:spPr>
          <a:xfrm>
            <a:off x="317525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0" name="Rounded Rectangle 9"/>
          <p:cNvSpPr/>
          <p:nvPr/>
        </p:nvSpPr>
        <p:spPr>
          <a:xfrm>
            <a:off x="3513582" y="1810512"/>
            <a:ext cx="2425446"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Upload Webhook</a:t>
            </a:r>
          </a:p>
          <a:p>
            <a:pPr algn="ctr">
              <a:spcBef>
                <a:spcPts val="0"/>
              </a:spcBef>
              <a:spcAft>
                <a:spcPts val="200"/>
              </a:spcAft>
            </a:pPr>
            <a:r>
              <a:rPr sz="850" b="0">
                <a:solidFill>
                  <a:srgbClr val="5B6372"/>
                </a:solidFill>
                <a:latin typeface="Arial"/>
              </a:rPr>
              <a:t>POST to n8n</a:t>
            </a:r>
          </a:p>
        </p:txBody>
      </p:sp>
      <p:sp>
        <p:nvSpPr>
          <p:cNvPr id="12" name="TextBox 11"/>
          <p:cNvSpPr txBox="1"/>
          <p:nvPr/>
        </p:nvSpPr>
        <p:spPr>
          <a:xfrm>
            <a:off x="5911596"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3" name="Rounded Rectangle 12"/>
          <p:cNvSpPr/>
          <p:nvPr/>
        </p:nvSpPr>
        <p:spPr>
          <a:xfrm>
            <a:off x="6249924" y="1810512"/>
            <a:ext cx="2425446"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Gemini Embeddings</a:t>
            </a:r>
          </a:p>
          <a:p>
            <a:pPr algn="ctr">
              <a:spcBef>
                <a:spcPts val="0"/>
              </a:spcBef>
              <a:spcAft>
                <a:spcPts val="200"/>
              </a:spcAft>
            </a:pPr>
            <a:r>
              <a:rPr sz="850" b="0">
                <a:solidFill>
                  <a:srgbClr val="5B6372"/>
                </a:solidFill>
                <a:latin typeface="Arial"/>
              </a:rPr>
              <a:t>chunk + embed</a:t>
            </a:r>
          </a:p>
        </p:txBody>
      </p:sp>
      <p:sp>
        <p:nvSpPr>
          <p:cNvPr id="15" name="TextBox 14"/>
          <p:cNvSpPr txBox="1"/>
          <p:nvPr/>
        </p:nvSpPr>
        <p:spPr>
          <a:xfrm>
            <a:off x="864793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6" name="Rounded Rectangle 15"/>
          <p:cNvSpPr/>
          <p:nvPr/>
        </p:nvSpPr>
        <p:spPr>
          <a:xfrm>
            <a:off x="8986266" y="1810512"/>
            <a:ext cx="2425446"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Vector Store</a:t>
            </a:r>
          </a:p>
          <a:p>
            <a:pPr algn="ctr">
              <a:spcBef>
                <a:spcPts val="0"/>
              </a:spcBef>
              <a:spcAft>
                <a:spcPts val="200"/>
              </a:spcAft>
            </a:pPr>
            <a:r>
              <a:rPr sz="850" b="0">
                <a:solidFill>
                  <a:srgbClr val="5B6372"/>
                </a:solidFill>
                <a:latin typeface="Arial"/>
              </a:rPr>
              <a:t>in-memory; replaced per upload</a:t>
            </a:r>
          </a:p>
        </p:txBody>
      </p:sp>
      <p:sp>
        <p:nvSpPr>
          <p:cNvPr id="18" name="Rounded Rectangle 17"/>
          <p:cNvSpPr/>
          <p:nvPr/>
        </p:nvSpPr>
        <p:spPr>
          <a:xfrm>
            <a:off x="777240" y="2706624"/>
            <a:ext cx="3337560"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2706624"/>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Telegram Trigger</a:t>
            </a:r>
          </a:p>
          <a:p>
            <a:pPr algn="ctr">
              <a:spcBef>
                <a:spcPts val="0"/>
              </a:spcBef>
              <a:spcAft>
                <a:spcPts val="200"/>
              </a:spcAft>
            </a:pPr>
            <a:r>
              <a:rPr sz="850" b="0">
                <a:solidFill>
                  <a:srgbClr val="5B6372"/>
                </a:solidFill>
                <a:latin typeface="Arial"/>
              </a:rPr>
              <a:t>'How do I reset my password?'</a:t>
            </a:r>
          </a:p>
        </p:txBody>
      </p:sp>
      <p:sp>
        <p:nvSpPr>
          <p:cNvPr id="20" name="TextBox 19"/>
          <p:cNvSpPr txBox="1"/>
          <p:nvPr/>
        </p:nvSpPr>
        <p:spPr>
          <a:xfrm>
            <a:off x="4087368" y="2916936"/>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21" name="Rounded Rectangle 20"/>
          <p:cNvSpPr/>
          <p:nvPr/>
        </p:nvSpPr>
        <p:spPr>
          <a:xfrm>
            <a:off x="4425696" y="2706624"/>
            <a:ext cx="3337560"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17136" y="2706624"/>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AI Agent</a:t>
            </a:r>
          </a:p>
          <a:p>
            <a:pPr algn="ctr">
              <a:spcBef>
                <a:spcPts val="0"/>
              </a:spcBef>
              <a:spcAft>
                <a:spcPts val="200"/>
              </a:spcAft>
            </a:pPr>
            <a:r>
              <a:rPr sz="850" b="0">
                <a:solidFill>
                  <a:srgbClr val="5B6372"/>
                </a:solidFill>
                <a:latin typeface="Arial"/>
              </a:rPr>
              <a:t>knowledge_base retriever tool</a:t>
            </a:r>
          </a:p>
        </p:txBody>
      </p:sp>
      <p:sp>
        <p:nvSpPr>
          <p:cNvPr id="23" name="TextBox 22"/>
          <p:cNvSpPr txBox="1"/>
          <p:nvPr/>
        </p:nvSpPr>
        <p:spPr>
          <a:xfrm>
            <a:off x="7735824" y="2916936"/>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24" name="Rounded Rectangle 23"/>
          <p:cNvSpPr/>
          <p:nvPr/>
        </p:nvSpPr>
        <p:spPr>
          <a:xfrm>
            <a:off x="8074152" y="2706624"/>
            <a:ext cx="3337560"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65592" y="2706624"/>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Telegram — Send</a:t>
            </a:r>
          </a:p>
          <a:p>
            <a:pPr algn="ctr">
              <a:spcBef>
                <a:spcPts val="0"/>
              </a:spcBef>
              <a:spcAft>
                <a:spcPts val="200"/>
              </a:spcAft>
            </a:pPr>
            <a:r>
              <a:rPr sz="850" b="0">
                <a:solidFill>
                  <a:srgbClr val="5B6372"/>
                </a:solidFill>
                <a:latin typeface="Arial"/>
              </a:rPr>
              <a:t>answers only from the document</a:t>
            </a:r>
          </a:p>
        </p:txBody>
      </p:sp>
      <p:pic>
        <p:nvPicPr>
          <p:cNvPr id="26" name="Picture 25" descr="Activity7a-RAG-Telegram.png"/>
          <p:cNvPicPr>
            <a:picLocks noChangeAspect="1"/>
          </p:cNvPicPr>
          <p:nvPr/>
        </p:nvPicPr>
        <p:blipFill>
          <a:blip r:embed="rId2"/>
          <a:stretch>
            <a:fillRect/>
          </a:stretch>
        </p:blipFill>
        <p:spPr>
          <a:xfrm>
            <a:off x="4430124" y="3657600"/>
            <a:ext cx="3301272" cy="1920240"/>
          </a:xfrm>
          <a:prstGeom prst="rect">
            <a:avLst/>
          </a:prstGeom>
        </p:spPr>
      </p:pic>
      <p:sp>
        <p:nvSpPr>
          <p:cNvPr id="27" name="Rectangle 26"/>
          <p:cNvSpPr/>
          <p:nvPr/>
        </p:nvSpPr>
        <p:spPr>
          <a:xfrm>
            <a:off x="4417424" y="3644900"/>
            <a:ext cx="3326672" cy="194564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77240" y="5687568"/>
            <a:ext cx="10634472" cy="56692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0120" y="5806440"/>
            <a:ext cx="960120" cy="3291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7a</a:t>
            </a:r>
          </a:p>
        </p:txBody>
      </p:sp>
      <p:sp>
        <p:nvSpPr>
          <p:cNvPr id="31" name="TextBox 30"/>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RAG Chatbot: Upload a PDF, Ask in Telegram</a:t>
            </a:r>
          </a:p>
        </p:txBody>
      </p:sp>
      <p:sp>
        <p:nvSpPr>
          <p:cNvPr id="32" name="TextBox 31"/>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Gemini credential on 3 nodes  ·  off-topic questions are refused  ·  steps in the Learner Guide</a:t>
            </a:r>
          </a:p>
        </p:txBody>
      </p:sp>
      <p:sp>
        <p:nvSpPr>
          <p:cNvPr id="33" name="TextBox 3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4" name="TextBox 3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5" name="TextBox 3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102</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ACT 7a · INGESTION</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7a — The Upload Page</a:t>
            </a:r>
          </a:p>
        </p:txBody>
      </p:sp>
      <p:sp>
        <p:nvSpPr>
          <p:cNvPr id="6" name="TextBox 5"/>
          <p:cNvSpPr txBox="1"/>
          <p:nvPr/>
        </p:nvSpPr>
        <p:spPr>
          <a:xfrm>
            <a:off x="777240" y="1828800"/>
            <a:ext cx="4937760" cy="3566160"/>
          </a:xfrm>
          <a:prstGeom prst="rect">
            <a:avLst/>
          </a:prstGeom>
          <a:noFill/>
        </p:spPr>
        <p:txBody>
          <a:bodyPr wrap="square" lIns="0" rIns="0">
            <a:spAutoFit/>
          </a:bodyPr>
          <a:lstStyle/>
          <a:p>
            <a:pPr>
              <a:spcBef>
                <a:spcPts val="0"/>
              </a:spcBef>
              <a:spcAft>
                <a:spcPts val="900"/>
              </a:spcAft>
            </a:pPr>
            <a:r>
              <a:rPr sz="1500" b="1">
                <a:solidFill>
                  <a:srgbClr val="1F6FEB"/>
                </a:solidFill>
                <a:latin typeface="Arial"/>
              </a:rPr>
              <a:t>•  </a:t>
            </a:r>
            <a:r>
              <a:rPr sz="1500">
                <a:solidFill>
                  <a:srgbClr val="161B26"/>
                </a:solidFill>
                <a:latin typeface="Arial"/>
              </a:rPr>
              <a:t>A single-page uploader extracts PDF text in the browser with PDF.js.</a:t>
            </a:r>
          </a:p>
          <a:p>
            <a:pPr>
              <a:spcBef>
                <a:spcPts val="0"/>
              </a:spcBef>
              <a:spcAft>
                <a:spcPts val="900"/>
              </a:spcAft>
            </a:pPr>
            <a:r>
              <a:rPr sz="1500" b="1">
                <a:solidFill>
                  <a:srgbClr val="1F6FEB"/>
                </a:solidFill>
                <a:latin typeface="Arial"/>
              </a:rPr>
              <a:t>•  </a:t>
            </a:r>
            <a:r>
              <a:rPr sz="1500">
                <a:solidFill>
                  <a:srgbClr val="161B26"/>
                </a:solidFill>
                <a:latin typeface="Arial"/>
              </a:rPr>
              <a:t>Paste your n8n rag-upload webhook URL and click Test.</a:t>
            </a:r>
          </a:p>
          <a:p>
            <a:pPr>
              <a:spcBef>
                <a:spcPts val="0"/>
              </a:spcBef>
              <a:spcAft>
                <a:spcPts val="900"/>
              </a:spcAft>
            </a:pPr>
            <a:r>
              <a:rPr sz="1500" b="1">
                <a:solidFill>
                  <a:srgbClr val="1F6FEB"/>
                </a:solidFill>
                <a:latin typeface="Arial"/>
              </a:rPr>
              <a:t>•  </a:t>
            </a:r>
            <a:r>
              <a:rPr sz="1500">
                <a:solidFill>
                  <a:srgbClr val="161B26"/>
                </a:solidFill>
                <a:latin typeface="Arial"/>
              </a:rPr>
              <a:t>Drop the IT-Support FAQ PDF and Send to Vector Store to ingest it.</a:t>
            </a:r>
          </a:p>
          <a:p>
            <a:pPr>
              <a:spcBef>
                <a:spcPts val="0"/>
              </a:spcBef>
              <a:spcAft>
                <a:spcPts val="900"/>
              </a:spcAft>
            </a:pPr>
            <a:r>
              <a:rPr sz="1500" b="1">
                <a:solidFill>
                  <a:srgbClr val="1F6FEB"/>
                </a:solidFill>
                <a:latin typeface="Arial"/>
              </a:rPr>
              <a:t>•  </a:t>
            </a:r>
            <a:r>
              <a:rPr sz="1500">
                <a:solidFill>
                  <a:srgbClr val="161B26"/>
                </a:solidFill>
                <a:latin typeface="Arial"/>
              </a:rPr>
              <a:t>No build step — just open the HTML file.</a:t>
            </a:r>
          </a:p>
        </p:txBody>
      </p:sp>
      <p:pic>
        <p:nvPicPr>
          <p:cNvPr id="7" name="Picture 6" descr="Activity7a-website.png"/>
          <p:cNvPicPr>
            <a:picLocks noChangeAspect="1"/>
          </p:cNvPicPr>
          <p:nvPr/>
        </p:nvPicPr>
        <p:blipFill>
          <a:blip r:embed="rId2"/>
          <a:stretch>
            <a:fillRect/>
          </a:stretch>
        </p:blipFill>
        <p:spPr>
          <a:xfrm>
            <a:off x="6955262" y="1828800"/>
            <a:ext cx="3463076" cy="3611880"/>
          </a:xfrm>
          <a:prstGeom prst="rect">
            <a:avLst/>
          </a:prstGeom>
        </p:spPr>
      </p:pic>
      <p:sp>
        <p:nvSpPr>
          <p:cNvPr id="8" name="Rectangle 7"/>
          <p:cNvSpPr/>
          <p:nvPr/>
        </p:nvSpPr>
        <p:spPr>
          <a:xfrm>
            <a:off x="6942562" y="1816100"/>
            <a:ext cx="3488476" cy="363728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TOPIC 5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7b — Ingestion: 20 Brochures into a Vector DB</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Cook &amp; Bake Academy: load 20 course brochures from Google Drive into your chosen vector database — run once.</a:t>
            </a:r>
          </a:p>
        </p:txBody>
      </p:sp>
      <p:sp>
        <p:nvSpPr>
          <p:cNvPr id="7" name="Rounded Rectangle 6"/>
          <p:cNvSpPr/>
          <p:nvPr/>
        </p:nvSpPr>
        <p:spPr>
          <a:xfrm>
            <a:off x="777240" y="1810512"/>
            <a:ext cx="2425446"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Manual Trigger</a:t>
            </a:r>
          </a:p>
          <a:p>
            <a:pPr algn="ctr">
              <a:spcBef>
                <a:spcPts val="0"/>
              </a:spcBef>
              <a:spcAft>
                <a:spcPts val="200"/>
              </a:spcAft>
            </a:pPr>
            <a:r>
              <a:rPr sz="850" b="0">
                <a:solidFill>
                  <a:srgbClr val="5B6372"/>
                </a:solidFill>
                <a:latin typeface="Arial"/>
              </a:rPr>
              <a:t>run once</a:t>
            </a:r>
          </a:p>
        </p:txBody>
      </p:sp>
      <p:sp>
        <p:nvSpPr>
          <p:cNvPr id="9" name="TextBox 8"/>
          <p:cNvSpPr txBox="1"/>
          <p:nvPr/>
        </p:nvSpPr>
        <p:spPr>
          <a:xfrm>
            <a:off x="317525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0" name="Rounded Rectangle 9"/>
          <p:cNvSpPr/>
          <p:nvPr/>
        </p:nvSpPr>
        <p:spPr>
          <a:xfrm>
            <a:off x="3513582" y="1810512"/>
            <a:ext cx="2425446"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5022"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Google Drive</a:t>
            </a:r>
          </a:p>
          <a:p>
            <a:pPr algn="ctr">
              <a:spcBef>
                <a:spcPts val="0"/>
              </a:spcBef>
              <a:spcAft>
                <a:spcPts val="200"/>
              </a:spcAft>
            </a:pPr>
            <a:r>
              <a:rPr sz="850" b="0">
                <a:solidFill>
                  <a:srgbClr val="5B6372"/>
                </a:solidFill>
                <a:latin typeface="Arial"/>
              </a:rPr>
              <a:t>list + download 20 brochures</a:t>
            </a:r>
          </a:p>
        </p:txBody>
      </p:sp>
      <p:sp>
        <p:nvSpPr>
          <p:cNvPr id="12" name="TextBox 11"/>
          <p:cNvSpPr txBox="1"/>
          <p:nvPr/>
        </p:nvSpPr>
        <p:spPr>
          <a:xfrm>
            <a:off x="5911596"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3" name="Rounded Rectangle 12"/>
          <p:cNvSpPr/>
          <p:nvPr/>
        </p:nvSpPr>
        <p:spPr>
          <a:xfrm>
            <a:off x="6249924" y="1810512"/>
            <a:ext cx="2425446"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1364"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Split + Embed</a:t>
            </a:r>
          </a:p>
          <a:p>
            <a:pPr algn="ctr">
              <a:spcBef>
                <a:spcPts val="0"/>
              </a:spcBef>
              <a:spcAft>
                <a:spcPts val="200"/>
              </a:spcAft>
            </a:pPr>
            <a:r>
              <a:rPr sz="850" b="0">
                <a:solidFill>
                  <a:srgbClr val="5B6372"/>
                </a:solidFill>
                <a:latin typeface="Arial"/>
              </a:rPr>
              <a:t>1 brochure = 1 chunk · Gemini 3072-d</a:t>
            </a:r>
          </a:p>
        </p:txBody>
      </p:sp>
      <p:sp>
        <p:nvSpPr>
          <p:cNvPr id="15" name="TextBox 14"/>
          <p:cNvSpPr txBox="1"/>
          <p:nvPr/>
        </p:nvSpPr>
        <p:spPr>
          <a:xfrm>
            <a:off x="864793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6" name="Rounded Rectangle 15"/>
          <p:cNvSpPr/>
          <p:nvPr/>
        </p:nvSpPr>
        <p:spPr>
          <a:xfrm>
            <a:off x="8986266" y="1810512"/>
            <a:ext cx="2425446"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7706" y="1810512"/>
            <a:ext cx="2242566"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Vector Store — Insert</a:t>
            </a:r>
          </a:p>
          <a:p>
            <a:pPr algn="ctr">
              <a:spcBef>
                <a:spcPts val="0"/>
              </a:spcBef>
              <a:spcAft>
                <a:spcPts val="200"/>
              </a:spcAft>
            </a:pPr>
            <a:r>
              <a:rPr sz="850" b="0">
                <a:solidFill>
                  <a:srgbClr val="5B6372"/>
                </a:solidFill>
                <a:latin typeface="Arial"/>
              </a:rPr>
              <a:t>index: course-brochures</a:t>
            </a:r>
          </a:p>
        </p:txBody>
      </p:sp>
      <p:pic>
        <p:nvPicPr>
          <p:cNvPr id="18" name="Picture 17" descr="Activity7b-Pinecone-Upload.png"/>
          <p:cNvPicPr>
            <a:picLocks noChangeAspect="1"/>
          </p:cNvPicPr>
          <p:nvPr/>
        </p:nvPicPr>
        <p:blipFill>
          <a:blip r:embed="rId2"/>
          <a:stretch>
            <a:fillRect/>
          </a:stretch>
        </p:blipFill>
        <p:spPr>
          <a:xfrm>
            <a:off x="3804920" y="2761488"/>
            <a:ext cx="4551680" cy="2560320"/>
          </a:xfrm>
          <a:prstGeom prst="rect">
            <a:avLst/>
          </a:prstGeom>
        </p:spPr>
      </p:pic>
      <p:sp>
        <p:nvSpPr>
          <p:cNvPr id="19" name="Rectangle 18"/>
          <p:cNvSpPr/>
          <p:nvPr/>
        </p:nvSpPr>
        <p:spPr>
          <a:xfrm>
            <a:off x="3792220" y="2748788"/>
            <a:ext cx="4577080" cy="258572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394960"/>
            <a:ext cx="10607040" cy="219456"/>
          </a:xfrm>
          <a:prstGeom prst="rect">
            <a:avLst/>
          </a:prstGeom>
          <a:noFill/>
        </p:spPr>
        <p:txBody>
          <a:bodyPr wrap="square" anchor="t" lIns="0" rIns="0" tIns="0" bIns="0">
            <a:spAutoFit/>
          </a:bodyPr>
          <a:lstStyle/>
          <a:p>
            <a:pPr algn="ctr">
              <a:spcBef>
                <a:spcPts val="0"/>
              </a:spcBef>
              <a:spcAft>
                <a:spcPts val="400"/>
              </a:spcAft>
            </a:pPr>
            <a:r>
              <a:rPr sz="950" b="0">
                <a:solidFill>
                  <a:srgbClr val="5B6372"/>
                </a:solidFill>
                <a:latin typeface="Arial"/>
              </a:rPr>
              <a:t>Shown: Pinecone ingestion. Supabase &amp; Qdrant flows are identical except the store node + OpenAI 1536-d embeddings.</a:t>
            </a:r>
          </a:p>
        </p:txBody>
      </p:sp>
      <p:sp>
        <p:nvSpPr>
          <p:cNvPr id="21" name="Rounded Rectangle 20"/>
          <p:cNvSpPr/>
          <p:nvPr/>
        </p:nvSpPr>
        <p:spPr>
          <a:xfrm>
            <a:off x="777240" y="5687568"/>
            <a:ext cx="10634472" cy="56692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60120" y="5806440"/>
            <a:ext cx="960120" cy="3291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7b</a:t>
            </a:r>
          </a:p>
        </p:txBody>
      </p:sp>
      <p:sp>
        <p:nvSpPr>
          <p:cNvPr id="24" name="TextBox 23"/>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Ingestion: 20 Brochures into a Vector DB</a:t>
            </a:r>
          </a:p>
        </p:txBody>
      </p:sp>
      <p:sp>
        <p:nvSpPr>
          <p:cNvPr id="25" name="TextBox 24"/>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Choose Supabase / Pinecone / Qdrant  ·  20 vectors after the run  ·  steps in the Learner Guide</a:t>
            </a:r>
          </a:p>
        </p:txBody>
      </p:sp>
      <p:sp>
        <p:nvSpPr>
          <p:cNvPr id="26" name="TextBox 2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104</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TOPIC 5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7b — CX Agent: Grounded Support Chatbot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answering half: the website chat widget POSTs each question; the agent retrieves matching brochures and answers grounded.</a:t>
            </a:r>
          </a:p>
        </p:txBody>
      </p:sp>
      <p:sp>
        <p:nvSpPr>
          <p:cNvPr id="7" name="Rounded Rectangle 6"/>
          <p:cNvSpPr/>
          <p:nvPr/>
        </p:nvSpPr>
        <p:spPr>
          <a:xfrm>
            <a:off x="777240" y="1810512"/>
            <a:ext cx="3337560"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Webhook — POST</a:t>
            </a:r>
          </a:p>
          <a:p>
            <a:pPr algn="ctr">
              <a:spcBef>
                <a:spcPts val="0"/>
              </a:spcBef>
              <a:spcAft>
                <a:spcPts val="200"/>
              </a:spcAft>
            </a:pPr>
            <a:r>
              <a:rPr sz="850" b="0">
                <a:solidFill>
                  <a:srgbClr val="5B6372"/>
                </a:solidFill>
                <a:latin typeface="Arial"/>
              </a:rPr>
              <a:t>website chat widget</a:t>
            </a:r>
          </a:p>
        </p:txBody>
      </p:sp>
      <p:sp>
        <p:nvSpPr>
          <p:cNvPr id="9" name="TextBox 8"/>
          <p:cNvSpPr txBox="1"/>
          <p:nvPr/>
        </p:nvSpPr>
        <p:spPr>
          <a:xfrm>
            <a:off x="408736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0" name="Rounded Rectangle 9"/>
          <p:cNvSpPr/>
          <p:nvPr/>
        </p:nvSpPr>
        <p:spPr>
          <a:xfrm>
            <a:off x="4425696" y="1810512"/>
            <a:ext cx="3337560"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AI Agent</a:t>
            </a:r>
          </a:p>
          <a:p>
            <a:pPr algn="ctr">
              <a:spcBef>
                <a:spcPts val="0"/>
              </a:spcBef>
              <a:spcAft>
                <a:spcPts val="200"/>
              </a:spcAft>
            </a:pPr>
            <a:r>
              <a:rPr sz="850" b="0">
                <a:solidFill>
                  <a:srgbClr val="5B6372"/>
                </a:solidFill>
                <a:latin typeface="Arial"/>
              </a:rPr>
              <a:t>Pinecone retriever tool + Gemini</a:t>
            </a:r>
          </a:p>
        </p:txBody>
      </p:sp>
      <p:sp>
        <p:nvSpPr>
          <p:cNvPr id="12" name="TextBox 11"/>
          <p:cNvSpPr txBox="1"/>
          <p:nvPr/>
        </p:nvSpPr>
        <p:spPr>
          <a:xfrm>
            <a:off x="773582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59E0B"/>
                </a:solidFill>
                <a:latin typeface="Arial"/>
              </a:rPr>
              <a:t>▶</a:t>
            </a:r>
          </a:p>
        </p:txBody>
      </p:sp>
      <p:sp>
        <p:nvSpPr>
          <p:cNvPr id="13" name="Rounded Rectangle 12"/>
          <p:cNvSpPr/>
          <p:nvPr/>
        </p:nvSpPr>
        <p:spPr>
          <a:xfrm>
            <a:off x="8074152" y="1810512"/>
            <a:ext cx="3337560" cy="74980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65592"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Respond to Webhook</a:t>
            </a:r>
          </a:p>
          <a:p>
            <a:pPr algn="ctr">
              <a:spcBef>
                <a:spcPts val="0"/>
              </a:spcBef>
              <a:spcAft>
                <a:spcPts val="200"/>
              </a:spcAft>
            </a:pPr>
            <a:r>
              <a:rPr sz="850" b="0">
                <a:solidFill>
                  <a:srgbClr val="5B6372"/>
                </a:solidFill>
                <a:latin typeface="Arial"/>
              </a:rPr>
              <a:t>grounded answer to the widget</a:t>
            </a:r>
          </a:p>
        </p:txBody>
      </p:sp>
      <p:pic>
        <p:nvPicPr>
          <p:cNvPr id="15" name="Picture 14" descr="Activity7b-CX-Agent.png"/>
          <p:cNvPicPr>
            <a:picLocks noChangeAspect="1"/>
          </p:cNvPicPr>
          <p:nvPr/>
        </p:nvPicPr>
        <p:blipFill>
          <a:blip r:embed="rId2"/>
          <a:stretch>
            <a:fillRect/>
          </a:stretch>
        </p:blipFill>
        <p:spPr>
          <a:xfrm>
            <a:off x="3577336" y="2761488"/>
            <a:ext cx="5006848" cy="2816352"/>
          </a:xfrm>
          <a:prstGeom prst="rect">
            <a:avLst/>
          </a:prstGeom>
        </p:spPr>
      </p:pic>
      <p:sp>
        <p:nvSpPr>
          <p:cNvPr id="16" name="Rectangle 15"/>
          <p:cNvSpPr/>
          <p:nvPr/>
        </p:nvSpPr>
        <p:spPr>
          <a:xfrm>
            <a:off x="3564636" y="2748788"/>
            <a:ext cx="5032248"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5687568"/>
            <a:ext cx="10634472" cy="566928"/>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0120" y="5806440"/>
            <a:ext cx="960120" cy="3291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7b</a:t>
            </a:r>
          </a:p>
        </p:txBody>
      </p:sp>
      <p:sp>
        <p:nvSpPr>
          <p:cNvPr id="20" name="TextBox 19"/>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CX Agent: Grounded Support Chatbot</a:t>
            </a:r>
          </a:p>
        </p:txBody>
      </p:sp>
      <p:sp>
        <p:nvSpPr>
          <p:cNvPr id="21" name="TextBox 20"/>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Same index, same embeddings, same namespace as ingestion  ·  steps in the Learner Guide</a:t>
            </a:r>
          </a:p>
        </p:txBody>
      </p:sp>
      <p:sp>
        <p:nvSpPr>
          <p:cNvPr id="22" name="TextBox 2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3" name="TextBox 2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4" name="TextBox 2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105</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ACT 7b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Cook &amp; Bake Academy — Support Chatbot</a:t>
            </a:r>
          </a:p>
        </p:txBody>
      </p:sp>
      <p:sp>
        <p:nvSpPr>
          <p:cNvPr id="6" name="TextBox 5"/>
          <p:cNvSpPr txBox="1"/>
          <p:nvPr/>
        </p:nvSpPr>
        <p:spPr>
          <a:xfrm>
            <a:off x="777240" y="1828800"/>
            <a:ext cx="4937760" cy="3566160"/>
          </a:xfrm>
          <a:prstGeom prst="rect">
            <a:avLst/>
          </a:prstGeom>
          <a:noFill/>
        </p:spPr>
        <p:txBody>
          <a:bodyPr wrap="square" lIns="0" rIns="0">
            <a:spAutoFit/>
          </a:bodyPr>
          <a:lstStyle/>
          <a:p>
            <a:pPr>
              <a:spcBef>
                <a:spcPts val="0"/>
              </a:spcBef>
              <a:spcAft>
                <a:spcPts val="900"/>
              </a:spcAft>
            </a:pPr>
            <a:r>
              <a:rPr sz="1500" b="1">
                <a:solidFill>
                  <a:srgbClr val="1F6FEB"/>
                </a:solidFill>
                <a:latin typeface="Arial"/>
              </a:rPr>
              <a:t>•  </a:t>
            </a:r>
            <a:r>
              <a:rPr sz="1500">
                <a:solidFill>
                  <a:srgbClr val="161B26"/>
                </a:solidFill>
                <a:latin typeface="Arial"/>
              </a:rPr>
              <a:t>The Cook &amp; Bake Academy site with the course assistant open.</a:t>
            </a:r>
          </a:p>
          <a:p>
            <a:pPr>
              <a:spcBef>
                <a:spcPts val="0"/>
              </a:spcBef>
              <a:spcAft>
                <a:spcPts val="900"/>
              </a:spcAft>
            </a:pPr>
            <a:r>
              <a:rPr sz="1500" b="1">
                <a:solidFill>
                  <a:srgbClr val="1F6FEB"/>
                </a:solidFill>
                <a:latin typeface="Arial"/>
              </a:rPr>
              <a:t>•  </a:t>
            </a:r>
            <a:r>
              <a:rPr sz="1500">
                <a:solidFill>
                  <a:srgbClr val="161B26"/>
                </a:solidFill>
                <a:latin typeface="Arial"/>
              </a:rPr>
              <a:t>Visitors ask about any course — duration, fee, location, schedule.</a:t>
            </a:r>
          </a:p>
          <a:p>
            <a:pPr>
              <a:spcBef>
                <a:spcPts val="0"/>
              </a:spcBef>
              <a:spcAft>
                <a:spcPts val="900"/>
              </a:spcAft>
            </a:pPr>
            <a:r>
              <a:rPr sz="1500" b="1">
                <a:solidFill>
                  <a:srgbClr val="1F6FEB"/>
                </a:solidFill>
                <a:latin typeface="Arial"/>
              </a:rPr>
              <a:t>•  </a:t>
            </a:r>
            <a:r>
              <a:rPr sz="1500">
                <a:solidFill>
                  <a:srgbClr val="161B26"/>
                </a:solidFill>
                <a:latin typeface="Arial"/>
              </a:rPr>
              <a:t>Answers are grounded in the 20 ingested brochures.</a:t>
            </a:r>
          </a:p>
          <a:p>
            <a:pPr>
              <a:spcBef>
                <a:spcPts val="0"/>
              </a:spcBef>
              <a:spcAft>
                <a:spcPts val="900"/>
              </a:spcAft>
            </a:pPr>
            <a:r>
              <a:rPr sz="1500" b="1">
                <a:solidFill>
                  <a:srgbClr val="1F6FEB"/>
                </a:solidFill>
                <a:latin typeface="Arial"/>
              </a:rPr>
              <a:t>•  </a:t>
            </a:r>
            <a:r>
              <a:rPr sz="1500">
                <a:solidFill>
                  <a:srgbClr val="161B26"/>
                </a:solidFill>
                <a:latin typeface="Arial"/>
              </a:rPr>
              <a:t>Set WEBHOOK_URL in script.js to your n8n CX Agent Production URL.</a:t>
            </a:r>
          </a:p>
        </p:txBody>
      </p:sp>
      <p:pic>
        <p:nvPicPr>
          <p:cNvPr id="7" name="Picture 6" descr="site-lab5.png"/>
          <p:cNvPicPr>
            <a:picLocks noChangeAspect="1"/>
          </p:cNvPicPr>
          <p:nvPr/>
        </p:nvPicPr>
        <p:blipFill>
          <a:blip r:embed="rId2"/>
          <a:stretch>
            <a:fillRect/>
          </a:stretch>
        </p:blipFill>
        <p:spPr>
          <a:xfrm>
            <a:off x="5943600" y="1828800"/>
            <a:ext cx="5486400" cy="3429000"/>
          </a:xfrm>
          <a:prstGeom prst="rect">
            <a:avLst/>
          </a:prstGeom>
        </p:spPr>
      </p:pic>
      <p:sp>
        <p:nvSpPr>
          <p:cNvPr id="8" name="Rectangle 7"/>
          <p:cNvSpPr/>
          <p:nvPr/>
        </p:nvSpPr>
        <p:spPr>
          <a:xfrm>
            <a:off x="5930900" y="1816100"/>
            <a:ext cx="5511800" cy="345440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ACT 7b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7b — The Course Assistant in Action</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 real conversation on the Cook &amp; Bake Academy site. Every fee in the reply came from a retrieved brochure.</a:t>
            </a:r>
          </a:p>
        </p:txBody>
      </p:sp>
      <p:pic>
        <p:nvPicPr>
          <p:cNvPr id="7" name="Picture 6" descr="lab5-site-chat.png"/>
          <p:cNvPicPr>
            <a:picLocks noChangeAspect="1"/>
          </p:cNvPicPr>
          <p:nvPr/>
        </p:nvPicPr>
        <p:blipFill>
          <a:blip r:embed="rId2"/>
          <a:stretch>
            <a:fillRect/>
          </a:stretch>
        </p:blipFill>
        <p:spPr>
          <a:xfrm>
            <a:off x="777240" y="1783080"/>
            <a:ext cx="6172200" cy="3610737"/>
          </a:xfrm>
          <a:prstGeom prst="rect">
            <a:avLst/>
          </a:prstGeom>
        </p:spPr>
      </p:pic>
      <p:sp>
        <p:nvSpPr>
          <p:cNvPr id="8" name="Rectangle 7"/>
          <p:cNvSpPr/>
          <p:nvPr/>
        </p:nvSpPr>
        <p:spPr>
          <a:xfrm>
            <a:off x="764540" y="1770380"/>
            <a:ext cx="6197600" cy="3636137"/>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223760" y="1783080"/>
            <a:ext cx="4187952" cy="1182624"/>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88352" y="1911096"/>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88352" y="1911096"/>
            <a:ext cx="274320" cy="274320"/>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1</a:t>
            </a:r>
          </a:p>
        </p:txBody>
      </p:sp>
      <p:sp>
        <p:nvSpPr>
          <p:cNvPr id="12" name="TextBox 11"/>
          <p:cNvSpPr txBox="1"/>
          <p:nvPr/>
        </p:nvSpPr>
        <p:spPr>
          <a:xfrm>
            <a:off x="7772400" y="1911096"/>
            <a:ext cx="3474720" cy="274320"/>
          </a:xfrm>
          <a:prstGeom prst="rect">
            <a:avLst/>
          </a:prstGeom>
          <a:noFill/>
        </p:spPr>
        <p:txBody>
          <a:bodyPr wrap="square" anchor="ctr" lIns="0" rIns="0" tIns="0" bIns="0">
            <a:spAutoFit/>
          </a:bodyPr>
          <a:lstStyle/>
          <a:p>
            <a:pPr algn="l">
              <a:spcBef>
                <a:spcPts val="0"/>
              </a:spcBef>
              <a:spcAft>
                <a:spcPts val="400"/>
              </a:spcAft>
            </a:pPr>
            <a:r>
              <a:rPr sz="1250" b="1">
                <a:solidFill>
                  <a:srgbClr val="1F6FEB"/>
                </a:solidFill>
                <a:latin typeface="Arial"/>
              </a:rPr>
              <a:t>A typo still finds it</a:t>
            </a:r>
          </a:p>
        </p:txBody>
      </p:sp>
      <p:sp>
        <p:nvSpPr>
          <p:cNvPr id="13" name="TextBox 12"/>
          <p:cNvSpPr txBox="1"/>
          <p:nvPr/>
        </p:nvSpPr>
        <p:spPr>
          <a:xfrm>
            <a:off x="7406640" y="2276856"/>
            <a:ext cx="3822192" cy="615696"/>
          </a:xfrm>
          <a:prstGeom prst="rect">
            <a:avLst/>
          </a:prstGeom>
          <a:noFill/>
        </p:spPr>
        <p:txBody>
          <a:bodyPr wrap="square" anchor="t" lIns="0" rIns="0" tIns="0" bIns="0">
            <a:spAutoFit/>
          </a:bodyPr>
          <a:lstStyle/>
          <a:p>
            <a:pPr algn="l">
              <a:spcBef>
                <a:spcPts val="0"/>
              </a:spcBef>
              <a:spcAft>
                <a:spcPts val="200"/>
              </a:spcAft>
            </a:pPr>
            <a:r>
              <a:rPr sz="1000" b="0">
                <a:solidFill>
                  <a:srgbClr val="161B26"/>
                </a:solidFill>
                <a:latin typeface="Arial"/>
              </a:rPr>
              <a:t>The visitor typed 'patries'. Embeddings match meaning, not spelling, so the pastry brochures BAK-102 and BAK-109 still come back.</a:t>
            </a:r>
          </a:p>
        </p:txBody>
      </p:sp>
      <p:sp>
        <p:nvSpPr>
          <p:cNvPr id="14" name="Rounded Rectangle 13"/>
          <p:cNvSpPr/>
          <p:nvPr/>
        </p:nvSpPr>
        <p:spPr>
          <a:xfrm>
            <a:off x="7223760" y="3112008"/>
            <a:ext cx="4187952" cy="1182624"/>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388352" y="324002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88352" y="3240024"/>
            <a:ext cx="274320" cy="274320"/>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2</a:t>
            </a:r>
          </a:p>
        </p:txBody>
      </p:sp>
      <p:sp>
        <p:nvSpPr>
          <p:cNvPr id="17" name="TextBox 16"/>
          <p:cNvSpPr txBox="1"/>
          <p:nvPr/>
        </p:nvSpPr>
        <p:spPr>
          <a:xfrm>
            <a:off x="7772400" y="3240024"/>
            <a:ext cx="3474720" cy="274320"/>
          </a:xfrm>
          <a:prstGeom prst="rect">
            <a:avLst/>
          </a:prstGeom>
          <a:noFill/>
        </p:spPr>
        <p:txBody>
          <a:bodyPr wrap="square" anchor="ctr" lIns="0" rIns="0" tIns="0" bIns="0">
            <a:spAutoFit/>
          </a:bodyPr>
          <a:lstStyle/>
          <a:p>
            <a:pPr algn="l">
              <a:spcBef>
                <a:spcPts val="0"/>
              </a:spcBef>
              <a:spcAft>
                <a:spcPts val="400"/>
              </a:spcAft>
            </a:pPr>
            <a:r>
              <a:rPr sz="1250" b="1">
                <a:solidFill>
                  <a:srgbClr val="7C3AED"/>
                </a:solidFill>
                <a:latin typeface="Arial"/>
              </a:rPr>
              <a:t>Facts quoted, not invented</a:t>
            </a:r>
          </a:p>
        </p:txBody>
      </p:sp>
      <p:sp>
        <p:nvSpPr>
          <p:cNvPr id="18" name="TextBox 17"/>
          <p:cNvSpPr txBox="1"/>
          <p:nvPr/>
        </p:nvSpPr>
        <p:spPr>
          <a:xfrm>
            <a:off x="7406640" y="3605784"/>
            <a:ext cx="3822192" cy="615696"/>
          </a:xfrm>
          <a:prstGeom prst="rect">
            <a:avLst/>
          </a:prstGeom>
          <a:noFill/>
        </p:spPr>
        <p:txBody>
          <a:bodyPr wrap="square" anchor="t" lIns="0" rIns="0" tIns="0" bIns="0">
            <a:spAutoFit/>
          </a:bodyPr>
          <a:lstStyle/>
          <a:p>
            <a:pPr algn="l">
              <a:spcBef>
                <a:spcPts val="0"/>
              </a:spcBef>
              <a:spcAft>
                <a:spcPts val="200"/>
              </a:spcAft>
            </a:pPr>
            <a:r>
              <a:rPr sz="1000" b="0">
                <a:solidFill>
                  <a:srgbClr val="161B26"/>
                </a:solidFill>
                <a:latin typeface="Arial"/>
              </a:rPr>
              <a:t>Fees and durations are quoted exactly: BAK-102 is SGD $1480 for 8 weeks / 48 hours — the same S$1480 shown on the course card behind the chat.</a:t>
            </a:r>
          </a:p>
        </p:txBody>
      </p:sp>
      <p:sp>
        <p:nvSpPr>
          <p:cNvPr id="19" name="Rounded Rectangle 18"/>
          <p:cNvSpPr/>
          <p:nvPr/>
        </p:nvSpPr>
        <p:spPr>
          <a:xfrm>
            <a:off x="7223760" y="4440936"/>
            <a:ext cx="4187952" cy="1182624"/>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388352" y="4568952"/>
            <a:ext cx="274320" cy="2743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88352" y="4568952"/>
            <a:ext cx="274320" cy="274320"/>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3</a:t>
            </a:r>
          </a:p>
        </p:txBody>
      </p:sp>
      <p:sp>
        <p:nvSpPr>
          <p:cNvPr id="22" name="TextBox 21"/>
          <p:cNvSpPr txBox="1"/>
          <p:nvPr/>
        </p:nvSpPr>
        <p:spPr>
          <a:xfrm>
            <a:off x="7772400" y="4568952"/>
            <a:ext cx="3474720" cy="274320"/>
          </a:xfrm>
          <a:prstGeom prst="rect">
            <a:avLst/>
          </a:prstGeom>
          <a:noFill/>
        </p:spPr>
        <p:txBody>
          <a:bodyPr wrap="square" anchor="ctr" lIns="0" rIns="0" tIns="0" bIns="0">
            <a:spAutoFit/>
          </a:bodyPr>
          <a:lstStyle/>
          <a:p>
            <a:pPr algn="l">
              <a:spcBef>
                <a:spcPts val="0"/>
              </a:spcBef>
              <a:spcAft>
                <a:spcPts val="400"/>
              </a:spcAft>
            </a:pPr>
            <a:r>
              <a:rPr sz="1250" b="1">
                <a:solidFill>
                  <a:srgbClr val="F59E0B"/>
                </a:solidFill>
                <a:latin typeface="Arial"/>
              </a:rPr>
              <a:t>It admits a gap</a:t>
            </a:r>
          </a:p>
        </p:txBody>
      </p:sp>
      <p:sp>
        <p:nvSpPr>
          <p:cNvPr id="23" name="TextBox 22"/>
          <p:cNvSpPr txBox="1"/>
          <p:nvPr/>
        </p:nvSpPr>
        <p:spPr>
          <a:xfrm>
            <a:off x="7406640" y="4934712"/>
            <a:ext cx="3822192" cy="615696"/>
          </a:xfrm>
          <a:prstGeom prst="rect">
            <a:avLst/>
          </a:prstGeom>
          <a:noFill/>
        </p:spPr>
        <p:txBody>
          <a:bodyPr wrap="square" anchor="t" lIns="0" rIns="0" tIns="0" bIns="0">
            <a:spAutoFit/>
          </a:bodyPr>
          <a:lstStyle/>
          <a:p>
            <a:pPr algn="l">
              <a:spcBef>
                <a:spcPts val="0"/>
              </a:spcBef>
              <a:spcAft>
                <a:spcPts val="200"/>
              </a:spcAft>
            </a:pPr>
            <a:r>
              <a:rPr sz="1000" b="0">
                <a:solidFill>
                  <a:srgbClr val="161B26"/>
                </a:solidFill>
                <a:latin typeface="Arial"/>
              </a:rPr>
              <a:t>It did not give BAK-104's fee and said so instead of guessing. The brochure does list SGD $420, so check what the tool returned: that is a retrieval gap.</a:t>
            </a:r>
          </a:p>
        </p:txBody>
      </p:sp>
      <p:sp>
        <p:nvSpPr>
          <p:cNvPr id="24" name="Rounded Rectangle 2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'I don't have that' is grounding working — fix gaps in retrieval, never by loosening the prompt.</a:t>
            </a:r>
          </a:p>
        </p:txBody>
      </p:sp>
      <p:sp>
        <p:nvSpPr>
          <p:cNvPr id="26" name="TextBox 2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107</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10B981"/>
                </a:solidFill>
                <a:latin typeface="Arial"/>
              </a:rPr>
              <a:t>15 minutes</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108</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965960"/>
            <a:ext cx="9418320" cy="2926080"/>
          </a:xfrm>
          <a:prstGeom prst="roundRect">
            <a:avLst>
              <a:gd name="adj" fmla="val 5500"/>
            </a:avLst>
          </a:prstGeom>
          <a:solidFill>
            <a:srgbClr val="FFFFFF"/>
          </a:solidFill>
          <a:ln w="19050">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965960"/>
            <a:ext cx="201168" cy="2926080"/>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286000"/>
            <a:ext cx="8503920" cy="365760"/>
          </a:xfrm>
          <a:prstGeom prst="rect">
            <a:avLst/>
          </a:prstGeom>
          <a:noFill/>
        </p:spPr>
        <p:txBody>
          <a:bodyPr wrap="square" anchor="t" lIns="0" rIns="0" tIns="0" bIns="0">
            <a:spAutoFit/>
          </a:bodyPr>
          <a:lstStyle/>
          <a:p>
            <a:pPr algn="l">
              <a:spcBef>
                <a:spcPts val="0"/>
              </a:spcBef>
              <a:spcAft>
                <a:spcPts val="400"/>
              </a:spcAft>
            </a:pPr>
            <a:r>
              <a:rPr sz="1500" b="1">
                <a:solidFill>
                  <a:srgbClr val="C62F2F"/>
                </a:solidFill>
                <a:latin typeface="Arial"/>
              </a:rPr>
              <a:t>TOPIC 6</a:t>
            </a:r>
          </a:p>
        </p:txBody>
      </p:sp>
      <p:sp>
        <p:nvSpPr>
          <p:cNvPr id="6" name="TextBox 5"/>
          <p:cNvSpPr txBox="1"/>
          <p:nvPr/>
        </p:nvSpPr>
        <p:spPr>
          <a:xfrm>
            <a:off x="1920240" y="2697480"/>
            <a:ext cx="8595360" cy="1097280"/>
          </a:xfrm>
          <a:prstGeom prst="rect">
            <a:avLst/>
          </a:prstGeom>
          <a:noFill/>
        </p:spPr>
        <p:txBody>
          <a:bodyPr wrap="square" anchor="t" lIns="0" rIns="0" tIns="0" bIns="0">
            <a:spAutoFit/>
          </a:bodyPr>
          <a:lstStyle/>
          <a:p>
            <a:pPr algn="l">
              <a:spcBef>
                <a:spcPts val="0"/>
              </a:spcBef>
              <a:spcAft>
                <a:spcPts val="400"/>
              </a:spcAft>
            </a:pPr>
            <a:r>
              <a:rPr sz="3400" b="1">
                <a:solidFill>
                  <a:srgbClr val="161B26"/>
                </a:solidFill>
                <a:latin typeface="Arial"/>
              </a:rPr>
              <a:t>Security, Human-in-the-Loop &amp; Guardrails</a:t>
            </a:r>
          </a:p>
        </p:txBody>
      </p:sp>
      <p:sp>
        <p:nvSpPr>
          <p:cNvPr id="7" name="TextBox 6"/>
          <p:cNvSpPr txBox="1"/>
          <p:nvPr/>
        </p:nvSpPr>
        <p:spPr>
          <a:xfrm>
            <a:off x="1938528" y="3794760"/>
            <a:ext cx="8503920" cy="548640"/>
          </a:xfrm>
          <a:prstGeom prst="rect">
            <a:avLst/>
          </a:prstGeom>
          <a:noFill/>
        </p:spPr>
        <p:txBody>
          <a:bodyPr wrap="square" anchor="t" lIns="0" rIns="0" tIns="0" bIns="0">
            <a:spAutoFit/>
          </a:bodyPr>
          <a:lstStyle/>
          <a:p>
            <a:pPr algn="l">
              <a:spcBef>
                <a:spcPts val="0"/>
              </a:spcBef>
              <a:spcAft>
                <a:spcPts val="400"/>
              </a:spcAft>
            </a:pPr>
            <a:r>
              <a:rPr sz="1400" b="0">
                <a:solidFill>
                  <a:srgbClr val="5B6372"/>
                </a:solidFill>
                <a:latin typeface="Arial"/>
              </a:rPr>
              <a:t>Where the human belongs · approval gates · input and output guardrails</a:t>
            </a:r>
          </a:p>
        </p:txBody>
      </p:sp>
      <p:sp>
        <p:nvSpPr>
          <p:cNvPr id="8" name="TextBox 7"/>
          <p:cNvSpPr txBox="1"/>
          <p:nvPr/>
        </p:nvSpPr>
        <p:spPr>
          <a:xfrm>
            <a:off x="1938528" y="4343400"/>
            <a:ext cx="8503920" cy="365760"/>
          </a:xfrm>
          <a:prstGeom prst="rect">
            <a:avLst/>
          </a:prstGeom>
          <a:noFill/>
        </p:spPr>
        <p:txBody>
          <a:bodyPr wrap="square" anchor="t" lIns="0" rIns="0" tIns="0" bIns="0">
            <a:spAutoFit/>
          </a:bodyPr>
          <a:lstStyle/>
          <a:p>
            <a:pPr algn="l">
              <a:spcBef>
                <a:spcPts val="0"/>
              </a:spcBef>
              <a:spcAft>
                <a:spcPts val="400"/>
              </a:spcAft>
            </a:pPr>
            <a:r>
              <a:rPr sz="1200" b="1">
                <a:solidFill>
                  <a:srgbClr val="C62F2F"/>
                </a:solidFill>
                <a:latin typeface="Arial"/>
              </a:rPr>
              <a:t>Applied in Activities 8a, 8b and 8c</a:t>
            </a:r>
          </a:p>
        </p:txBody>
      </p:sp>
      <p:sp>
        <p:nvSpPr>
          <p:cNvPr id="9" name="TextBox 8"/>
          <p:cNvSpPr txBox="1"/>
          <p:nvPr/>
        </p:nvSpPr>
        <p:spPr>
          <a:xfrm>
            <a:off x="9326880" y="54864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06</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109</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6 · SECURITY &amp; GOVERNANCE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Human In, On, and Out of the Loop</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Three arrangements people use interchangeably — and they are not the same thing.</a:t>
            </a:r>
          </a:p>
        </p:txBody>
      </p:sp>
      <p:sp>
        <p:nvSpPr>
          <p:cNvPr id="7" name="Rectangle 6"/>
          <p:cNvSpPr/>
          <p:nvPr/>
        </p:nvSpPr>
        <p:spPr>
          <a:xfrm>
            <a:off x="777240" y="1828800"/>
            <a:ext cx="3108960"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28800"/>
            <a:ext cx="2852928" cy="512064"/>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Pattern</a:t>
            </a:r>
          </a:p>
        </p:txBody>
      </p:sp>
      <p:sp>
        <p:nvSpPr>
          <p:cNvPr id="9" name="Rectangle 8"/>
          <p:cNvSpPr/>
          <p:nvPr/>
        </p:nvSpPr>
        <p:spPr>
          <a:xfrm>
            <a:off x="3886200" y="1828800"/>
            <a:ext cx="2834640"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014216" y="1828800"/>
            <a:ext cx="2578608" cy="512064"/>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Who decides</a:t>
            </a:r>
          </a:p>
        </p:txBody>
      </p:sp>
      <p:sp>
        <p:nvSpPr>
          <p:cNvPr id="11" name="Rectangle 10"/>
          <p:cNvSpPr/>
          <p:nvPr/>
        </p:nvSpPr>
        <p:spPr>
          <a:xfrm>
            <a:off x="6720840" y="1828800"/>
            <a:ext cx="2377440"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8856" y="1828800"/>
            <a:ext cx="2121408" cy="512064"/>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Who acts</a:t>
            </a:r>
          </a:p>
        </p:txBody>
      </p:sp>
      <p:sp>
        <p:nvSpPr>
          <p:cNvPr id="13" name="Rectangle 12"/>
          <p:cNvSpPr/>
          <p:nvPr/>
        </p:nvSpPr>
        <p:spPr>
          <a:xfrm>
            <a:off x="9098280" y="1828800"/>
            <a:ext cx="2313432" cy="51206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26296" y="1828800"/>
            <a:ext cx="2057400" cy="512064"/>
          </a:xfrm>
          <a:prstGeom prst="rect">
            <a:avLst/>
          </a:prstGeom>
          <a:noFill/>
        </p:spPr>
        <p:txBody>
          <a:bodyPr wrap="square" anchor="ctr" lIns="0" rIns="0" tIns="0" bIns="0">
            <a:spAutoFit/>
          </a:bodyPr>
          <a:lstStyle/>
          <a:p>
            <a:pPr algn="l">
              <a:spcBef>
                <a:spcPts val="0"/>
              </a:spcBef>
              <a:spcAft>
                <a:spcPts val="400"/>
              </a:spcAft>
            </a:pPr>
            <a:r>
              <a:rPr sz="1100" b="1">
                <a:solidFill>
                  <a:srgbClr val="FFFFFF"/>
                </a:solidFill>
                <a:latin typeface="Arial"/>
              </a:rPr>
              <a:t>Can AI proceed alone?</a:t>
            </a:r>
          </a:p>
        </p:txBody>
      </p:sp>
      <p:sp>
        <p:nvSpPr>
          <p:cNvPr id="15" name="Rectangle 14"/>
          <p:cNvSpPr/>
          <p:nvPr/>
        </p:nvSpPr>
        <p:spPr>
          <a:xfrm>
            <a:off x="777240" y="2340864"/>
            <a:ext cx="310896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340864"/>
            <a:ext cx="2852928" cy="512064"/>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Human IN the loop</a:t>
            </a:r>
          </a:p>
        </p:txBody>
      </p:sp>
      <p:sp>
        <p:nvSpPr>
          <p:cNvPr id="17" name="Rectangle 16"/>
          <p:cNvSpPr/>
          <p:nvPr/>
        </p:nvSpPr>
        <p:spPr>
          <a:xfrm>
            <a:off x="3886200" y="2340864"/>
            <a:ext cx="283464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14216" y="2340864"/>
            <a:ext cx="257860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AI proposes, human decides</a:t>
            </a:r>
          </a:p>
        </p:txBody>
      </p:sp>
      <p:sp>
        <p:nvSpPr>
          <p:cNvPr id="19" name="Rectangle 18"/>
          <p:cNvSpPr/>
          <p:nvPr/>
        </p:nvSpPr>
        <p:spPr>
          <a:xfrm>
            <a:off x="6720840" y="2340864"/>
            <a:ext cx="237744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48856" y="2340864"/>
            <a:ext cx="212140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Human approves, system acts</a:t>
            </a:r>
          </a:p>
        </p:txBody>
      </p:sp>
      <p:sp>
        <p:nvSpPr>
          <p:cNvPr id="21" name="Rectangle 20"/>
          <p:cNvSpPr/>
          <p:nvPr/>
        </p:nvSpPr>
        <p:spPr>
          <a:xfrm>
            <a:off x="9098280" y="2340864"/>
            <a:ext cx="2313432"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26296" y="2340864"/>
            <a:ext cx="2057400"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NO — it blocks</a:t>
            </a:r>
          </a:p>
        </p:txBody>
      </p:sp>
      <p:sp>
        <p:nvSpPr>
          <p:cNvPr id="23" name="Rectangle 22"/>
          <p:cNvSpPr/>
          <p:nvPr/>
        </p:nvSpPr>
        <p:spPr>
          <a:xfrm>
            <a:off x="777240" y="2852928"/>
            <a:ext cx="3108960" cy="5120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52928"/>
            <a:ext cx="2852928" cy="512064"/>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Human ON the loop</a:t>
            </a:r>
          </a:p>
        </p:txBody>
      </p:sp>
      <p:sp>
        <p:nvSpPr>
          <p:cNvPr id="25" name="Rectangle 24"/>
          <p:cNvSpPr/>
          <p:nvPr/>
        </p:nvSpPr>
        <p:spPr>
          <a:xfrm>
            <a:off x="3886200" y="2852928"/>
            <a:ext cx="2834640" cy="5120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14216" y="2852928"/>
            <a:ext cx="257860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AI decides and acts</a:t>
            </a:r>
          </a:p>
        </p:txBody>
      </p:sp>
      <p:sp>
        <p:nvSpPr>
          <p:cNvPr id="27" name="Rectangle 26"/>
          <p:cNvSpPr/>
          <p:nvPr/>
        </p:nvSpPr>
        <p:spPr>
          <a:xfrm>
            <a:off x="6720840" y="2852928"/>
            <a:ext cx="2377440" cy="5120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48856" y="2852928"/>
            <a:ext cx="212140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Human monitors, can intervene</a:t>
            </a:r>
          </a:p>
        </p:txBody>
      </p:sp>
      <p:sp>
        <p:nvSpPr>
          <p:cNvPr id="29" name="Rectangle 28"/>
          <p:cNvSpPr/>
          <p:nvPr/>
        </p:nvSpPr>
        <p:spPr>
          <a:xfrm>
            <a:off x="9098280" y="2852928"/>
            <a:ext cx="2313432" cy="512064"/>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26296" y="2852928"/>
            <a:ext cx="2057400"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Yes — reviewed after</a:t>
            </a:r>
          </a:p>
        </p:txBody>
      </p:sp>
      <p:sp>
        <p:nvSpPr>
          <p:cNvPr id="31" name="Rectangle 30"/>
          <p:cNvSpPr/>
          <p:nvPr/>
        </p:nvSpPr>
        <p:spPr>
          <a:xfrm>
            <a:off x="777240" y="3364992"/>
            <a:ext cx="310896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364992"/>
            <a:ext cx="2852928" cy="512064"/>
          </a:xfrm>
          <a:prstGeom prst="rect">
            <a:avLst/>
          </a:prstGeom>
          <a:noFill/>
        </p:spPr>
        <p:txBody>
          <a:bodyPr wrap="square" anchor="ctr" lIns="0" rIns="0" tIns="0" bIns="0">
            <a:spAutoFit/>
          </a:bodyPr>
          <a:lstStyle/>
          <a:p>
            <a:pPr algn="l">
              <a:spcBef>
                <a:spcPts val="0"/>
              </a:spcBef>
              <a:spcAft>
                <a:spcPts val="400"/>
              </a:spcAft>
            </a:pPr>
            <a:r>
              <a:rPr sz="1050" b="1">
                <a:solidFill>
                  <a:srgbClr val="161B26"/>
                </a:solidFill>
                <a:latin typeface="Arial"/>
              </a:rPr>
              <a:t>Human OUT of the loop</a:t>
            </a:r>
          </a:p>
        </p:txBody>
      </p:sp>
      <p:sp>
        <p:nvSpPr>
          <p:cNvPr id="33" name="Rectangle 32"/>
          <p:cNvSpPr/>
          <p:nvPr/>
        </p:nvSpPr>
        <p:spPr>
          <a:xfrm>
            <a:off x="3886200" y="3364992"/>
            <a:ext cx="283464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014216" y="3364992"/>
            <a:ext cx="257860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AI decides and acts</a:t>
            </a:r>
          </a:p>
        </p:txBody>
      </p:sp>
      <p:sp>
        <p:nvSpPr>
          <p:cNvPr id="35" name="Rectangle 34"/>
          <p:cNvSpPr/>
          <p:nvPr/>
        </p:nvSpPr>
        <p:spPr>
          <a:xfrm>
            <a:off x="6720840" y="3364992"/>
            <a:ext cx="2377440"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48856" y="3364992"/>
            <a:ext cx="2121408"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AI acts</a:t>
            </a:r>
          </a:p>
        </p:txBody>
      </p:sp>
      <p:sp>
        <p:nvSpPr>
          <p:cNvPr id="37" name="Rectangle 36"/>
          <p:cNvSpPr/>
          <p:nvPr/>
        </p:nvSpPr>
        <p:spPr>
          <a:xfrm>
            <a:off x="9098280" y="3364992"/>
            <a:ext cx="2313432" cy="51206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26296" y="3364992"/>
            <a:ext cx="2057400" cy="512064"/>
          </a:xfrm>
          <a:prstGeom prst="rect">
            <a:avLst/>
          </a:prstGeom>
          <a:noFill/>
        </p:spPr>
        <p:txBody>
          <a:bodyPr wrap="square" anchor="ctr" lIns="0" rIns="0" tIns="0" bIns="0">
            <a:spAutoFit/>
          </a:bodyPr>
          <a:lstStyle/>
          <a:p>
            <a:pPr algn="l">
              <a:spcBef>
                <a:spcPts val="0"/>
              </a:spcBef>
              <a:spcAft>
                <a:spcPts val="400"/>
              </a:spcAft>
            </a:pPr>
            <a:r>
              <a:rPr sz="1050" b="0">
                <a:solidFill>
                  <a:srgbClr val="161B26"/>
                </a:solidFill>
                <a:latin typeface="Arial"/>
              </a:rPr>
              <a:t>Yes — nobody checks</a:t>
            </a:r>
          </a:p>
        </p:txBody>
      </p:sp>
      <p:sp>
        <p:nvSpPr>
          <p:cNvPr id="39" name="Rounded Rectangle 38"/>
          <p:cNvSpPr/>
          <p:nvPr/>
        </p:nvSpPr>
        <p:spPr>
          <a:xfrm>
            <a:off x="777240" y="4206240"/>
            <a:ext cx="10634472" cy="128016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51560" y="4370832"/>
            <a:ext cx="10058400" cy="292608"/>
          </a:xfrm>
          <a:prstGeom prst="rect">
            <a:avLst/>
          </a:prstGeom>
          <a:noFill/>
        </p:spPr>
        <p:txBody>
          <a:bodyPr wrap="square" anchor="t" lIns="0" rIns="0" tIns="0" bIns="0">
            <a:spAutoFit/>
          </a:bodyPr>
          <a:lstStyle/>
          <a:p>
            <a:pPr algn="l">
              <a:spcBef>
                <a:spcPts val="0"/>
              </a:spcBef>
              <a:spcAft>
                <a:spcPts val="400"/>
              </a:spcAft>
            </a:pPr>
            <a:r>
              <a:rPr sz="1200" b="1">
                <a:solidFill>
                  <a:srgbClr val="1F6FEB"/>
                </a:solidFill>
                <a:latin typeface="Arial"/>
              </a:rPr>
              <a:t>WHERE THIS COURSE PUTS THE HUMAN</a:t>
            </a:r>
          </a:p>
        </p:txBody>
      </p:sp>
      <p:sp>
        <p:nvSpPr>
          <p:cNvPr id="41" name="TextBox 40"/>
          <p:cNvSpPr txBox="1"/>
          <p:nvPr/>
        </p:nvSpPr>
        <p:spPr>
          <a:xfrm>
            <a:off x="1051560" y="4700016"/>
            <a:ext cx="10058400" cy="731520"/>
          </a:xfrm>
          <a:prstGeom prst="rect">
            <a:avLst/>
          </a:prstGeom>
          <a:noFill/>
        </p:spPr>
        <p:txBody>
          <a:bodyPr wrap="square" anchor="t" lIns="0" rIns="0" tIns="0" bIns="0">
            <a:spAutoFit/>
          </a:bodyPr>
          <a:lstStyle/>
          <a:p>
            <a:pPr algn="l">
              <a:spcBef>
                <a:spcPts val="0"/>
              </a:spcBef>
              <a:spcAft>
                <a:spcPts val="400"/>
              </a:spcAft>
            </a:pPr>
            <a:r>
              <a:rPr sz="1150" b="0">
                <a:solidFill>
                  <a:srgbClr val="161B26"/>
                </a:solidFill>
                <a:latin typeface="Arial"/>
              </a:rPr>
              <a:t>Activity 8a — the manager approves leave before any email goes to the employee (IN the loop). The dashboard (8b) and chatbot (8c) run alone, but the chatbot is fenced by guardrails on both sides.</a:t>
            </a:r>
          </a:p>
        </p:txBody>
      </p:sp>
      <p:sp>
        <p:nvSpPr>
          <p:cNvPr id="42" name="Rounded Rectangle 41"/>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Ask who pays for the mistake — that answer sizes the agent's authority and places the human.</a:t>
            </a:r>
          </a:p>
        </p:txBody>
      </p:sp>
      <p:sp>
        <p:nvSpPr>
          <p:cNvPr id="44" name="TextBox 43"/>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5" name="TextBox 44"/>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6" name="TextBox 45"/>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6 · SECURITY &amp; GOVERNANCE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How an Approval Suspends a Running Flow</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n8n's Send and Wait for Response physically pauses the workflow until a person clicks.</a:t>
            </a:r>
          </a:p>
        </p:txBody>
      </p:sp>
      <p:sp>
        <p:nvSpPr>
          <p:cNvPr id="7" name="Rounded Rectangle 6"/>
          <p:cNvSpPr/>
          <p:nvPr/>
        </p:nvSpPr>
        <p:spPr>
          <a:xfrm>
            <a:off x="777240"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Request submitted</a:t>
            </a:r>
          </a:p>
          <a:p>
            <a:pPr algn="ctr">
              <a:spcBef>
                <a:spcPts val="0"/>
              </a:spcBef>
              <a:spcAft>
                <a:spcPts val="200"/>
              </a:spcAft>
            </a:pPr>
            <a:r>
              <a:rPr sz="900" b="0">
                <a:solidFill>
                  <a:srgbClr val="5B6372"/>
                </a:solidFill>
                <a:latin typeface="Arial"/>
              </a:rPr>
              <a:t>employee applies for leave</a:t>
            </a:r>
          </a:p>
        </p:txBody>
      </p:sp>
      <p:sp>
        <p:nvSpPr>
          <p:cNvPr id="9" name="TextBox 8"/>
          <p:cNvSpPr txBox="1"/>
          <p:nvPr/>
        </p:nvSpPr>
        <p:spPr>
          <a:xfrm>
            <a:off x="2627985" y="22585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0" name="Rounded Rectangle 9"/>
          <p:cNvSpPr/>
          <p:nvPr/>
        </p:nvSpPr>
        <p:spPr>
          <a:xfrm>
            <a:off x="2966313"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7753"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Send &amp; Wait</a:t>
            </a:r>
          </a:p>
          <a:p>
            <a:pPr algn="ctr">
              <a:spcBef>
                <a:spcPts val="0"/>
              </a:spcBef>
              <a:spcAft>
                <a:spcPts val="200"/>
              </a:spcAft>
            </a:pPr>
            <a:r>
              <a:rPr sz="900" b="0">
                <a:solidFill>
                  <a:srgbClr val="5B6372"/>
                </a:solidFill>
                <a:latin typeface="Arial"/>
              </a:rPr>
              <a:t>manager gets Approve / Decline email</a:t>
            </a:r>
          </a:p>
        </p:txBody>
      </p:sp>
      <p:sp>
        <p:nvSpPr>
          <p:cNvPr id="12" name="TextBox 11"/>
          <p:cNvSpPr txBox="1"/>
          <p:nvPr/>
        </p:nvSpPr>
        <p:spPr>
          <a:xfrm>
            <a:off x="4817058" y="22585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3" name="Rounded Rectangle 12"/>
          <p:cNvSpPr/>
          <p:nvPr/>
        </p:nvSpPr>
        <p:spPr>
          <a:xfrm>
            <a:off x="5155386"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6826"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The run SUSPENDS</a:t>
            </a:r>
          </a:p>
          <a:p>
            <a:pPr algn="ctr">
              <a:spcBef>
                <a:spcPts val="0"/>
              </a:spcBef>
              <a:spcAft>
                <a:spcPts val="200"/>
              </a:spcAft>
            </a:pPr>
            <a:r>
              <a:rPr sz="900" b="0">
                <a:solidFill>
                  <a:srgbClr val="5B6372"/>
                </a:solidFill>
                <a:latin typeface="Arial"/>
              </a:rPr>
              <a:t>minutes or days — it waits</a:t>
            </a:r>
          </a:p>
        </p:txBody>
      </p:sp>
      <p:sp>
        <p:nvSpPr>
          <p:cNvPr id="15" name="TextBox 14"/>
          <p:cNvSpPr txBox="1"/>
          <p:nvPr/>
        </p:nvSpPr>
        <p:spPr>
          <a:xfrm>
            <a:off x="7006131" y="22585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6" name="Rounded Rectangle 15"/>
          <p:cNvSpPr/>
          <p:nvPr/>
        </p:nvSpPr>
        <p:spPr>
          <a:xfrm>
            <a:off x="7344459"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5899"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A person responds</a:t>
            </a:r>
          </a:p>
          <a:p>
            <a:pPr algn="ctr">
              <a:spcBef>
                <a:spcPts val="0"/>
              </a:spcBef>
              <a:spcAft>
                <a:spcPts val="200"/>
              </a:spcAft>
            </a:pPr>
            <a:r>
              <a:rPr sz="900" b="0">
                <a:solidFill>
                  <a:srgbClr val="5B6372"/>
                </a:solidFill>
                <a:latin typeface="Arial"/>
              </a:rPr>
              <a:t>one click in the email</a:t>
            </a:r>
          </a:p>
        </p:txBody>
      </p:sp>
      <p:sp>
        <p:nvSpPr>
          <p:cNvPr id="18" name="TextBox 17"/>
          <p:cNvSpPr txBox="1"/>
          <p:nvPr/>
        </p:nvSpPr>
        <p:spPr>
          <a:xfrm>
            <a:off x="9195204" y="22585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9" name="Rounded Rectangle 18"/>
          <p:cNvSpPr/>
          <p:nvPr/>
        </p:nvSpPr>
        <p:spPr>
          <a:xfrm>
            <a:off x="9533532"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24972"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IF reads the outcome</a:t>
            </a:r>
          </a:p>
          <a:p>
            <a:pPr algn="ctr">
              <a:spcBef>
                <a:spcPts val="0"/>
              </a:spcBef>
              <a:spcAft>
                <a:spcPts val="200"/>
              </a:spcAft>
            </a:pPr>
            <a:r>
              <a:rPr sz="900" b="0">
                <a:solidFill>
                  <a:srgbClr val="5B6372"/>
                </a:solidFill>
                <a:latin typeface="Arial"/>
              </a:rPr>
              <a:t>approved → notify · declined → notify</a:t>
            </a:r>
          </a:p>
        </p:txBody>
      </p:sp>
      <p:sp>
        <p:nvSpPr>
          <p:cNvPr id="21" name="Rounded Rectangle 20"/>
          <p:cNvSpPr/>
          <p:nvPr/>
        </p:nvSpPr>
        <p:spPr>
          <a:xfrm>
            <a:off x="777240" y="3291840"/>
            <a:ext cx="3349752" cy="224028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3438144"/>
            <a:ext cx="2947416"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Outcome = Approve</a:t>
            </a:r>
          </a:p>
        </p:txBody>
      </p:sp>
      <p:sp>
        <p:nvSpPr>
          <p:cNvPr id="23" name="TextBox 22"/>
          <p:cNvSpPr txBox="1"/>
          <p:nvPr/>
        </p:nvSpPr>
        <p:spPr>
          <a:xfrm>
            <a:off x="978408" y="3840480"/>
            <a:ext cx="2947416" cy="15453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Send the approval email, update the record, continue the business process.</a:t>
            </a:r>
          </a:p>
        </p:txBody>
      </p:sp>
      <p:sp>
        <p:nvSpPr>
          <p:cNvPr id="24" name="Rounded Rectangle 23"/>
          <p:cNvSpPr/>
          <p:nvPr/>
        </p:nvSpPr>
        <p:spPr>
          <a:xfrm>
            <a:off x="4419600" y="3291840"/>
            <a:ext cx="3349752" cy="224028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20768" y="3438144"/>
            <a:ext cx="2947416"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Outcome = Decline</a:t>
            </a:r>
          </a:p>
        </p:txBody>
      </p:sp>
      <p:sp>
        <p:nvSpPr>
          <p:cNvPr id="26" name="TextBox 25"/>
          <p:cNvSpPr txBox="1"/>
          <p:nvPr/>
        </p:nvSpPr>
        <p:spPr>
          <a:xfrm>
            <a:off x="4620768" y="3840480"/>
            <a:ext cx="2947416" cy="15453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Send the rejection with the manager's comments — never silence.</a:t>
            </a:r>
          </a:p>
        </p:txBody>
      </p:sp>
      <p:sp>
        <p:nvSpPr>
          <p:cNvPr id="27" name="Rounded Rectangle 26"/>
          <p:cNvSpPr/>
          <p:nvPr/>
        </p:nvSpPr>
        <p:spPr>
          <a:xfrm>
            <a:off x="8061960" y="3291840"/>
            <a:ext cx="3349752" cy="2240280"/>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3128" y="3438144"/>
            <a:ext cx="2947416" cy="310896"/>
          </a:xfrm>
          <a:prstGeom prst="rect">
            <a:avLst/>
          </a:prstGeom>
          <a:noFill/>
        </p:spPr>
        <p:txBody>
          <a:bodyPr wrap="square" anchor="t" lIns="0" rIns="0" tIns="0" bIns="0">
            <a:spAutoFit/>
          </a:bodyPr>
          <a:lstStyle/>
          <a:p>
            <a:pPr algn="l">
              <a:spcBef>
                <a:spcPts val="0"/>
              </a:spcBef>
              <a:spcAft>
                <a:spcPts val="400"/>
              </a:spcAft>
            </a:pPr>
            <a:r>
              <a:rPr sz="1300" b="1">
                <a:solidFill>
                  <a:srgbClr val="F59E0B"/>
                </a:solidFill>
                <a:latin typeface="Arial"/>
              </a:rPr>
              <a:t>Ack first</a:t>
            </a:r>
          </a:p>
        </p:txBody>
      </p:sp>
      <p:sp>
        <p:nvSpPr>
          <p:cNvPr id="29" name="TextBox 28"/>
          <p:cNvSpPr txBox="1"/>
          <p:nvPr/>
        </p:nvSpPr>
        <p:spPr>
          <a:xfrm>
            <a:off x="8263128" y="3840480"/>
            <a:ext cx="2947416" cy="15453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The portal gets an instant 'received' response BEFORE the wait — the browser never hangs on a manager.</a:t>
            </a:r>
          </a:p>
        </p:txBody>
      </p:sp>
      <p:sp>
        <p:nvSpPr>
          <p:cNvPr id="30" name="Rounded Rectangle 29"/>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A pause that is still paused tomorrow is a real gate — that is the deliverable of Activity 8a.</a:t>
            </a:r>
          </a:p>
        </p:txBody>
      </p:sp>
      <p:sp>
        <p:nvSpPr>
          <p:cNvPr id="32" name="TextBox 3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3" name="TextBox 3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4" name="TextBox 3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6 · SECURITY &amp; GOVERNANCE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Guardrails — Two Gates Around the Agent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An LLM checks every message in, and every reply out — the agent only sees and says what passes.</a:t>
            </a:r>
          </a:p>
        </p:txBody>
      </p:sp>
      <p:sp>
        <p:nvSpPr>
          <p:cNvPr id="7" name="Rounded Rectangle 6"/>
          <p:cNvSpPr/>
          <p:nvPr/>
        </p:nvSpPr>
        <p:spPr>
          <a:xfrm>
            <a:off x="777240"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User message</a:t>
            </a:r>
          </a:p>
          <a:p>
            <a:pPr algn="ctr">
              <a:spcBef>
                <a:spcPts val="0"/>
              </a:spcBef>
              <a:spcAft>
                <a:spcPts val="200"/>
              </a:spcAft>
            </a:pPr>
            <a:r>
              <a:rPr sz="900" b="0">
                <a:solidFill>
                  <a:srgbClr val="5B6372"/>
                </a:solidFill>
                <a:latin typeface="Arial"/>
              </a:rPr>
              <a:t>from the HR portal</a:t>
            </a:r>
          </a:p>
        </p:txBody>
      </p:sp>
      <p:sp>
        <p:nvSpPr>
          <p:cNvPr id="9" name="TextBox 8"/>
          <p:cNvSpPr txBox="1"/>
          <p:nvPr/>
        </p:nvSpPr>
        <p:spPr>
          <a:xfrm>
            <a:off x="2627985" y="22585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0" name="Rounded Rectangle 9"/>
          <p:cNvSpPr/>
          <p:nvPr/>
        </p:nvSpPr>
        <p:spPr>
          <a:xfrm>
            <a:off x="2966313"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7753"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INPUT guardrail</a:t>
            </a:r>
          </a:p>
          <a:p>
            <a:pPr algn="ctr">
              <a:spcBef>
                <a:spcPts val="0"/>
              </a:spcBef>
              <a:spcAft>
                <a:spcPts val="200"/>
              </a:spcAft>
            </a:pPr>
            <a:r>
              <a:rPr sz="900" b="0">
                <a:solidFill>
                  <a:srgbClr val="5B6372"/>
                </a:solidFill>
                <a:latin typeface="Arial"/>
              </a:rPr>
              <a:t>LLM: ALLOW / BLOCK</a:t>
            </a:r>
          </a:p>
        </p:txBody>
      </p:sp>
      <p:sp>
        <p:nvSpPr>
          <p:cNvPr id="12" name="TextBox 11"/>
          <p:cNvSpPr txBox="1"/>
          <p:nvPr/>
        </p:nvSpPr>
        <p:spPr>
          <a:xfrm>
            <a:off x="4817058" y="22585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3" name="Rounded Rectangle 12"/>
          <p:cNvSpPr/>
          <p:nvPr/>
        </p:nvSpPr>
        <p:spPr>
          <a:xfrm>
            <a:off x="5155386"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6826"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HR AI Agent</a:t>
            </a:r>
          </a:p>
          <a:p>
            <a:pPr algn="ctr">
              <a:spcBef>
                <a:spcPts val="0"/>
              </a:spcBef>
              <a:spcAft>
                <a:spcPts val="200"/>
              </a:spcAft>
            </a:pPr>
            <a:r>
              <a:rPr sz="900" b="0">
                <a:solidFill>
                  <a:srgbClr val="5B6372"/>
                </a:solidFill>
                <a:latin typeface="Arial"/>
              </a:rPr>
              <a:t>answers in-scope questions</a:t>
            </a:r>
          </a:p>
        </p:txBody>
      </p:sp>
      <p:sp>
        <p:nvSpPr>
          <p:cNvPr id="15" name="TextBox 14"/>
          <p:cNvSpPr txBox="1"/>
          <p:nvPr/>
        </p:nvSpPr>
        <p:spPr>
          <a:xfrm>
            <a:off x="7006131" y="22585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6" name="Rounded Rectangle 15"/>
          <p:cNvSpPr/>
          <p:nvPr/>
        </p:nvSpPr>
        <p:spPr>
          <a:xfrm>
            <a:off x="7344459"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5899"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OUTPUT guardrail</a:t>
            </a:r>
          </a:p>
          <a:p>
            <a:pPr algn="ctr">
              <a:spcBef>
                <a:spcPts val="0"/>
              </a:spcBef>
              <a:spcAft>
                <a:spcPts val="200"/>
              </a:spcAft>
            </a:pPr>
            <a:r>
              <a:rPr sz="900" b="0">
                <a:solidFill>
                  <a:srgbClr val="5B6372"/>
                </a:solidFill>
                <a:latin typeface="Arial"/>
              </a:rPr>
              <a:t>LLM: SAFE / LEAK</a:t>
            </a:r>
          </a:p>
        </p:txBody>
      </p:sp>
      <p:sp>
        <p:nvSpPr>
          <p:cNvPr id="18" name="TextBox 17"/>
          <p:cNvSpPr txBox="1"/>
          <p:nvPr/>
        </p:nvSpPr>
        <p:spPr>
          <a:xfrm>
            <a:off x="9195204" y="225856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9" name="Rounded Rectangle 18"/>
          <p:cNvSpPr/>
          <p:nvPr/>
        </p:nvSpPr>
        <p:spPr>
          <a:xfrm>
            <a:off x="9533532" y="1920240"/>
            <a:ext cx="1878177" cy="100584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24972" y="1920240"/>
            <a:ext cx="1695297" cy="100584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Reply or blocked</a:t>
            </a:r>
          </a:p>
          <a:p>
            <a:pPr algn="ctr">
              <a:spcBef>
                <a:spcPts val="0"/>
              </a:spcBef>
              <a:spcAft>
                <a:spcPts val="200"/>
              </a:spcAft>
            </a:pPr>
            <a:r>
              <a:rPr sz="900" b="0">
                <a:solidFill>
                  <a:srgbClr val="5B6372"/>
                </a:solidFill>
                <a:latin typeface="Arial"/>
              </a:rPr>
              <a:t>user sees the safe path</a:t>
            </a:r>
          </a:p>
        </p:txBody>
      </p:sp>
      <p:sp>
        <p:nvSpPr>
          <p:cNvPr id="21" name="Rounded Rectangle 20"/>
          <p:cNvSpPr/>
          <p:nvPr/>
        </p:nvSpPr>
        <p:spPr>
          <a:xfrm>
            <a:off x="777240" y="3291840"/>
            <a:ext cx="5170932" cy="224028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60120" y="343814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343814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24" name="TextBox 23"/>
          <p:cNvSpPr txBox="1"/>
          <p:nvPr/>
        </p:nvSpPr>
        <p:spPr>
          <a:xfrm>
            <a:off x="1399032" y="344728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Input (pre) guardrail blocks</a:t>
            </a:r>
          </a:p>
        </p:txBody>
      </p:sp>
      <p:sp>
        <p:nvSpPr>
          <p:cNvPr id="25" name="TextBox 24"/>
          <p:cNvSpPr txBox="1"/>
          <p:nvPr/>
        </p:nvSpPr>
        <p:spPr>
          <a:xfrm>
            <a:off x="978408" y="3840480"/>
            <a:ext cx="4768596" cy="15453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Prompt injection ('ignore previous instructions'), jailbreaks, requests for another person's salary or private data.</a:t>
            </a:r>
          </a:p>
        </p:txBody>
      </p:sp>
      <p:sp>
        <p:nvSpPr>
          <p:cNvPr id="26" name="Rounded Rectangle 25"/>
          <p:cNvSpPr/>
          <p:nvPr/>
        </p:nvSpPr>
        <p:spPr>
          <a:xfrm>
            <a:off x="6240780" y="3291840"/>
            <a:ext cx="5170932" cy="224028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23660" y="343814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3660" y="343814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29" name="TextBox 28"/>
          <p:cNvSpPr txBox="1"/>
          <p:nvPr/>
        </p:nvSpPr>
        <p:spPr>
          <a:xfrm>
            <a:off x="6862572" y="3447288"/>
            <a:ext cx="434797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Output (post) guardrail blocks</a:t>
            </a:r>
          </a:p>
        </p:txBody>
      </p:sp>
      <p:sp>
        <p:nvSpPr>
          <p:cNvPr id="30" name="TextBox 29"/>
          <p:cNvSpPr txBox="1"/>
          <p:nvPr/>
        </p:nvSpPr>
        <p:spPr>
          <a:xfrm>
            <a:off x="6441948" y="3840480"/>
            <a:ext cx="4768596" cy="154533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Salary figures, NRIC, credentials, system-instruction leaks — even when the agent was tricked into producing them.</a:t>
            </a:r>
          </a:p>
        </p:txBody>
      </p:sp>
      <p:sp>
        <p:nvSpPr>
          <p:cNvPr id="31" name="Rounded Rectangle 30"/>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Instructions say what the agent SHOULD do; guardrails enforce what it MUST NOT — you need both.</a:t>
            </a:r>
          </a:p>
        </p:txBody>
      </p:sp>
      <p:sp>
        <p:nvSpPr>
          <p:cNvPr id="33" name="TextBox 32"/>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4" name="TextBox 33"/>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5" name="TextBox 34"/>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112</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TOPIC 6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8a — Leave Application &amp; Manager Approval (HITL)</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The employee applies on the portal; the flow acks, then suspends until the manager clicks Approve or Decline in email.</a:t>
            </a:r>
          </a:p>
        </p:txBody>
      </p:sp>
      <p:sp>
        <p:nvSpPr>
          <p:cNvPr id="7" name="Rounded Rectangle 6"/>
          <p:cNvSpPr/>
          <p:nvPr/>
        </p:nvSpPr>
        <p:spPr>
          <a:xfrm>
            <a:off x="777240"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Webhook — POST</a:t>
            </a:r>
          </a:p>
          <a:p>
            <a:pPr algn="ctr">
              <a:spcBef>
                <a:spcPts val="0"/>
              </a:spcBef>
              <a:spcAft>
                <a:spcPts val="200"/>
              </a:spcAft>
            </a:pPr>
            <a:r>
              <a:rPr sz="850" b="0">
                <a:solidFill>
                  <a:srgbClr val="5B6372"/>
                </a:solidFill>
                <a:latin typeface="Arial"/>
              </a:rPr>
              <a:t>hr-leave-apply</a:t>
            </a:r>
          </a:p>
        </p:txBody>
      </p:sp>
      <p:sp>
        <p:nvSpPr>
          <p:cNvPr id="9" name="TextBox 8"/>
          <p:cNvSpPr txBox="1"/>
          <p:nvPr/>
        </p:nvSpPr>
        <p:spPr>
          <a:xfrm>
            <a:off x="2627985"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0" name="Rounded Rectangle 9"/>
          <p:cNvSpPr/>
          <p:nvPr/>
        </p:nvSpPr>
        <p:spPr>
          <a:xfrm>
            <a:off x="2966313"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7753"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Respond — Ack</a:t>
            </a:r>
          </a:p>
          <a:p>
            <a:pPr algn="ctr">
              <a:spcBef>
                <a:spcPts val="0"/>
              </a:spcBef>
              <a:spcAft>
                <a:spcPts val="200"/>
              </a:spcAft>
            </a:pPr>
            <a:r>
              <a:rPr sz="850" b="0">
                <a:solidFill>
                  <a:srgbClr val="5B6372"/>
                </a:solidFill>
                <a:latin typeface="Arial"/>
              </a:rPr>
              <a:t>portal gets instant OK</a:t>
            </a:r>
          </a:p>
        </p:txBody>
      </p:sp>
      <p:sp>
        <p:nvSpPr>
          <p:cNvPr id="12" name="TextBox 11"/>
          <p:cNvSpPr txBox="1"/>
          <p:nvPr/>
        </p:nvSpPr>
        <p:spPr>
          <a:xfrm>
            <a:off x="481705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3" name="Rounded Rectangle 12"/>
          <p:cNvSpPr/>
          <p:nvPr/>
        </p:nvSpPr>
        <p:spPr>
          <a:xfrm>
            <a:off x="5155386"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6826"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Gmail — Send &amp; Wait</a:t>
            </a:r>
          </a:p>
          <a:p>
            <a:pPr algn="ctr">
              <a:spcBef>
                <a:spcPts val="0"/>
              </a:spcBef>
              <a:spcAft>
                <a:spcPts val="200"/>
              </a:spcAft>
            </a:pPr>
            <a:r>
              <a:rPr sz="850" b="0">
                <a:solidFill>
                  <a:srgbClr val="5B6372"/>
                </a:solidFill>
                <a:latin typeface="Arial"/>
              </a:rPr>
              <a:t>manager: Approve / Decline</a:t>
            </a:r>
          </a:p>
        </p:txBody>
      </p:sp>
      <p:sp>
        <p:nvSpPr>
          <p:cNvPr id="15" name="TextBox 14"/>
          <p:cNvSpPr txBox="1"/>
          <p:nvPr/>
        </p:nvSpPr>
        <p:spPr>
          <a:xfrm>
            <a:off x="7006131"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6" name="Rounded Rectangle 15"/>
          <p:cNvSpPr/>
          <p:nvPr/>
        </p:nvSpPr>
        <p:spPr>
          <a:xfrm>
            <a:off x="7344459"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5899"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IF</a:t>
            </a:r>
          </a:p>
          <a:p>
            <a:pPr algn="ctr">
              <a:spcBef>
                <a:spcPts val="0"/>
              </a:spcBef>
              <a:spcAft>
                <a:spcPts val="200"/>
              </a:spcAft>
            </a:pPr>
            <a:r>
              <a:rPr sz="850" b="0">
                <a:solidFill>
                  <a:srgbClr val="5B6372"/>
                </a:solidFill>
                <a:latin typeface="Arial"/>
              </a:rPr>
              <a:t>approved = true ?</a:t>
            </a:r>
          </a:p>
        </p:txBody>
      </p:sp>
      <p:sp>
        <p:nvSpPr>
          <p:cNvPr id="18" name="TextBox 17"/>
          <p:cNvSpPr txBox="1"/>
          <p:nvPr/>
        </p:nvSpPr>
        <p:spPr>
          <a:xfrm>
            <a:off x="919520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9" name="Rounded Rectangle 18"/>
          <p:cNvSpPr/>
          <p:nvPr/>
        </p:nvSpPr>
        <p:spPr>
          <a:xfrm>
            <a:off x="9533532"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24972"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Gmail</a:t>
            </a:r>
          </a:p>
          <a:p>
            <a:pPr algn="ctr">
              <a:spcBef>
                <a:spcPts val="0"/>
              </a:spcBef>
              <a:spcAft>
                <a:spcPts val="200"/>
              </a:spcAft>
            </a:pPr>
            <a:r>
              <a:rPr sz="850" b="0">
                <a:solidFill>
                  <a:srgbClr val="5B6372"/>
                </a:solidFill>
                <a:latin typeface="Arial"/>
              </a:rPr>
              <a:t>notify the employee</a:t>
            </a:r>
          </a:p>
        </p:txBody>
      </p:sp>
      <p:pic>
        <p:nvPicPr>
          <p:cNvPr id="21" name="Picture 20" descr="Activity8 - Leave Application &amp; Manager Approval (Human-in-the-Loop).png"/>
          <p:cNvPicPr>
            <a:picLocks noChangeAspect="1"/>
          </p:cNvPicPr>
          <p:nvPr/>
        </p:nvPicPr>
        <p:blipFill>
          <a:blip r:embed="rId2"/>
          <a:stretch>
            <a:fillRect/>
          </a:stretch>
        </p:blipFill>
        <p:spPr>
          <a:xfrm>
            <a:off x="2388922" y="2761488"/>
            <a:ext cx="7383676" cy="2816352"/>
          </a:xfrm>
          <a:prstGeom prst="rect">
            <a:avLst/>
          </a:prstGeom>
        </p:spPr>
      </p:pic>
      <p:sp>
        <p:nvSpPr>
          <p:cNvPr id="22" name="Rectangle 21"/>
          <p:cNvSpPr/>
          <p:nvPr/>
        </p:nvSpPr>
        <p:spPr>
          <a:xfrm>
            <a:off x="2376222" y="2748788"/>
            <a:ext cx="7409076"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5687568"/>
            <a:ext cx="10634472" cy="56692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5806440"/>
            <a:ext cx="960120" cy="32918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8a</a:t>
            </a:r>
          </a:p>
        </p:txBody>
      </p:sp>
      <p:sp>
        <p:nvSpPr>
          <p:cNvPr id="26" name="TextBox 25"/>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Leave Application &amp; Manager Approval (HITL)</a:t>
            </a:r>
          </a:p>
        </p:txBody>
      </p:sp>
      <p:sp>
        <p:nvSpPr>
          <p:cNvPr id="27" name="TextBox 26"/>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Human-in-the-loop gate  ·  run suspends until the click  ·  steps in the Learner Guide</a:t>
            </a:r>
          </a:p>
        </p:txBody>
      </p:sp>
      <p:sp>
        <p:nvSpPr>
          <p:cNvPr id="28" name="TextBox 2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9" name="TextBox 2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0" name="TextBox 2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113</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TOPIC 6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8b — HR Dashboard Data (GET Webhook)</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A GET webhook powers the portal's Dashboard tab — leave balance and history returned as JSON to the browser.</a:t>
            </a:r>
          </a:p>
        </p:txBody>
      </p:sp>
      <p:sp>
        <p:nvSpPr>
          <p:cNvPr id="7" name="Rounded Rectangle 6"/>
          <p:cNvSpPr/>
          <p:nvPr/>
        </p:nvSpPr>
        <p:spPr>
          <a:xfrm>
            <a:off x="777240" y="1810512"/>
            <a:ext cx="3337560"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Webhook — GET</a:t>
            </a:r>
          </a:p>
          <a:p>
            <a:pPr algn="ctr">
              <a:spcBef>
                <a:spcPts val="0"/>
              </a:spcBef>
              <a:spcAft>
                <a:spcPts val="200"/>
              </a:spcAft>
            </a:pPr>
            <a:r>
              <a:rPr sz="850" b="0">
                <a:solidFill>
                  <a:srgbClr val="5B6372"/>
                </a:solidFill>
                <a:latin typeface="Arial"/>
              </a:rPr>
              <a:t>hr-dashboard?email=…</a:t>
            </a:r>
          </a:p>
        </p:txBody>
      </p:sp>
      <p:sp>
        <p:nvSpPr>
          <p:cNvPr id="9" name="TextBox 8"/>
          <p:cNvSpPr txBox="1"/>
          <p:nvPr/>
        </p:nvSpPr>
        <p:spPr>
          <a:xfrm>
            <a:off x="408736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0" name="Rounded Rectangle 9"/>
          <p:cNvSpPr/>
          <p:nvPr/>
        </p:nvSpPr>
        <p:spPr>
          <a:xfrm>
            <a:off x="4425696" y="1810512"/>
            <a:ext cx="3337560"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17136"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Code</a:t>
            </a:r>
          </a:p>
          <a:p>
            <a:pPr algn="ctr">
              <a:spcBef>
                <a:spcPts val="0"/>
              </a:spcBef>
              <a:spcAft>
                <a:spcPts val="200"/>
              </a:spcAft>
            </a:pPr>
            <a:r>
              <a:rPr sz="850" b="0">
                <a:solidFill>
                  <a:srgbClr val="5B6372"/>
                </a:solidFill>
                <a:latin typeface="Arial"/>
              </a:rPr>
              <a:t>build the leave-data JSON</a:t>
            </a:r>
          </a:p>
        </p:txBody>
      </p:sp>
      <p:sp>
        <p:nvSpPr>
          <p:cNvPr id="12" name="TextBox 11"/>
          <p:cNvSpPr txBox="1"/>
          <p:nvPr/>
        </p:nvSpPr>
        <p:spPr>
          <a:xfrm>
            <a:off x="773582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3" name="Rounded Rectangle 12"/>
          <p:cNvSpPr/>
          <p:nvPr/>
        </p:nvSpPr>
        <p:spPr>
          <a:xfrm>
            <a:off x="8074152" y="1810512"/>
            <a:ext cx="3337560"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65592" y="1810512"/>
            <a:ext cx="3154680"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Respond to Webhook</a:t>
            </a:r>
          </a:p>
          <a:p>
            <a:pPr algn="ctr">
              <a:spcBef>
                <a:spcPts val="0"/>
              </a:spcBef>
              <a:spcAft>
                <a:spcPts val="200"/>
              </a:spcAft>
            </a:pPr>
            <a:r>
              <a:rPr sz="850" b="0">
                <a:solidFill>
                  <a:srgbClr val="5B6372"/>
                </a:solidFill>
                <a:latin typeface="Arial"/>
              </a:rPr>
              <a:t>JSON back to the portal</a:t>
            </a:r>
          </a:p>
        </p:txBody>
      </p:sp>
      <p:pic>
        <p:nvPicPr>
          <p:cNvPr id="15" name="Picture 14" descr="Activity8 - Dashboard Data (Leave Balance &amp; History).png"/>
          <p:cNvPicPr>
            <a:picLocks noChangeAspect="1"/>
          </p:cNvPicPr>
          <p:nvPr/>
        </p:nvPicPr>
        <p:blipFill>
          <a:blip r:embed="rId2"/>
          <a:stretch>
            <a:fillRect/>
          </a:stretch>
        </p:blipFill>
        <p:spPr>
          <a:xfrm>
            <a:off x="1463040" y="2761488"/>
            <a:ext cx="9235440" cy="2801357"/>
          </a:xfrm>
          <a:prstGeom prst="rect">
            <a:avLst/>
          </a:prstGeom>
        </p:spPr>
      </p:pic>
      <p:sp>
        <p:nvSpPr>
          <p:cNvPr id="16" name="Rectangle 15"/>
          <p:cNvSpPr/>
          <p:nvPr/>
        </p:nvSpPr>
        <p:spPr>
          <a:xfrm>
            <a:off x="1450340" y="2748788"/>
            <a:ext cx="9260840" cy="2826757"/>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 y="5687568"/>
            <a:ext cx="10634472" cy="56692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0120" y="5806440"/>
            <a:ext cx="960120" cy="32918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8b</a:t>
            </a:r>
          </a:p>
        </p:txBody>
      </p:sp>
      <p:sp>
        <p:nvSpPr>
          <p:cNvPr id="20" name="TextBox 19"/>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HR Dashboard Data (GET Webhook)</a:t>
            </a:r>
          </a:p>
        </p:txBody>
      </p:sp>
      <p:sp>
        <p:nvSpPr>
          <p:cNvPr id="21" name="TextBox 20"/>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GET query read from $json.query.email  ·  CORS = *  ·  steps in the Learner Guide</a:t>
            </a:r>
          </a:p>
        </p:txBody>
      </p:sp>
      <p:sp>
        <p:nvSpPr>
          <p:cNvPr id="22" name="TextBox 21"/>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3" name="TextBox 22"/>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4" name="TextBox 23"/>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114</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TOPIC 6 · LAB WORKFLOW</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8c — AI Chatbot with Input &amp; Output Guardrails</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HR Buddy answers general HR questions — every message passes the input gate, every reply passes the output gate.</a:t>
            </a:r>
          </a:p>
        </p:txBody>
      </p:sp>
      <p:sp>
        <p:nvSpPr>
          <p:cNvPr id="7" name="Rounded Rectangle 6"/>
          <p:cNvSpPr/>
          <p:nvPr/>
        </p:nvSpPr>
        <p:spPr>
          <a:xfrm>
            <a:off x="777240"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Webhook — POST</a:t>
            </a:r>
          </a:p>
          <a:p>
            <a:pPr algn="ctr">
              <a:spcBef>
                <a:spcPts val="0"/>
              </a:spcBef>
              <a:spcAft>
                <a:spcPts val="200"/>
              </a:spcAft>
            </a:pPr>
            <a:r>
              <a:rPr sz="850" b="0">
                <a:solidFill>
                  <a:srgbClr val="5B6372"/>
                </a:solidFill>
                <a:latin typeface="Arial"/>
              </a:rPr>
              <a:t>hr-chat</a:t>
            </a:r>
          </a:p>
        </p:txBody>
      </p:sp>
      <p:sp>
        <p:nvSpPr>
          <p:cNvPr id="9" name="TextBox 8"/>
          <p:cNvSpPr txBox="1"/>
          <p:nvPr/>
        </p:nvSpPr>
        <p:spPr>
          <a:xfrm>
            <a:off x="2627985"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0" name="Rounded Rectangle 9"/>
          <p:cNvSpPr/>
          <p:nvPr/>
        </p:nvSpPr>
        <p:spPr>
          <a:xfrm>
            <a:off x="2966313"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7753"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Input Guardrail</a:t>
            </a:r>
          </a:p>
          <a:p>
            <a:pPr algn="ctr">
              <a:spcBef>
                <a:spcPts val="0"/>
              </a:spcBef>
              <a:spcAft>
                <a:spcPts val="200"/>
              </a:spcAft>
            </a:pPr>
            <a:r>
              <a:rPr sz="850" b="0">
                <a:solidFill>
                  <a:srgbClr val="5B6372"/>
                </a:solidFill>
                <a:latin typeface="Arial"/>
              </a:rPr>
              <a:t>LLM: ALLOW / BLOCK</a:t>
            </a:r>
          </a:p>
        </p:txBody>
      </p:sp>
      <p:sp>
        <p:nvSpPr>
          <p:cNvPr id="12" name="TextBox 11"/>
          <p:cNvSpPr txBox="1"/>
          <p:nvPr/>
        </p:nvSpPr>
        <p:spPr>
          <a:xfrm>
            <a:off x="4817058"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3" name="Rounded Rectangle 12"/>
          <p:cNvSpPr/>
          <p:nvPr/>
        </p:nvSpPr>
        <p:spPr>
          <a:xfrm>
            <a:off x="5155386"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6826"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HR AI Agent</a:t>
            </a:r>
          </a:p>
          <a:p>
            <a:pPr algn="ctr">
              <a:spcBef>
                <a:spcPts val="0"/>
              </a:spcBef>
              <a:spcAft>
                <a:spcPts val="200"/>
              </a:spcAft>
            </a:pPr>
            <a:r>
              <a:rPr sz="850" b="0">
                <a:solidFill>
                  <a:srgbClr val="5B6372"/>
                </a:solidFill>
                <a:latin typeface="Arial"/>
              </a:rPr>
              <a:t>leave · payroll · claims</a:t>
            </a:r>
          </a:p>
        </p:txBody>
      </p:sp>
      <p:sp>
        <p:nvSpPr>
          <p:cNvPr id="15" name="TextBox 14"/>
          <p:cNvSpPr txBox="1"/>
          <p:nvPr/>
        </p:nvSpPr>
        <p:spPr>
          <a:xfrm>
            <a:off x="7006131"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6" name="Rounded Rectangle 15"/>
          <p:cNvSpPr/>
          <p:nvPr/>
        </p:nvSpPr>
        <p:spPr>
          <a:xfrm>
            <a:off x="7344459"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5899"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Output Guardrail</a:t>
            </a:r>
          </a:p>
          <a:p>
            <a:pPr algn="ctr">
              <a:spcBef>
                <a:spcPts val="0"/>
              </a:spcBef>
              <a:spcAft>
                <a:spcPts val="200"/>
              </a:spcAft>
            </a:pPr>
            <a:r>
              <a:rPr sz="850" b="0">
                <a:solidFill>
                  <a:srgbClr val="5B6372"/>
                </a:solidFill>
                <a:latin typeface="Arial"/>
              </a:rPr>
              <a:t>LLM: SAFE / LEAK</a:t>
            </a:r>
          </a:p>
        </p:txBody>
      </p:sp>
      <p:sp>
        <p:nvSpPr>
          <p:cNvPr id="18" name="TextBox 17"/>
          <p:cNvSpPr txBox="1"/>
          <p:nvPr/>
        </p:nvSpPr>
        <p:spPr>
          <a:xfrm>
            <a:off x="9195204" y="2020824"/>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C62F2F"/>
                </a:solidFill>
                <a:latin typeface="Arial"/>
              </a:rPr>
              <a:t>▶</a:t>
            </a:r>
          </a:p>
        </p:txBody>
      </p:sp>
      <p:sp>
        <p:nvSpPr>
          <p:cNvPr id="19" name="Rounded Rectangle 18"/>
          <p:cNvSpPr/>
          <p:nvPr/>
        </p:nvSpPr>
        <p:spPr>
          <a:xfrm>
            <a:off x="9533532" y="1810512"/>
            <a:ext cx="1878177" cy="74980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24972" y="1810512"/>
            <a:ext cx="1695297" cy="749808"/>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Respond</a:t>
            </a:r>
          </a:p>
          <a:p>
            <a:pPr algn="ctr">
              <a:spcBef>
                <a:spcPts val="0"/>
              </a:spcBef>
              <a:spcAft>
                <a:spcPts val="200"/>
              </a:spcAft>
            </a:pPr>
            <a:r>
              <a:rPr sz="850" b="0">
                <a:solidFill>
                  <a:srgbClr val="5B6372"/>
                </a:solidFill>
                <a:latin typeface="Arial"/>
              </a:rPr>
              <a:t>reply or blocked message</a:t>
            </a:r>
          </a:p>
        </p:txBody>
      </p:sp>
      <p:pic>
        <p:nvPicPr>
          <p:cNvPr id="21" name="Picture 20" descr="Activity8 - AI Chatbot with Input &amp; Output Guardrails.png"/>
          <p:cNvPicPr>
            <a:picLocks noChangeAspect="1"/>
          </p:cNvPicPr>
          <p:nvPr/>
        </p:nvPicPr>
        <p:blipFill>
          <a:blip r:embed="rId2"/>
          <a:stretch>
            <a:fillRect/>
          </a:stretch>
        </p:blipFill>
        <p:spPr>
          <a:xfrm>
            <a:off x="2369604" y="2761488"/>
            <a:ext cx="7422311" cy="2816352"/>
          </a:xfrm>
          <a:prstGeom prst="rect">
            <a:avLst/>
          </a:prstGeom>
        </p:spPr>
      </p:pic>
      <p:sp>
        <p:nvSpPr>
          <p:cNvPr id="22" name="Rectangle 21"/>
          <p:cNvSpPr/>
          <p:nvPr/>
        </p:nvSpPr>
        <p:spPr>
          <a:xfrm>
            <a:off x="2356904" y="2748788"/>
            <a:ext cx="7447711" cy="28417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777240" y="5687568"/>
            <a:ext cx="10634472" cy="566928"/>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0120" y="5806440"/>
            <a:ext cx="960120" cy="329184"/>
          </a:xfrm>
          <a:prstGeom prst="rect">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5806440"/>
            <a:ext cx="960120" cy="329184"/>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ACT 8c</a:t>
            </a:r>
          </a:p>
        </p:txBody>
      </p:sp>
      <p:sp>
        <p:nvSpPr>
          <p:cNvPr id="26" name="TextBox 25"/>
          <p:cNvSpPr txBox="1"/>
          <p:nvPr/>
        </p:nvSpPr>
        <p:spPr>
          <a:xfrm>
            <a:off x="2103120" y="5742432"/>
            <a:ext cx="9144000" cy="256032"/>
          </a:xfrm>
          <a:prstGeom prst="rect">
            <a:avLst/>
          </a:prstGeom>
          <a:noFill/>
        </p:spPr>
        <p:txBody>
          <a:bodyPr wrap="square" anchor="t" lIns="0" rIns="0" tIns="0" bIns="0">
            <a:spAutoFit/>
          </a:bodyPr>
          <a:lstStyle/>
          <a:p>
            <a:pPr algn="l">
              <a:spcBef>
                <a:spcPts val="0"/>
              </a:spcBef>
              <a:spcAft>
                <a:spcPts val="400"/>
              </a:spcAft>
            </a:pPr>
            <a:r>
              <a:rPr sz="1250" b="1">
                <a:solidFill>
                  <a:srgbClr val="161B26"/>
                </a:solidFill>
                <a:latin typeface="Arial"/>
              </a:rPr>
              <a:t>AI Chatbot with Input &amp; Output Guardrails</a:t>
            </a:r>
          </a:p>
        </p:txBody>
      </p:sp>
      <p:sp>
        <p:nvSpPr>
          <p:cNvPr id="27" name="TextBox 26"/>
          <p:cNvSpPr txBox="1"/>
          <p:nvPr/>
        </p:nvSpPr>
        <p:spPr>
          <a:xfrm>
            <a:off x="2103120" y="5993892"/>
            <a:ext cx="9144000" cy="237744"/>
          </a:xfrm>
          <a:prstGeom prst="rect">
            <a:avLst/>
          </a:prstGeom>
          <a:noFill/>
        </p:spPr>
        <p:txBody>
          <a:bodyPr wrap="square" anchor="t" lIns="0" rIns="0" tIns="0" bIns="0">
            <a:spAutoFit/>
          </a:bodyPr>
          <a:lstStyle/>
          <a:p>
            <a:pPr algn="l">
              <a:spcBef>
                <a:spcPts val="0"/>
              </a:spcBef>
              <a:spcAft>
                <a:spcPts val="400"/>
              </a:spcAft>
            </a:pPr>
            <a:r>
              <a:rPr sz="950" b="0">
                <a:solidFill>
                  <a:srgbClr val="5B6372"/>
                </a:solidFill>
                <a:latin typeface="Arial"/>
              </a:rPr>
              <a:t>Test it by trying to break it — the injection probe must be blocked  ·  steps in the Learner Guide</a:t>
            </a:r>
          </a:p>
        </p:txBody>
      </p:sp>
      <p:sp>
        <p:nvSpPr>
          <p:cNvPr id="28" name="TextBox 2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9" name="TextBox 2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0" name="TextBox 2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115</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ACT 8 · THE WEBSITE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Activity 8 — The HR Service Portal</a:t>
            </a:r>
          </a:p>
        </p:txBody>
      </p:sp>
      <p:sp>
        <p:nvSpPr>
          <p:cNvPr id="6" name="TextBox 5"/>
          <p:cNvSpPr txBox="1"/>
          <p:nvPr/>
        </p:nvSpPr>
        <p:spPr>
          <a:xfrm>
            <a:off x="777240" y="1828800"/>
            <a:ext cx="4937760" cy="3566160"/>
          </a:xfrm>
          <a:prstGeom prst="rect">
            <a:avLst/>
          </a:prstGeom>
          <a:noFill/>
        </p:spPr>
        <p:txBody>
          <a:bodyPr wrap="square" lIns="0" rIns="0">
            <a:spAutoFit/>
          </a:bodyPr>
          <a:lstStyle/>
          <a:p>
            <a:pPr>
              <a:spcBef>
                <a:spcPts val="0"/>
              </a:spcBef>
              <a:spcAft>
                <a:spcPts val="900"/>
              </a:spcAft>
            </a:pPr>
            <a:r>
              <a:rPr sz="1500" b="1">
                <a:solidFill>
                  <a:srgbClr val="1F6FEB"/>
                </a:solidFill>
                <a:latin typeface="Arial"/>
              </a:rPr>
              <a:t>•  </a:t>
            </a:r>
            <a:r>
              <a:rPr sz="1500">
                <a:solidFill>
                  <a:srgbClr val="161B26"/>
                </a:solidFill>
                <a:latin typeface="Arial"/>
              </a:rPr>
              <a:t>One portal with four tabs: Dashboard, Apply Leave, HR Assistant, Settings.</a:t>
            </a:r>
          </a:p>
          <a:p>
            <a:pPr>
              <a:spcBef>
                <a:spcPts val="0"/>
              </a:spcBef>
              <a:spcAft>
                <a:spcPts val="900"/>
              </a:spcAft>
            </a:pPr>
            <a:r>
              <a:rPr sz="1500" b="1">
                <a:solidFill>
                  <a:srgbClr val="1F6FEB"/>
                </a:solidFill>
                <a:latin typeface="Arial"/>
              </a:rPr>
              <a:t>•  </a:t>
            </a:r>
            <a:r>
              <a:rPr sz="1500">
                <a:solidFill>
                  <a:srgbClr val="161B26"/>
                </a:solidFill>
                <a:latin typeface="Arial"/>
              </a:rPr>
              <a:t>Dashboard pulls live leave balance &amp; history from the GET webhook (8b).</a:t>
            </a:r>
          </a:p>
          <a:p>
            <a:pPr>
              <a:spcBef>
                <a:spcPts val="0"/>
              </a:spcBef>
              <a:spcAft>
                <a:spcPts val="900"/>
              </a:spcAft>
            </a:pPr>
            <a:r>
              <a:rPr sz="1500" b="1">
                <a:solidFill>
                  <a:srgbClr val="1F6FEB"/>
                </a:solidFill>
                <a:latin typeface="Arial"/>
              </a:rPr>
              <a:t>•  </a:t>
            </a:r>
            <a:r>
              <a:rPr sz="1500">
                <a:solidFill>
                  <a:srgbClr val="161B26"/>
                </a:solidFill>
                <a:latin typeface="Arial"/>
              </a:rPr>
              <a:t>Apply Leave triggers the human-in-the-loop approval chain (8a).</a:t>
            </a:r>
          </a:p>
          <a:p>
            <a:pPr>
              <a:spcBef>
                <a:spcPts val="0"/>
              </a:spcBef>
              <a:spcAft>
                <a:spcPts val="900"/>
              </a:spcAft>
            </a:pPr>
            <a:r>
              <a:rPr sz="1500" b="1">
                <a:solidFill>
                  <a:srgbClr val="1F6FEB"/>
                </a:solidFill>
                <a:latin typeface="Arial"/>
              </a:rPr>
              <a:t>•  </a:t>
            </a:r>
            <a:r>
              <a:rPr sz="1500">
                <a:solidFill>
                  <a:srgbClr val="161B26"/>
                </a:solidFill>
                <a:latin typeface="Arial"/>
              </a:rPr>
              <a:t>HR Assistant is the guarded AI chatbot — input &amp; output guardrails (8c).</a:t>
            </a:r>
          </a:p>
        </p:txBody>
      </p:sp>
      <p:pic>
        <p:nvPicPr>
          <p:cNvPr id="7" name="Picture 6" descr="Activity8-website.png"/>
          <p:cNvPicPr>
            <a:picLocks noChangeAspect="1"/>
          </p:cNvPicPr>
          <p:nvPr/>
        </p:nvPicPr>
        <p:blipFill>
          <a:blip r:embed="rId2"/>
          <a:stretch>
            <a:fillRect/>
          </a:stretch>
        </p:blipFill>
        <p:spPr>
          <a:xfrm>
            <a:off x="5943600" y="1828800"/>
            <a:ext cx="5486400" cy="3191256"/>
          </a:xfrm>
          <a:prstGeom prst="rect">
            <a:avLst/>
          </a:prstGeom>
        </p:spPr>
      </p:pic>
      <p:sp>
        <p:nvSpPr>
          <p:cNvPr id="8" name="Rectangle 7"/>
          <p:cNvSpPr/>
          <p:nvPr/>
        </p:nvSpPr>
        <p:spPr>
          <a:xfrm>
            <a:off x="5930900" y="1816100"/>
            <a:ext cx="5511800" cy="3216656"/>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lIns="0" rIns="0" tIns="0" bIns="0">
            <a:spAutoFit/>
          </a:bodyPr>
          <a:lstStyle/>
          <a:p>
            <a:pPr algn="ctr">
              <a:spcBef>
                <a:spcPts val="0"/>
              </a:spcBef>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lIns="0" rIns="0" tIns="0" bIns="0">
            <a:spAutoFit/>
          </a:bodyPr>
          <a:lstStyle/>
          <a:p>
            <a:pPr algn="ctr">
              <a:spcBef>
                <a:spcPts val="0"/>
              </a:spcBef>
              <a:spcAft>
                <a:spcPts val="400"/>
              </a:spcAft>
            </a:pPr>
            <a:r>
              <a:rPr sz="2200" b="1">
                <a:solidFill>
                  <a:srgbClr val="F59E0B"/>
                </a:solidFill>
                <a:latin typeface="Arial"/>
              </a:rPr>
              <a:t>1 hour</a:t>
            </a:r>
          </a:p>
        </p:txBody>
      </p:sp>
      <p:sp>
        <p:nvSpPr>
          <p:cNvPr id="8" name="TextBox 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9" name="TextBox 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0" name="TextBox 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117</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965960"/>
            <a:ext cx="9418320" cy="2926080"/>
          </a:xfrm>
          <a:prstGeom prst="roundRect">
            <a:avLst>
              <a:gd name="adj" fmla="val 5500"/>
            </a:avLst>
          </a:prstGeom>
          <a:solidFill>
            <a:srgbClr val="FFFFFF"/>
          </a:solidFill>
          <a:ln w="19050">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965960"/>
            <a:ext cx="201168" cy="292608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20240" y="2286000"/>
            <a:ext cx="8503920" cy="365760"/>
          </a:xfrm>
          <a:prstGeom prst="rect">
            <a:avLst/>
          </a:prstGeom>
          <a:noFill/>
        </p:spPr>
        <p:txBody>
          <a:bodyPr wrap="square" anchor="t" lIns="0" rIns="0" tIns="0" bIns="0">
            <a:spAutoFit/>
          </a:bodyPr>
          <a:lstStyle/>
          <a:p>
            <a:pPr algn="l">
              <a:spcBef>
                <a:spcPts val="0"/>
              </a:spcBef>
              <a:spcAft>
                <a:spcPts val="400"/>
              </a:spcAft>
            </a:pPr>
            <a:r>
              <a:rPr sz="1500" b="1">
                <a:solidFill>
                  <a:srgbClr val="127A3E"/>
                </a:solidFill>
                <a:latin typeface="Arial"/>
              </a:rPr>
              <a:t>TOPIC 7</a:t>
            </a:r>
          </a:p>
        </p:txBody>
      </p:sp>
      <p:sp>
        <p:nvSpPr>
          <p:cNvPr id="6" name="TextBox 5"/>
          <p:cNvSpPr txBox="1"/>
          <p:nvPr/>
        </p:nvSpPr>
        <p:spPr>
          <a:xfrm>
            <a:off x="1920240" y="2697480"/>
            <a:ext cx="8595360" cy="1097280"/>
          </a:xfrm>
          <a:prstGeom prst="rect">
            <a:avLst/>
          </a:prstGeom>
          <a:noFill/>
        </p:spPr>
        <p:txBody>
          <a:bodyPr wrap="square" anchor="t" lIns="0" rIns="0" tIns="0" bIns="0">
            <a:spAutoFit/>
          </a:bodyPr>
          <a:lstStyle/>
          <a:p>
            <a:pPr algn="l">
              <a:spcBef>
                <a:spcPts val="0"/>
              </a:spcBef>
              <a:spcAft>
                <a:spcPts val="400"/>
              </a:spcAft>
            </a:pPr>
            <a:r>
              <a:rPr sz="3400" b="1">
                <a:solidFill>
                  <a:srgbClr val="161B26"/>
                </a:solidFill>
                <a:latin typeface="Arial"/>
              </a:rPr>
              <a:t>Mini Capstone Project</a:t>
            </a:r>
          </a:p>
        </p:txBody>
      </p:sp>
      <p:sp>
        <p:nvSpPr>
          <p:cNvPr id="7" name="TextBox 6"/>
          <p:cNvSpPr txBox="1"/>
          <p:nvPr/>
        </p:nvSpPr>
        <p:spPr>
          <a:xfrm>
            <a:off x="1938528" y="3794760"/>
            <a:ext cx="8503920" cy="548640"/>
          </a:xfrm>
          <a:prstGeom prst="rect">
            <a:avLst/>
          </a:prstGeom>
          <a:noFill/>
        </p:spPr>
        <p:txBody>
          <a:bodyPr wrap="square" anchor="t" lIns="0" rIns="0" tIns="0" bIns="0">
            <a:spAutoFit/>
          </a:bodyPr>
          <a:lstStyle/>
          <a:p>
            <a:pPr algn="l">
              <a:spcBef>
                <a:spcPts val="0"/>
              </a:spcBef>
              <a:spcAft>
                <a:spcPts val="400"/>
              </a:spcAft>
            </a:pPr>
            <a:r>
              <a:rPr sz="1400" b="0">
                <a:solidFill>
                  <a:srgbClr val="5B6372"/>
                </a:solidFill>
                <a:latin typeface="Arial"/>
              </a:rPr>
              <a:t>Describe it · n8n Assistant builds it · review · present</a:t>
            </a:r>
          </a:p>
        </p:txBody>
      </p:sp>
      <p:sp>
        <p:nvSpPr>
          <p:cNvPr id="8" name="TextBox 7"/>
          <p:cNvSpPr txBox="1"/>
          <p:nvPr/>
        </p:nvSpPr>
        <p:spPr>
          <a:xfrm>
            <a:off x="1938528" y="4343400"/>
            <a:ext cx="8503920" cy="365760"/>
          </a:xfrm>
          <a:prstGeom prst="rect">
            <a:avLst/>
          </a:prstGeom>
          <a:noFill/>
        </p:spPr>
        <p:txBody>
          <a:bodyPr wrap="square" anchor="t" lIns="0" rIns="0" tIns="0" bIns="0">
            <a:spAutoFit/>
          </a:bodyPr>
          <a:lstStyle/>
          <a:p>
            <a:pPr algn="l">
              <a:spcBef>
                <a:spcPts val="0"/>
              </a:spcBef>
              <a:spcAft>
                <a:spcPts val="400"/>
              </a:spcAft>
            </a:pPr>
            <a:r>
              <a:rPr sz="1200" b="1">
                <a:solidFill>
                  <a:srgbClr val="127A3E"/>
                </a:solidFill>
                <a:latin typeface="Arial"/>
              </a:rPr>
              <a:t>Everything from Activities 1–8 — built with AI-assisted workflow creation</a:t>
            </a:r>
          </a:p>
        </p:txBody>
      </p:sp>
      <p:sp>
        <p:nvSpPr>
          <p:cNvPr id="9" name="TextBox 8"/>
          <p:cNvSpPr txBox="1"/>
          <p:nvPr/>
        </p:nvSpPr>
        <p:spPr>
          <a:xfrm>
            <a:off x="9326880" y="548640"/>
            <a:ext cx="2286000" cy="1463040"/>
          </a:xfrm>
          <a:prstGeom prst="rect">
            <a:avLst/>
          </a:prstGeom>
          <a:noFill/>
        </p:spPr>
        <p:txBody>
          <a:bodyPr wrap="square" anchor="t" lIns="0" rIns="0" tIns="0" bIns="0">
            <a:spAutoFit/>
          </a:bodyPr>
          <a:lstStyle/>
          <a:p>
            <a:pPr algn="r">
              <a:spcBef>
                <a:spcPts val="0"/>
              </a:spcBef>
              <a:spcAft>
                <a:spcPts val="400"/>
              </a:spcAft>
            </a:pPr>
            <a:r>
              <a:rPr sz="7200" b="1">
                <a:solidFill>
                  <a:srgbClr val="E2E8F0"/>
                </a:solidFill>
                <a:latin typeface="Arial"/>
              </a:rPr>
              <a:t>07</a:t>
            </a:r>
          </a:p>
        </p:txBody>
      </p:sp>
      <p:sp>
        <p:nvSpPr>
          <p:cNvPr id="10" name="TextBox 9"/>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1" name="TextBox 10"/>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2" name="TextBox 11"/>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118</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TOPIC 7 · MINI CAPSTONE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Your Capstone — Let n8n Assistant Build It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In small groups, pick one end-to-end business process, describe it to n8n Assistant, then review, test and own the workflow it builds.</a:t>
            </a:r>
          </a:p>
        </p:txBody>
      </p:sp>
      <p:sp>
        <p:nvSpPr>
          <p:cNvPr id="7" name="Rounded Rectangle 6"/>
          <p:cNvSpPr/>
          <p:nvPr/>
        </p:nvSpPr>
        <p:spPr>
          <a:xfrm>
            <a:off x="777240" y="1874519"/>
            <a:ext cx="1513332" cy="91440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74519"/>
            <a:ext cx="1330452" cy="9144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Pick a process</a:t>
            </a:r>
          </a:p>
          <a:p>
            <a:pPr algn="ctr">
              <a:spcBef>
                <a:spcPts val="0"/>
              </a:spcBef>
              <a:spcAft>
                <a:spcPts val="200"/>
              </a:spcAft>
            </a:pPr>
            <a:r>
              <a:rPr sz="850" b="0">
                <a:solidFill>
                  <a:srgbClr val="5B6372"/>
                </a:solidFill>
                <a:latin typeface="Arial"/>
              </a:rPr>
              <a:t>one painful, repeatable job</a:t>
            </a:r>
          </a:p>
        </p:txBody>
      </p:sp>
      <p:sp>
        <p:nvSpPr>
          <p:cNvPr id="9" name="TextBox 8"/>
          <p:cNvSpPr txBox="1"/>
          <p:nvPr/>
        </p:nvSpPr>
        <p:spPr>
          <a:xfrm>
            <a:off x="2263140" y="216712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27A3E"/>
                </a:solidFill>
                <a:latin typeface="Arial"/>
              </a:rPr>
              <a:t>▶</a:t>
            </a:r>
          </a:p>
        </p:txBody>
      </p:sp>
      <p:sp>
        <p:nvSpPr>
          <p:cNvPr id="10" name="Rounded Rectangle 9"/>
          <p:cNvSpPr/>
          <p:nvPr/>
        </p:nvSpPr>
        <p:spPr>
          <a:xfrm>
            <a:off x="2601468" y="1874519"/>
            <a:ext cx="1513332" cy="91440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92908" y="1874519"/>
            <a:ext cx="1330452" cy="9144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Write the prompt</a:t>
            </a:r>
          </a:p>
          <a:p>
            <a:pPr algn="ctr">
              <a:spcBef>
                <a:spcPts val="0"/>
              </a:spcBef>
              <a:spcAft>
                <a:spcPts val="200"/>
              </a:spcAft>
            </a:pPr>
            <a:r>
              <a:rPr sz="850" b="0">
                <a:solidFill>
                  <a:srgbClr val="5B6372"/>
                </a:solidFill>
                <a:latin typeface="Arial"/>
              </a:rPr>
              <a:t>trigger → steps → output</a:t>
            </a:r>
          </a:p>
        </p:txBody>
      </p:sp>
      <p:sp>
        <p:nvSpPr>
          <p:cNvPr id="12" name="TextBox 11"/>
          <p:cNvSpPr txBox="1"/>
          <p:nvPr/>
        </p:nvSpPr>
        <p:spPr>
          <a:xfrm>
            <a:off x="4087368" y="216712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27A3E"/>
                </a:solidFill>
                <a:latin typeface="Arial"/>
              </a:rPr>
              <a:t>▶</a:t>
            </a:r>
          </a:p>
        </p:txBody>
      </p:sp>
      <p:sp>
        <p:nvSpPr>
          <p:cNvPr id="13" name="Rounded Rectangle 12"/>
          <p:cNvSpPr/>
          <p:nvPr/>
        </p:nvSpPr>
        <p:spPr>
          <a:xfrm>
            <a:off x="4425696" y="1874519"/>
            <a:ext cx="1513332" cy="91440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17136" y="1874519"/>
            <a:ext cx="1330452" cy="9144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n8n Assistant builds</a:t>
            </a:r>
          </a:p>
          <a:p>
            <a:pPr algn="ctr">
              <a:spcBef>
                <a:spcPts val="0"/>
              </a:spcBef>
              <a:spcAft>
                <a:spcPts val="200"/>
              </a:spcAft>
            </a:pPr>
            <a:r>
              <a:rPr sz="850" b="0">
                <a:solidFill>
                  <a:srgbClr val="5B6372"/>
                </a:solidFill>
                <a:latin typeface="Arial"/>
              </a:rPr>
              <a:t>plan, nodes, wiring</a:t>
            </a:r>
          </a:p>
        </p:txBody>
      </p:sp>
      <p:sp>
        <p:nvSpPr>
          <p:cNvPr id="15" name="TextBox 14"/>
          <p:cNvSpPr txBox="1"/>
          <p:nvPr/>
        </p:nvSpPr>
        <p:spPr>
          <a:xfrm>
            <a:off x="5911596" y="216712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27A3E"/>
                </a:solidFill>
                <a:latin typeface="Arial"/>
              </a:rPr>
              <a:t>▶</a:t>
            </a:r>
          </a:p>
        </p:txBody>
      </p:sp>
      <p:sp>
        <p:nvSpPr>
          <p:cNvPr id="16" name="Rounded Rectangle 15"/>
          <p:cNvSpPr/>
          <p:nvPr/>
        </p:nvSpPr>
        <p:spPr>
          <a:xfrm>
            <a:off x="6249924" y="1874519"/>
            <a:ext cx="1513332" cy="91440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1364" y="1874519"/>
            <a:ext cx="1330452" cy="9144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You review &amp; connect</a:t>
            </a:r>
          </a:p>
          <a:p>
            <a:pPr algn="ctr">
              <a:spcBef>
                <a:spcPts val="0"/>
              </a:spcBef>
              <a:spcAft>
                <a:spcPts val="200"/>
              </a:spcAft>
            </a:pPr>
            <a:r>
              <a:rPr sz="850" b="0">
                <a:solidFill>
                  <a:srgbClr val="5B6372"/>
                </a:solidFill>
                <a:latin typeface="Arial"/>
              </a:rPr>
              <a:t>credentials, Gateway credits</a:t>
            </a:r>
          </a:p>
        </p:txBody>
      </p:sp>
      <p:sp>
        <p:nvSpPr>
          <p:cNvPr id="18" name="TextBox 17"/>
          <p:cNvSpPr txBox="1"/>
          <p:nvPr/>
        </p:nvSpPr>
        <p:spPr>
          <a:xfrm>
            <a:off x="7735824" y="216712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27A3E"/>
                </a:solidFill>
                <a:latin typeface="Arial"/>
              </a:rPr>
              <a:t>▶</a:t>
            </a:r>
          </a:p>
        </p:txBody>
      </p:sp>
      <p:sp>
        <p:nvSpPr>
          <p:cNvPr id="19" name="Rounded Rectangle 18"/>
          <p:cNvSpPr/>
          <p:nvPr/>
        </p:nvSpPr>
        <p:spPr>
          <a:xfrm>
            <a:off x="8074152" y="1874519"/>
            <a:ext cx="1513332" cy="91440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65592" y="1874519"/>
            <a:ext cx="1330452" cy="9144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Test, add a control</a:t>
            </a:r>
          </a:p>
          <a:p>
            <a:pPr algn="ctr">
              <a:spcBef>
                <a:spcPts val="0"/>
              </a:spcBef>
              <a:spcAft>
                <a:spcPts val="200"/>
              </a:spcAft>
            </a:pPr>
            <a:r>
              <a:rPr sz="850" b="0">
                <a:solidFill>
                  <a:srgbClr val="5B6372"/>
                </a:solidFill>
                <a:latin typeface="Arial"/>
              </a:rPr>
              <a:t>guardrail or approval</a:t>
            </a:r>
          </a:p>
        </p:txBody>
      </p:sp>
      <p:sp>
        <p:nvSpPr>
          <p:cNvPr id="21" name="TextBox 20"/>
          <p:cNvSpPr txBox="1"/>
          <p:nvPr/>
        </p:nvSpPr>
        <p:spPr>
          <a:xfrm>
            <a:off x="9560052" y="2167127"/>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27A3E"/>
                </a:solidFill>
                <a:latin typeface="Arial"/>
              </a:rPr>
              <a:t>▶</a:t>
            </a:r>
          </a:p>
        </p:txBody>
      </p:sp>
      <p:sp>
        <p:nvSpPr>
          <p:cNvPr id="22" name="Rounded Rectangle 21"/>
          <p:cNvSpPr/>
          <p:nvPr/>
        </p:nvSpPr>
        <p:spPr>
          <a:xfrm>
            <a:off x="9898380" y="1874519"/>
            <a:ext cx="1513332" cy="91440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89820" y="1874519"/>
            <a:ext cx="1330452" cy="914400"/>
          </a:xfrm>
          <a:prstGeom prst="rect">
            <a:avLst/>
          </a:prstGeom>
          <a:noFill/>
        </p:spPr>
        <p:txBody>
          <a:bodyPr wrap="square" anchor="ctr" lIns="0" rIns="0" tIns="0" bIns="0">
            <a:spAutoFit/>
          </a:bodyPr>
          <a:lstStyle/>
          <a:p>
            <a:pPr algn="ctr">
              <a:spcBef>
                <a:spcPts val="0"/>
              </a:spcBef>
              <a:spcAft>
                <a:spcPts val="200"/>
              </a:spcAft>
            </a:pPr>
            <a:r>
              <a:rPr sz="1100" b="1">
                <a:solidFill>
                  <a:srgbClr val="161B26"/>
                </a:solidFill>
                <a:latin typeface="Arial"/>
              </a:rPr>
              <a:t>Present</a:t>
            </a:r>
          </a:p>
          <a:p>
            <a:pPr algn="ctr">
              <a:spcBef>
                <a:spcPts val="0"/>
              </a:spcBef>
              <a:spcAft>
                <a:spcPts val="200"/>
              </a:spcAft>
            </a:pPr>
            <a:r>
              <a:rPr sz="850" b="0">
                <a:solidFill>
                  <a:srgbClr val="5B6372"/>
                </a:solidFill>
                <a:latin typeface="Arial"/>
              </a:rPr>
              <a:t>demo + 3–5 min talk</a:t>
            </a:r>
          </a:p>
        </p:txBody>
      </p:sp>
      <p:sp>
        <p:nvSpPr>
          <p:cNvPr id="24" name="Rounded Rectangle 23"/>
          <p:cNvSpPr/>
          <p:nvPr/>
        </p:nvSpPr>
        <p:spPr>
          <a:xfrm>
            <a:off x="777240" y="3063240"/>
            <a:ext cx="2439162" cy="2514600"/>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60120" y="3209544"/>
            <a:ext cx="310896" cy="3108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320954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1</a:t>
            </a:r>
          </a:p>
        </p:txBody>
      </p:sp>
      <p:sp>
        <p:nvSpPr>
          <p:cNvPr id="27" name="TextBox 26"/>
          <p:cNvSpPr txBox="1"/>
          <p:nvPr/>
        </p:nvSpPr>
        <p:spPr>
          <a:xfrm>
            <a:off x="1399032" y="3218688"/>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A trigger</a:t>
            </a:r>
          </a:p>
        </p:txBody>
      </p:sp>
      <p:sp>
        <p:nvSpPr>
          <p:cNvPr id="28" name="TextBox 27"/>
          <p:cNvSpPr txBox="1"/>
          <p:nvPr/>
        </p:nvSpPr>
        <p:spPr>
          <a:xfrm>
            <a:off x="978408" y="3611880"/>
            <a:ext cx="2036826" cy="18196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Form, webhook, Telegram or schedule — who or what starts your process?</a:t>
            </a:r>
          </a:p>
        </p:txBody>
      </p:sp>
      <p:sp>
        <p:nvSpPr>
          <p:cNvPr id="29" name="Rounded Rectangle 28"/>
          <p:cNvSpPr/>
          <p:nvPr/>
        </p:nvSpPr>
        <p:spPr>
          <a:xfrm>
            <a:off x="3509010" y="3063240"/>
            <a:ext cx="2439162" cy="251460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691890" y="3209544"/>
            <a:ext cx="310896" cy="3108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91890" y="320954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2</a:t>
            </a:r>
          </a:p>
        </p:txBody>
      </p:sp>
      <p:sp>
        <p:nvSpPr>
          <p:cNvPr id="32" name="TextBox 31"/>
          <p:cNvSpPr txBox="1"/>
          <p:nvPr/>
        </p:nvSpPr>
        <p:spPr>
          <a:xfrm>
            <a:off x="4130802" y="3218688"/>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7C3AED"/>
                </a:solidFill>
                <a:latin typeface="Arial"/>
              </a:rPr>
              <a:t>An AI agent</a:t>
            </a:r>
          </a:p>
        </p:txBody>
      </p:sp>
      <p:sp>
        <p:nvSpPr>
          <p:cNvPr id="33" name="TextBox 32"/>
          <p:cNvSpPr txBox="1"/>
          <p:nvPr/>
        </p:nvSpPr>
        <p:spPr>
          <a:xfrm>
            <a:off x="3710178" y="3611880"/>
            <a:ext cx="2036826" cy="18196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With at least one tool or a RAG source — the judgement in the middle.</a:t>
            </a:r>
          </a:p>
        </p:txBody>
      </p:sp>
      <p:sp>
        <p:nvSpPr>
          <p:cNvPr id="34" name="Rounded Rectangle 33"/>
          <p:cNvSpPr/>
          <p:nvPr/>
        </p:nvSpPr>
        <p:spPr>
          <a:xfrm>
            <a:off x="6240780" y="3063240"/>
            <a:ext cx="2439162" cy="251460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423660" y="3209544"/>
            <a:ext cx="310896" cy="3108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23660" y="320954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3</a:t>
            </a:r>
          </a:p>
        </p:txBody>
      </p:sp>
      <p:sp>
        <p:nvSpPr>
          <p:cNvPr id="37" name="TextBox 36"/>
          <p:cNvSpPr txBox="1"/>
          <p:nvPr/>
        </p:nvSpPr>
        <p:spPr>
          <a:xfrm>
            <a:off x="6862572" y="3218688"/>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10B981"/>
                </a:solidFill>
                <a:latin typeface="Arial"/>
              </a:rPr>
              <a:t>Data or storage</a:t>
            </a:r>
          </a:p>
        </p:txBody>
      </p:sp>
      <p:sp>
        <p:nvSpPr>
          <p:cNvPr id="38" name="TextBox 37"/>
          <p:cNvSpPr txBox="1"/>
          <p:nvPr/>
        </p:nvSpPr>
        <p:spPr>
          <a:xfrm>
            <a:off x="6441948" y="3611880"/>
            <a:ext cx="2036826" cy="18196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An API you call, or storage you write — Sheets, a vector DB, a Data Table.</a:t>
            </a:r>
          </a:p>
        </p:txBody>
      </p:sp>
      <p:sp>
        <p:nvSpPr>
          <p:cNvPr id="39" name="Rounded Rectangle 38"/>
          <p:cNvSpPr/>
          <p:nvPr/>
        </p:nvSpPr>
        <p:spPr>
          <a:xfrm>
            <a:off x="8972550" y="3063240"/>
            <a:ext cx="2439162" cy="2514600"/>
          </a:xfrm>
          <a:prstGeom prst="roundRect">
            <a:avLst>
              <a:gd name="adj" fmla="val 5500"/>
            </a:avLst>
          </a:prstGeom>
          <a:solidFill>
            <a:srgbClr val="FFFFFF"/>
          </a:solidFill>
          <a:ln w="15875">
            <a:solidFill>
              <a:srgbClr val="C62F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155430" y="3209544"/>
            <a:ext cx="310896" cy="310896"/>
          </a:xfrm>
          <a:prstGeom prst="ellipse">
            <a:avLst/>
          </a:prstGeom>
          <a:solidFill>
            <a:srgbClr val="C6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55430" y="3209544"/>
            <a:ext cx="310896" cy="310896"/>
          </a:xfrm>
          <a:prstGeom prst="rect">
            <a:avLst/>
          </a:prstGeom>
          <a:noFill/>
        </p:spPr>
        <p:txBody>
          <a:bodyPr wrap="square" anchor="ctr" lIns="0" rIns="0" tIns="0" bIns="0">
            <a:spAutoFit/>
          </a:bodyPr>
          <a:lstStyle/>
          <a:p>
            <a:pPr algn="ctr">
              <a:spcBef>
                <a:spcPts val="0"/>
              </a:spcBef>
              <a:spcAft>
                <a:spcPts val="400"/>
              </a:spcAft>
            </a:pPr>
            <a:r>
              <a:rPr sz="1300" b="1">
                <a:solidFill>
                  <a:srgbClr val="FFFFFF"/>
                </a:solidFill>
                <a:latin typeface="Arial"/>
              </a:rPr>
              <a:t>4</a:t>
            </a:r>
          </a:p>
        </p:txBody>
      </p:sp>
      <p:sp>
        <p:nvSpPr>
          <p:cNvPr id="42" name="TextBox 41"/>
          <p:cNvSpPr txBox="1"/>
          <p:nvPr/>
        </p:nvSpPr>
        <p:spPr>
          <a:xfrm>
            <a:off x="9594342" y="3218688"/>
            <a:ext cx="1616202" cy="310896"/>
          </a:xfrm>
          <a:prstGeom prst="rect">
            <a:avLst/>
          </a:prstGeom>
          <a:noFill/>
        </p:spPr>
        <p:txBody>
          <a:bodyPr wrap="square" anchor="t" lIns="0" rIns="0" tIns="0" bIns="0">
            <a:spAutoFit/>
          </a:bodyPr>
          <a:lstStyle/>
          <a:p>
            <a:pPr algn="l">
              <a:spcBef>
                <a:spcPts val="0"/>
              </a:spcBef>
              <a:spcAft>
                <a:spcPts val="400"/>
              </a:spcAft>
            </a:pPr>
            <a:r>
              <a:rPr sz="1300" b="1">
                <a:solidFill>
                  <a:srgbClr val="C62F2F"/>
                </a:solidFill>
                <a:latin typeface="Arial"/>
              </a:rPr>
              <a:t>A control</a:t>
            </a:r>
          </a:p>
        </p:txBody>
      </p:sp>
      <p:sp>
        <p:nvSpPr>
          <p:cNvPr id="43" name="TextBox 42"/>
          <p:cNvSpPr txBox="1"/>
          <p:nvPr/>
        </p:nvSpPr>
        <p:spPr>
          <a:xfrm>
            <a:off x="9173718" y="3611880"/>
            <a:ext cx="2036826" cy="1819656"/>
          </a:xfrm>
          <a:prstGeom prst="rect">
            <a:avLst/>
          </a:prstGeom>
          <a:noFill/>
        </p:spPr>
        <p:txBody>
          <a:bodyPr wrap="square" anchor="t" lIns="0" rIns="0" tIns="0" bIns="0">
            <a:spAutoFit/>
          </a:bodyPr>
          <a:lstStyle/>
          <a:p>
            <a:pPr algn="l">
              <a:spcBef>
                <a:spcPts val="0"/>
              </a:spcBef>
              <a:spcAft>
                <a:spcPts val="300"/>
              </a:spcAft>
            </a:pPr>
            <a:r>
              <a:rPr sz="1050" b="0">
                <a:solidFill>
                  <a:srgbClr val="161B26"/>
                </a:solidFill>
                <a:latin typeface="Arial"/>
              </a:rPr>
              <a:t>A guardrail or a human-in-the-loop step — decide where the human belongs and defend it.</a:t>
            </a:r>
          </a:p>
        </p:txBody>
      </p:sp>
      <p:sp>
        <p:nvSpPr>
          <p:cNvPr id="44" name="Rounded Rectangle 4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Deliverables: the prompt(s) you used, a working workflow (.json), a short demo and a 3–5 minute presentation.</a:t>
            </a:r>
          </a:p>
        </p:txBody>
      </p:sp>
      <p:sp>
        <p:nvSpPr>
          <p:cNvPr id="46" name="TextBox 4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47" name="TextBox 4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48" name="TextBox 4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119</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TOPIC 7 · MINI CAPSTONE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Step 1: Describe Your Process to n8n Assistant</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Open Assistant in the left sidebar (or Build with AI on an empty canvas) and answer 'What do you want to automate?'</a:t>
            </a:r>
          </a:p>
        </p:txBody>
      </p:sp>
      <p:pic>
        <p:nvPicPr>
          <p:cNvPr id="7" name="Picture 6" descr="n8n-assistant.png"/>
          <p:cNvPicPr>
            <a:picLocks noChangeAspect="1"/>
          </p:cNvPicPr>
          <p:nvPr/>
        </p:nvPicPr>
        <p:blipFill>
          <a:blip r:embed="rId2"/>
          <a:stretch>
            <a:fillRect/>
          </a:stretch>
        </p:blipFill>
        <p:spPr>
          <a:xfrm>
            <a:off x="777240" y="1783080"/>
            <a:ext cx="6172200" cy="2962491"/>
          </a:xfrm>
          <a:prstGeom prst="rect">
            <a:avLst/>
          </a:prstGeom>
        </p:spPr>
      </p:pic>
      <p:sp>
        <p:nvSpPr>
          <p:cNvPr id="8" name="Rectangle 7"/>
          <p:cNvSpPr/>
          <p:nvPr/>
        </p:nvSpPr>
        <p:spPr>
          <a:xfrm>
            <a:off x="764540" y="1770380"/>
            <a:ext cx="6197600" cy="2987891"/>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223760" y="1783080"/>
            <a:ext cx="4187952" cy="1182624"/>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88352" y="1911096"/>
            <a:ext cx="274320" cy="2743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88352" y="1911096"/>
            <a:ext cx="274320" cy="274320"/>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1</a:t>
            </a:r>
          </a:p>
        </p:txBody>
      </p:sp>
      <p:sp>
        <p:nvSpPr>
          <p:cNvPr id="12" name="TextBox 11"/>
          <p:cNvSpPr txBox="1"/>
          <p:nvPr/>
        </p:nvSpPr>
        <p:spPr>
          <a:xfrm>
            <a:off x="7772400" y="1911096"/>
            <a:ext cx="3474720" cy="274320"/>
          </a:xfrm>
          <a:prstGeom prst="rect">
            <a:avLst/>
          </a:prstGeom>
          <a:noFill/>
        </p:spPr>
        <p:txBody>
          <a:bodyPr wrap="square" anchor="ctr" lIns="0" rIns="0" tIns="0" bIns="0">
            <a:spAutoFit/>
          </a:bodyPr>
          <a:lstStyle/>
          <a:p>
            <a:pPr algn="l">
              <a:spcBef>
                <a:spcPts val="0"/>
              </a:spcBef>
              <a:spcAft>
                <a:spcPts val="400"/>
              </a:spcAft>
            </a:pPr>
            <a:r>
              <a:rPr sz="1250" b="1">
                <a:solidFill>
                  <a:srgbClr val="1F6FEB"/>
                </a:solidFill>
                <a:latin typeface="Arial"/>
              </a:rPr>
              <a:t>Say what starts it</a:t>
            </a:r>
          </a:p>
        </p:txBody>
      </p:sp>
      <p:sp>
        <p:nvSpPr>
          <p:cNvPr id="13" name="TextBox 12"/>
          <p:cNvSpPr txBox="1"/>
          <p:nvPr/>
        </p:nvSpPr>
        <p:spPr>
          <a:xfrm>
            <a:off x="7406640" y="2276856"/>
            <a:ext cx="3822192" cy="615696"/>
          </a:xfrm>
          <a:prstGeom prst="rect">
            <a:avLst/>
          </a:prstGeom>
          <a:noFill/>
        </p:spPr>
        <p:txBody>
          <a:bodyPr wrap="square" anchor="t" lIns="0" rIns="0" tIns="0" bIns="0">
            <a:spAutoFit/>
          </a:bodyPr>
          <a:lstStyle/>
          <a:p>
            <a:pPr algn="l">
              <a:spcBef>
                <a:spcPts val="0"/>
              </a:spcBef>
              <a:spcAft>
                <a:spcPts val="200"/>
              </a:spcAft>
            </a:pPr>
            <a:r>
              <a:rPr sz="1000" b="0">
                <a:solidFill>
                  <a:srgbClr val="161B26"/>
                </a:solidFill>
                <a:latin typeface="Arial"/>
              </a:rPr>
              <a:t>Name the trigger and its inputs — 'a form where I enter a topic, audience and length'.</a:t>
            </a:r>
          </a:p>
        </p:txBody>
      </p:sp>
      <p:sp>
        <p:nvSpPr>
          <p:cNvPr id="14" name="Rounded Rectangle 13"/>
          <p:cNvSpPr/>
          <p:nvPr/>
        </p:nvSpPr>
        <p:spPr>
          <a:xfrm>
            <a:off x="7223760" y="3112008"/>
            <a:ext cx="4187952" cy="1182624"/>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388352" y="3240024"/>
            <a:ext cx="274320" cy="2743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88352" y="3240024"/>
            <a:ext cx="274320" cy="274320"/>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2</a:t>
            </a:r>
          </a:p>
        </p:txBody>
      </p:sp>
      <p:sp>
        <p:nvSpPr>
          <p:cNvPr id="17" name="TextBox 16"/>
          <p:cNvSpPr txBox="1"/>
          <p:nvPr/>
        </p:nvSpPr>
        <p:spPr>
          <a:xfrm>
            <a:off x="7772400" y="3240024"/>
            <a:ext cx="3474720" cy="274320"/>
          </a:xfrm>
          <a:prstGeom prst="rect">
            <a:avLst/>
          </a:prstGeom>
          <a:noFill/>
        </p:spPr>
        <p:txBody>
          <a:bodyPr wrap="square" anchor="ctr" lIns="0" rIns="0" tIns="0" bIns="0">
            <a:spAutoFit/>
          </a:bodyPr>
          <a:lstStyle/>
          <a:p>
            <a:pPr algn="l">
              <a:spcBef>
                <a:spcPts val="0"/>
              </a:spcBef>
              <a:spcAft>
                <a:spcPts val="400"/>
              </a:spcAft>
            </a:pPr>
            <a:r>
              <a:rPr sz="1250" b="1">
                <a:solidFill>
                  <a:srgbClr val="7C3AED"/>
                </a:solidFill>
                <a:latin typeface="Arial"/>
              </a:rPr>
              <a:t>List the steps in order</a:t>
            </a:r>
          </a:p>
        </p:txBody>
      </p:sp>
      <p:sp>
        <p:nvSpPr>
          <p:cNvPr id="18" name="TextBox 17"/>
          <p:cNvSpPr txBox="1"/>
          <p:nvPr/>
        </p:nvSpPr>
        <p:spPr>
          <a:xfrm>
            <a:off x="7406640" y="3605784"/>
            <a:ext cx="3822192" cy="615696"/>
          </a:xfrm>
          <a:prstGeom prst="rect">
            <a:avLst/>
          </a:prstGeom>
          <a:noFill/>
        </p:spPr>
        <p:txBody>
          <a:bodyPr wrap="square" anchor="t" lIns="0" rIns="0" tIns="0" bIns="0">
            <a:spAutoFit/>
          </a:bodyPr>
          <a:lstStyle/>
          <a:p>
            <a:pPr algn="l">
              <a:spcBef>
                <a:spcPts val="0"/>
              </a:spcBef>
              <a:spcAft>
                <a:spcPts val="200"/>
              </a:spcAft>
            </a:pPr>
            <a:r>
              <a:rPr sz="1000" b="0">
                <a:solidFill>
                  <a:srgbClr val="161B26"/>
                </a:solidFill>
                <a:latin typeface="Arial"/>
              </a:rPr>
              <a:t>Number them. One step per line becomes one node or one AI step on the canvas.</a:t>
            </a:r>
          </a:p>
        </p:txBody>
      </p:sp>
      <p:sp>
        <p:nvSpPr>
          <p:cNvPr id="19" name="Rounded Rectangle 18"/>
          <p:cNvSpPr/>
          <p:nvPr/>
        </p:nvSpPr>
        <p:spPr>
          <a:xfrm>
            <a:off x="7223760" y="4440936"/>
            <a:ext cx="4187952" cy="1182624"/>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388352" y="4568952"/>
            <a:ext cx="274320" cy="2743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88352" y="4568952"/>
            <a:ext cx="274320" cy="274320"/>
          </a:xfrm>
          <a:prstGeom prst="rect">
            <a:avLst/>
          </a:prstGeom>
          <a:noFill/>
        </p:spPr>
        <p:txBody>
          <a:bodyPr wrap="square" anchor="ctr" lIns="0" rIns="0" tIns="0" bIns="0">
            <a:spAutoFit/>
          </a:bodyPr>
          <a:lstStyle/>
          <a:p>
            <a:pPr algn="ctr">
              <a:spcBef>
                <a:spcPts val="0"/>
              </a:spcBef>
              <a:spcAft>
                <a:spcPts val="400"/>
              </a:spcAft>
            </a:pPr>
            <a:r>
              <a:rPr sz="1200" b="1">
                <a:solidFill>
                  <a:srgbClr val="FFFFFF"/>
                </a:solidFill>
                <a:latin typeface="Arial"/>
              </a:rPr>
              <a:t>3</a:t>
            </a:r>
          </a:p>
        </p:txBody>
      </p:sp>
      <p:sp>
        <p:nvSpPr>
          <p:cNvPr id="22" name="TextBox 21"/>
          <p:cNvSpPr txBox="1"/>
          <p:nvPr/>
        </p:nvSpPr>
        <p:spPr>
          <a:xfrm>
            <a:off x="7772400" y="4568952"/>
            <a:ext cx="3474720" cy="274320"/>
          </a:xfrm>
          <a:prstGeom prst="rect">
            <a:avLst/>
          </a:prstGeom>
          <a:noFill/>
        </p:spPr>
        <p:txBody>
          <a:bodyPr wrap="square" anchor="ctr" lIns="0" rIns="0" tIns="0" bIns="0">
            <a:spAutoFit/>
          </a:bodyPr>
          <a:lstStyle/>
          <a:p>
            <a:pPr algn="l">
              <a:spcBef>
                <a:spcPts val="0"/>
              </a:spcBef>
              <a:spcAft>
                <a:spcPts val="400"/>
              </a:spcAft>
            </a:pPr>
            <a:r>
              <a:rPr sz="1250" b="1">
                <a:solidFill>
                  <a:srgbClr val="10B981"/>
                </a:solidFill>
                <a:latin typeface="Arial"/>
              </a:rPr>
              <a:t>Say where the human decides</a:t>
            </a:r>
          </a:p>
        </p:txBody>
      </p:sp>
      <p:sp>
        <p:nvSpPr>
          <p:cNvPr id="23" name="TextBox 22"/>
          <p:cNvSpPr txBox="1"/>
          <p:nvPr/>
        </p:nvSpPr>
        <p:spPr>
          <a:xfrm>
            <a:off x="7406640" y="4934712"/>
            <a:ext cx="3822192" cy="615696"/>
          </a:xfrm>
          <a:prstGeom prst="rect">
            <a:avLst/>
          </a:prstGeom>
          <a:noFill/>
        </p:spPr>
        <p:txBody>
          <a:bodyPr wrap="square" anchor="t" lIns="0" rIns="0" tIns="0" bIns="0">
            <a:spAutoFit/>
          </a:bodyPr>
          <a:lstStyle/>
          <a:p>
            <a:pPr algn="l">
              <a:spcBef>
                <a:spcPts val="0"/>
              </a:spcBef>
              <a:spcAft>
                <a:spcPts val="200"/>
              </a:spcAft>
            </a:pPr>
            <a:r>
              <a:rPr sz="1000" b="0">
                <a:solidFill>
                  <a:srgbClr val="161B26"/>
                </a:solidFill>
                <a:latin typeface="Arial"/>
              </a:rPr>
              <a:t>Ask for an approval gate before anything is published, sent or paid.</a:t>
            </a:r>
          </a:p>
        </p:txBody>
      </p:sp>
      <p:sp>
        <p:nvSpPr>
          <p:cNvPr id="24" name="Rounded Rectangle 23"/>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A numbered prompt gives a numbered workflow — the clearer the steps, the closer the first draft.</a:t>
            </a:r>
          </a:p>
        </p:txBody>
      </p:sp>
      <p:sp>
        <p:nvSpPr>
          <p:cNvPr id="26" name="TextBox 25"/>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27" name="TextBox 26"/>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8" name="TextBox 27"/>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TOPIC 7 · MINI CAPSTONE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Example: An End-to-End Video Creation Workflow</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One prompt turns a topic into a published video — research, script, production and publishing, with a human approval gate.</a:t>
            </a:r>
          </a:p>
        </p:txBody>
      </p:sp>
      <p:sp>
        <p:nvSpPr>
          <p:cNvPr id="7" name="Rounded Rectangle 6"/>
          <p:cNvSpPr/>
          <p:nvPr/>
        </p:nvSpPr>
        <p:spPr>
          <a:xfrm>
            <a:off x="777240" y="1828800"/>
            <a:ext cx="1878177" cy="86868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28800"/>
            <a:ext cx="1695297"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Topic</a:t>
            </a:r>
          </a:p>
          <a:p>
            <a:pPr algn="ctr">
              <a:spcBef>
                <a:spcPts val="0"/>
              </a:spcBef>
              <a:spcAft>
                <a:spcPts val="200"/>
              </a:spcAft>
            </a:pPr>
            <a:r>
              <a:rPr sz="850" b="0">
                <a:solidFill>
                  <a:srgbClr val="5B6372"/>
                </a:solidFill>
                <a:latin typeface="Arial"/>
              </a:rPr>
              <a:t>form: topic, audience, length</a:t>
            </a:r>
          </a:p>
        </p:txBody>
      </p:sp>
      <p:sp>
        <p:nvSpPr>
          <p:cNvPr id="9" name="TextBox 8"/>
          <p:cNvSpPr txBox="1"/>
          <p:nvPr/>
        </p:nvSpPr>
        <p:spPr>
          <a:xfrm>
            <a:off x="2627985" y="20985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27A3E"/>
                </a:solidFill>
                <a:latin typeface="Arial"/>
              </a:rPr>
              <a:t>▶</a:t>
            </a:r>
          </a:p>
        </p:txBody>
      </p:sp>
      <p:sp>
        <p:nvSpPr>
          <p:cNvPr id="10" name="Rounded Rectangle 9"/>
          <p:cNvSpPr/>
          <p:nvPr/>
        </p:nvSpPr>
        <p:spPr>
          <a:xfrm>
            <a:off x="2966313" y="1828800"/>
            <a:ext cx="1878177" cy="86868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57753" y="1828800"/>
            <a:ext cx="1695297"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Research</a:t>
            </a:r>
          </a:p>
          <a:p>
            <a:pPr algn="ctr">
              <a:spcBef>
                <a:spcPts val="0"/>
              </a:spcBef>
              <a:spcAft>
                <a:spcPts val="200"/>
              </a:spcAft>
            </a:pPr>
            <a:r>
              <a:rPr sz="850" b="0">
                <a:solidFill>
                  <a:srgbClr val="5B6372"/>
                </a:solidFill>
                <a:latin typeface="Arial"/>
              </a:rPr>
              <a:t>AI Agent + web search</a:t>
            </a:r>
          </a:p>
        </p:txBody>
      </p:sp>
      <p:sp>
        <p:nvSpPr>
          <p:cNvPr id="12" name="TextBox 11"/>
          <p:cNvSpPr txBox="1"/>
          <p:nvPr/>
        </p:nvSpPr>
        <p:spPr>
          <a:xfrm>
            <a:off x="4817058" y="20985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27A3E"/>
                </a:solidFill>
                <a:latin typeface="Arial"/>
              </a:rPr>
              <a:t>▶</a:t>
            </a:r>
          </a:p>
        </p:txBody>
      </p:sp>
      <p:sp>
        <p:nvSpPr>
          <p:cNvPr id="13" name="Rounded Rectangle 12"/>
          <p:cNvSpPr/>
          <p:nvPr/>
        </p:nvSpPr>
        <p:spPr>
          <a:xfrm>
            <a:off x="5155386" y="1828800"/>
            <a:ext cx="1878177" cy="86868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6826" y="1828800"/>
            <a:ext cx="1695297"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Video script</a:t>
            </a:r>
          </a:p>
          <a:p>
            <a:pPr algn="ctr">
              <a:spcBef>
                <a:spcPts val="0"/>
              </a:spcBef>
              <a:spcAft>
                <a:spcPts val="200"/>
              </a:spcAft>
            </a:pPr>
            <a:r>
              <a:rPr sz="850" b="0">
                <a:solidFill>
                  <a:srgbClr val="5B6372"/>
                </a:solidFill>
                <a:latin typeface="Arial"/>
              </a:rPr>
              <a:t>hook · 3 points · CTA</a:t>
            </a:r>
          </a:p>
        </p:txBody>
      </p:sp>
      <p:sp>
        <p:nvSpPr>
          <p:cNvPr id="15" name="TextBox 14"/>
          <p:cNvSpPr txBox="1"/>
          <p:nvPr/>
        </p:nvSpPr>
        <p:spPr>
          <a:xfrm>
            <a:off x="7006131" y="20985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27A3E"/>
                </a:solidFill>
                <a:latin typeface="Arial"/>
              </a:rPr>
              <a:t>▶</a:t>
            </a:r>
          </a:p>
        </p:txBody>
      </p:sp>
      <p:sp>
        <p:nvSpPr>
          <p:cNvPr id="16" name="Rounded Rectangle 15"/>
          <p:cNvSpPr/>
          <p:nvPr/>
        </p:nvSpPr>
        <p:spPr>
          <a:xfrm>
            <a:off x="7344459" y="1828800"/>
            <a:ext cx="1878177" cy="86868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5899" y="1828800"/>
            <a:ext cx="1695297"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Video production</a:t>
            </a:r>
          </a:p>
          <a:p>
            <a:pPr algn="ctr">
              <a:spcBef>
                <a:spcPts val="0"/>
              </a:spcBef>
              <a:spcAft>
                <a:spcPts val="200"/>
              </a:spcAft>
            </a:pPr>
            <a:r>
              <a:rPr sz="850" b="0">
                <a:solidFill>
                  <a:srgbClr val="5B6372"/>
                </a:solidFill>
                <a:latin typeface="Arial"/>
              </a:rPr>
              <a:t>video API via HTTP Request</a:t>
            </a:r>
          </a:p>
        </p:txBody>
      </p:sp>
      <p:sp>
        <p:nvSpPr>
          <p:cNvPr id="18" name="TextBox 17"/>
          <p:cNvSpPr txBox="1"/>
          <p:nvPr/>
        </p:nvSpPr>
        <p:spPr>
          <a:xfrm>
            <a:off x="9195204" y="2098548"/>
            <a:ext cx="365760" cy="329184"/>
          </a:xfrm>
          <a:prstGeom prst="rect">
            <a:avLst/>
          </a:prstGeom>
          <a:noFill/>
        </p:spPr>
        <p:txBody>
          <a:bodyPr wrap="square" anchor="ctr" lIns="0" rIns="0" tIns="0" bIns="0">
            <a:spAutoFit/>
          </a:bodyPr>
          <a:lstStyle/>
          <a:p>
            <a:pPr algn="ctr">
              <a:spcBef>
                <a:spcPts val="0"/>
              </a:spcBef>
              <a:spcAft>
                <a:spcPts val="400"/>
              </a:spcAft>
            </a:pPr>
            <a:r>
              <a:rPr sz="1200" b="1">
                <a:solidFill>
                  <a:srgbClr val="127A3E"/>
                </a:solidFill>
                <a:latin typeface="Arial"/>
              </a:rPr>
              <a:t>▶</a:t>
            </a:r>
          </a:p>
        </p:txBody>
      </p:sp>
      <p:sp>
        <p:nvSpPr>
          <p:cNvPr id="19" name="Rounded Rectangle 18"/>
          <p:cNvSpPr/>
          <p:nvPr/>
        </p:nvSpPr>
        <p:spPr>
          <a:xfrm>
            <a:off x="9533532" y="1828800"/>
            <a:ext cx="1878177" cy="868680"/>
          </a:xfrm>
          <a:prstGeom prst="roundRect">
            <a:avLst>
              <a:gd name="adj" fmla="val 5500"/>
            </a:avLst>
          </a:prstGeom>
          <a:solidFill>
            <a:srgbClr val="FFFFFF"/>
          </a:solidFill>
          <a:ln w="15875">
            <a:solidFill>
              <a:srgbClr val="127A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24972" y="1828800"/>
            <a:ext cx="1695297" cy="868680"/>
          </a:xfrm>
          <a:prstGeom prst="rect">
            <a:avLst/>
          </a:prstGeom>
          <a:noFill/>
        </p:spPr>
        <p:txBody>
          <a:bodyPr wrap="square" anchor="ctr" lIns="0" rIns="0" tIns="0" bIns="0">
            <a:spAutoFit/>
          </a:bodyPr>
          <a:lstStyle/>
          <a:p>
            <a:pPr algn="ctr">
              <a:spcBef>
                <a:spcPts val="0"/>
              </a:spcBef>
              <a:spcAft>
                <a:spcPts val="200"/>
              </a:spcAft>
            </a:pPr>
            <a:r>
              <a:rPr sz="1150" b="1">
                <a:solidFill>
                  <a:srgbClr val="161B26"/>
                </a:solidFill>
                <a:latin typeface="Arial"/>
              </a:rPr>
              <a:t>Publish</a:t>
            </a:r>
          </a:p>
          <a:p>
            <a:pPr algn="ctr">
              <a:spcBef>
                <a:spcPts val="0"/>
              </a:spcBef>
              <a:spcAft>
                <a:spcPts val="200"/>
              </a:spcAft>
            </a:pPr>
            <a:r>
              <a:rPr sz="850" b="0">
                <a:solidFill>
                  <a:srgbClr val="5B6372"/>
                </a:solidFill>
                <a:latin typeface="Arial"/>
              </a:rPr>
              <a:t>approve, then YouTube upload</a:t>
            </a:r>
          </a:p>
        </p:txBody>
      </p:sp>
      <p:sp>
        <p:nvSpPr>
          <p:cNvPr id="21" name="Rounded Rectangle 20"/>
          <p:cNvSpPr/>
          <p:nvPr/>
        </p:nvSpPr>
        <p:spPr>
          <a:xfrm>
            <a:off x="777240" y="2880360"/>
            <a:ext cx="6949440" cy="2697480"/>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2990088"/>
            <a:ext cx="6492240" cy="274320"/>
          </a:xfrm>
          <a:prstGeom prst="rect">
            <a:avLst/>
          </a:prstGeom>
          <a:noFill/>
        </p:spPr>
        <p:txBody>
          <a:bodyPr wrap="square" anchor="t" lIns="0" rIns="0" tIns="0" bIns="0">
            <a:spAutoFit/>
          </a:bodyPr>
          <a:lstStyle/>
          <a:p>
            <a:pPr algn="l">
              <a:spcBef>
                <a:spcPts val="0"/>
              </a:spcBef>
              <a:spcAft>
                <a:spcPts val="400"/>
              </a:spcAft>
            </a:pPr>
            <a:r>
              <a:rPr sz="1100" b="1">
                <a:solidFill>
                  <a:srgbClr val="7C3AED"/>
                </a:solidFill>
                <a:latin typeface="Arial"/>
              </a:rPr>
              <a:t>THE PROMPT</a:t>
            </a:r>
          </a:p>
        </p:txBody>
      </p:sp>
      <p:sp>
        <p:nvSpPr>
          <p:cNvPr id="23" name="TextBox 22"/>
          <p:cNvSpPr txBox="1"/>
          <p:nvPr/>
        </p:nvSpPr>
        <p:spPr>
          <a:xfrm>
            <a:off x="1005840" y="3291840"/>
            <a:ext cx="6537960" cy="2240280"/>
          </a:xfrm>
          <a:prstGeom prst="rect">
            <a:avLst/>
          </a:prstGeom>
          <a:noFill/>
        </p:spPr>
        <p:txBody>
          <a:bodyPr wrap="square" anchor="t" lIns="0" rIns="0" tIns="0" bIns="0">
            <a:spAutoFit/>
          </a:bodyPr>
          <a:lstStyle/>
          <a:p>
            <a:pPr algn="l">
              <a:spcBef>
                <a:spcPts val="0"/>
              </a:spcBef>
              <a:spcAft>
                <a:spcPts val="200"/>
              </a:spcAft>
            </a:pPr>
            <a:r>
              <a:rPr sz="1200" b="0">
                <a:solidFill>
                  <a:srgbClr val="161B26"/>
                </a:solidFill>
                <a:latin typeface="Arial"/>
              </a:rPr>
              <a:t>Create an end-to-end workflow that turns a topic into a published YouTube video:</a:t>
            </a:r>
          </a:p>
          <a:p>
            <a:pPr algn="l">
              <a:spcBef>
                <a:spcPts val="0"/>
              </a:spcBef>
              <a:spcAft>
                <a:spcPts val="200"/>
              </a:spcAft>
            </a:pPr>
            <a:r>
              <a:rPr sz="1200" b="0">
                <a:solidFill>
                  <a:srgbClr val="161B26"/>
                </a:solidFill>
                <a:latin typeface="Arial"/>
              </a:rPr>
              <a:t>1. Start from a form where I enter a video topic, target audience and length (60–90 seconds).</a:t>
            </a:r>
          </a:p>
          <a:p>
            <a:pPr algn="l">
              <a:spcBef>
                <a:spcPts val="0"/>
              </a:spcBef>
              <a:spcAft>
                <a:spcPts val="200"/>
              </a:spcAft>
            </a:pPr>
            <a:r>
              <a:rPr sz="1200" b="0">
                <a:solidFill>
                  <a:srgbClr val="161B26"/>
                </a:solidFill>
                <a:latin typeface="Arial"/>
              </a:rPr>
              <a:t>2. Research the topic on the web and summarise 5 key facts with their sources.</a:t>
            </a:r>
          </a:p>
          <a:p>
            <a:pPr algn="l">
              <a:spcBef>
                <a:spcPts val="0"/>
              </a:spcBef>
              <a:spcAft>
                <a:spcPts val="200"/>
              </a:spcAft>
            </a:pPr>
            <a:r>
              <a:rPr sz="1200" b="0">
                <a:solidFill>
                  <a:srgbClr val="161B26"/>
                </a:solidFill>
                <a:latin typeface="Arial"/>
              </a:rPr>
              <a:t>3. Write a video script from the research: a hook, 3 key points and a call to action, under 200 words.</a:t>
            </a:r>
          </a:p>
          <a:p>
            <a:pPr algn="l">
              <a:spcBef>
                <a:spcPts val="0"/>
              </a:spcBef>
              <a:spcAft>
                <a:spcPts val="200"/>
              </a:spcAft>
            </a:pPr>
            <a:r>
              <a:rPr sz="1200" b="0">
                <a:solidFill>
                  <a:srgbClr val="161B26"/>
                </a:solidFill>
                <a:latin typeface="Arial"/>
              </a:rPr>
              <a:t>4. Send the script to a video-generation API with an HTTP Request node, and wait until the video is ready.</a:t>
            </a:r>
          </a:p>
          <a:p>
            <a:pPr algn="l">
              <a:spcBef>
                <a:spcPts val="0"/>
              </a:spcBef>
              <a:spcAft>
                <a:spcPts val="200"/>
              </a:spcAft>
            </a:pPr>
            <a:r>
              <a:rPr sz="1200" b="0">
                <a:solidFill>
                  <a:srgbClr val="161B26"/>
                </a:solidFill>
                <a:latin typeface="Arial"/>
              </a:rPr>
              <a:t>5. Email me the script and the video link, and wait for my approval.</a:t>
            </a:r>
          </a:p>
          <a:p>
            <a:pPr algn="l">
              <a:spcBef>
                <a:spcPts val="0"/>
              </a:spcBef>
              <a:spcAft>
                <a:spcPts val="200"/>
              </a:spcAft>
            </a:pPr>
            <a:r>
              <a:rPr sz="1200" b="0">
                <a:solidFill>
                  <a:srgbClr val="161B26"/>
                </a:solidFill>
                <a:latin typeface="Arial"/>
              </a:rPr>
              <a:t>6. If approved, upload the video to YouTube with a title, description and tags;</a:t>
            </a:r>
          </a:p>
          <a:p>
            <a:pPr algn="l">
              <a:spcBef>
                <a:spcPts val="0"/>
              </a:spcBef>
              <a:spcAft>
                <a:spcPts val="200"/>
              </a:spcAft>
            </a:pPr>
            <a:r>
              <a:rPr sz="1200" b="0">
                <a:solidFill>
                  <a:srgbClr val="161B26"/>
                </a:solidFill>
                <a:latin typeface="Arial"/>
              </a:rPr>
              <a:t>    if rejected, log my feedback in a Google Sheet.</a:t>
            </a:r>
          </a:p>
          <a:p>
            <a:pPr algn="l">
              <a:spcBef>
                <a:spcPts val="0"/>
              </a:spcBef>
              <a:spcAft>
                <a:spcPts val="200"/>
              </a:spcAft>
            </a:pPr>
            <a:r>
              <a:rPr sz="1200" b="0">
                <a:solidFill>
                  <a:srgbClr val="161B26"/>
                </a:solidFill>
                <a:latin typeface="Arial"/>
              </a:rPr>
              <a:t>Use Gateway credits for the AI models. Ask me before publishing.</a:t>
            </a:r>
          </a:p>
        </p:txBody>
      </p:sp>
      <p:sp>
        <p:nvSpPr>
          <p:cNvPr id="24" name="Rounded Rectangle 23"/>
          <p:cNvSpPr/>
          <p:nvPr/>
        </p:nvSpPr>
        <p:spPr>
          <a:xfrm>
            <a:off x="7955279" y="2880360"/>
            <a:ext cx="3456432" cy="2697480"/>
          </a:xfrm>
          <a:prstGeom prst="roundRect">
            <a:avLst>
              <a:gd name="adj" fmla="val 5500"/>
            </a:avLst>
          </a:prstGeom>
          <a:solidFill>
            <a:srgbClr val="FFFFFF"/>
          </a:solidFill>
          <a:ln w="15875">
            <a:solidFill>
              <a:srgbClr val="10B98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83879" y="2990088"/>
            <a:ext cx="3108960" cy="274320"/>
          </a:xfrm>
          <a:prstGeom prst="rect">
            <a:avLst/>
          </a:prstGeom>
          <a:noFill/>
        </p:spPr>
        <p:txBody>
          <a:bodyPr wrap="square" anchor="t" lIns="0" rIns="0" tIns="0" bIns="0">
            <a:spAutoFit/>
          </a:bodyPr>
          <a:lstStyle/>
          <a:p>
            <a:pPr algn="l">
              <a:spcBef>
                <a:spcPts val="0"/>
              </a:spcBef>
              <a:spcAft>
                <a:spcPts val="400"/>
              </a:spcAft>
            </a:pPr>
            <a:r>
              <a:rPr sz="1100" b="1">
                <a:solidFill>
                  <a:srgbClr val="10B981"/>
                </a:solidFill>
                <a:latin typeface="Arial"/>
              </a:rPr>
              <a:t>THEN YOU</a:t>
            </a:r>
          </a:p>
        </p:txBody>
      </p:sp>
      <p:sp>
        <p:nvSpPr>
          <p:cNvPr id="26" name="TextBox 25"/>
          <p:cNvSpPr txBox="1"/>
          <p:nvPr/>
        </p:nvSpPr>
        <p:spPr>
          <a:xfrm>
            <a:off x="8183879" y="3310128"/>
            <a:ext cx="3063240" cy="2194560"/>
          </a:xfrm>
          <a:prstGeom prst="rect">
            <a:avLst/>
          </a:prstGeom>
          <a:noFill/>
        </p:spPr>
        <p:txBody>
          <a:bodyPr wrap="square" lIns="0" rIns="0">
            <a:spAutoFit/>
          </a:bodyPr>
          <a:lstStyle/>
          <a:p>
            <a:pPr>
              <a:spcBef>
                <a:spcPts val="0"/>
              </a:spcBef>
              <a:spcAft>
                <a:spcPts val="600"/>
              </a:spcAft>
            </a:pPr>
            <a:r>
              <a:rPr sz="1150" b="1">
                <a:solidFill>
                  <a:srgbClr val="10B981"/>
                </a:solidFill>
                <a:latin typeface="Arial"/>
              </a:rPr>
              <a:t>•  </a:t>
            </a:r>
            <a:r>
              <a:rPr sz="1150">
                <a:solidFill>
                  <a:srgbClr val="161B26"/>
                </a:solidFill>
                <a:latin typeface="Arial"/>
              </a:rPr>
              <a:t>Review the plan before it builds</a:t>
            </a:r>
          </a:p>
          <a:p>
            <a:pPr>
              <a:spcBef>
                <a:spcPts val="0"/>
              </a:spcBef>
              <a:spcAft>
                <a:spcPts val="600"/>
              </a:spcAft>
            </a:pPr>
            <a:r>
              <a:rPr sz="1150" b="1">
                <a:solidFill>
                  <a:srgbClr val="10B981"/>
                </a:solidFill>
                <a:latin typeface="Arial"/>
              </a:rPr>
              <a:t>•  </a:t>
            </a:r>
            <a:r>
              <a:rPr sz="1150">
                <a:solidFill>
                  <a:srgbClr val="161B26"/>
                </a:solidFill>
                <a:latin typeface="Arial"/>
              </a:rPr>
              <a:t>Add your video API key as a credential (e.g. HeyGen, Runway or Google Veo)</a:t>
            </a:r>
          </a:p>
          <a:p>
            <a:pPr>
              <a:spcBef>
                <a:spcPts val="0"/>
              </a:spcBef>
              <a:spcAft>
                <a:spcPts val="600"/>
              </a:spcAft>
            </a:pPr>
            <a:r>
              <a:rPr sz="1150" b="1">
                <a:solidFill>
                  <a:srgbClr val="10B981"/>
                </a:solidFill>
                <a:latin typeface="Arial"/>
              </a:rPr>
              <a:t>•  </a:t>
            </a:r>
            <a:r>
              <a:rPr sz="1150">
                <a:solidFill>
                  <a:srgbClr val="161B26"/>
                </a:solidFill>
                <a:latin typeface="Arial"/>
              </a:rPr>
              <a:t>Connect Gmail, Google Sheets and YouTube</a:t>
            </a:r>
          </a:p>
          <a:p>
            <a:pPr>
              <a:spcBef>
                <a:spcPts val="0"/>
              </a:spcBef>
              <a:spcAft>
                <a:spcPts val="600"/>
              </a:spcAft>
            </a:pPr>
            <a:r>
              <a:rPr sz="1150" b="1">
                <a:solidFill>
                  <a:srgbClr val="10B981"/>
                </a:solidFill>
                <a:latin typeface="Arial"/>
              </a:rPr>
              <a:t>•  </a:t>
            </a:r>
            <a:r>
              <a:rPr sz="1150">
                <a:solidFill>
                  <a:srgbClr val="161B26"/>
                </a:solidFill>
                <a:latin typeface="Arial"/>
              </a:rPr>
              <a:t>Test with a real topic — approve the draft video</a:t>
            </a:r>
          </a:p>
        </p:txBody>
      </p:sp>
      <p:sp>
        <p:nvSpPr>
          <p:cNvPr id="27" name="Rounded Rectangle 26"/>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The AI writes and produces; the workflow runs it — and nothing is published until a person approves it.</a:t>
            </a:r>
          </a:p>
        </p:txBody>
      </p:sp>
      <p:sp>
        <p:nvSpPr>
          <p:cNvPr id="29" name="TextBox 2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0" name="TextBox 2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1" name="TextBox 3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121</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27A3E"/>
                </a:solidFill>
                <a:latin typeface="Arial"/>
              </a:rPr>
              <a:t>TOPIC 7 · MINI CAPSTONE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More Example Prompts for Your Capstone</a:t>
            </a:r>
          </a:p>
        </p:txBody>
      </p:sp>
      <p:sp>
        <p:nvSpPr>
          <p:cNvPr id="6" name="TextBox 5"/>
          <p:cNvSpPr txBox="1"/>
          <p:nvPr/>
        </p:nvSpPr>
        <p:spPr>
          <a:xfrm>
            <a:off x="777240" y="1444752"/>
            <a:ext cx="10607040" cy="329184"/>
          </a:xfrm>
          <a:prstGeom prst="rect">
            <a:avLst/>
          </a:prstGeom>
          <a:noFill/>
        </p:spPr>
        <p:txBody>
          <a:bodyPr wrap="square" anchor="t" lIns="0" rIns="0" tIns="0" bIns="0">
            <a:spAutoFit/>
          </a:bodyPr>
          <a:lstStyle/>
          <a:p>
            <a:pPr algn="l">
              <a:spcBef>
                <a:spcPts val="0"/>
              </a:spcBef>
              <a:spcAft>
                <a:spcPts val="400"/>
              </a:spcAft>
            </a:pPr>
            <a:r>
              <a:rPr sz="1250" b="0">
                <a:solidFill>
                  <a:srgbClr val="5B6372"/>
                </a:solidFill>
                <a:latin typeface="Arial"/>
              </a:rPr>
              <a:t>Start from one of these, or write your own. Each names the trigger, numbers the steps and puts a human at the risky step.</a:t>
            </a:r>
          </a:p>
        </p:txBody>
      </p:sp>
      <p:sp>
        <p:nvSpPr>
          <p:cNvPr id="7" name="Rounded Rectangle 6"/>
          <p:cNvSpPr/>
          <p:nvPr/>
        </p:nvSpPr>
        <p:spPr>
          <a:xfrm>
            <a:off x="777240" y="1828800"/>
            <a:ext cx="3361944" cy="3749039"/>
          </a:xfrm>
          <a:prstGeom prst="roundRect">
            <a:avLst>
              <a:gd name="adj" fmla="val 5500"/>
            </a:avLst>
          </a:prstGeom>
          <a:solidFill>
            <a:srgbClr val="FFFFFF"/>
          </a:solidFill>
          <a:ln w="1587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8408" y="1965960"/>
            <a:ext cx="2959608" cy="292608"/>
          </a:xfrm>
          <a:prstGeom prst="rect">
            <a:avLst/>
          </a:prstGeom>
          <a:noFill/>
        </p:spPr>
        <p:txBody>
          <a:bodyPr wrap="square" anchor="t" lIns="0" rIns="0" tIns="0" bIns="0">
            <a:spAutoFit/>
          </a:bodyPr>
          <a:lstStyle/>
          <a:p>
            <a:pPr algn="l">
              <a:spcBef>
                <a:spcPts val="0"/>
              </a:spcBef>
              <a:spcAft>
                <a:spcPts val="400"/>
              </a:spcAft>
            </a:pPr>
            <a:r>
              <a:rPr sz="1350" b="1">
                <a:solidFill>
                  <a:srgbClr val="1F6FEB"/>
                </a:solidFill>
                <a:latin typeface="Arial"/>
              </a:rPr>
              <a:t>Weekly newsletter</a:t>
            </a:r>
          </a:p>
        </p:txBody>
      </p:sp>
      <p:sp>
        <p:nvSpPr>
          <p:cNvPr id="9" name="TextBox 8"/>
          <p:cNvSpPr txBox="1"/>
          <p:nvPr/>
        </p:nvSpPr>
        <p:spPr>
          <a:xfrm>
            <a:off x="978408" y="2377440"/>
            <a:ext cx="2959608" cy="3108960"/>
          </a:xfrm>
          <a:prstGeom prst="rect">
            <a:avLst/>
          </a:prstGeom>
          <a:noFill/>
        </p:spPr>
        <p:txBody>
          <a:bodyPr wrap="square" anchor="t" lIns="0" rIns="0" tIns="0" bIns="0">
            <a:spAutoFit/>
          </a:bodyPr>
          <a:lstStyle/>
          <a:p>
            <a:pPr algn="l">
              <a:spcBef>
                <a:spcPts val="0"/>
              </a:spcBef>
              <a:spcAft>
                <a:spcPts val="600"/>
              </a:spcAft>
            </a:pPr>
            <a:r>
              <a:rPr sz="1100" b="0">
                <a:solidFill>
                  <a:srgbClr val="161B26"/>
                </a:solidFill>
                <a:latin typeface="Arial"/>
              </a:rPr>
              <a:t>1. Every Monday at 9am, search the web for this week's news on &lt;your industry&gt;.</a:t>
            </a:r>
          </a:p>
          <a:p>
            <a:pPr algn="l">
              <a:spcBef>
                <a:spcPts val="0"/>
              </a:spcBef>
              <a:spcAft>
                <a:spcPts val="600"/>
              </a:spcAft>
            </a:pPr>
            <a:r>
              <a:rPr sz="1100" b="0">
                <a:solidFill>
                  <a:srgbClr val="161B26"/>
                </a:solidFill>
                <a:latin typeface="Arial"/>
              </a:rPr>
              <a:t>2. Pick the 5 most relevant stories and write a short newsletter with a summary and link for each.</a:t>
            </a:r>
          </a:p>
          <a:p>
            <a:pPr algn="l">
              <a:spcBef>
                <a:spcPts val="0"/>
              </a:spcBef>
              <a:spcAft>
                <a:spcPts val="600"/>
              </a:spcAft>
            </a:pPr>
            <a:r>
              <a:rPr sz="1100" b="0">
                <a:solidFill>
                  <a:srgbClr val="161B26"/>
                </a:solidFill>
                <a:latin typeface="Arial"/>
              </a:rPr>
              <a:t>3. Email me the draft for approval; if approved, send it to the subscribers in my Google Sheet.</a:t>
            </a:r>
          </a:p>
        </p:txBody>
      </p:sp>
      <p:sp>
        <p:nvSpPr>
          <p:cNvPr id="10" name="Rounded Rectangle 9"/>
          <p:cNvSpPr/>
          <p:nvPr/>
        </p:nvSpPr>
        <p:spPr>
          <a:xfrm>
            <a:off x="4413504" y="1828800"/>
            <a:ext cx="3361944" cy="3749039"/>
          </a:xfrm>
          <a:prstGeom prst="roundRect">
            <a:avLst>
              <a:gd name="adj" fmla="val 5500"/>
            </a:avLst>
          </a:prstGeom>
          <a:solidFill>
            <a:srgbClr val="FFFFFF"/>
          </a:solidFill>
          <a:ln w="15875">
            <a:solidFill>
              <a:srgbClr val="7C3A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4672" y="1965960"/>
            <a:ext cx="2959608" cy="292608"/>
          </a:xfrm>
          <a:prstGeom prst="rect">
            <a:avLst/>
          </a:prstGeom>
          <a:noFill/>
        </p:spPr>
        <p:txBody>
          <a:bodyPr wrap="square" anchor="t" lIns="0" rIns="0" tIns="0" bIns="0">
            <a:spAutoFit/>
          </a:bodyPr>
          <a:lstStyle/>
          <a:p>
            <a:pPr algn="l">
              <a:spcBef>
                <a:spcPts val="0"/>
              </a:spcBef>
              <a:spcAft>
                <a:spcPts val="400"/>
              </a:spcAft>
            </a:pPr>
            <a:r>
              <a:rPr sz="1350" b="1">
                <a:solidFill>
                  <a:srgbClr val="7C3AED"/>
                </a:solidFill>
                <a:latin typeface="Arial"/>
              </a:rPr>
              <a:t>Invoice processing</a:t>
            </a:r>
          </a:p>
        </p:txBody>
      </p:sp>
      <p:sp>
        <p:nvSpPr>
          <p:cNvPr id="12" name="TextBox 11"/>
          <p:cNvSpPr txBox="1"/>
          <p:nvPr/>
        </p:nvSpPr>
        <p:spPr>
          <a:xfrm>
            <a:off x="4614672" y="2377440"/>
            <a:ext cx="2959608" cy="3108960"/>
          </a:xfrm>
          <a:prstGeom prst="rect">
            <a:avLst/>
          </a:prstGeom>
          <a:noFill/>
        </p:spPr>
        <p:txBody>
          <a:bodyPr wrap="square" anchor="t" lIns="0" rIns="0" tIns="0" bIns="0">
            <a:spAutoFit/>
          </a:bodyPr>
          <a:lstStyle/>
          <a:p>
            <a:pPr algn="l">
              <a:spcBef>
                <a:spcPts val="0"/>
              </a:spcBef>
              <a:spcAft>
                <a:spcPts val="600"/>
              </a:spcAft>
            </a:pPr>
            <a:r>
              <a:rPr sz="1100" b="0">
                <a:solidFill>
                  <a:srgbClr val="161B26"/>
                </a:solidFill>
                <a:latin typeface="Arial"/>
              </a:rPr>
              <a:t>1. When an email with a PDF invoice arrives in Gmail, extract the supplier, invoice number, date and amount.</a:t>
            </a:r>
          </a:p>
          <a:p>
            <a:pPr algn="l">
              <a:spcBef>
                <a:spcPts val="0"/>
              </a:spcBef>
              <a:spcAft>
                <a:spcPts val="600"/>
              </a:spcAft>
            </a:pPr>
            <a:r>
              <a:rPr sz="1100" b="0">
                <a:solidFill>
                  <a:srgbClr val="161B26"/>
                </a:solidFill>
                <a:latin typeface="Arial"/>
              </a:rPr>
              <a:t>2. Add a row to my Invoices Google Sheet.</a:t>
            </a:r>
          </a:p>
          <a:p>
            <a:pPr algn="l">
              <a:spcBef>
                <a:spcPts val="0"/>
              </a:spcBef>
              <a:spcAft>
                <a:spcPts val="600"/>
              </a:spcAft>
            </a:pPr>
            <a:r>
              <a:rPr sz="1100" b="0">
                <a:solidFill>
                  <a:srgbClr val="161B26"/>
                </a:solidFill>
                <a:latin typeface="Arial"/>
              </a:rPr>
              <a:t>3. If the amount is over $5,000, email the finance manager to approve before marking it 'ready to pay'.</a:t>
            </a:r>
          </a:p>
        </p:txBody>
      </p:sp>
      <p:sp>
        <p:nvSpPr>
          <p:cNvPr id="13" name="Rounded Rectangle 12"/>
          <p:cNvSpPr/>
          <p:nvPr/>
        </p:nvSpPr>
        <p:spPr>
          <a:xfrm>
            <a:off x="8049768" y="1828800"/>
            <a:ext cx="3361944" cy="3749039"/>
          </a:xfrm>
          <a:prstGeom prst="roundRect">
            <a:avLst>
              <a:gd name="adj" fmla="val 5500"/>
            </a:avLst>
          </a:prstGeom>
          <a:solidFill>
            <a:srgbClr val="FFFFFF"/>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0936" y="1965960"/>
            <a:ext cx="2959608" cy="292608"/>
          </a:xfrm>
          <a:prstGeom prst="rect">
            <a:avLst/>
          </a:prstGeom>
          <a:noFill/>
        </p:spPr>
        <p:txBody>
          <a:bodyPr wrap="square" anchor="t" lIns="0" rIns="0" tIns="0" bIns="0">
            <a:spAutoFit/>
          </a:bodyPr>
          <a:lstStyle/>
          <a:p>
            <a:pPr algn="l">
              <a:spcBef>
                <a:spcPts val="0"/>
              </a:spcBef>
              <a:spcAft>
                <a:spcPts val="400"/>
              </a:spcAft>
            </a:pPr>
            <a:r>
              <a:rPr sz="1350" b="1">
                <a:solidFill>
                  <a:srgbClr val="F59E0B"/>
                </a:solidFill>
                <a:latin typeface="Arial"/>
              </a:rPr>
              <a:t>Customer-support triage</a:t>
            </a:r>
          </a:p>
        </p:txBody>
      </p:sp>
      <p:sp>
        <p:nvSpPr>
          <p:cNvPr id="15" name="TextBox 14"/>
          <p:cNvSpPr txBox="1"/>
          <p:nvPr/>
        </p:nvSpPr>
        <p:spPr>
          <a:xfrm>
            <a:off x="8250936" y="2377440"/>
            <a:ext cx="2959608" cy="3108960"/>
          </a:xfrm>
          <a:prstGeom prst="rect">
            <a:avLst/>
          </a:prstGeom>
          <a:noFill/>
        </p:spPr>
        <p:txBody>
          <a:bodyPr wrap="square" anchor="t" lIns="0" rIns="0" tIns="0" bIns="0">
            <a:spAutoFit/>
          </a:bodyPr>
          <a:lstStyle/>
          <a:p>
            <a:pPr algn="l">
              <a:spcBef>
                <a:spcPts val="0"/>
              </a:spcBef>
              <a:spcAft>
                <a:spcPts val="600"/>
              </a:spcAft>
            </a:pPr>
            <a:r>
              <a:rPr sz="1100" b="0">
                <a:solidFill>
                  <a:srgbClr val="161B26"/>
                </a:solidFill>
                <a:latin typeface="Arial"/>
              </a:rPr>
              <a:t>1. From a website chat webhook, classify each message as billing, technical or sales.</a:t>
            </a:r>
          </a:p>
          <a:p>
            <a:pPr algn="l">
              <a:spcBef>
                <a:spcPts val="0"/>
              </a:spcBef>
              <a:spcAft>
                <a:spcPts val="600"/>
              </a:spcAft>
            </a:pPr>
            <a:r>
              <a:rPr sz="1100" b="0">
                <a:solidFill>
                  <a:srgbClr val="161B26"/>
                </a:solidFill>
                <a:latin typeface="Arial"/>
              </a:rPr>
              <a:t>2. Answer FAQs from my policy documents (RAG); never invent a price.</a:t>
            </a:r>
          </a:p>
          <a:p>
            <a:pPr algn="l">
              <a:spcBef>
                <a:spcPts val="0"/>
              </a:spcBef>
              <a:spcAft>
                <a:spcPts val="600"/>
              </a:spcAft>
            </a:pPr>
            <a:r>
              <a:rPr sz="1100" b="0">
                <a:solidFill>
                  <a:srgbClr val="161B26"/>
                </a:solidFill>
                <a:latin typeface="Arial"/>
              </a:rPr>
              <a:t>3. Hand anything else to a human by posting it to Telegram, and log every conversation.</a:t>
            </a:r>
          </a:p>
        </p:txBody>
      </p:sp>
      <p:sp>
        <p:nvSpPr>
          <p:cNvPr id="16" name="Rounded Rectangle 15"/>
          <p:cNvSpPr/>
          <p:nvPr/>
        </p:nvSpPr>
        <p:spPr>
          <a:xfrm>
            <a:off x="777240" y="5779008"/>
            <a:ext cx="10634472" cy="420624"/>
          </a:xfrm>
          <a:prstGeom prst="roundRect">
            <a:avLst>
              <a:gd name="adj" fmla="val 5500"/>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779008"/>
            <a:ext cx="10177272" cy="420624"/>
          </a:xfrm>
          <a:prstGeom prst="rect">
            <a:avLst/>
          </a:prstGeom>
          <a:noFill/>
        </p:spPr>
        <p:txBody>
          <a:bodyPr wrap="square" anchor="ctr" lIns="0" rIns="0" tIns="0" bIns="0">
            <a:spAutoFit/>
          </a:bodyPr>
          <a:lstStyle/>
          <a:p>
            <a:pPr algn="l">
              <a:spcBef>
                <a:spcPts val="0"/>
              </a:spcBef>
              <a:spcAft>
                <a:spcPts val="400"/>
              </a:spcAft>
            </a:pPr>
            <a:r>
              <a:rPr sz="1250" b="1">
                <a:solidFill>
                  <a:srgbClr val="161B26"/>
                </a:solidFill>
                <a:latin typeface="Arial"/>
              </a:rPr>
              <a:t>Then refine in the same chat: 'add an approval step', 'use Gateway credits', 'log every run to a Google Sheet'.</a:t>
            </a:r>
          </a:p>
        </p:txBody>
      </p:sp>
      <p:sp>
        <p:nvSpPr>
          <p:cNvPr id="18" name="TextBox 17"/>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9" name="TextBox 18"/>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20" name="TextBox 19"/>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TOPIC 7 · WORKED EXAMPLE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Capstone Example — Issue Reporting</a:t>
            </a:r>
          </a:p>
        </p:txBody>
      </p:sp>
      <p:sp>
        <p:nvSpPr>
          <p:cNvPr id="6" name="TextBox 5"/>
          <p:cNvSpPr txBox="1"/>
          <p:nvPr/>
        </p:nvSpPr>
        <p:spPr>
          <a:xfrm>
            <a:off x="777240" y="1828800"/>
            <a:ext cx="4937760" cy="3566160"/>
          </a:xfrm>
          <a:prstGeom prst="rect">
            <a:avLst/>
          </a:prstGeom>
          <a:noFill/>
        </p:spPr>
        <p:txBody>
          <a:bodyPr wrap="square" lIns="0" rIns="0">
            <a:spAutoFit/>
          </a:bodyPr>
          <a:lstStyle/>
          <a:p>
            <a:pPr>
              <a:spcBef>
                <a:spcPts val="0"/>
              </a:spcBef>
              <a:spcAft>
                <a:spcPts val="900"/>
              </a:spcAft>
            </a:pPr>
            <a:r>
              <a:rPr sz="1500" b="1">
                <a:solidFill>
                  <a:srgbClr val="1F6FEB"/>
                </a:solidFill>
                <a:latin typeface="Arial"/>
              </a:rPr>
              <a:t>•  </a:t>
            </a:r>
            <a:r>
              <a:rPr sz="1500">
                <a:solidFill>
                  <a:srgbClr val="161B26"/>
                </a:solidFill>
                <a:latin typeface="Arial"/>
              </a:rPr>
              <a:t>Paste your n8n Form production URL to generate a QR code.</a:t>
            </a:r>
          </a:p>
          <a:p>
            <a:pPr>
              <a:spcBef>
                <a:spcPts val="0"/>
              </a:spcBef>
              <a:spcAft>
                <a:spcPts val="900"/>
              </a:spcAft>
            </a:pPr>
            <a:r>
              <a:rPr sz="1500" b="1">
                <a:solidFill>
                  <a:srgbClr val="1F6FEB"/>
                </a:solidFill>
                <a:latin typeface="Arial"/>
              </a:rPr>
              <a:t>•  </a:t>
            </a:r>
            <a:r>
              <a:rPr sz="1500">
                <a:solidFill>
                  <a:srgbClr val="161B26"/>
                </a:solidFill>
                <a:latin typeface="Arial"/>
              </a:rPr>
              <a:t>People scan the QR with a phone to open the submission form.</a:t>
            </a:r>
          </a:p>
          <a:p>
            <a:pPr>
              <a:spcBef>
                <a:spcPts val="0"/>
              </a:spcBef>
              <a:spcAft>
                <a:spcPts val="900"/>
              </a:spcAft>
            </a:pPr>
            <a:r>
              <a:rPr sz="1500" b="1">
                <a:solidFill>
                  <a:srgbClr val="1F6FEB"/>
                </a:solidFill>
                <a:latin typeface="Arial"/>
              </a:rPr>
              <a:t>•  </a:t>
            </a:r>
            <a:r>
              <a:rPr sz="1500">
                <a:solidFill>
                  <a:srgbClr val="161B26"/>
                </a:solidFill>
                <a:latin typeface="Arial"/>
              </a:rPr>
              <a:t>Submissions (with photos) flow into Postgres and a public gallery.</a:t>
            </a:r>
          </a:p>
          <a:p>
            <a:pPr>
              <a:spcBef>
                <a:spcPts val="0"/>
              </a:spcBef>
              <a:spcAft>
                <a:spcPts val="900"/>
              </a:spcAft>
            </a:pPr>
            <a:r>
              <a:rPr sz="1500" b="1">
                <a:solidFill>
                  <a:srgbClr val="1F6FEB"/>
                </a:solidFill>
                <a:latin typeface="Arial"/>
              </a:rPr>
              <a:t>•  </a:t>
            </a:r>
            <a:r>
              <a:rPr sz="1500">
                <a:solidFill>
                  <a:srgbClr val="161B26"/>
                </a:solidFill>
                <a:latin typeface="Arial"/>
              </a:rPr>
              <a:t>A complete worked capstone you can adapt for your own project.</a:t>
            </a:r>
          </a:p>
        </p:txBody>
      </p:sp>
      <p:pic>
        <p:nvPicPr>
          <p:cNvPr id="7" name="Picture 6" descr="Capstone-website.png"/>
          <p:cNvPicPr>
            <a:picLocks noChangeAspect="1"/>
          </p:cNvPicPr>
          <p:nvPr/>
        </p:nvPicPr>
        <p:blipFill>
          <a:blip r:embed="rId2"/>
          <a:stretch>
            <a:fillRect/>
          </a:stretch>
        </p:blipFill>
        <p:spPr>
          <a:xfrm>
            <a:off x="5943600" y="1828800"/>
            <a:ext cx="5486400" cy="3191256"/>
          </a:xfrm>
          <a:prstGeom prst="rect">
            <a:avLst/>
          </a:prstGeom>
        </p:spPr>
      </p:pic>
      <p:sp>
        <p:nvSpPr>
          <p:cNvPr id="8" name="Rectangle 7"/>
          <p:cNvSpPr/>
          <p:nvPr/>
        </p:nvSpPr>
        <p:spPr>
          <a:xfrm>
            <a:off x="5930900" y="1816100"/>
            <a:ext cx="5511800" cy="3216656"/>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10" name="TextBox 9"/>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11" name="TextBox 10"/>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123</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WRAP-UP</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Presentation &amp; Assessment</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Present the problem, your design, and what you'd improve.</a:t>
            </a:r>
          </a:p>
          <a:p>
            <a:pPr>
              <a:spcBef>
                <a:spcPts val="0"/>
              </a:spcBef>
              <a:spcAft>
                <a:spcPts val="1000"/>
              </a:spcAft>
            </a:pPr>
            <a:r>
              <a:rPr sz="2000" b="1">
                <a:solidFill>
                  <a:srgbClr val="1F6FEB"/>
                </a:solidFill>
                <a:latin typeface="Arial"/>
              </a:rPr>
              <a:t>•  </a:t>
            </a:r>
            <a:r>
              <a:rPr sz="2000">
                <a:solidFill>
                  <a:srgbClr val="161B26"/>
                </a:solidFill>
                <a:latin typeface="Arial"/>
              </a:rPr>
              <a:t>Written Assessment (SAQ) — 1 hour · Practical Performance (PP) — 1 hour.</a:t>
            </a:r>
          </a:p>
          <a:p>
            <a:pPr>
              <a:spcBef>
                <a:spcPts val="0"/>
              </a:spcBef>
              <a:spcAft>
                <a:spcPts val="1000"/>
              </a:spcAft>
            </a:pPr>
            <a:r>
              <a:rPr sz="2000" b="1">
                <a:solidFill>
                  <a:srgbClr val="1F6FEB"/>
                </a:solidFill>
                <a:latin typeface="Arial"/>
              </a:rPr>
              <a:t>•  </a:t>
            </a:r>
            <a:r>
              <a:rPr sz="2000">
                <a:solidFill>
                  <a:srgbClr val="161B26"/>
                </a:solidFill>
                <a:latin typeface="Arial"/>
              </a:rPr>
              <a:t>Open book: slides, Learner Guide and approved materials.</a:t>
            </a:r>
          </a:p>
          <a:p>
            <a:pPr>
              <a:spcBef>
                <a:spcPts val="0"/>
              </a:spcBef>
              <a:spcAft>
                <a:spcPts val="1000"/>
              </a:spcAft>
            </a:pPr>
            <a:r>
              <a:rPr sz="2000" b="1">
                <a:solidFill>
                  <a:srgbClr val="1F6FEB"/>
                </a:solidFill>
                <a:latin typeface="Arial"/>
              </a:rPr>
              <a:t>•  </a:t>
            </a:r>
            <a:r>
              <a:rPr sz="2000">
                <a:solidFill>
                  <a:srgbClr val="161B26"/>
                </a:solidFill>
                <a:latin typeface="Arial"/>
              </a:rPr>
              <a:t>Remember to take the Assessment digital attendance (TRAQOM).</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FINAL ASSESSMENT</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Assessment</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Written Assessment (SAQ) — 1 hour.  Practical Performance (PP) — 1 hour.</a:t>
            </a:r>
          </a:p>
          <a:p>
            <a:pPr>
              <a:spcBef>
                <a:spcPts val="0"/>
              </a:spcBef>
              <a:spcAft>
                <a:spcPts val="1000"/>
              </a:spcAft>
            </a:pPr>
            <a:r>
              <a:rPr sz="2000" b="1">
                <a:solidFill>
                  <a:srgbClr val="1F6FEB"/>
                </a:solidFill>
                <a:latin typeface="Arial"/>
              </a:rPr>
              <a:t>•  </a:t>
            </a:r>
            <a:r>
              <a:rPr sz="2000">
                <a:solidFill>
                  <a:srgbClr val="161B26"/>
                </a:solidFill>
                <a:latin typeface="Arial"/>
              </a:rPr>
              <a:t>Open book: slides, Learner Guide and approved materials only.</a:t>
            </a:r>
          </a:p>
          <a:p>
            <a:pPr>
              <a:spcBef>
                <a:spcPts val="0"/>
              </a:spcBef>
              <a:spcAft>
                <a:spcPts val="1000"/>
              </a:spcAft>
            </a:pPr>
            <a:r>
              <a:rPr sz="2000" b="1">
                <a:solidFill>
                  <a:srgbClr val="1F6FEB"/>
                </a:solidFill>
                <a:latin typeface="Arial"/>
              </a:rPr>
              <a:t>•  </a:t>
            </a:r>
            <a:r>
              <a:rPr sz="2000">
                <a:solidFill>
                  <a:srgbClr val="161B26"/>
                </a:solidFill>
                <a:latin typeface="Arial"/>
              </a:rPr>
              <a:t>Remember to take the Assessment digital attendance (TRAQOM).</a:t>
            </a:r>
          </a:p>
          <a:p>
            <a:pPr>
              <a:spcBef>
                <a:spcPts val="0"/>
              </a:spcBef>
              <a:spcAft>
                <a:spcPts val="1000"/>
              </a:spcAft>
            </a:pPr>
            <a:r>
              <a:rPr sz="2000" b="1">
                <a:solidFill>
                  <a:srgbClr val="1F6FEB"/>
                </a:solidFill>
                <a:latin typeface="Arial"/>
              </a:rPr>
              <a:t>•  </a:t>
            </a:r>
            <a:r>
              <a:rPr sz="2000">
                <a:solidFill>
                  <a:srgbClr val="161B26"/>
                </a:solidFill>
                <a:latin typeface="Arial"/>
              </a:rPr>
              <a:t>Submit your completed answers on the LMS at https://lms-tms.tertiaryinfotech.com/.</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125</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ON ASSESSMENT DAY</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Assessment Flow</a:t>
            </a:r>
          </a:p>
        </p:txBody>
      </p:sp>
      <p:sp>
        <p:nvSpPr>
          <p:cNvPr id="6" name="Rectangle 5"/>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41424"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1</a:t>
            </a:r>
          </a:p>
        </p:txBody>
      </p:sp>
      <p:sp>
        <p:nvSpPr>
          <p:cNvPr id="10" name="TextBox 9"/>
          <p:cNvSpPr txBox="1"/>
          <p:nvPr/>
        </p:nvSpPr>
        <p:spPr>
          <a:xfrm>
            <a:off x="923544"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12" name="Rectangle 11"/>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0497"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2</a:t>
            </a:r>
          </a:p>
        </p:txBody>
      </p:sp>
      <p:sp>
        <p:nvSpPr>
          <p:cNvPr id="16" name="TextBox 15"/>
          <p:cNvSpPr txBox="1"/>
          <p:nvPr/>
        </p:nvSpPr>
        <p:spPr>
          <a:xfrm>
            <a:off x="3112617"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18" name="Rectangle 17"/>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19570"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3</a:t>
            </a:r>
          </a:p>
        </p:txBody>
      </p:sp>
      <p:sp>
        <p:nvSpPr>
          <p:cNvPr id="22" name="TextBox 21"/>
          <p:cNvSpPr txBox="1"/>
          <p:nvPr/>
        </p:nvSpPr>
        <p:spPr>
          <a:xfrm>
            <a:off x="5301690"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Sit WA (SAQ) then PP — open book</a:t>
            </a:r>
          </a:p>
        </p:txBody>
      </p:sp>
      <p:sp>
        <p:nvSpPr>
          <p:cNvPr id="23" name="TextBox 22"/>
          <p:cNvSpPr txBox="1"/>
          <p:nvPr/>
        </p:nvSpPr>
        <p:spPr>
          <a:xfrm>
            <a:off x="6996987"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24" name="Rectangle 23"/>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08643"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4</a:t>
            </a:r>
          </a:p>
        </p:txBody>
      </p:sp>
      <p:sp>
        <p:nvSpPr>
          <p:cNvPr id="28" name="TextBox 27"/>
          <p:cNvSpPr txBox="1"/>
          <p:nvPr/>
        </p:nvSpPr>
        <p:spPr>
          <a:xfrm>
            <a:off x="7490763"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lIns="0" rIns="0" tIns="0" bIns="0">
            <a:spAutoFit/>
          </a:bodyPr>
          <a:lstStyle/>
          <a:p>
            <a:pPr algn="ctr">
              <a:spcBef>
                <a:spcPts val="0"/>
              </a:spcBef>
              <a:spcAft>
                <a:spcPts val="400"/>
              </a:spcAft>
            </a:pPr>
            <a:r>
              <a:rPr sz="1500" b="1">
                <a:solidFill>
                  <a:srgbClr val="1F6FEB"/>
                </a:solidFill>
                <a:latin typeface="Arial"/>
              </a:rPr>
              <a:t>▶</a:t>
            </a:r>
          </a:p>
        </p:txBody>
      </p:sp>
      <p:sp>
        <p:nvSpPr>
          <p:cNvPr id="30" name="Rectangle 29"/>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97716" y="2715768"/>
            <a:ext cx="749808" cy="749808"/>
          </a:xfrm>
          <a:prstGeom prst="rect">
            <a:avLst/>
          </a:prstGeom>
          <a:noFill/>
        </p:spPr>
        <p:txBody>
          <a:bodyPr wrap="square" anchor="ctr" lIns="0" rIns="0" tIns="0" bIns="0">
            <a:spAutoFit/>
          </a:bodyPr>
          <a:lstStyle/>
          <a:p>
            <a:pPr algn="ctr">
              <a:spcBef>
                <a:spcPts val="0"/>
              </a:spcBef>
              <a:spcAft>
                <a:spcPts val="400"/>
              </a:spcAft>
            </a:pPr>
            <a:r>
              <a:rPr sz="3000" b="1">
                <a:solidFill>
                  <a:srgbClr val="FFFFFF"/>
                </a:solidFill>
                <a:latin typeface="Arial"/>
              </a:rPr>
              <a:t>5</a:t>
            </a:r>
          </a:p>
        </p:txBody>
      </p:sp>
      <p:sp>
        <p:nvSpPr>
          <p:cNvPr id="34" name="TextBox 33"/>
          <p:cNvSpPr txBox="1"/>
          <p:nvPr/>
        </p:nvSpPr>
        <p:spPr>
          <a:xfrm>
            <a:off x="9679836" y="3749040"/>
            <a:ext cx="1585569" cy="1325880"/>
          </a:xfrm>
          <a:prstGeom prst="rect">
            <a:avLst/>
          </a:prstGeom>
          <a:noFill/>
        </p:spPr>
        <p:txBody>
          <a:bodyPr wrap="square" anchor="t" lIns="0" rIns="0" tIns="0" bIns="0">
            <a:spAutoFit/>
          </a:bodyPr>
          <a:lstStyle/>
          <a:p>
            <a:pPr algn="ctr">
              <a:spcBef>
                <a:spcPts val="0"/>
              </a:spcBef>
              <a:spcAft>
                <a:spcPts val="0"/>
              </a:spcAft>
            </a:pPr>
            <a:r>
              <a:rPr sz="1400" b="0">
                <a:solidFill>
                  <a:srgbClr val="161B26"/>
                </a:solidFill>
                <a:latin typeface="Arial"/>
              </a:rPr>
              <a:t>Sign the Assessment Summary Record</a:t>
            </a:r>
          </a:p>
        </p:txBody>
      </p:sp>
      <p:sp>
        <p:nvSpPr>
          <p:cNvPr id="35" name="TextBox 34"/>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36" name="TextBox 35"/>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37" name="TextBox 36"/>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548640"/>
            <a:ext cx="128016" cy="6035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89920" cy="310896"/>
          </a:xfrm>
          <a:prstGeom prst="rect">
            <a:avLst/>
          </a:prstGeom>
          <a:noFill/>
        </p:spPr>
        <p:txBody>
          <a:bodyPr wrap="square" anchor="t" lIns="0" rIns="0" tIns="0" bIns="0">
            <a:spAutoFit/>
          </a:bodyPr>
          <a:lstStyle/>
          <a:p>
            <a:pPr algn="l">
              <a:spcBef>
                <a:spcPts val="0"/>
              </a:spcBef>
              <a:spcAft>
                <a:spcPts val="400"/>
              </a:spcAft>
            </a:pPr>
            <a:r>
              <a:rPr sz="1300" b="1">
                <a:solidFill>
                  <a:srgbClr val="1F6FEB"/>
                </a:solidFill>
                <a:latin typeface="Arial"/>
              </a:rPr>
              <a:t>TRAQOM · SSG DIGITAL ATTENDANCE</a:t>
            </a:r>
          </a:p>
        </p:txBody>
      </p:sp>
      <p:sp>
        <p:nvSpPr>
          <p:cNvPr id="5" name="TextBox 4"/>
          <p:cNvSpPr txBox="1"/>
          <p:nvPr/>
        </p:nvSpPr>
        <p:spPr>
          <a:xfrm>
            <a:off x="731520" y="749808"/>
            <a:ext cx="10972800" cy="777240"/>
          </a:xfrm>
          <a:prstGeom prst="rect">
            <a:avLst/>
          </a:prstGeom>
          <a:noFill/>
        </p:spPr>
        <p:txBody>
          <a:bodyPr wrap="square" anchor="t" lIns="0" rIns="0" tIns="0" bIns="0">
            <a:spAutoFit/>
          </a:bodyPr>
          <a:lstStyle/>
          <a:p>
            <a:pPr algn="l">
              <a:spcBef>
                <a:spcPts val="0"/>
              </a:spcBef>
              <a:spcAft>
                <a:spcPts val="400"/>
              </a:spcAft>
            </a:pPr>
            <a:r>
              <a:rPr sz="2800" b="1">
                <a:solidFill>
                  <a:srgbClr val="161B26"/>
                </a:solidFill>
                <a:latin typeface="Arial"/>
              </a:rPr>
              <a:t>Digital Attendance (Mandatory)</a:t>
            </a:r>
          </a:p>
        </p:txBody>
      </p:sp>
      <p:sp>
        <p:nvSpPr>
          <p:cNvPr id="6" name="TextBox 5"/>
          <p:cNvSpPr txBox="1"/>
          <p:nvPr/>
        </p:nvSpPr>
        <p:spPr>
          <a:xfrm>
            <a:off x="777240" y="1737360"/>
            <a:ext cx="10607040" cy="4480560"/>
          </a:xfrm>
          <a:prstGeom prst="rect">
            <a:avLst/>
          </a:prstGeom>
          <a:noFill/>
        </p:spPr>
        <p:txBody>
          <a:bodyPr wrap="square" lIns="0" rIns="0">
            <a:spAutoFit/>
          </a:bodyPr>
          <a:lstStyle/>
          <a:p>
            <a:pPr>
              <a:spcBef>
                <a:spcPts val="0"/>
              </a:spcBef>
              <a:spcAft>
                <a:spcPts val="1000"/>
              </a:spcAft>
            </a:pPr>
            <a:r>
              <a:rPr sz="2000" b="1">
                <a:solidFill>
                  <a:srgbClr val="1F6FEB"/>
                </a:solidFill>
                <a:latin typeface="Arial"/>
              </a:rPr>
              <a:t>•  </a:t>
            </a:r>
            <a:r>
              <a:rPr sz="2000">
                <a:solidFill>
                  <a:srgbClr val="161B26"/>
                </a:solidFill>
                <a:latin typeface="Arial"/>
              </a:rPr>
              <a:t>It is mandatory to take the AM, PM and Assessment digital attendance for WSQ-funded courses.</a:t>
            </a:r>
          </a:p>
          <a:p>
            <a:pPr>
              <a:spcBef>
                <a:spcPts val="0"/>
              </a:spcBef>
              <a:spcAft>
                <a:spcPts val="1000"/>
              </a:spcAft>
            </a:pPr>
            <a:r>
              <a:rPr sz="2000" b="1">
                <a:solidFill>
                  <a:srgbClr val="1F6FEB"/>
                </a:solidFill>
                <a:latin typeface="Arial"/>
              </a:rPr>
              <a:t>•  </a:t>
            </a:r>
            <a:r>
              <a:rPr sz="2000">
                <a:solidFill>
                  <a:srgbClr val="161B26"/>
                </a:solidFill>
                <a:latin typeface="Arial"/>
              </a:rPr>
              <a:t>The trainer/administrator displays the digital attendance QR code from the SSG portal.</a:t>
            </a:r>
          </a:p>
          <a:p>
            <a:pPr>
              <a:spcBef>
                <a:spcPts val="0"/>
              </a:spcBef>
              <a:spcAft>
                <a:spcPts val="1000"/>
              </a:spcAft>
            </a:pPr>
            <a:r>
              <a:rPr sz="2000" b="1">
                <a:solidFill>
                  <a:srgbClr val="1F6FEB"/>
                </a:solidFill>
                <a:latin typeface="Arial"/>
              </a:rPr>
              <a:t>•  </a:t>
            </a:r>
            <a:r>
              <a:rPr sz="2000">
                <a:solidFill>
                  <a:srgbClr val="161B26"/>
                </a:solidFill>
                <a:latin typeface="Arial"/>
              </a:rPr>
              <a:t>Scan the QR code with your mobile phone camera and submit your attendance.</a:t>
            </a:r>
          </a:p>
          <a:p>
            <a:pPr>
              <a:spcBef>
                <a:spcPts val="0"/>
              </a:spcBef>
              <a:spcAft>
                <a:spcPts val="1000"/>
              </a:spcAft>
            </a:pPr>
            <a:r>
              <a:rPr sz="2000" b="1">
                <a:solidFill>
                  <a:srgbClr val="1F6FEB"/>
                </a:solidFill>
                <a:latin typeface="Arial"/>
              </a:rPr>
              <a:t>•  </a:t>
            </a:r>
            <a:r>
              <a:rPr sz="2000">
                <a:solidFill>
                  <a:srgbClr val="161B26"/>
                </a:solidFill>
                <a:latin typeface="Arial"/>
              </a:rPr>
              <a:t>A minimum of 75% attendance is required to be eligible for assessment and funding.</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127</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468880"/>
            <a:ext cx="128016"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468880"/>
            <a:ext cx="10058400" cy="1097280"/>
          </a:xfrm>
          <a:prstGeom prst="rect">
            <a:avLst/>
          </a:prstGeom>
          <a:noFill/>
        </p:spPr>
        <p:txBody>
          <a:bodyPr wrap="square" anchor="t" lIns="0" rIns="0" tIns="0" bIns="0">
            <a:spAutoFit/>
          </a:bodyPr>
          <a:lstStyle/>
          <a:p>
            <a:pPr algn="l">
              <a:spcBef>
                <a:spcPts val="0"/>
              </a:spcBef>
              <a:spcAft>
                <a:spcPts val="400"/>
              </a:spcAft>
            </a:pPr>
            <a:r>
              <a:rPr sz="4800" b="1">
                <a:solidFill>
                  <a:srgbClr val="161B26"/>
                </a:solidFill>
                <a:latin typeface="Arial"/>
              </a:rPr>
              <a:t>Thank You!</a:t>
            </a:r>
          </a:p>
        </p:txBody>
      </p:sp>
      <p:sp>
        <p:nvSpPr>
          <p:cNvPr id="6" name="TextBox 5"/>
          <p:cNvSpPr txBox="1"/>
          <p:nvPr/>
        </p:nvSpPr>
        <p:spPr>
          <a:xfrm>
            <a:off x="1161288" y="3749039"/>
            <a:ext cx="10515600" cy="1280160"/>
          </a:xfrm>
          <a:prstGeom prst="rect">
            <a:avLst/>
          </a:prstGeom>
          <a:noFill/>
        </p:spPr>
        <p:txBody>
          <a:bodyPr wrap="square" anchor="t" lIns="0" rIns="0" tIns="0" bIns="0">
            <a:spAutoFit/>
          </a:bodyPr>
          <a:lstStyle/>
          <a:p>
            <a:pPr algn="l">
              <a:spcBef>
                <a:spcPts val="0"/>
              </a:spcBef>
              <a:spcAft>
                <a:spcPts val="800"/>
              </a:spcAft>
            </a:pPr>
            <a:r>
              <a:rPr sz="1800" b="0">
                <a:solidFill>
                  <a:srgbClr val="5B6372"/>
                </a:solidFill>
                <a:latin typeface="Arial"/>
              </a:rPr>
              <a:t>Keep your local n8n running and keep building your own agents.</a:t>
            </a:r>
          </a:p>
          <a:p>
            <a:pPr algn="l">
              <a:spcBef>
                <a:spcPts val="0"/>
              </a:spcBef>
              <a:spcAft>
                <a:spcPts val="800"/>
              </a:spcAft>
            </a:pPr>
            <a:r>
              <a:rPr sz="1300" b="1">
                <a:solidFill>
                  <a:srgbClr val="1F6FEB"/>
                </a:solidFill>
                <a:latin typeface="Arial"/>
              </a:rPr>
              <a:t>Download all flows: github.com/tertiarycourses/TGS-2023035977-Agentic-AI-Automation-with-n8n</a:t>
            </a:r>
          </a:p>
          <a:p>
            <a:pPr algn="l">
              <a:spcBef>
                <a:spcPts val="0"/>
              </a:spcBef>
              <a:spcAft>
                <a:spcPts val="800"/>
              </a:spcAft>
            </a:pPr>
            <a:r>
              <a:rPr sz="1200" b="0">
                <a:solidFill>
                  <a:srgbClr val="5B6372"/>
                </a:solidFill>
                <a:latin typeface="Arial"/>
              </a:rPr>
              <a:t>Powered by Tertiary Infotech Academy Pte Ltd  ·  www.tertiarycourses.com.sg</a:t>
            </a:r>
          </a:p>
        </p:txBody>
      </p:sp>
      <p:sp>
        <p:nvSpPr>
          <p:cNvPr id="7" name="TextBox 6"/>
          <p:cNvSpPr txBox="1"/>
          <p:nvPr/>
        </p:nvSpPr>
        <p:spPr>
          <a:xfrm>
            <a:off x="502920" y="6473952"/>
            <a:ext cx="5669280" cy="274320"/>
          </a:xfrm>
          <a:prstGeom prst="rect">
            <a:avLst/>
          </a:prstGeom>
          <a:noFill/>
        </p:spPr>
        <p:txBody>
          <a:bodyPr wrap="square" anchor="t" lIns="0" rIns="0" tIns="0" bIns="0">
            <a:spAutoFit/>
          </a:bodyPr>
          <a:lstStyle/>
          <a:p>
            <a:pPr algn="l">
              <a:spcBef>
                <a:spcPts val="0"/>
              </a:spcBef>
              <a:spcAft>
                <a:spcPts val="400"/>
              </a:spcAft>
            </a:pPr>
            <a:r>
              <a:rPr sz="850" b="0">
                <a:solidFill>
                  <a:srgbClr val="5B6372"/>
                </a:solidFill>
                <a:latin typeface="Arial"/>
              </a:rPr>
              <a:t>Agentic AI Automation with n8n  ·  TGS-2023035977</a:t>
            </a:r>
          </a:p>
        </p:txBody>
      </p:sp>
      <p:sp>
        <p:nvSpPr>
          <p:cNvPr id="8" name="TextBox 7"/>
          <p:cNvSpPr txBox="1"/>
          <p:nvPr/>
        </p:nvSpPr>
        <p:spPr>
          <a:xfrm>
            <a:off x="5486400" y="6473952"/>
            <a:ext cx="5486400" cy="274320"/>
          </a:xfrm>
          <a:prstGeom prst="rect">
            <a:avLst/>
          </a:prstGeom>
          <a:noFill/>
        </p:spPr>
        <p:txBody>
          <a:bodyPr wrap="square" anchor="t" lIns="0" rIns="0" tIns="0" bIns="0">
            <a:spAutoFit/>
          </a:bodyPr>
          <a:lstStyle/>
          <a:p>
            <a:pPr algn="ctr">
              <a:spcBef>
                <a:spcPts val="0"/>
              </a:spcBef>
              <a:spcAft>
                <a:spcPts val="400"/>
              </a:spcAft>
            </a:pPr>
            <a:r>
              <a:rPr sz="850" b="0">
                <a:solidFill>
                  <a:srgbClr val="5B6372"/>
                </a:solidFill>
                <a:latin typeface="Arial"/>
              </a:rPr>
              <a:t>© 2026 Tertiary Infotech Academy Pte Ltd</a:t>
            </a:r>
          </a:p>
        </p:txBody>
      </p:sp>
      <p:sp>
        <p:nvSpPr>
          <p:cNvPr id="9" name="TextBox 8"/>
          <p:cNvSpPr txBox="1"/>
          <p:nvPr/>
        </p:nvSpPr>
        <p:spPr>
          <a:xfrm>
            <a:off x="10881360" y="6473952"/>
            <a:ext cx="822960" cy="274320"/>
          </a:xfrm>
          <a:prstGeom prst="rect">
            <a:avLst/>
          </a:prstGeom>
          <a:noFill/>
        </p:spPr>
        <p:txBody>
          <a:bodyPr wrap="square" anchor="t" lIns="0" rIns="0" tIns="0" bIns="0">
            <a:spAutoFit/>
          </a:bodyPr>
          <a:lstStyle/>
          <a:p>
            <a:pPr algn="r">
              <a:spcBef>
                <a:spcPts val="0"/>
              </a:spcBef>
              <a:spcAft>
                <a:spcPts val="400"/>
              </a:spcAft>
            </a:pPr>
            <a:r>
              <a:rPr sz="900" b="1">
                <a:solidFill>
                  <a:srgbClr val="5B6372"/>
                </a:solidFill>
                <a:latin typeface="Arial"/>
              </a:rPr>
              <a:t>128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