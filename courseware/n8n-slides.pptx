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ertiary-infotech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640080"/>
            <a:ext cx="960120" cy="960120"/>
          </a:xfrm>
          <a:prstGeom prst="rect">
            <a:avLst/>
          </a:prstGeom>
        </p:spPr>
      </p:pic>
      <p:pic>
        <p:nvPicPr>
          <p:cNvPr id="6" name="Picture 5" descr="n8n-course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0" y="658368"/>
            <a:ext cx="914400" cy="914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1031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F6FEB"/>
                </a:solidFill>
                <a:latin typeface="Arial"/>
              </a:rPr>
              <a:t>LEARNER GUIDE  ·  COURSE SLIDES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161B26"/>
                </a:solidFill>
                <a:latin typeface="Arial"/>
              </a:rPr>
              <a:t>Agentic AI Automation with n8n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931920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25196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WSQ Course Code: TGS-2023035977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372"/>
                </a:solidFill>
                <a:latin typeface="Arial"/>
              </a:rPr>
              <a:t>Conducted by Tertiary Infotech Academy Pte Ltd  ·  UEN 201200696W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989320"/>
            <a:ext cx="10972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372"/>
                </a:solidFill>
                <a:latin typeface="Arial"/>
              </a:rPr>
              <a:t>© 2026 Tertiary Infotech Academy Pte Ltd. All rights reserved.  ·  www.tertiarycourses.com.sg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COURSE ADMINISTRATION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Welcome &amp; Housekeeping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TRAQOM · SSG DIGITAL ATTENDANCE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Digital Attendance (Mandatory)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It is mandatory to take the AM, PM and Assessment digital attendance for WSQ-funded courses.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trainer/administrator will display the digital attendance QR code generated from the SSG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Scan the QR code with your mobile phone camera and submit your attendance.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minimum of 75% attendance is required to be eligible for assessment and funding.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YOUR TRAINER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About the Trainer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Dr. Alfred Ang — Principal Trainer, Tertiary Infotech Academy Pte. Ltd.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PhD; specialises in Artificial Intelligence, automation and software engineering.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Designs and delivers WSQ courses on AI agents, automation (n8n) and app development.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Founder and lead instructor at Tertiary Infotech / Tertiary Courses.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ICE-BREAKER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Let's Know Each Other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Your name and organisation / role.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Your experience with automation or AI tools (if any).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What you want to automate after this course.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Ground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Set your mobile phone to silent mode.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Participate actively — no question is too small.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Mutual respect: agree to disagree.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One conversation at a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Be punctual; return from breaks on time.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Step out quietly for calls or toilet breaks.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75% attendance is required.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COURSE PORTAL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LMS / TMS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Access your course materials, attendance and assessment on the LMS/TMS portal.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Portal: https://lms-tms.tertiaryinfotech.com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Download the slides and Learner Guide for reference during the open-book assessment.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Lesson Plan — 3 Days, 8 hours/day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Days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Day 3 &amp; timing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Day 1 — Workflow Automation + AI Agents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Topic 1: n8n basics + Activities 1, 2, 3a, 3b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Topic 2: AI Agents — Activities 4a, 4b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Day 2 — RAG, Webhooks, APIs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RAG (Activity 5)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Webhooks (Activity 6) · APIs (Activity 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Day 3 — Security &amp; Capstone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Human-in-the-loop + Guardrails (Activity 8)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Mini Capstone + presentations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Daily timing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9:30am–6:30pm · 1-hour lunch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Short tea breaks within each 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WHAT YOU'LL ACHIEVE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Learning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LO1: Build automated workflows in n8n using triggers, actions, nodes and 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LO2: Design AI agents with LLMs, memory and tools, triggered from chat / Telegram.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LO3: Apply Retrieval-Augmented Generation (RAG) to ground agents in your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LO4: Integrate external systems via webhooks, APIs and HTTP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LO5: Apply human-in-the-loop and guardrails to secure agentic automations.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FINAL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Written Assessment (SAQ)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Format: Open Book — slides, Learner Guide and approved materials only.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mini capstone project is presented on Day 3.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appeal process is available if required.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Briefing for Assessment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Place phones and other materials under the table or on the floor.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 photos or recording of assessment scripts.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 discussion during the assessment.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Use a black/blue pen for hard-copy assessments.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 liquid paper / correction tape.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Scripts are collected when time is 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Workflow Automation with n8n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Triggers · Actions · Nodes ·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n8n?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workflow automation platform — connect apps and services with little or no code.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Visual editor: drag nodes onto a canvas and wire them together.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Runs in the cloud (trial) or self-hosted locally with Docker.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400+ integrations, HTTP/code nodes, and AI/LangChain nodes for agents.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Why Automate?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Remove repetitive manual work and human error.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Connect systems that don't normally talk to each other.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React to events in real time (forms, webhooks, schedules).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Add AI to make workflows understand language and make decisions.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GET READY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Setting Up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Option A — Cloud trial: sign up at n8n.io and start in the editor immediately.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Option B — Local Docker Compose (persistent): docker compose up -d → http://localhost:5678.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Trial Data Tables are not permanent — store anything you keep externally (Google Sheets).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See labs/n8n-installation/docker-compose.yml in the course repo.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ACCOUNTS &amp; KEYS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Credential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Add credentials once under Credentials → Add credential.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Gmail / Outlook (OAuth2) for email; OpenAI / Gemini for AI.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Telegram bot token (from @BotFather); Google Sheets (OAuth2).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Imported workflows reference credential names — re-select your own after importing.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UI TOUR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The n8n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Canvas — where you place and connect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Node panel — search 400+ nodes by name.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Execute Workflow — run and inspect data at each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Each node shows input and output data as JSON.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BUILDING BLOCKS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n8n Nodes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Triggers &amp; 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Logic &amp;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Trigger nodes — start a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Form, Webhook, Telegram, Schedule, Manual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Action nodes — do something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Gmail, Google Sheets, HTTP Request, Data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Logic nodes — control the 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IF, Switch, Merge, Split Out, Code, Edit Fields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AI nodes — reason and act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AI Agent, Chat Model, Memory, Vector Store,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CORE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Triggers and Actions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Trigger is the first node — it decides WHEN a workflow runs.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Manual &amp; Schedule triggers for testing and time-based jobs.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Form, Webhook and Telegram triggers respond to external events.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Actions run after the trigger — send email, store data, call an API.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HOW IT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Execution Modes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Test execution — run manually in the editor to inspect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Production execution — runs automatically when Active.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Each run is recorded in the Execution History for debugging.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Data Structure &amp; 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Data flows between nodes as a list of items, each a JSON object.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Each item has a json field with key/value pairs.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Nodes read the previous node's output and add to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DATA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Expressions &amp; Data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Expressions pull data from earlier nodes: {{ $json.Name }}.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Drag fields from the input panel to map them automatically.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Use expressions in any field — subject lines, URLs, conditions.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DEBUGGING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Pin Data &amp; Execution History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Pin data to freeze a node's output while you build downstream nodes.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Edit output to test different scenarios without re-running triggers.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Execution History shows every run, its data, and any errors.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SHAPING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Transforming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Edit Fields (Set) — add, rename or reshape fields.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Code node — run JavaScript/Python for custom logic.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Split Out — turn one item with a list into many items.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Merge — combine data from two branches (append, combine, choose).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Conditional Logic — IF &amp; Switch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IF node — two outputs: true and false, based on a condition.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Switch node — many outputs for multiple cases.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Use them to route submissions, approvals, or message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Sub-Workflows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Break big automations into reusable smaller workflows.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Call a sub-workflow with the Execute Workflow node.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Keeps workflows readable and lets you reuse common logic.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Collect a visitor's details with an n8n Form and email them to an admin, then turn the form URL into a QR code on an event flyer (group activity).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 Trigger  →  Gmail (Send)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1-Flyer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847" y="1691640"/>
            <a:ext cx="990600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Form Trigger → Gmail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new workflow and add an n8n Form Trigger; set a Form Title.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four fields: Name, Email, Phone, Message (mark Name &amp; Email required).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Gmail node (Send a Message) after the Form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Set To = admin address, Subject = New RSVP from {{ $json.Name }}, and a body using the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Select your Gmail credential, Save, and toggle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Copy the Form's Production URL; paste it into the QR generator (alfredang.github.io/qrcodegenerator) and put the QR on a flyer.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Group activity: design an event flyer (e.g. bowling night) with the QR code, then present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1 — Flyer with QR Code (Form → Email)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Scan the QR code, submit the form, and confirm the admin inbox receives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Extend Activity 1 so every submission is also saved into an n8n Data Table — your first taste of storing data, not just forwarding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 Trigger  →  Gmail  +  Data Table (Insert row)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gmail, dataTable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2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6968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Form → Gmail +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In n8n open Data Tables and create a table 'RSVPs' with columns Name, Email, Phone, Message.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Continue from your Activity 1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Data Table node (Insert Row) connected after the Form Trigger, alongside Gmail.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Map each form field to its column with expressions, e.g. Name → {{ $json.Name }}.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2 — Capture Submissions in a Data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the form and confirm a new row appears in the RSVPs Data Table and the email still sends.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3a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Add decision-making with an IF node. If the visitor is attending, save the date to the Data Table; if not, send a polite thank-you email.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 Trigger  →  IF  →  Data Table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if, dataTable,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a-Conditional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80" y="1691640"/>
            <a:ext cx="7400134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IF routes to Data Table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an Attending? field (Yes/No dropdown) to the form.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an IF node after the Form Trigger: condition {{ $json.Attending }} equals Yes.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On the true output, add a Data Table → Insert Row to save the RSVP.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On the false output, add a Gmail node sending a friendly thank-you.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 and keep the workflow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3a — Conditional Response (Data Table)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once with Attending = Yes (new Data Table row) and once with No (thank-you email).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3b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Make data persistent by replacing the Data Table with Google Sheets (or Excel). Same logic — the Yes branch appends a row to a real spreadsheet you keep.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 Trigger  →  IF  →  Google Sheets / Gmail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if, googleSheets,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3b-Conditional-Google-Shee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3569" y="1691640"/>
            <a:ext cx="9444556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IF routes to Google Sheets or a thank-you 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Google Sheet 'Event RSVPs' with a header row: Name, Email, Phone, Date.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Google Sheets credential (OAuth2) in n8n and authorise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Take Activity 3a; on the true branch replace the Data Table with a Google Sheets → Append Row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Select your spreadsheet and sheet, then map each column to the form fields.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Leave the false branch (thank-you email) unchanged; 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1 · WORKFLOW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3b — Conditional Response (Google Sheets / Excel)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with Attending = Yes and confirm a new row is appended to your Google Sheet.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  ·  see you at 2:00 pm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AI Agents and RAG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LLM · Memory · Tools · System Instruction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Agentic AI?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Traditional automation follows fixed rules you wire by hand.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AI agent uses an LLM to understand language and decide what to do.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It can call tools, remember context, and handle open-ended requests.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Agentic = the AI takes actions toward a goal, not just answers once.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Agent Using an LLM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LLM is the 'brain' that interprets the user and plans a response.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Tools give the agent abilities (look up data, search, call an API).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Memory lets it hold a conversation across messages.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system instruction sets its role, tone and rules.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THE PIECES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AI Agent Concepts in n8n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Model &amp;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Tools &amp; Instruction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LLM — generates the replies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OpenAI gpt-4.1-mini or Google Gemini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Memory — recalls the conversation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Simple / window buffer memory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Tools — actions the agent can call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Data Table, Vector Store, HTTP, sub-workflow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System Instruction — role &amp; rules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Persona, scope, and do/don't guidance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INSTRUCTION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Creating System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State the agent's role: 'You are an HR admin assistant.'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Give scope and limits: what it should and shouldn't answer.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Tell it which tool to use for which kind of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Keep it concise, specific and testable.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BEST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Agent Instruction Best Practices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Be explicit about routing between multiple tools/sources.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Ask for a clear format when you need structured output.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Tell it to say 'I don't know' rather than invent answers.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Iterate: test with real questions and refine the prompt.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EXTENDING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Memory &amp; Tools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Add memory so follow-up questions keep context.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Attach tools to the agent's Tool input; describe each tool clearly.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The agent decides when to call a tool based on your description.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All agents in this course use OpenAI gpt-4.1-mini.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4a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Build your first AI agent: a customer-service chatbot you talk to from Telegram, using an LLM, memory and a system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Telegram Trigger  →  AI Agent (+ model + memory)  →  Telegram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telegramTrigger, agent, lmChatOpenAi, memory,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a-Telegram-Ag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449" y="1691640"/>
            <a:ext cx="10150797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Telegram-triggered AI agent with model + memory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In Telegram, open @BotFather → /newbot, then copy the bot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Telegram credential in n8n and paste the token.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71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Telegram Trigger node (fires on each message).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72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an AI Agent node after the trigger.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73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Attach an OpenAI Chat Model (gpt-4.1-mini) and a Simple Memory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Write the system instruction (friendly customer-service assistant).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7 OF 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Telegram → Send Message: Chat ID = {{ $json.message.chat.id }}, Text = the agent output.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4a — Telegram-Triggered AI Agent (Customer Service)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Message your bot in Telegram and confirm it replies.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77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Give the agent a tool: an employee Data Table it can query. The same bot now answers HR-admin questions from real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Telegram  →  AI Agent  +  Data Table Tool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agent, dataTableTool, telegram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78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4b-Telegram-Data-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4485" y="1691640"/>
            <a:ext cx="9742725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Agent with a Data Table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79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Create a Data Table 'Employees' and upload the provided employees.csv (100 records).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80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Open your Activity 4a workflow.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81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Data Table Tool and attach it to the AI Agent's Tool input.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Point the tool at the Employees table and describe it (look up staff by name/department).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83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Update the system instruction to use the Employees tool for staff questions.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84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AI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4b — Telegram Agent + Data Table Tool (HR Admin)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'Which department is &lt;a name from the CSV&gt; in?' and confirm it answers from the 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End of Day 1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built form automations, conditional logic and data storage.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created a Telegram AI agent with memory and a Data Table tool.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Tomorrow: RAG, Webhooks and external APIs.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2 (cont.)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Retrieval-Augmented Generation (RAG)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Tokenization · Embeddings · Vector Stores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87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RAG?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RAG lets an agent answer from YOUR documents, not just its training data.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Documents are split, embedded and stored; relevant chunks are retrieved per question.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Reduces hallucination and keeps answers grounded and current.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88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EMBEDDINGS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Text Embedding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Tokenization splits text into tokens the model can process.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embedding turns a chunk of text into a vector (list of numbers).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Similar meanings produce vectors that are close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89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VECTOR STORE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Vector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Vectors are stored in a vector store (in-memory, Pinecone, etc.).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At query time, the question is embedded and the closest chunks are retrieved.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Those chunks are given to the LLM as context to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90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Upgrade the agent to answer from documents (policies/FAQs) AND the Data Table. It must route to the right source for each question — two knowledge sources, one agent.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Telegram  →  AI Agent  +  Vector Store (RAG) + Data Table  → 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agent, vectorStoreInMemory, embeddingsOpenAi, dataTableTool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91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5-RAG-Tele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2140" y="1691640"/>
            <a:ext cx="7067415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Agent routes between a RAG vector store and a Data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92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Prepare documents: use MyCompany-HR-SOP.docx / IT-Support-FAQ.docx, or generate FAQs with Claude Code.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93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Build the ingestion path: upload → Embeddings (OpenAI) → Vector Store (Insert) with a Default Data Loader.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94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In your Telegram agent, add a Vector Store retrieval tool alongside the Data Table tool.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Rewrite the system instruction to route: knowledge base for policy/FAQ, Data Table for staff records.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 and keep Active; have a few learners present their chatbot.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97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2 · RAG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5 — Add RAG to the Telegram Agent (Two Knowledge Sources)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a policy question and a staff-record question; confirm each is answered from the correct source.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98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Webhooks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External triggers for your workflows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100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 Webhook?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Webhook is a URL that external systems call to trigger your workflow.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Use cases: website chat, form submissions, payments, app notifications.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Pair the Webhook trigger with a Respond to Webhook node to reply.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101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DIRECTION OF THE CALL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HTTP Request vs Webhook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83080"/>
            <a:ext cx="521208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5080" y="1783080"/>
            <a:ext cx="5074920" cy="429768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Outbound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965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Inbound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475488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F6FEB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HTTP Request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YOUR workflow CALLS an external service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You pull data when you choose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468880"/>
            <a:ext cx="461772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B981"/>
                </a:solidFill>
                <a:latin typeface="Arial"/>
              </a:rPr>
              <a:t>•  </a:t>
            </a:r>
            <a:r>
              <a:rPr sz="1500">
                <a:solidFill>
                  <a:srgbClr val="161B26"/>
                </a:solidFill>
                <a:latin typeface="Arial"/>
              </a:rPr>
              <a:t>Webhook node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An external service CALLS your workflow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5B6372"/>
                </a:solidFill>
                <a:latin typeface="Arial"/>
              </a:rPr>
              <a:t>   –  </a:t>
            </a:r>
            <a:r>
              <a:rPr sz="1400">
                <a:solidFill>
                  <a:srgbClr val="161B26"/>
                </a:solidFill>
                <a:latin typeface="Arial"/>
              </a:rPr>
              <a:t>You react when an event happens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102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Webhook Node &amp; URL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Each Webhook node has a Test URL and a Production URL.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Set the HTTP method (GET/POST) and a path.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Set Allowed Origins (CORS) to * so a browser page can call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103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SECURING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Webhook Authentication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None — open endpoint (fine for demos).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Basic Auth — username &amp; password.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Header Auth — a secret key in a request header.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JWT — signed tokens for stronger security.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104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Expose an AI agent to a public website via a Webhook. The Investment Advisor page has an enquiry form and a floating chatbot; both post to one n8n webhook.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Webhook  →  AI Agent  →  Respond to Webhook  (+ email the advisor)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webhook, agent, respondToWebhook, gmail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6-Investment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512" y="1691640"/>
            <a:ext cx="699667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One webhook, two paths: enquiry email + AI chat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106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Import Activity6-Investment-Advisor.json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107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Open the Webhook node(s) and set Allowed Origins (CORS) to *.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108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Re-select your OpenAI and Gmail credentials on the agent and email nodes.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109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Review the compliance system instruction (no guaranteed returns, no personalised advice).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110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Save, Activate, and copy the webhook Production URL.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111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Open index.html, click the gear, and paste your webhook URL; have learners present their site.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112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3 · WEBHOOKS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6 — Website Chatbot via Webhook (Investment Advisor)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On the website, send a chat message and submit the enquiry form; confirm the bot replies and the advisor gets the email.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113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Tea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0B981"/>
                </a:solidFill>
                <a:latin typeface="Arial"/>
              </a:rPr>
              <a:t>15 minutes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API and HTTP Request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Pull live data from external services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What is an API?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An API lets your workflow request data from another service over HTTP.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send a request; the service sends back a response (usually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APIs power live data: prices, weather, news, CRM records.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116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ANATOMY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Components of an HTTP Request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Method — GET (read), POST (send), PUT, DELETE.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URL / endpoint — the address of the resource.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Headers — metadata, including authentication.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Query params / body — the inputs you send.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117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READING RESPONSES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HTTP Response &amp; Status Codes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Body — the data returned (often JSON).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200 OK — success; 201 Created.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401 Unauthorized — bad/missing API key; 429 — rate limited.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4xx = your request; 5xx = the server.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118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IN n8n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HTTP Request Node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Configure method, URL, headers and query parameters.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Store API keys in credentials, never hard-coded.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Parse the JSON response and pass fields to the next node.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119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Ask the Telegram bot about a stock; it resolves the ticker, pulls candles from Twelve Data and headlines from NewsAPI, and replies with a Buy/Sell/Hold call and reasoning.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Telegram → Extract ticker → HTTP (Twelve Data + NewsAPI) → AI Agent → reply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telegram, httpRequest, agent, lmChatOpenAi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120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7-Finance-Advis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7512" y="1691640"/>
            <a:ext cx="6996670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Multi-timeframe candles + news → AI day-trading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121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Get free API keys: Twelve Data (twelvedata.com/login) and NewsAPI (newsapi.org).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122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Import Activity7-Finance-Advisor.json into n8n.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123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Set your Twelve Data and NewsAPI keys (credentials or HTTP query params).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124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Re-select your OpenAI and Telegram credentials.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Review the flow: Telegram → Extract Ticker → HTTP candles (1m/15m/1h) + news → Aggregate → AI Agent → reply.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126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6 OF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Save, Activate; optionally open index.html and set your key + bot username.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127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4 · API &amp; HTTP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7 — Finance API → Telegram (AI Day-Trading Agent)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Message the bot 'Should I buy AAPL?' and confirm it returns a recommendation with reasoning.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128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End of Day 2 — Recap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grounded an agent with RAG over your own documents.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exposed an agent to a website via a webhook.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You pulled live market + news data through APIs into a Telegram agent.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129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Security and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Human-in-the-loop · Pre/Post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130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Human in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Some actions are too sensitive to fully automate — money, hiring, sending on behalf.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human-in-the-loop step pauses the workflow for a person to Approve or Reject.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n8n's Send and Wait for Response captures that decision (email / Telegram).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131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8a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Model a leave-application approval: a request comes in, a manager is asked to approve, and the flow only continues — recording the leave and confirming — on approval.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Form → Manager Approval (Send &amp; Wait) → IF → confirm / decline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formTrigger, gmail (sendAndWait), if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132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a-Human-in-the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487" y="1691640"/>
            <a:ext cx="10332720" cy="381287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Approval pauses the flow until a manager decides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133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Start with a Form Trigger collecting Employee, Email, Dates, Reason.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134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 Gmail → Send and Wait for Response (Approval) addressed to the manager.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Add an IF node on the approval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136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On Approved: record the leave (Data Table) and email a confirmation.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137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On Rejected: email the employee that the request was declined. Save &amp; Activate.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138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8a — Human-in-the-Loop Approval (Leave Application)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Submit a leave request, approve it from the manager email, and confirm the employee gets a confirmation.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139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Pre-guardrail — validate/sanitise the input (block prompt-injection, PII) before the LLM.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Post-guardrail — check the output (no secrets, no disallowed content) before sending.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On a violation, route to a safe fallback or human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140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664208"/>
            <a:ext cx="1554480" cy="4572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09928"/>
            <a:ext cx="1554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Arial"/>
              </a:rPr>
              <a:t>ACT 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Wrap an AI agent so unsafe input never reaches the model and unsafe output never reaches the user. Add a pre-check before the agent and a post-check after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931920"/>
            <a:ext cx="10698480" cy="1828800"/>
          </a:xfrm>
          <a:prstGeom prst="rect">
            <a:avLst/>
          </a:prstGeom>
          <a:solidFill>
            <a:srgbClr val="F5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1148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F6FEB"/>
                </a:solidFill>
                <a:latin typeface="Arial"/>
              </a:rPr>
              <a:t>You'll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4805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61B26"/>
                </a:solidFill>
                <a:latin typeface="Arial"/>
              </a:rPr>
              <a:t>Webhook → Pre-check → AI Agent → Post-check → Respond / Blocked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1206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Key nodes:  </a:t>
            </a:r>
            <a:r>
              <a:rPr sz="1300" b="0">
                <a:solidFill>
                  <a:srgbClr val="5B6372"/>
                </a:solidFill>
                <a:latin typeface="Arial"/>
              </a:rPr>
              <a:t>webhook, if, agent, respondToWebhook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141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 —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ctivity8b-Guardr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1521" y="1691640"/>
            <a:ext cx="9368653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372"/>
                </a:solidFill>
                <a:latin typeface="Arial"/>
              </a:rPr>
              <a:t>Pre/post checks gate the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142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1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Start from the Activity 6 webhook agent (or the Telegram agent).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143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2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Before the AI Agent, add a check that inspects the user message; on a violation, branch to a safe canned response.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144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3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After the AI Agent, add a check that scans the reply for secrets/policy violations.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145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4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Only send the reply when both guardrails pass; otherwise return a safe message.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146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7440"/>
            <a:ext cx="1371600" cy="13716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5184"/>
            <a:ext cx="1371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783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B6372"/>
                </a:solidFill>
                <a:latin typeface="Arial"/>
              </a:rPr>
              <a:t>STEP 5 OF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468880"/>
            <a:ext cx="9144000" cy="2926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>
                <a:solidFill>
                  <a:srgbClr val="161B26"/>
                </a:solidFill>
                <a:latin typeface="Arial"/>
              </a:rPr>
              <a:t>Save and keep Active.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147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0B981"/>
                </a:solidFill>
                <a:latin typeface="Arial"/>
              </a:rPr>
              <a:t>TOPIC 5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Activity 8b — Pre &amp; Post Guardrails for the AI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03120"/>
            <a:ext cx="10698480" cy="2377440"/>
          </a:xfrm>
          <a:prstGeom prst="rect">
            <a:avLst/>
          </a:prstGeom>
          <a:solidFill>
            <a:srgbClr val="E8F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774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27A3E"/>
                </a:solidFill>
                <a:latin typeface="Arial"/>
              </a:rPr>
              <a:t>✅  Test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175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161B26"/>
                </a:solidFill>
                <a:latin typeface="Arial"/>
              </a:rPr>
              <a:t>Send a normal question (passes through) and a disallowed one (blocked by the pre-guardrail).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148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937760" y="2148840"/>
            <a:ext cx="2313432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0" y="2514600"/>
            <a:ext cx="1219169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Lunch Break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3703320"/>
            <a:ext cx="1219169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59E0B"/>
                </a:solidFill>
                <a:latin typeface="Arial"/>
              </a:rPr>
              <a:t>1 hour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286000"/>
            <a:ext cx="128016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317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TOPIC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7432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61B26"/>
                </a:solidFill>
                <a:latin typeface="Arial"/>
              </a:rPr>
              <a:t>Mini Capstone 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1288" y="41148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372"/>
                </a:solidFill>
                <a:latin typeface="Arial"/>
              </a:rPr>
              <a:t>Design · Build · Present · Assess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64008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7200" b="1">
                <a:solidFill>
                  <a:srgbClr val="E2E8F0"/>
                </a:solidFill>
                <a:latin typeface="Arial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150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BRING IT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Mini Capstone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In small groups, design and build an end-to-end automation using what you learned.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Include: a trigger, an AI agent with a tool or RAG source, an external API or storage, and a guardrail / human-in-the-loop step.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A worked example — Issue Reporting (form + image → Postgres + gallery) — is provided.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Deliverables: a working workflow, a short demo, and a 3–5 minute presentation.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151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66928"/>
            <a:ext cx="109728" cy="566928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4980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700" b="1">
                <a:solidFill>
                  <a:srgbClr val="161B26"/>
                </a:solidFill>
                <a:latin typeface="Arial"/>
              </a:rPr>
              <a:t>Presentation &amp; Assessment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17320"/>
            <a:ext cx="10972800" cy="254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1060704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Present the problem, your design, and what you'd improve.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Written Assessment (SAQ) — 1 hour · Practical Performance (PP) — 1 hour.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Open book: slides, Learner Guide and approved materials.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800" b="1">
                <a:solidFill>
                  <a:srgbClr val="1F6FEB"/>
                </a:solidFill>
                <a:latin typeface="Arial"/>
              </a:rPr>
              <a:t>•  </a:t>
            </a:r>
            <a:r>
              <a:rPr sz="1800">
                <a:solidFill>
                  <a:srgbClr val="161B26"/>
                </a:solidFill>
                <a:latin typeface="Arial"/>
              </a:rPr>
              <a:t>Remember to take the Assessment digital attendance (TRAQOM).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152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468880"/>
            <a:ext cx="128016" cy="137160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688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800" b="1">
                <a:solidFill>
                  <a:srgbClr val="161B26"/>
                </a:solidFill>
                <a:latin typeface="Arial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749039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800" b="0">
                <a:solidFill>
                  <a:srgbClr val="5B6372"/>
                </a:solidFill>
                <a:latin typeface="Arial"/>
              </a:rPr>
              <a:t>Keep your local n8n running and keep building your own agents.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1F6FEB"/>
                </a:solidFill>
                <a:latin typeface="Arial"/>
              </a:rPr>
              <a:t>Download all flows: github.com/tertiarycourses/TGS-2023035977-Agentic-AI-Automation-with-n8n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5B6372"/>
                </a:solidFill>
                <a:latin typeface="Arial"/>
              </a:rPr>
              <a:t>Powered by Tertiary Infotech Academy Pte Ltd  ·  www.tertiarycourses.com.sg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669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Agentic AI Automation with n8n  ·  TGS-2023035977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50" b="0">
                <a:solidFill>
                  <a:srgbClr val="5B6372"/>
                </a:solidFill>
                <a:latin typeface="Arial"/>
              </a:rPr>
              <a:t>© 2026 Tertiary Infotech Academy Pte Ltd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473952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372"/>
                </a:solidFill>
                <a:latin typeface="Arial"/>
              </a:rPr>
              <a:t>153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