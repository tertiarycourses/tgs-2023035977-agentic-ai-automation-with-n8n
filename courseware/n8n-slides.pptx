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8" r:id="rId2"/>
    <p:sldId id="315" r:id="rId3"/>
    <p:sldId id="262" r:id="rId4"/>
    <p:sldId id="264" r:id="rId5"/>
    <p:sldId id="265" r:id="rId6"/>
    <p:sldId id="314" r:id="rId7"/>
    <p:sldId id="323" r:id="rId8"/>
    <p:sldId id="329" r:id="rId9"/>
    <p:sldId id="324" r:id="rId10"/>
    <p:sldId id="325" r:id="rId11"/>
    <p:sldId id="281" r:id="rId12"/>
    <p:sldId id="283" r:id="rId13"/>
    <p:sldId id="326" r:id="rId14"/>
    <p:sldId id="287" r:id="rId15"/>
    <p:sldId id="327" r:id="rId16"/>
    <p:sldId id="318" r:id="rId17"/>
    <p:sldId id="293" r:id="rId18"/>
    <p:sldId id="321" r:id="rId19"/>
    <p:sldId id="297" r:id="rId20"/>
    <p:sldId id="298" r:id="rId21"/>
    <p:sldId id="322" r:id="rId22"/>
    <p:sldId id="319" r:id="rId23"/>
    <p:sldId id="316" r:id="rId24"/>
    <p:sldId id="330" r:id="rId25"/>
    <p:sldId id="320" r:id="rId26"/>
    <p:sldId id="317" r:id="rId27"/>
    <p:sldId id="311" r:id="rId28"/>
    <p:sldId id="31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826"/>
    <p:restoredTop sz="94651"/>
  </p:normalViewPr>
  <p:slideViewPr>
    <p:cSldViewPr snapToGrid="0">
      <p:cViewPr varScale="1">
        <p:scale>
          <a:sx n="74" d="100"/>
          <a:sy n="74" d="100"/>
        </p:scale>
        <p:origin x="184"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867C2-45EB-77B2-554E-E5C7E91D4E7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5C5AF24-60A1-56B6-D26D-4BCC246ADF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7AF5F6B-039E-7959-B268-D7110FC8757C}"/>
              </a:ext>
            </a:extLst>
          </p:cNvPr>
          <p:cNvSpPr>
            <a:spLocks noGrp="1"/>
          </p:cNvSpPr>
          <p:nvPr>
            <p:ph type="dt" sz="half" idx="10"/>
          </p:nvPr>
        </p:nvSpPr>
        <p:spPr/>
        <p:txBody>
          <a:bodyPr/>
          <a:lstStyle/>
          <a:p>
            <a:fld id="{AC179662-6A12-1640-86D8-33BD58FD2C7C}" type="datetimeFigureOut">
              <a:rPr lang="en-US" smtClean="0"/>
              <a:t>6/23/26</a:t>
            </a:fld>
            <a:endParaRPr lang="en-US"/>
          </a:p>
        </p:txBody>
      </p:sp>
      <p:sp>
        <p:nvSpPr>
          <p:cNvPr id="5" name="Footer Placeholder 4">
            <a:extLst>
              <a:ext uri="{FF2B5EF4-FFF2-40B4-BE49-F238E27FC236}">
                <a16:creationId xmlns:a16="http://schemas.microsoft.com/office/drawing/2014/main" id="{2A7E5FBF-AB5E-1772-67FE-770BD53653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DD8B3-55C0-6E76-7FC5-8C016B59CCA6}"/>
              </a:ext>
            </a:extLst>
          </p:cNvPr>
          <p:cNvSpPr>
            <a:spLocks noGrp="1"/>
          </p:cNvSpPr>
          <p:nvPr>
            <p:ph type="sldNum" sz="quarter" idx="12"/>
          </p:nvPr>
        </p:nvSpPr>
        <p:spPr/>
        <p:txBody>
          <a:bodyPr/>
          <a:lstStyle/>
          <a:p>
            <a:fld id="{1DA9E8A6-ABFC-5C4A-B6FF-F7DBEBBAA4DD}" type="slidenum">
              <a:rPr lang="en-US" smtClean="0"/>
              <a:t>‹#›</a:t>
            </a:fld>
            <a:endParaRPr lang="en-US"/>
          </a:p>
        </p:txBody>
      </p:sp>
    </p:spTree>
    <p:extLst>
      <p:ext uri="{BB962C8B-B14F-4D97-AF65-F5344CB8AC3E}">
        <p14:creationId xmlns:p14="http://schemas.microsoft.com/office/powerpoint/2010/main" val="636699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8E00A-7020-7A12-5B75-0A4F7C603AE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DC16558-C944-D48C-5E21-D20D7C9FF87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A3563ED-4465-C828-2692-7D2A098A343D}"/>
              </a:ext>
            </a:extLst>
          </p:cNvPr>
          <p:cNvSpPr>
            <a:spLocks noGrp="1"/>
          </p:cNvSpPr>
          <p:nvPr>
            <p:ph type="dt" sz="half" idx="10"/>
          </p:nvPr>
        </p:nvSpPr>
        <p:spPr/>
        <p:txBody>
          <a:bodyPr/>
          <a:lstStyle/>
          <a:p>
            <a:fld id="{AC179662-6A12-1640-86D8-33BD58FD2C7C}" type="datetimeFigureOut">
              <a:rPr lang="en-US" smtClean="0"/>
              <a:t>6/23/26</a:t>
            </a:fld>
            <a:endParaRPr lang="en-US"/>
          </a:p>
        </p:txBody>
      </p:sp>
      <p:sp>
        <p:nvSpPr>
          <p:cNvPr id="5" name="Footer Placeholder 4">
            <a:extLst>
              <a:ext uri="{FF2B5EF4-FFF2-40B4-BE49-F238E27FC236}">
                <a16:creationId xmlns:a16="http://schemas.microsoft.com/office/drawing/2014/main" id="{40674EE7-1F6D-376F-C268-8F4E0A82CA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E2BE83-5B47-E20E-C82F-0E8302191302}"/>
              </a:ext>
            </a:extLst>
          </p:cNvPr>
          <p:cNvSpPr>
            <a:spLocks noGrp="1"/>
          </p:cNvSpPr>
          <p:nvPr>
            <p:ph type="sldNum" sz="quarter" idx="12"/>
          </p:nvPr>
        </p:nvSpPr>
        <p:spPr/>
        <p:txBody>
          <a:bodyPr/>
          <a:lstStyle/>
          <a:p>
            <a:fld id="{1DA9E8A6-ABFC-5C4A-B6FF-F7DBEBBAA4DD}" type="slidenum">
              <a:rPr lang="en-US" smtClean="0"/>
              <a:t>‹#›</a:t>
            </a:fld>
            <a:endParaRPr lang="en-US"/>
          </a:p>
        </p:txBody>
      </p:sp>
    </p:spTree>
    <p:extLst>
      <p:ext uri="{BB962C8B-B14F-4D97-AF65-F5344CB8AC3E}">
        <p14:creationId xmlns:p14="http://schemas.microsoft.com/office/powerpoint/2010/main" val="1595906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A76A4-1EB0-2A99-5653-51667777B66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4B9445F-F9F9-C6A4-4B08-893F1415DE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A09C189-F01E-F6D0-6605-8D69A6F89412}"/>
              </a:ext>
            </a:extLst>
          </p:cNvPr>
          <p:cNvSpPr>
            <a:spLocks noGrp="1"/>
          </p:cNvSpPr>
          <p:nvPr>
            <p:ph type="dt" sz="half" idx="10"/>
          </p:nvPr>
        </p:nvSpPr>
        <p:spPr/>
        <p:txBody>
          <a:bodyPr/>
          <a:lstStyle/>
          <a:p>
            <a:fld id="{AC179662-6A12-1640-86D8-33BD58FD2C7C}" type="datetimeFigureOut">
              <a:rPr lang="en-US" smtClean="0"/>
              <a:t>6/23/26</a:t>
            </a:fld>
            <a:endParaRPr lang="en-US"/>
          </a:p>
        </p:txBody>
      </p:sp>
      <p:sp>
        <p:nvSpPr>
          <p:cNvPr id="5" name="Footer Placeholder 4">
            <a:extLst>
              <a:ext uri="{FF2B5EF4-FFF2-40B4-BE49-F238E27FC236}">
                <a16:creationId xmlns:a16="http://schemas.microsoft.com/office/drawing/2014/main" id="{D286F586-5F22-2FC1-1F00-0C530B80DE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50CCB6-7B0D-71D2-4B9F-99061B306899}"/>
              </a:ext>
            </a:extLst>
          </p:cNvPr>
          <p:cNvSpPr>
            <a:spLocks noGrp="1"/>
          </p:cNvSpPr>
          <p:nvPr>
            <p:ph type="sldNum" sz="quarter" idx="12"/>
          </p:nvPr>
        </p:nvSpPr>
        <p:spPr/>
        <p:txBody>
          <a:bodyPr/>
          <a:lstStyle/>
          <a:p>
            <a:fld id="{1DA9E8A6-ABFC-5C4A-B6FF-F7DBEBBAA4DD}" type="slidenum">
              <a:rPr lang="en-US" smtClean="0"/>
              <a:t>‹#›</a:t>
            </a:fld>
            <a:endParaRPr lang="en-US"/>
          </a:p>
        </p:txBody>
      </p:sp>
    </p:spTree>
    <p:extLst>
      <p:ext uri="{BB962C8B-B14F-4D97-AF65-F5344CB8AC3E}">
        <p14:creationId xmlns:p14="http://schemas.microsoft.com/office/powerpoint/2010/main" val="719273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12C82-3867-DC6B-F424-D3277CD95B2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A650D9E-1F87-4E04-483C-B4B4C1E4BBD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3BE556D-82E9-6D8A-52B7-A9A503A5AA3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119A46C-B312-4CCD-296D-A3412CE3501C}"/>
              </a:ext>
            </a:extLst>
          </p:cNvPr>
          <p:cNvSpPr>
            <a:spLocks noGrp="1"/>
          </p:cNvSpPr>
          <p:nvPr>
            <p:ph type="dt" sz="half" idx="10"/>
          </p:nvPr>
        </p:nvSpPr>
        <p:spPr/>
        <p:txBody>
          <a:bodyPr/>
          <a:lstStyle/>
          <a:p>
            <a:fld id="{AC179662-6A12-1640-86D8-33BD58FD2C7C}" type="datetimeFigureOut">
              <a:rPr lang="en-US" smtClean="0"/>
              <a:t>6/23/26</a:t>
            </a:fld>
            <a:endParaRPr lang="en-US"/>
          </a:p>
        </p:txBody>
      </p:sp>
      <p:sp>
        <p:nvSpPr>
          <p:cNvPr id="6" name="Footer Placeholder 5">
            <a:extLst>
              <a:ext uri="{FF2B5EF4-FFF2-40B4-BE49-F238E27FC236}">
                <a16:creationId xmlns:a16="http://schemas.microsoft.com/office/drawing/2014/main" id="{7F9B8129-91B0-C7EF-4C90-E6298F72A8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A9CE3E-6666-6C97-94AD-6A64760FD3BB}"/>
              </a:ext>
            </a:extLst>
          </p:cNvPr>
          <p:cNvSpPr>
            <a:spLocks noGrp="1"/>
          </p:cNvSpPr>
          <p:nvPr>
            <p:ph type="sldNum" sz="quarter" idx="12"/>
          </p:nvPr>
        </p:nvSpPr>
        <p:spPr/>
        <p:txBody>
          <a:bodyPr/>
          <a:lstStyle/>
          <a:p>
            <a:fld id="{1DA9E8A6-ABFC-5C4A-B6FF-F7DBEBBAA4DD}" type="slidenum">
              <a:rPr lang="en-US" smtClean="0"/>
              <a:t>‹#›</a:t>
            </a:fld>
            <a:endParaRPr lang="en-US"/>
          </a:p>
        </p:txBody>
      </p:sp>
    </p:spTree>
    <p:extLst>
      <p:ext uri="{BB962C8B-B14F-4D97-AF65-F5344CB8AC3E}">
        <p14:creationId xmlns:p14="http://schemas.microsoft.com/office/powerpoint/2010/main" val="3714790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04BF-8A7F-B832-544D-30B04CCFBF8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CA523DC-A54A-6F0A-A2D5-74C70D8095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0B13037-0CF6-AB3F-643F-A14517D5945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4112F12-6C09-DB4B-9F9E-BAAB54A57C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F736362-4316-2B3D-043B-49C956B00CD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4B64FB5-B4D7-017B-F824-B074E50BC994}"/>
              </a:ext>
            </a:extLst>
          </p:cNvPr>
          <p:cNvSpPr>
            <a:spLocks noGrp="1"/>
          </p:cNvSpPr>
          <p:nvPr>
            <p:ph type="dt" sz="half" idx="10"/>
          </p:nvPr>
        </p:nvSpPr>
        <p:spPr/>
        <p:txBody>
          <a:bodyPr/>
          <a:lstStyle/>
          <a:p>
            <a:fld id="{AC179662-6A12-1640-86D8-33BD58FD2C7C}" type="datetimeFigureOut">
              <a:rPr lang="en-US" smtClean="0"/>
              <a:t>6/23/26</a:t>
            </a:fld>
            <a:endParaRPr lang="en-US"/>
          </a:p>
        </p:txBody>
      </p:sp>
      <p:sp>
        <p:nvSpPr>
          <p:cNvPr id="8" name="Footer Placeholder 7">
            <a:extLst>
              <a:ext uri="{FF2B5EF4-FFF2-40B4-BE49-F238E27FC236}">
                <a16:creationId xmlns:a16="http://schemas.microsoft.com/office/drawing/2014/main" id="{333A43D1-FFB9-B16F-8581-D0B93B3643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EB7951-B511-5931-3497-F92892C666A2}"/>
              </a:ext>
            </a:extLst>
          </p:cNvPr>
          <p:cNvSpPr>
            <a:spLocks noGrp="1"/>
          </p:cNvSpPr>
          <p:nvPr>
            <p:ph type="sldNum" sz="quarter" idx="12"/>
          </p:nvPr>
        </p:nvSpPr>
        <p:spPr/>
        <p:txBody>
          <a:bodyPr/>
          <a:lstStyle/>
          <a:p>
            <a:fld id="{1DA9E8A6-ABFC-5C4A-B6FF-F7DBEBBAA4DD}" type="slidenum">
              <a:rPr lang="en-US" smtClean="0"/>
              <a:t>‹#›</a:t>
            </a:fld>
            <a:endParaRPr lang="en-US"/>
          </a:p>
        </p:txBody>
      </p:sp>
    </p:spTree>
    <p:extLst>
      <p:ext uri="{BB962C8B-B14F-4D97-AF65-F5344CB8AC3E}">
        <p14:creationId xmlns:p14="http://schemas.microsoft.com/office/powerpoint/2010/main" val="2178390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16669-8BB6-5725-B648-12A4801E529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9939D19-588C-E38C-EE95-E828F6CD63D3}"/>
              </a:ext>
            </a:extLst>
          </p:cNvPr>
          <p:cNvSpPr>
            <a:spLocks noGrp="1"/>
          </p:cNvSpPr>
          <p:nvPr>
            <p:ph type="dt" sz="half" idx="10"/>
          </p:nvPr>
        </p:nvSpPr>
        <p:spPr/>
        <p:txBody>
          <a:bodyPr/>
          <a:lstStyle/>
          <a:p>
            <a:fld id="{AC179662-6A12-1640-86D8-33BD58FD2C7C}" type="datetimeFigureOut">
              <a:rPr lang="en-US" smtClean="0"/>
              <a:t>6/23/26</a:t>
            </a:fld>
            <a:endParaRPr lang="en-US"/>
          </a:p>
        </p:txBody>
      </p:sp>
      <p:sp>
        <p:nvSpPr>
          <p:cNvPr id="4" name="Footer Placeholder 3">
            <a:extLst>
              <a:ext uri="{FF2B5EF4-FFF2-40B4-BE49-F238E27FC236}">
                <a16:creationId xmlns:a16="http://schemas.microsoft.com/office/drawing/2014/main" id="{052AED9D-AEEC-B422-979F-1AB4269AFD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5E92A2-7931-457B-50DA-AB43F43E314E}"/>
              </a:ext>
            </a:extLst>
          </p:cNvPr>
          <p:cNvSpPr>
            <a:spLocks noGrp="1"/>
          </p:cNvSpPr>
          <p:nvPr>
            <p:ph type="sldNum" sz="quarter" idx="12"/>
          </p:nvPr>
        </p:nvSpPr>
        <p:spPr/>
        <p:txBody>
          <a:bodyPr/>
          <a:lstStyle/>
          <a:p>
            <a:fld id="{1DA9E8A6-ABFC-5C4A-B6FF-F7DBEBBAA4DD}" type="slidenum">
              <a:rPr lang="en-US" smtClean="0"/>
              <a:t>‹#›</a:t>
            </a:fld>
            <a:endParaRPr lang="en-US"/>
          </a:p>
        </p:txBody>
      </p:sp>
    </p:spTree>
    <p:extLst>
      <p:ext uri="{BB962C8B-B14F-4D97-AF65-F5344CB8AC3E}">
        <p14:creationId xmlns:p14="http://schemas.microsoft.com/office/powerpoint/2010/main" val="3078196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1AC31C-38E4-8234-9648-2161341CED69}"/>
              </a:ext>
            </a:extLst>
          </p:cNvPr>
          <p:cNvSpPr>
            <a:spLocks noGrp="1"/>
          </p:cNvSpPr>
          <p:nvPr>
            <p:ph type="dt" sz="half" idx="10"/>
          </p:nvPr>
        </p:nvSpPr>
        <p:spPr/>
        <p:txBody>
          <a:bodyPr/>
          <a:lstStyle/>
          <a:p>
            <a:fld id="{AC179662-6A12-1640-86D8-33BD58FD2C7C}" type="datetimeFigureOut">
              <a:rPr lang="en-US" smtClean="0"/>
              <a:t>6/23/26</a:t>
            </a:fld>
            <a:endParaRPr lang="en-US"/>
          </a:p>
        </p:txBody>
      </p:sp>
      <p:sp>
        <p:nvSpPr>
          <p:cNvPr id="3" name="Footer Placeholder 2">
            <a:extLst>
              <a:ext uri="{FF2B5EF4-FFF2-40B4-BE49-F238E27FC236}">
                <a16:creationId xmlns:a16="http://schemas.microsoft.com/office/drawing/2014/main" id="{0DDD53F2-952B-6D63-6EF9-F66B921E450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E83926-1BEE-0A3A-ACBD-0231EAEB03EE}"/>
              </a:ext>
            </a:extLst>
          </p:cNvPr>
          <p:cNvSpPr>
            <a:spLocks noGrp="1"/>
          </p:cNvSpPr>
          <p:nvPr>
            <p:ph type="sldNum" sz="quarter" idx="12"/>
          </p:nvPr>
        </p:nvSpPr>
        <p:spPr/>
        <p:txBody>
          <a:bodyPr/>
          <a:lstStyle/>
          <a:p>
            <a:fld id="{1DA9E8A6-ABFC-5C4A-B6FF-F7DBEBBAA4DD}" type="slidenum">
              <a:rPr lang="en-US" smtClean="0"/>
              <a:t>‹#›</a:t>
            </a:fld>
            <a:endParaRPr lang="en-US"/>
          </a:p>
        </p:txBody>
      </p:sp>
    </p:spTree>
    <p:extLst>
      <p:ext uri="{BB962C8B-B14F-4D97-AF65-F5344CB8AC3E}">
        <p14:creationId xmlns:p14="http://schemas.microsoft.com/office/powerpoint/2010/main" val="2363416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0EFBF-D839-75FB-9516-D8CB45F364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0D294EC-F133-8804-EE60-5D2C1C3881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3E390E1-545A-6844-5BF8-253AAEEF82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E0CE95B-7F55-2614-6D70-A947B61E83DB}"/>
              </a:ext>
            </a:extLst>
          </p:cNvPr>
          <p:cNvSpPr>
            <a:spLocks noGrp="1"/>
          </p:cNvSpPr>
          <p:nvPr>
            <p:ph type="dt" sz="half" idx="10"/>
          </p:nvPr>
        </p:nvSpPr>
        <p:spPr/>
        <p:txBody>
          <a:bodyPr/>
          <a:lstStyle/>
          <a:p>
            <a:fld id="{AC179662-6A12-1640-86D8-33BD58FD2C7C}" type="datetimeFigureOut">
              <a:rPr lang="en-US" smtClean="0"/>
              <a:t>6/23/26</a:t>
            </a:fld>
            <a:endParaRPr lang="en-US"/>
          </a:p>
        </p:txBody>
      </p:sp>
      <p:sp>
        <p:nvSpPr>
          <p:cNvPr id="6" name="Footer Placeholder 5">
            <a:extLst>
              <a:ext uri="{FF2B5EF4-FFF2-40B4-BE49-F238E27FC236}">
                <a16:creationId xmlns:a16="http://schemas.microsoft.com/office/drawing/2014/main" id="{48DB309B-F421-A01A-7A3A-104315DB74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76B9C8-03E1-CCC9-63DE-C724F7088748}"/>
              </a:ext>
            </a:extLst>
          </p:cNvPr>
          <p:cNvSpPr>
            <a:spLocks noGrp="1"/>
          </p:cNvSpPr>
          <p:nvPr>
            <p:ph type="sldNum" sz="quarter" idx="12"/>
          </p:nvPr>
        </p:nvSpPr>
        <p:spPr/>
        <p:txBody>
          <a:bodyPr/>
          <a:lstStyle/>
          <a:p>
            <a:fld id="{1DA9E8A6-ABFC-5C4A-B6FF-F7DBEBBAA4DD}" type="slidenum">
              <a:rPr lang="en-US" smtClean="0"/>
              <a:t>‹#›</a:t>
            </a:fld>
            <a:endParaRPr lang="en-US"/>
          </a:p>
        </p:txBody>
      </p:sp>
    </p:spTree>
    <p:extLst>
      <p:ext uri="{BB962C8B-B14F-4D97-AF65-F5344CB8AC3E}">
        <p14:creationId xmlns:p14="http://schemas.microsoft.com/office/powerpoint/2010/main" val="2592600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7C1E-2548-4FDE-0AD3-770468705F5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B6F8DF8-18F8-0AE7-0409-A8EDA4CCDA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08AE0C-B060-0843-27E2-8974E340C7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4C826B0-61E7-F2AA-16DA-DF834FF09B7D}"/>
              </a:ext>
            </a:extLst>
          </p:cNvPr>
          <p:cNvSpPr>
            <a:spLocks noGrp="1"/>
          </p:cNvSpPr>
          <p:nvPr>
            <p:ph type="dt" sz="half" idx="10"/>
          </p:nvPr>
        </p:nvSpPr>
        <p:spPr/>
        <p:txBody>
          <a:bodyPr/>
          <a:lstStyle/>
          <a:p>
            <a:fld id="{AC179662-6A12-1640-86D8-33BD58FD2C7C}" type="datetimeFigureOut">
              <a:rPr lang="en-US" smtClean="0"/>
              <a:t>6/23/26</a:t>
            </a:fld>
            <a:endParaRPr lang="en-US"/>
          </a:p>
        </p:txBody>
      </p:sp>
      <p:sp>
        <p:nvSpPr>
          <p:cNvPr id="6" name="Footer Placeholder 5">
            <a:extLst>
              <a:ext uri="{FF2B5EF4-FFF2-40B4-BE49-F238E27FC236}">
                <a16:creationId xmlns:a16="http://schemas.microsoft.com/office/drawing/2014/main" id="{8B158C8C-6AD1-A486-D7D6-4E1C10A605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1F48EB-9863-C126-48D4-CEECAF56EEA8}"/>
              </a:ext>
            </a:extLst>
          </p:cNvPr>
          <p:cNvSpPr>
            <a:spLocks noGrp="1"/>
          </p:cNvSpPr>
          <p:nvPr>
            <p:ph type="sldNum" sz="quarter" idx="12"/>
          </p:nvPr>
        </p:nvSpPr>
        <p:spPr/>
        <p:txBody>
          <a:bodyPr/>
          <a:lstStyle/>
          <a:p>
            <a:fld id="{1DA9E8A6-ABFC-5C4A-B6FF-F7DBEBBAA4DD}" type="slidenum">
              <a:rPr lang="en-US" smtClean="0"/>
              <a:t>‹#›</a:t>
            </a:fld>
            <a:endParaRPr lang="en-US"/>
          </a:p>
        </p:txBody>
      </p:sp>
    </p:spTree>
    <p:extLst>
      <p:ext uri="{BB962C8B-B14F-4D97-AF65-F5344CB8AC3E}">
        <p14:creationId xmlns:p14="http://schemas.microsoft.com/office/powerpoint/2010/main" val="3001015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44D67-D34C-3249-253E-5644D5A3897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FA508C-4321-CE0F-CCBA-E2D274871F0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2D11065-F2D8-C5FF-BF0E-03913C87F67B}"/>
              </a:ext>
            </a:extLst>
          </p:cNvPr>
          <p:cNvSpPr>
            <a:spLocks noGrp="1"/>
          </p:cNvSpPr>
          <p:nvPr>
            <p:ph type="dt" sz="half" idx="10"/>
          </p:nvPr>
        </p:nvSpPr>
        <p:spPr/>
        <p:txBody>
          <a:bodyPr/>
          <a:lstStyle/>
          <a:p>
            <a:fld id="{AC179662-6A12-1640-86D8-33BD58FD2C7C}" type="datetimeFigureOut">
              <a:rPr lang="en-US" smtClean="0"/>
              <a:t>6/23/26</a:t>
            </a:fld>
            <a:endParaRPr lang="en-US"/>
          </a:p>
        </p:txBody>
      </p:sp>
      <p:sp>
        <p:nvSpPr>
          <p:cNvPr id="5" name="Footer Placeholder 4">
            <a:extLst>
              <a:ext uri="{FF2B5EF4-FFF2-40B4-BE49-F238E27FC236}">
                <a16:creationId xmlns:a16="http://schemas.microsoft.com/office/drawing/2014/main" id="{EFF1F181-9F62-C895-2438-6E3BD6F149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9CAF6-C554-E8B8-6642-0737C074A244}"/>
              </a:ext>
            </a:extLst>
          </p:cNvPr>
          <p:cNvSpPr>
            <a:spLocks noGrp="1"/>
          </p:cNvSpPr>
          <p:nvPr>
            <p:ph type="sldNum" sz="quarter" idx="12"/>
          </p:nvPr>
        </p:nvSpPr>
        <p:spPr/>
        <p:txBody>
          <a:bodyPr/>
          <a:lstStyle/>
          <a:p>
            <a:fld id="{1DA9E8A6-ABFC-5C4A-B6FF-F7DBEBBAA4DD}" type="slidenum">
              <a:rPr lang="en-US" smtClean="0"/>
              <a:t>‹#›</a:t>
            </a:fld>
            <a:endParaRPr lang="en-US"/>
          </a:p>
        </p:txBody>
      </p:sp>
    </p:spTree>
    <p:extLst>
      <p:ext uri="{BB962C8B-B14F-4D97-AF65-F5344CB8AC3E}">
        <p14:creationId xmlns:p14="http://schemas.microsoft.com/office/powerpoint/2010/main" val="2617828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BD43BF-6B7E-BF1A-E492-439CA2E8EDC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248B2C7-B39B-AB2B-989B-B7F856C49E6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7B79D83-DA25-4BA3-DF82-FC33DE5D1877}"/>
              </a:ext>
            </a:extLst>
          </p:cNvPr>
          <p:cNvSpPr>
            <a:spLocks noGrp="1"/>
          </p:cNvSpPr>
          <p:nvPr>
            <p:ph type="dt" sz="half" idx="10"/>
          </p:nvPr>
        </p:nvSpPr>
        <p:spPr/>
        <p:txBody>
          <a:bodyPr/>
          <a:lstStyle/>
          <a:p>
            <a:fld id="{AC179662-6A12-1640-86D8-33BD58FD2C7C}" type="datetimeFigureOut">
              <a:rPr lang="en-US" smtClean="0"/>
              <a:t>6/23/26</a:t>
            </a:fld>
            <a:endParaRPr lang="en-US"/>
          </a:p>
        </p:txBody>
      </p:sp>
      <p:sp>
        <p:nvSpPr>
          <p:cNvPr id="5" name="Footer Placeholder 4">
            <a:extLst>
              <a:ext uri="{FF2B5EF4-FFF2-40B4-BE49-F238E27FC236}">
                <a16:creationId xmlns:a16="http://schemas.microsoft.com/office/drawing/2014/main" id="{838854C2-8A69-AE5D-D2F5-BF8FE560B5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46FF98-C139-2E11-2A21-C23A8144E3F1}"/>
              </a:ext>
            </a:extLst>
          </p:cNvPr>
          <p:cNvSpPr>
            <a:spLocks noGrp="1"/>
          </p:cNvSpPr>
          <p:nvPr>
            <p:ph type="sldNum" sz="quarter" idx="12"/>
          </p:nvPr>
        </p:nvSpPr>
        <p:spPr/>
        <p:txBody>
          <a:bodyPr/>
          <a:lstStyle/>
          <a:p>
            <a:fld id="{1DA9E8A6-ABFC-5C4A-B6FF-F7DBEBBAA4DD}" type="slidenum">
              <a:rPr lang="en-US" smtClean="0"/>
              <a:t>‹#›</a:t>
            </a:fld>
            <a:endParaRPr lang="en-US"/>
          </a:p>
        </p:txBody>
      </p:sp>
    </p:spTree>
    <p:extLst>
      <p:ext uri="{BB962C8B-B14F-4D97-AF65-F5344CB8AC3E}">
        <p14:creationId xmlns:p14="http://schemas.microsoft.com/office/powerpoint/2010/main" val="3163075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07415B-F246-0D5A-9A37-7A74610B5B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C52999D-F59C-E5CE-F559-3F40E889E8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24C734E-9EA2-3E15-16C2-15C3F04197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179662-6A12-1640-86D8-33BD58FD2C7C}" type="datetimeFigureOut">
              <a:rPr lang="en-US" smtClean="0"/>
              <a:t>6/23/26</a:t>
            </a:fld>
            <a:endParaRPr lang="en-US"/>
          </a:p>
        </p:txBody>
      </p:sp>
      <p:sp>
        <p:nvSpPr>
          <p:cNvPr id="5" name="Footer Placeholder 4">
            <a:extLst>
              <a:ext uri="{FF2B5EF4-FFF2-40B4-BE49-F238E27FC236}">
                <a16:creationId xmlns:a16="http://schemas.microsoft.com/office/drawing/2014/main" id="{D0D817D2-F4C9-5ABD-5866-A882A630AB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56683F9-6CB7-65B5-196E-316B2B114D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A9E8A6-ABFC-5C4A-B6FF-F7DBEBBAA4DD}" type="slidenum">
              <a:rPr lang="en-US" smtClean="0"/>
              <a:t>‹#›</a:t>
            </a:fld>
            <a:endParaRPr lang="en-US"/>
          </a:p>
        </p:txBody>
      </p:sp>
      <p:sp>
        <p:nvSpPr>
          <p:cNvPr id="901" name="LeftAccentBar"/>
          <p:cNvSpPr/>
          <p:nvPr/>
        </p:nvSpPr>
        <p:spPr>
          <a:xfrm>
            <a:off x="0" y="0"/>
            <a:ext cx="114300" cy="6858000"/>
          </a:xfrm>
          <a:prstGeom prst="rect">
            <a:avLst/>
          </a:prstGeom>
          <a:gradFill>
            <a:gsLst>
              <a:gs pos="0">
                <a:srgbClr val="EA4B71"/>
              </a:gs>
              <a:gs pos="100000">
                <a:srgbClr val="7A5CFF"/>
              </a:gs>
            </a:gsLst>
            <a:lin ang="5400000" scaled="1"/>
          </a:gradFill>
          <a:ln>
            <a:noFill/>
          </a:ln>
        </p:spPr>
        <p:txBody>
          <a:bodyPr/>
          <a:lstStyle/>
          <a:p>
            <a:endParaRPr/>
          </a:p>
        </p:txBody>
      </p:sp>
      <p:sp>
        <p:nvSpPr>
          <p:cNvPr id="910" name="Dot0"/>
          <p:cNvSpPr/>
          <p:nvPr/>
        </p:nvSpPr>
        <p:spPr>
          <a:xfrm>
            <a:off x="8550000" y="6500000"/>
            <a:ext cx="90000" cy="90000"/>
          </a:xfrm>
          <a:prstGeom prst="ellipse">
            <a:avLst/>
          </a:prstGeom>
          <a:solidFill>
            <a:srgbClr val="EA4B71"/>
          </a:solidFill>
          <a:ln>
            <a:noFill/>
          </a:ln>
        </p:spPr>
        <p:txBody>
          <a:bodyPr/>
          <a:lstStyle/>
          <a:p>
            <a:endParaRPr/>
          </a:p>
        </p:txBody>
      </p:sp>
      <p:sp>
        <p:nvSpPr>
          <p:cNvPr id="911" name="Dot1"/>
          <p:cNvSpPr/>
          <p:nvPr/>
        </p:nvSpPr>
        <p:spPr>
          <a:xfrm>
            <a:off x="8730000" y="6500000"/>
            <a:ext cx="90000" cy="90000"/>
          </a:xfrm>
          <a:prstGeom prst="ellipse">
            <a:avLst/>
          </a:prstGeom>
          <a:solidFill>
            <a:srgbClr val="7A5CFF"/>
          </a:solidFill>
          <a:ln>
            <a:noFill/>
          </a:ln>
        </p:spPr>
        <p:txBody>
          <a:bodyPr/>
          <a:lstStyle/>
          <a:p>
            <a:endParaRPr/>
          </a:p>
        </p:txBody>
      </p:sp>
      <p:sp>
        <p:nvSpPr>
          <p:cNvPr id="912" name="Dot2"/>
          <p:cNvSpPr/>
          <p:nvPr/>
        </p:nvSpPr>
        <p:spPr>
          <a:xfrm>
            <a:off x="8910000" y="6500000"/>
            <a:ext cx="90000" cy="90000"/>
          </a:xfrm>
          <a:prstGeom prst="ellipse">
            <a:avLst/>
          </a:prstGeom>
          <a:solidFill>
            <a:srgbClr val="1FB6A6"/>
          </a:solidFill>
          <a:ln>
            <a:noFill/>
          </a:ln>
        </p:spPr>
        <p:txBody>
          <a:bodyPr/>
          <a:lstStyle/>
          <a:p>
            <a:endParaRPr/>
          </a:p>
        </p:txBody>
      </p:sp>
    </p:spTree>
    <p:extLst>
      <p:ext uri="{BB962C8B-B14F-4D97-AF65-F5344CB8AC3E}">
        <p14:creationId xmlns:p14="http://schemas.microsoft.com/office/powerpoint/2010/main" val="18566279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A1A2E"/>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3A3A5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6.xml"/><Relationship Id="rId5" Type="http://schemas.openxmlformats.org/officeDocument/2006/relationships/image" Target="../media/image4.sv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029D5-C5CF-E535-DB06-155DC599AABF}"/>
              </a:ext>
            </a:extLst>
          </p:cNvPr>
          <p:cNvSpPr>
            <a:spLocks noGrp="1"/>
          </p:cNvSpPr>
          <p:nvPr>
            <p:ph type="ctrTitle"/>
          </p:nvPr>
        </p:nvSpPr>
        <p:spPr/>
        <p:txBody>
          <a:bodyPr/>
          <a:lstStyle/>
          <a:p>
            <a:pPr algn="ctr"/>
            <a:r>
              <a:rPr lang="en-US" sz="4400" b="1" dirty="0"/>
              <a:t>Agentic AI Automation with </a:t>
            </a:r>
            <a:r>
              <a:rPr lang="en-US" sz="4400" b="1" dirty="0">
                <a:solidFill>
                  <a:schemeClr val="accent1"/>
                </a:solidFill>
              </a:rPr>
              <a:t>n8n</a:t>
            </a:r>
          </a:p>
        </p:txBody>
      </p:sp>
      <p:sp>
        <p:nvSpPr>
          <p:cNvPr id="3" name="Subtitle 2">
            <a:extLst>
              <a:ext uri="{FF2B5EF4-FFF2-40B4-BE49-F238E27FC236}">
                <a16:creationId xmlns:a16="http://schemas.microsoft.com/office/drawing/2014/main" id="{74C2F3FE-93B5-DA07-8D82-0B48C6D471B4}"/>
              </a:ext>
            </a:extLst>
          </p:cNvPr>
          <p:cNvSpPr>
            <a:spLocks noGrp="1"/>
          </p:cNvSpPr>
          <p:nvPr>
            <p:ph type="subTitle" idx="1"/>
          </p:nvPr>
        </p:nvSpPr>
        <p:spPr/>
        <p:txBody>
          <a:bodyPr/>
          <a:lstStyle/>
          <a:p>
            <a:pPr algn="ctr"/>
            <a:r>
              <a:rPr lang="en-US" sz="2000" dirty="0">
                <a:solidFill>
                  <a:schemeClr val="tx2"/>
                </a:solidFill>
              </a:rPr>
              <a:t>Build intelligent, automated workflows — from triggers to AI agents</a:t>
            </a:r>
          </a:p>
          <a:p>
            <a:pPr algn="ctr">
              <a:spcBef>
                <a:spcPts val="800"/>
              </a:spcBef>
            </a:pPr>
            <a:r>
              <a:rPr lang="en-US" sz="1600" b="1" dirty="0">
                <a:solidFill>
                  <a:schemeClr val="accent1"/>
                </a:solidFill>
              </a:rPr>
              <a:t>Course Code: TGS-2023035977</a:t>
            </a:r>
            <a:r>
              <a:rPr lang="en-US" sz="1600" dirty="0">
                <a:solidFill>
                  <a:schemeClr val="tx2"/>
                </a:solidFill>
              </a:rPr>
              <a:t>   •   3-Day Hands-On Programme</a:t>
            </a:r>
          </a:p>
        </p:txBody>
      </p:sp>
    </p:spTree>
    <p:extLst>
      <p:ext uri="{BB962C8B-B14F-4D97-AF65-F5344CB8AC3E}">
        <p14:creationId xmlns:p14="http://schemas.microsoft.com/office/powerpoint/2010/main" val="2753508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81653-CDEB-00DA-9C87-58C986285DA3}"/>
              </a:ext>
            </a:extLst>
          </p:cNvPr>
          <p:cNvSpPr>
            <a:spLocks noGrp="1"/>
          </p:cNvSpPr>
          <p:nvPr>
            <p:ph type="title"/>
          </p:nvPr>
        </p:nvSpPr>
        <p:spPr/>
        <p:txBody>
          <a:bodyPr/>
          <a:lstStyle/>
          <a:p>
            <a:r>
              <a:rPr lang="en-US"/>
              <a:t>Course Roadmap</a:t>
            </a:r>
          </a:p>
        </p:txBody>
      </p:sp>
      <p:sp>
        <p:nvSpPr>
          <p:cNvPr id="300" name="cardbody"/>
          <p:cNvSpPr/>
          <p:nvPr/>
        </p:nvSpPr>
        <p:spPr>
          <a:xfrm>
            <a:off x="457200" y="2692400"/>
            <a:ext cx="3556000" cy="3632200"/>
          </a:xfrm>
          <a:prstGeom prst="roundRect">
            <a:avLst>
              <a:gd name="adj" fmla="val 6000"/>
            </a:avLst>
          </a:prstGeom>
          <a:solidFill>
            <a:srgbClr val="F7F7FB"/>
          </a:solidFill>
          <a:ln w="12700">
            <a:solidFill>
              <a:srgbClr val="EA4B71"/>
            </a:solidFill>
          </a:ln>
        </p:spPr>
        <p:txBody>
          <a:bodyPr lIns="203200" tIns="838200" rIns="203200" bIns="203200" anchor="t"/>
          <a:lstStyle/>
          <a:p>
            <a:pPr>
              <a:buNone/>
            </a:pPr>
            <a:r>
              <a:rPr lang="en-US" sz="1400" b="1" dirty="0">
                <a:solidFill>
                  <a:srgbClr val="EA4B71"/>
                </a:solidFill>
              </a:rPr>
              <a:t>MORNING</a:t>
            </a:r>
          </a:p>
          <a:p>
            <a:pPr>
              <a:spcAft>
                <a:spcPts val="1000"/>
              </a:spcAft>
              <a:buNone/>
            </a:pPr>
            <a:r>
              <a:rPr lang="en-US" sz="1500" dirty="0">
                <a:solidFill>
                  <a:schemeClr val="tx1"/>
                </a:solidFill>
              </a:rPr>
              <a:t>Topic 1 — Workflow Automation with n8n</a:t>
            </a:r>
          </a:p>
          <a:p>
            <a:pPr>
              <a:spcBef>
                <a:spcPts val="600"/>
              </a:spcBef>
              <a:buNone/>
            </a:pPr>
            <a:r>
              <a:rPr lang="en-US" sz="1400" b="1" dirty="0">
                <a:solidFill>
                  <a:srgbClr val="EA4B71"/>
                </a:solidFill>
              </a:rPr>
              <a:t>AFTERNOON</a:t>
            </a:r>
          </a:p>
          <a:p>
            <a:pPr>
              <a:buNone/>
            </a:pPr>
            <a:r>
              <a:rPr lang="en-US" sz="1500" dirty="0">
                <a:solidFill>
                  <a:schemeClr val="tx1"/>
                </a:solidFill>
              </a:rPr>
              <a:t>Topic 2 — AI Agents &amp; RAG</a:t>
            </a:r>
          </a:p>
        </p:txBody>
      </p:sp>
      <p:sp>
        <p:nvSpPr>
          <p:cNvPr id="301" name="cardhdr"/>
          <p:cNvSpPr/>
          <p:nvPr/>
        </p:nvSpPr>
        <p:spPr>
          <a:xfrm>
            <a:off x="457200" y="1905000"/>
            <a:ext cx="3556000" cy="939800"/>
          </a:xfrm>
          <a:prstGeom prst="roundRect">
            <a:avLst>
              <a:gd name="adj" fmla="val 18000"/>
            </a:avLst>
          </a:prstGeom>
          <a:solidFill>
            <a:srgbClr val="EA4B71"/>
          </a:solidFill>
          <a:ln>
            <a:noFill/>
          </a:ln>
        </p:spPr>
        <p:txBody>
          <a:bodyPr lIns="0" tIns="0" rIns="0" bIns="0" anchor="ctr"/>
          <a:lstStyle/>
          <a:p>
            <a:pPr algn="ctr">
              <a:buNone/>
            </a:pPr>
            <a:r>
              <a:rPr lang="en-US" sz="2200" b="1" dirty="0">
                <a:solidFill>
                  <a:srgbClr val="FFFFFF"/>
                </a:solidFill>
              </a:rPr>
              <a:t>DAY 1</a:t>
            </a:r>
          </a:p>
        </p:txBody>
      </p:sp>
      <p:sp>
        <p:nvSpPr>
          <p:cNvPr id="302" name="cardbody"/>
          <p:cNvSpPr/>
          <p:nvPr/>
        </p:nvSpPr>
        <p:spPr>
          <a:xfrm>
            <a:off x="4318000" y="2692400"/>
            <a:ext cx="3556000" cy="3632200"/>
          </a:xfrm>
          <a:prstGeom prst="roundRect">
            <a:avLst>
              <a:gd name="adj" fmla="val 6000"/>
            </a:avLst>
          </a:prstGeom>
          <a:solidFill>
            <a:srgbClr val="F7F7FB"/>
          </a:solidFill>
          <a:ln w="12700">
            <a:solidFill>
              <a:srgbClr val="7A5CFF"/>
            </a:solidFill>
          </a:ln>
        </p:spPr>
        <p:txBody>
          <a:bodyPr lIns="203200" tIns="838200" rIns="203200" bIns="203200" anchor="t"/>
          <a:lstStyle/>
          <a:p>
            <a:pPr>
              <a:buNone/>
            </a:pPr>
            <a:r>
              <a:rPr lang="en-US" sz="1400" b="1" dirty="0">
                <a:solidFill>
                  <a:srgbClr val="7A5CFF"/>
                </a:solidFill>
              </a:rPr>
              <a:t>MORNING</a:t>
            </a:r>
          </a:p>
          <a:p>
            <a:pPr>
              <a:spcAft>
                <a:spcPts val="1000"/>
              </a:spcAft>
              <a:buNone/>
            </a:pPr>
            <a:r>
              <a:rPr lang="en-US" sz="1500" dirty="0">
                <a:solidFill>
                  <a:schemeClr val="tx1"/>
                </a:solidFill>
              </a:rPr>
              <a:t>Topic 3 — Webhooks &amp; External Triggers</a:t>
            </a:r>
          </a:p>
          <a:p>
            <a:pPr>
              <a:spcBef>
                <a:spcPts val="600"/>
              </a:spcBef>
              <a:buNone/>
            </a:pPr>
            <a:r>
              <a:rPr lang="en-US" sz="1400" b="1" dirty="0">
                <a:solidFill>
                  <a:srgbClr val="7A5CFF"/>
                </a:solidFill>
              </a:rPr>
              <a:t>AFTERNOON</a:t>
            </a:r>
          </a:p>
          <a:p>
            <a:pPr>
              <a:buNone/>
            </a:pPr>
            <a:r>
              <a:rPr lang="en-US" sz="1500" dirty="0">
                <a:solidFill>
                  <a:schemeClr val="tx1"/>
                </a:solidFill>
              </a:rPr>
              <a:t>Topic 4 — API &amp; HTTP Requests</a:t>
            </a:r>
          </a:p>
        </p:txBody>
      </p:sp>
      <p:sp>
        <p:nvSpPr>
          <p:cNvPr id="303" name="cardhdr"/>
          <p:cNvSpPr/>
          <p:nvPr/>
        </p:nvSpPr>
        <p:spPr>
          <a:xfrm>
            <a:off x="4318000" y="1905000"/>
            <a:ext cx="3556000" cy="939800"/>
          </a:xfrm>
          <a:prstGeom prst="roundRect">
            <a:avLst>
              <a:gd name="adj" fmla="val 18000"/>
            </a:avLst>
          </a:prstGeom>
          <a:solidFill>
            <a:srgbClr val="7A5CFF"/>
          </a:solidFill>
          <a:ln>
            <a:noFill/>
          </a:ln>
        </p:spPr>
        <p:txBody>
          <a:bodyPr lIns="0" tIns="0" rIns="0" bIns="0" anchor="ctr"/>
          <a:lstStyle/>
          <a:p>
            <a:pPr algn="ctr">
              <a:buNone/>
            </a:pPr>
            <a:r>
              <a:rPr lang="en-US" sz="2200" b="1" dirty="0">
                <a:solidFill>
                  <a:srgbClr val="FFFFFF"/>
                </a:solidFill>
              </a:rPr>
              <a:t>DAY 2</a:t>
            </a:r>
          </a:p>
        </p:txBody>
      </p:sp>
      <p:sp>
        <p:nvSpPr>
          <p:cNvPr id="304" name="cardbody"/>
          <p:cNvSpPr/>
          <p:nvPr/>
        </p:nvSpPr>
        <p:spPr>
          <a:xfrm>
            <a:off x="8178800" y="2692400"/>
            <a:ext cx="3556000" cy="3632200"/>
          </a:xfrm>
          <a:prstGeom prst="roundRect">
            <a:avLst>
              <a:gd name="adj" fmla="val 6000"/>
            </a:avLst>
          </a:prstGeom>
          <a:solidFill>
            <a:srgbClr val="F7F7FB"/>
          </a:solidFill>
          <a:ln w="12700">
            <a:solidFill>
              <a:srgbClr val="0C7A6D"/>
            </a:solidFill>
          </a:ln>
        </p:spPr>
        <p:txBody>
          <a:bodyPr lIns="203200" tIns="838200" rIns="203200" bIns="203200" anchor="t"/>
          <a:lstStyle/>
          <a:p>
            <a:pPr>
              <a:buNone/>
            </a:pPr>
            <a:r>
              <a:rPr lang="en-US" sz="1400" b="1" dirty="0">
                <a:solidFill>
                  <a:srgbClr val="0C7A6D"/>
                </a:solidFill>
              </a:rPr>
              <a:t>MORNING</a:t>
            </a:r>
          </a:p>
          <a:p>
            <a:pPr>
              <a:spcAft>
                <a:spcPts val="1000"/>
              </a:spcAft>
              <a:buNone/>
            </a:pPr>
            <a:r>
              <a:rPr lang="en-US" sz="1500" dirty="0">
                <a:solidFill>
                  <a:schemeClr val="tx1"/>
                </a:solidFill>
              </a:rPr>
              <a:t>Topic 5 — Security &amp; Guardrails</a:t>
            </a:r>
          </a:p>
          <a:p>
            <a:pPr>
              <a:spcBef>
                <a:spcPts val="600"/>
              </a:spcBef>
              <a:buNone/>
            </a:pPr>
            <a:r>
              <a:rPr lang="en-US" sz="1400" b="1" dirty="0">
                <a:solidFill>
                  <a:srgbClr val="0C7A6D"/>
                </a:solidFill>
              </a:rPr>
              <a:t>AFTERNOON</a:t>
            </a:r>
          </a:p>
          <a:p>
            <a:pPr>
              <a:buNone/>
            </a:pPr>
            <a:r>
              <a:rPr lang="en-US" sz="1500" dirty="0">
                <a:solidFill>
                  <a:schemeClr val="tx1"/>
                </a:solidFill>
              </a:rPr>
              <a:t>Topic 6 — Mini Capstone Project</a:t>
            </a:r>
          </a:p>
        </p:txBody>
      </p:sp>
      <p:sp>
        <p:nvSpPr>
          <p:cNvPr id="305" name="cardhdr"/>
          <p:cNvSpPr/>
          <p:nvPr/>
        </p:nvSpPr>
        <p:spPr>
          <a:xfrm>
            <a:off x="8178800" y="1905000"/>
            <a:ext cx="3556000" cy="939800"/>
          </a:xfrm>
          <a:prstGeom prst="roundRect">
            <a:avLst>
              <a:gd name="adj" fmla="val 18000"/>
            </a:avLst>
          </a:prstGeom>
          <a:solidFill>
            <a:srgbClr val="0C7A6D"/>
          </a:solidFill>
          <a:ln>
            <a:noFill/>
          </a:ln>
        </p:spPr>
        <p:txBody>
          <a:bodyPr lIns="0" tIns="0" rIns="0" bIns="0" anchor="ctr"/>
          <a:lstStyle/>
          <a:p>
            <a:pPr algn="ctr">
              <a:buNone/>
            </a:pPr>
            <a:r>
              <a:rPr lang="en-US" sz="2200" b="1" dirty="0">
                <a:solidFill>
                  <a:srgbClr val="FFFFFF"/>
                </a:solidFill>
              </a:rPr>
              <a:t>DAY 3</a:t>
            </a:r>
          </a:p>
        </p:txBody>
      </p:sp>
    </p:spTree>
    <p:extLst>
      <p:ext uri="{BB962C8B-B14F-4D97-AF65-F5344CB8AC3E}">
        <p14:creationId xmlns:p14="http://schemas.microsoft.com/office/powerpoint/2010/main" val="2349443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75D29-BDD7-5411-37CA-6398B18A5222}"/>
              </a:ext>
            </a:extLst>
          </p:cNvPr>
          <p:cNvSpPr>
            <a:spLocks noGrp="1"/>
          </p:cNvSpPr>
          <p:nvPr>
            <p:ph type="title"/>
          </p:nvPr>
        </p:nvSpPr>
        <p:spPr/>
        <p:txBody>
          <a:bodyPr/>
          <a:lstStyle/>
          <a:p>
            <a:r>
              <a:rPr lang="en-US" sz="4000" b="1" dirty="0"/>
              <a:t>Workflow Automation with n8n</a:t>
            </a:r>
          </a:p>
        </p:txBody>
      </p:sp>
      <p:sp>
        <p:nvSpPr>
          <p:cNvPr id="3" name="Text Placeholder 2">
            <a:extLst>
              <a:ext uri="{FF2B5EF4-FFF2-40B4-BE49-F238E27FC236}">
                <a16:creationId xmlns:a16="http://schemas.microsoft.com/office/drawing/2014/main" id="{917A4060-C687-036A-D732-7C76DB49137B}"/>
              </a:ext>
            </a:extLst>
          </p:cNvPr>
          <p:cNvSpPr>
            <a:spLocks noGrp="1"/>
          </p:cNvSpPr>
          <p:nvPr>
            <p:ph type="body" idx="1"/>
          </p:nvPr>
        </p:nvSpPr>
        <p:spPr/>
        <p:txBody>
          <a:bodyPr/>
          <a:lstStyle/>
          <a:p>
            <a:pPr>
              <a:buNone/>
            </a:pPr>
            <a:r>
              <a:rPr lang="en-US" sz="1600" b="1" spc="200" dirty="0">
                <a:solidFill>
                  <a:schemeClr val="accent1"/>
                </a:solidFill>
              </a:rPr>
              <a:t>DAY 1 · MORNING — TOPIC 1</a:t>
            </a:r>
          </a:p>
          <a:p>
            <a:pPr>
              <a:spcBef>
                <a:spcPts val="600"/>
              </a:spcBef>
              <a:buNone/>
            </a:pPr>
            <a:r>
              <a:rPr lang="en-US" sz="1800" dirty="0">
                <a:solidFill>
                  <a:schemeClr val="tx2"/>
                </a:solidFill>
              </a:rPr>
              <a:t>Understand n8n, navigate the editor, and master the core building blocks of automation.</a:t>
            </a:r>
          </a:p>
        </p:txBody>
      </p:sp>
      <p:sp>
        <p:nvSpPr>
          <p:cNvPr id="420" name="rule"/>
          <p:cNvSpPr/>
          <p:nvPr/>
        </p:nvSpPr>
        <p:spPr>
          <a:xfrm>
            <a:off x="838200" y="4419600"/>
            <a:ext cx="1016000" cy="63500"/>
          </a:xfrm>
          <a:prstGeom prst="rect">
            <a:avLst/>
          </a:prstGeom>
          <a:solidFill>
            <a:schemeClr val="accent1"/>
          </a:solidFill>
          <a:ln>
            <a:noFill/>
          </a:ln>
        </p:spPr>
        <p:txBody>
          <a:bodyPr/>
          <a:lstStyle/>
          <a:p>
            <a:endParaRPr/>
          </a:p>
        </p:txBody>
      </p:sp>
    </p:spTree>
    <p:extLst>
      <p:ext uri="{BB962C8B-B14F-4D97-AF65-F5344CB8AC3E}">
        <p14:creationId xmlns:p14="http://schemas.microsoft.com/office/powerpoint/2010/main" val="569913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108B9-BFA7-7692-BE79-49D66032EAD5}"/>
              </a:ext>
            </a:extLst>
          </p:cNvPr>
          <p:cNvSpPr>
            <a:spLocks noGrp="1"/>
          </p:cNvSpPr>
          <p:nvPr>
            <p:ph type="title"/>
          </p:nvPr>
        </p:nvSpPr>
        <p:spPr/>
        <p:txBody>
          <a:bodyPr/>
          <a:lstStyle/>
          <a:p>
            <a:r>
              <a:rPr lang="en-US"/>
              <a:t>What is n8n?</a:t>
            </a:r>
          </a:p>
        </p:txBody>
      </p:sp>
      <p:sp>
        <p:nvSpPr>
          <p:cNvPr id="3" name="Content Placeholder 2">
            <a:extLst>
              <a:ext uri="{FF2B5EF4-FFF2-40B4-BE49-F238E27FC236}">
                <a16:creationId xmlns:a16="http://schemas.microsoft.com/office/drawing/2014/main" id="{8715DD00-3F2E-1003-4347-008E4AF525C4}"/>
              </a:ext>
            </a:extLst>
          </p:cNvPr>
          <p:cNvSpPr>
            <a:spLocks noGrp="1"/>
          </p:cNvSpPr>
          <p:nvPr>
            <p:ph idx="1"/>
          </p:nvPr>
        </p:nvSpPr>
        <p:spPr/>
        <p:txBody>
          <a:bodyPr>
            <a:normAutofit/>
          </a:bodyPr>
          <a:lstStyle/>
          <a:p>
            <a:r>
              <a:rPr lang="en-US" sz="1800"/>
              <a:t>n8n (“n-eight-n”) is an open-source, low-code workflow automation platform
Build automations visually by wiring nodes on a canvas — minimal coding required
Connects 400+ apps, APIs, databases and AI models inside a single flow
Self-hostable or cloud — your data and credentials stay under your control
An ideal control plane for Agentic AI: perceive → decide → act across tools</a:t>
            </a:r>
          </a:p>
        </p:txBody>
      </p:sp>
    </p:spTree>
    <p:extLst>
      <p:ext uri="{BB962C8B-B14F-4D97-AF65-F5344CB8AC3E}">
        <p14:creationId xmlns:p14="http://schemas.microsoft.com/office/powerpoint/2010/main" val="874917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55F2-CC9D-913B-84E1-FD800499ECE5}"/>
              </a:ext>
            </a:extLst>
          </p:cNvPr>
          <p:cNvSpPr>
            <a:spLocks noGrp="1"/>
          </p:cNvSpPr>
          <p:nvPr>
            <p:ph type="title"/>
          </p:nvPr>
        </p:nvSpPr>
        <p:spPr/>
        <p:txBody>
          <a:bodyPr/>
          <a:lstStyle/>
          <a:p>
            <a:r>
              <a:rPr lang="en-US"/>
              <a:t>Exploring the n8n Editor</a:t>
            </a:r>
          </a:p>
        </p:txBody>
      </p:sp>
      <p:sp>
        <p:nvSpPr>
          <p:cNvPr id="3" name="Content Placeholder 2">
            <a:extLst>
              <a:ext uri="{FF2B5EF4-FFF2-40B4-BE49-F238E27FC236}">
                <a16:creationId xmlns:a16="http://schemas.microsoft.com/office/drawing/2014/main" id="{51B45482-0C67-343E-60C5-DF00A3043763}"/>
              </a:ext>
            </a:extLst>
          </p:cNvPr>
          <p:cNvSpPr>
            <a:spLocks noGrp="1"/>
          </p:cNvSpPr>
          <p:nvPr>
            <p:ph idx="1"/>
          </p:nvPr>
        </p:nvSpPr>
        <p:spPr/>
        <p:txBody>
          <a:bodyPr>
            <a:normAutofit/>
          </a:bodyPr>
          <a:lstStyle/>
          <a:p>
            <a:r>
              <a:rPr lang="en-US" sz="1800"/>
              <a:t>Canvas — drag, drop and connect nodes to design a workflow visually
Nodes panel — search 400+ app integrations and AI components
Node settings — configure parameters, credentials and data mapping
Execution view — run a workflow and inspect input/output JSON at each step
Credentials — store API keys securely and reuse them across flows
Templates &amp; versions — start from prebuilt flows and track your changes</a:t>
            </a:r>
          </a:p>
        </p:txBody>
      </p:sp>
    </p:spTree>
    <p:extLst>
      <p:ext uri="{BB962C8B-B14F-4D97-AF65-F5344CB8AC3E}">
        <p14:creationId xmlns:p14="http://schemas.microsoft.com/office/powerpoint/2010/main" val="1788552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EE516-379F-7788-B017-6B46034EB107}"/>
              </a:ext>
            </a:extLst>
          </p:cNvPr>
          <p:cNvSpPr>
            <a:spLocks noGrp="1"/>
          </p:cNvSpPr>
          <p:nvPr>
            <p:ph type="title"/>
          </p:nvPr>
        </p:nvSpPr>
        <p:spPr/>
        <p:txBody>
          <a:bodyPr/>
          <a:lstStyle/>
          <a:p>
            <a:r>
              <a:rPr lang="en-US"/>
              <a:t>Key Concepts of n8n</a:t>
            </a:r>
          </a:p>
        </p:txBody>
      </p:sp>
      <p:sp>
        <p:nvSpPr>
          <p:cNvPr id="500" name="card"/>
          <p:cNvSpPr/>
          <p:nvPr/>
        </p:nvSpPr>
        <p:spPr>
          <a:xfrm>
            <a:off x="457200" y="1879600"/>
            <a:ext cx="5486400" cy="2184400"/>
          </a:xfrm>
          <a:prstGeom prst="roundRect">
            <a:avLst>
              <a:gd name="adj" fmla="val 5000"/>
            </a:avLst>
          </a:prstGeom>
          <a:solidFill>
            <a:srgbClr val="F7F7FB"/>
          </a:solidFill>
          <a:ln w="9525">
            <a:solidFill>
              <a:srgbClr val="E4E4EC"/>
            </a:solidFill>
          </a:ln>
        </p:spPr>
        <p:txBody>
          <a:bodyPr lIns="1092200" tIns="279400" rIns="279400" bIns="228600" anchor="t"/>
          <a:lstStyle/>
          <a:p>
            <a:pPr>
              <a:buNone/>
            </a:pPr>
            <a:r>
              <a:rPr lang="en-US" sz="2200" b="1" dirty="0">
                <a:solidFill>
                  <a:srgbClr val="EA4B71"/>
                </a:solidFill>
              </a:rPr>
              <a:t>Trigger</a:t>
            </a:r>
          </a:p>
          <a:p>
            <a:pPr>
              <a:spcBef>
                <a:spcPts val="700"/>
              </a:spcBef>
              <a:buNone/>
            </a:pPr>
            <a:r>
              <a:rPr lang="en-US" sz="1500" dirty="0">
                <a:solidFill>
                  <a:schemeClr val="tx2"/>
                </a:solidFill>
              </a:rPr>
              <a:t>Starts the workflow. Listens for an event — a form submit, schedule, webhook or chat message.</a:t>
            </a:r>
          </a:p>
        </p:txBody>
      </p:sp>
      <p:sp>
        <p:nvSpPr>
          <p:cNvPr id="501" name="iconbg"/>
          <p:cNvSpPr/>
          <p:nvPr/>
        </p:nvSpPr>
        <p:spPr>
          <a:xfrm>
            <a:off x="685800" y="2159000"/>
            <a:ext cx="635000" cy="635000"/>
          </a:xfrm>
          <a:prstGeom prst="ellipse">
            <a:avLst/>
          </a:prstGeom>
          <a:solidFill>
            <a:srgbClr val="EA4B71"/>
          </a:solidFill>
          <a:ln>
            <a:noFill/>
          </a:ln>
        </p:spPr>
        <p:txBody>
          <a:bodyPr/>
          <a:lstStyle/>
          <a:p>
            <a:endParaRPr/>
          </a:p>
        </p:txBody>
      </p:sp>
      <p:sp>
        <p:nvSpPr>
          <p:cNvPr id="502" name="card"/>
          <p:cNvSpPr/>
          <p:nvPr/>
        </p:nvSpPr>
        <p:spPr>
          <a:xfrm>
            <a:off x="6248400" y="1879600"/>
            <a:ext cx="5486400" cy="2184400"/>
          </a:xfrm>
          <a:prstGeom prst="roundRect">
            <a:avLst>
              <a:gd name="adj" fmla="val 5000"/>
            </a:avLst>
          </a:prstGeom>
          <a:solidFill>
            <a:srgbClr val="F7F7FB"/>
          </a:solidFill>
          <a:ln w="9525">
            <a:solidFill>
              <a:srgbClr val="E4E4EC"/>
            </a:solidFill>
          </a:ln>
        </p:spPr>
        <p:txBody>
          <a:bodyPr lIns="1092200" tIns="279400" rIns="279400" bIns="228600" anchor="t"/>
          <a:lstStyle/>
          <a:p>
            <a:pPr>
              <a:buNone/>
            </a:pPr>
            <a:r>
              <a:rPr lang="en-US" sz="2200" b="1" dirty="0">
                <a:solidFill>
                  <a:srgbClr val="7A5CFF"/>
                </a:solidFill>
              </a:rPr>
              <a:t>Action</a:t>
            </a:r>
          </a:p>
          <a:p>
            <a:pPr>
              <a:spcBef>
                <a:spcPts val="700"/>
              </a:spcBef>
              <a:buNone/>
            </a:pPr>
            <a:r>
              <a:rPr lang="en-US" sz="1500" dirty="0">
                <a:solidFill>
                  <a:schemeClr val="tx2"/>
                </a:solidFill>
              </a:rPr>
              <a:t>Does the work. Sends an email, writes to a sheet, calls an API, or runs an AI agent.</a:t>
            </a:r>
          </a:p>
        </p:txBody>
      </p:sp>
      <p:sp>
        <p:nvSpPr>
          <p:cNvPr id="503" name="iconbg"/>
          <p:cNvSpPr/>
          <p:nvPr/>
        </p:nvSpPr>
        <p:spPr>
          <a:xfrm>
            <a:off x="6477000" y="2159000"/>
            <a:ext cx="635000" cy="635000"/>
          </a:xfrm>
          <a:prstGeom prst="ellipse">
            <a:avLst/>
          </a:prstGeom>
          <a:solidFill>
            <a:srgbClr val="7A5CFF"/>
          </a:solidFill>
          <a:ln>
            <a:noFill/>
          </a:ln>
        </p:spPr>
        <p:txBody>
          <a:bodyPr/>
          <a:lstStyle/>
          <a:p>
            <a:endParaRPr/>
          </a:p>
        </p:txBody>
      </p:sp>
      <p:sp>
        <p:nvSpPr>
          <p:cNvPr id="504" name="card"/>
          <p:cNvSpPr/>
          <p:nvPr/>
        </p:nvSpPr>
        <p:spPr>
          <a:xfrm>
            <a:off x="457200" y="4191000"/>
            <a:ext cx="5486400" cy="2184400"/>
          </a:xfrm>
          <a:prstGeom prst="roundRect">
            <a:avLst>
              <a:gd name="adj" fmla="val 5000"/>
            </a:avLst>
          </a:prstGeom>
          <a:solidFill>
            <a:srgbClr val="F7F7FB"/>
          </a:solidFill>
          <a:ln w="9525">
            <a:solidFill>
              <a:srgbClr val="E4E4EC"/>
            </a:solidFill>
          </a:ln>
        </p:spPr>
        <p:txBody>
          <a:bodyPr lIns="1092200" tIns="279400" rIns="279400" bIns="228600" anchor="t"/>
          <a:lstStyle/>
          <a:p>
            <a:pPr>
              <a:buNone/>
            </a:pPr>
            <a:r>
              <a:rPr lang="en-US" sz="2200" b="1" dirty="0">
                <a:solidFill>
                  <a:srgbClr val="0C7A6D"/>
                </a:solidFill>
              </a:rPr>
              <a:t>Node</a:t>
            </a:r>
          </a:p>
          <a:p>
            <a:pPr>
              <a:spcBef>
                <a:spcPts val="700"/>
              </a:spcBef>
              <a:buNone/>
            </a:pPr>
            <a:r>
              <a:rPr lang="en-US" sz="1500" dirty="0">
                <a:solidFill>
                  <a:schemeClr val="tx2"/>
                </a:solidFill>
              </a:rPr>
              <a:t>A single step on the canvas. Each performs one task; data passes from node to node as JSON.</a:t>
            </a:r>
          </a:p>
        </p:txBody>
      </p:sp>
      <p:sp>
        <p:nvSpPr>
          <p:cNvPr id="505" name="iconbg"/>
          <p:cNvSpPr/>
          <p:nvPr/>
        </p:nvSpPr>
        <p:spPr>
          <a:xfrm>
            <a:off x="685800" y="4470400"/>
            <a:ext cx="635000" cy="635000"/>
          </a:xfrm>
          <a:prstGeom prst="ellipse">
            <a:avLst/>
          </a:prstGeom>
          <a:solidFill>
            <a:srgbClr val="0C7A6D"/>
          </a:solidFill>
          <a:ln>
            <a:noFill/>
          </a:ln>
        </p:spPr>
        <p:txBody>
          <a:bodyPr/>
          <a:lstStyle/>
          <a:p>
            <a:endParaRPr/>
          </a:p>
        </p:txBody>
      </p:sp>
      <p:sp>
        <p:nvSpPr>
          <p:cNvPr id="506" name="card"/>
          <p:cNvSpPr/>
          <p:nvPr/>
        </p:nvSpPr>
        <p:spPr>
          <a:xfrm>
            <a:off x="6248400" y="4191000"/>
            <a:ext cx="5486400" cy="2184400"/>
          </a:xfrm>
          <a:prstGeom prst="roundRect">
            <a:avLst>
              <a:gd name="adj" fmla="val 5000"/>
            </a:avLst>
          </a:prstGeom>
          <a:solidFill>
            <a:srgbClr val="F7F7FB"/>
          </a:solidFill>
          <a:ln w="9525">
            <a:solidFill>
              <a:srgbClr val="E4E4EC"/>
            </a:solidFill>
          </a:ln>
        </p:spPr>
        <p:txBody>
          <a:bodyPr lIns="1092200" tIns="279400" rIns="279400" bIns="228600" anchor="t"/>
          <a:lstStyle/>
          <a:p>
            <a:pPr>
              <a:buNone/>
            </a:pPr>
            <a:r>
              <a:rPr lang="en-US" sz="2200" b="1" dirty="0">
                <a:solidFill>
                  <a:srgbClr val="C25E12"/>
                </a:solidFill>
              </a:rPr>
              <a:t>Flow</a:t>
            </a:r>
          </a:p>
          <a:p>
            <a:pPr>
              <a:spcBef>
                <a:spcPts val="700"/>
              </a:spcBef>
              <a:buNone/>
            </a:pPr>
            <a:r>
              <a:rPr lang="en-US" sz="1500" dirty="0">
                <a:solidFill>
                  <a:schemeClr val="tx2"/>
                </a:solidFill>
              </a:rPr>
              <a:t>The connected sequence of nodes — your end-to-end automation from trigger to result.</a:t>
            </a:r>
          </a:p>
        </p:txBody>
      </p:sp>
      <p:sp>
        <p:nvSpPr>
          <p:cNvPr id="507" name="iconbg"/>
          <p:cNvSpPr/>
          <p:nvPr/>
        </p:nvSpPr>
        <p:spPr>
          <a:xfrm>
            <a:off x="6477000" y="4470400"/>
            <a:ext cx="635000" cy="635000"/>
          </a:xfrm>
          <a:prstGeom prst="ellipse">
            <a:avLst/>
          </a:prstGeom>
          <a:solidFill>
            <a:srgbClr val="C25E12"/>
          </a:solidFill>
          <a:ln>
            <a:noFill/>
          </a:ln>
        </p:spPr>
        <p:txBody>
          <a:bodyPr/>
          <a:lstStyle/>
          <a:p>
            <a:endParaRPr/>
          </a:p>
        </p:txBody>
      </p:sp>
      <p:pic>
        <p:nvPicPr>
          <p:cNvPr id="508" name="Graphic 508" descr="Trigge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8200" y="2311400"/>
            <a:ext cx="330200" cy="330200"/>
          </a:xfrm>
          <a:prstGeom prst="rect">
            <a:avLst/>
          </a:prstGeom>
        </p:spPr>
      </p:pic>
      <p:pic>
        <p:nvPicPr>
          <p:cNvPr id="509" name="Graphic 509" descr="Acti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29400" y="2311400"/>
            <a:ext cx="330200" cy="330200"/>
          </a:xfrm>
          <a:prstGeom prst="rect">
            <a:avLst/>
          </a:prstGeom>
        </p:spPr>
      </p:pic>
      <p:pic>
        <p:nvPicPr>
          <p:cNvPr id="510" name="Graphic 510" descr="Nod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200" y="4622800"/>
            <a:ext cx="330200" cy="330200"/>
          </a:xfrm>
          <a:prstGeom prst="rect">
            <a:avLst/>
          </a:prstGeom>
        </p:spPr>
      </p:pic>
      <p:pic>
        <p:nvPicPr>
          <p:cNvPr id="511" name="Graphic 511" descr="Flow"/>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29400" y="4622800"/>
            <a:ext cx="330200" cy="330200"/>
          </a:xfrm>
          <a:prstGeom prst="rect">
            <a:avLst/>
          </a:prstGeom>
        </p:spPr>
      </p:pic>
    </p:spTree>
    <p:extLst>
      <p:ext uri="{BB962C8B-B14F-4D97-AF65-F5344CB8AC3E}">
        <p14:creationId xmlns:p14="http://schemas.microsoft.com/office/powerpoint/2010/main" val="4024415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95B26-AE65-4F0E-2C6D-90C2A6054000}"/>
              </a:ext>
            </a:extLst>
          </p:cNvPr>
          <p:cNvSpPr>
            <a:spLocks noGrp="1"/>
          </p:cNvSpPr>
          <p:nvPr>
            <p:ph type="title"/>
          </p:nvPr>
        </p:nvSpPr>
        <p:spPr/>
        <p:txBody>
          <a:bodyPr/>
          <a:lstStyle/>
          <a:p>
            <a:r>
              <a:rPr lang="en-US"/>
              <a:t>Activity 1 — Flyer with QR Code</a:t>
            </a:r>
          </a:p>
        </p:txBody>
      </p:sp>
      <p:sp>
        <p:nvSpPr>
          <p:cNvPr id="600" name="goal"/>
          <p:cNvSpPr/>
          <p:nvPr/>
        </p:nvSpPr>
        <p:spPr>
          <a:xfrm>
            <a:off x="457200" y="1854200"/>
            <a:ext cx="11277600" cy="838200"/>
          </a:xfrm>
          <a:prstGeom prst="roundRect">
            <a:avLst>
              <a:gd name="adj" fmla="val 12000"/>
            </a:avLst>
          </a:prstGeom>
          <a:solidFill>
            <a:srgbClr val="FCEEF2"/>
          </a:solidFill>
          <a:ln>
            <a:noFill/>
          </a:ln>
        </p:spPr>
        <p:txBody>
          <a:bodyPr lIns="254000" tIns="127000" rIns="254000" bIns="127000" anchor="ctr"/>
          <a:lstStyle/>
          <a:p>
            <a:pPr>
              <a:buNone/>
            </a:pPr>
            <a:r>
              <a:rPr lang="en-US" sz="1400" b="1" spc="150" dirty="0">
                <a:solidFill>
                  <a:srgbClr val="EA4B71"/>
                </a:solidFill>
              </a:rPr>
              <a:t>GOAL  </a:t>
            </a:r>
            <a:r>
              <a:rPr lang="en-US" sz="1700" dirty="0">
                <a:solidFill>
                  <a:schemeClr val="tx1"/>
                </a:solidFill>
              </a:rPr>
              <a:t>Publish a flyer with a QR code that opens a form; on submit, email the admin.</a:t>
            </a:r>
          </a:p>
        </p:txBody>
      </p:sp>
      <p:sp>
        <p:nvSpPr>
          <p:cNvPr id="601" name="pill"/>
          <p:cNvSpPr/>
          <p:nvPr/>
        </p:nvSpPr>
        <p:spPr>
          <a:xfrm>
            <a:off x="3937000" y="3200400"/>
            <a:ext cx="2032000" cy="711200"/>
          </a:xfrm>
          <a:prstGeom prst="roundRect">
            <a:avLst>
              <a:gd name="adj" fmla="val 22000"/>
            </a:avLst>
          </a:prstGeom>
          <a:solidFill>
            <a:srgbClr val="FFFFFF"/>
          </a:solidFill>
          <a:ln w="19050">
            <a:solidFill>
              <a:srgbClr val="EA4B71"/>
            </a:solidFill>
          </a:ln>
        </p:spPr>
        <p:txBody>
          <a:bodyPr lIns="76200" tIns="0" rIns="76200" bIns="0" anchor="ctr"/>
          <a:lstStyle/>
          <a:p>
            <a:pPr algn="ctr">
              <a:buNone/>
            </a:pPr>
            <a:r>
              <a:rPr lang="en-US" sz="1500" b="1" dirty="0">
                <a:solidFill>
                  <a:srgbClr val="EA4B71"/>
                </a:solidFill>
              </a:rPr>
              <a:t>Form Trigger</a:t>
            </a:r>
          </a:p>
        </p:txBody>
      </p:sp>
      <p:sp>
        <p:nvSpPr>
          <p:cNvPr id="602" name="arr"/>
          <p:cNvSpPr/>
          <p:nvPr/>
        </p:nvSpPr>
        <p:spPr>
          <a:xfrm>
            <a:off x="6057900" y="3441700"/>
            <a:ext cx="330200" cy="228600"/>
          </a:xfrm>
          <a:prstGeom prst="rightArrow">
            <a:avLst/>
          </a:prstGeom>
          <a:solidFill>
            <a:srgbClr val="EA4B71"/>
          </a:solidFill>
          <a:ln>
            <a:noFill/>
          </a:ln>
        </p:spPr>
        <p:txBody>
          <a:bodyPr/>
          <a:lstStyle/>
          <a:p>
            <a:endParaRPr/>
          </a:p>
        </p:txBody>
      </p:sp>
      <p:sp>
        <p:nvSpPr>
          <p:cNvPr id="603" name="pill"/>
          <p:cNvSpPr/>
          <p:nvPr/>
        </p:nvSpPr>
        <p:spPr>
          <a:xfrm>
            <a:off x="6477000" y="3200400"/>
            <a:ext cx="1778000" cy="711200"/>
          </a:xfrm>
          <a:prstGeom prst="roundRect">
            <a:avLst>
              <a:gd name="adj" fmla="val 22000"/>
            </a:avLst>
          </a:prstGeom>
          <a:solidFill>
            <a:srgbClr val="FFFFFF"/>
          </a:solidFill>
          <a:ln w="19050">
            <a:solidFill>
              <a:srgbClr val="EA4B71"/>
            </a:solidFill>
          </a:ln>
        </p:spPr>
        <p:txBody>
          <a:bodyPr lIns="76200" tIns="0" rIns="76200" bIns="0" anchor="ctr"/>
          <a:lstStyle/>
          <a:p>
            <a:pPr algn="ctr">
              <a:buNone/>
            </a:pPr>
            <a:r>
              <a:rPr lang="en-US" sz="1500" b="1" dirty="0">
                <a:solidFill>
                  <a:srgbClr val="EA4B71"/>
                </a:solidFill>
              </a:rPr>
              <a:t>Send Email</a:t>
            </a:r>
          </a:p>
        </p:txBody>
      </p:sp>
      <p:sp>
        <p:nvSpPr>
          <p:cNvPr id="604" name="notes"/>
          <p:cNvSpPr/>
          <p:nvPr/>
        </p:nvSpPr>
        <p:spPr>
          <a:xfrm>
            <a:off x="457200" y="4368800"/>
            <a:ext cx="11277600" cy="2006600"/>
          </a:xfrm>
          <a:prstGeom prst="rect">
            <a:avLst/>
          </a:prstGeom>
          <a:noFill/>
          <a:ln>
            <a:noFill/>
          </a:ln>
        </p:spPr>
        <p:txBody>
          <a:bodyPr lIns="50800" tIns="50800" rIns="50800" bIns="50800" anchor="t"/>
          <a:lstStyle/>
          <a:p>
            <a:pPr>
              <a:buNone/>
            </a:pPr>
            <a:r>
              <a:rPr lang="en-US" sz="1400" b="1" spc="150" dirty="0">
                <a:solidFill>
                  <a:srgbClr val="EA4B71"/>
                </a:solidFill>
              </a:rPr>
              <a:t>HOW IT WORKS</a:t>
            </a:r>
          </a:p>
          <a:p>
            <a:pPr marL="285750" indent="-285750">
              <a:spcBef>
                <a:spcPts val="600"/>
              </a:spcBef>
              <a:buFont typeface="Arial"/>
              <a:buChar char="•"/>
            </a:pPr>
            <a:r>
              <a:rPr lang="en-US" sz="1700" dirty="0">
                <a:solidFill>
                  <a:schemeClr val="tx2"/>
                </a:solidFill>
              </a:rPr>
              <a:t>n8n Form Trigger gives you a shareable URL and a QR code</a:t>
            </a:r>
          </a:p>
          <a:p>
            <a:pPr marL="285750" indent="-285750">
              <a:spcBef>
                <a:spcPts val="600"/>
              </a:spcBef>
              <a:buFont typeface="Arial"/>
              <a:buChar char="•"/>
            </a:pPr>
            <a:r>
              <a:rPr lang="en-US" sz="1700" dirty="0">
                <a:solidFill>
                  <a:schemeClr val="tx2"/>
                </a:solidFill>
              </a:rPr>
              <a:t>Map the submitted form fields into the email body</a:t>
            </a:r>
          </a:p>
          <a:p>
            <a:pPr marL="285750" indent="-285750">
              <a:spcBef>
                <a:spcPts val="600"/>
              </a:spcBef>
              <a:buFont typeface="Arial"/>
              <a:buChar char="•"/>
            </a:pPr>
            <a:r>
              <a:rPr lang="en-US" sz="1700" dirty="0">
                <a:solidFill>
                  <a:schemeClr val="tx2"/>
                </a:solidFill>
              </a:rPr>
              <a:t>Email node notifies the admin on every submission</a:t>
            </a:r>
          </a:p>
        </p:txBody>
      </p:sp>
    </p:spTree>
    <p:extLst>
      <p:ext uri="{BB962C8B-B14F-4D97-AF65-F5344CB8AC3E}">
        <p14:creationId xmlns:p14="http://schemas.microsoft.com/office/powerpoint/2010/main" val="1741302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F2982-DD1C-7FC2-01C6-53384556C5A7}"/>
              </a:ext>
            </a:extLst>
          </p:cNvPr>
          <p:cNvSpPr>
            <a:spLocks noGrp="1"/>
          </p:cNvSpPr>
          <p:nvPr>
            <p:ph type="title"/>
          </p:nvPr>
        </p:nvSpPr>
        <p:spPr/>
        <p:txBody>
          <a:bodyPr/>
          <a:lstStyle/>
          <a:p>
            <a:r>
              <a:rPr lang="en-US"/>
              <a:t>Activity 2 — Capture Data in a Data Table</a:t>
            </a:r>
          </a:p>
        </p:txBody>
      </p:sp>
      <p:sp>
        <p:nvSpPr>
          <p:cNvPr id="600" name="goal"/>
          <p:cNvSpPr/>
          <p:nvPr/>
        </p:nvSpPr>
        <p:spPr>
          <a:xfrm>
            <a:off x="457200" y="1854200"/>
            <a:ext cx="11277600" cy="838200"/>
          </a:xfrm>
          <a:prstGeom prst="roundRect">
            <a:avLst>
              <a:gd name="adj" fmla="val 12000"/>
            </a:avLst>
          </a:prstGeom>
          <a:solidFill>
            <a:srgbClr val="FCEEF2"/>
          </a:solidFill>
          <a:ln>
            <a:noFill/>
          </a:ln>
        </p:spPr>
        <p:txBody>
          <a:bodyPr lIns="254000" tIns="127000" rIns="254000" bIns="127000" anchor="ctr"/>
          <a:lstStyle/>
          <a:p>
            <a:pPr>
              <a:buNone/>
            </a:pPr>
            <a:r>
              <a:rPr lang="en-US" sz="1400" b="1" spc="150" dirty="0">
                <a:solidFill>
                  <a:srgbClr val="EA4B71"/>
                </a:solidFill>
              </a:rPr>
              <a:t>GOAL  </a:t>
            </a:r>
            <a:r>
              <a:rPr lang="en-US" sz="1700" dirty="0">
                <a:solidFill>
                  <a:schemeClr val="tx1"/>
                </a:solidFill>
              </a:rPr>
              <a:t>Extend Activity 1 so every form submission is saved into an n8n Data Table.</a:t>
            </a:r>
          </a:p>
        </p:txBody>
      </p:sp>
      <p:sp>
        <p:nvSpPr>
          <p:cNvPr id="601" name="pill"/>
          <p:cNvSpPr/>
          <p:nvPr/>
        </p:nvSpPr>
        <p:spPr>
          <a:xfrm>
            <a:off x="2794000" y="3200400"/>
            <a:ext cx="2032000" cy="711200"/>
          </a:xfrm>
          <a:prstGeom prst="roundRect">
            <a:avLst>
              <a:gd name="adj" fmla="val 22000"/>
            </a:avLst>
          </a:prstGeom>
          <a:solidFill>
            <a:srgbClr val="FFFFFF"/>
          </a:solidFill>
          <a:ln w="19050">
            <a:solidFill>
              <a:srgbClr val="EA4B71"/>
            </a:solidFill>
          </a:ln>
        </p:spPr>
        <p:txBody>
          <a:bodyPr lIns="76200" tIns="0" rIns="76200" bIns="0" anchor="ctr"/>
          <a:lstStyle/>
          <a:p>
            <a:pPr algn="ctr">
              <a:buNone/>
            </a:pPr>
            <a:r>
              <a:rPr lang="en-US" sz="1500" b="1" dirty="0">
                <a:solidFill>
                  <a:srgbClr val="EA4B71"/>
                </a:solidFill>
              </a:rPr>
              <a:t>Form Trigger</a:t>
            </a:r>
          </a:p>
        </p:txBody>
      </p:sp>
      <p:sp>
        <p:nvSpPr>
          <p:cNvPr id="602" name="arr"/>
          <p:cNvSpPr/>
          <p:nvPr/>
        </p:nvSpPr>
        <p:spPr>
          <a:xfrm>
            <a:off x="4914900" y="3441700"/>
            <a:ext cx="330200" cy="228600"/>
          </a:xfrm>
          <a:prstGeom prst="rightArrow">
            <a:avLst/>
          </a:prstGeom>
          <a:solidFill>
            <a:srgbClr val="EA4B71"/>
          </a:solidFill>
          <a:ln>
            <a:noFill/>
          </a:ln>
        </p:spPr>
        <p:txBody>
          <a:bodyPr/>
          <a:lstStyle/>
          <a:p>
            <a:endParaRPr/>
          </a:p>
        </p:txBody>
      </p:sp>
      <p:sp>
        <p:nvSpPr>
          <p:cNvPr id="603" name="pill"/>
          <p:cNvSpPr/>
          <p:nvPr/>
        </p:nvSpPr>
        <p:spPr>
          <a:xfrm>
            <a:off x="5334000" y="3200400"/>
            <a:ext cx="1778000" cy="711200"/>
          </a:xfrm>
          <a:prstGeom prst="roundRect">
            <a:avLst>
              <a:gd name="adj" fmla="val 22000"/>
            </a:avLst>
          </a:prstGeom>
          <a:solidFill>
            <a:srgbClr val="FFFFFF"/>
          </a:solidFill>
          <a:ln w="19050">
            <a:solidFill>
              <a:srgbClr val="EA4B71"/>
            </a:solidFill>
          </a:ln>
        </p:spPr>
        <p:txBody>
          <a:bodyPr lIns="76200" tIns="0" rIns="76200" bIns="0" anchor="ctr"/>
          <a:lstStyle/>
          <a:p>
            <a:pPr algn="ctr">
              <a:buNone/>
            </a:pPr>
            <a:r>
              <a:rPr lang="en-US" sz="1500" b="1" dirty="0">
                <a:solidFill>
                  <a:srgbClr val="EA4B71"/>
                </a:solidFill>
              </a:rPr>
              <a:t>Data Table</a:t>
            </a:r>
          </a:p>
        </p:txBody>
      </p:sp>
      <p:sp>
        <p:nvSpPr>
          <p:cNvPr id="604" name="arr"/>
          <p:cNvSpPr/>
          <p:nvPr/>
        </p:nvSpPr>
        <p:spPr>
          <a:xfrm>
            <a:off x="7200900" y="3441700"/>
            <a:ext cx="330200" cy="228600"/>
          </a:xfrm>
          <a:prstGeom prst="rightArrow">
            <a:avLst/>
          </a:prstGeom>
          <a:solidFill>
            <a:srgbClr val="EA4B71"/>
          </a:solidFill>
          <a:ln>
            <a:noFill/>
          </a:ln>
        </p:spPr>
        <p:txBody>
          <a:bodyPr/>
          <a:lstStyle/>
          <a:p>
            <a:endParaRPr/>
          </a:p>
        </p:txBody>
      </p:sp>
      <p:sp>
        <p:nvSpPr>
          <p:cNvPr id="605" name="pill"/>
          <p:cNvSpPr/>
          <p:nvPr/>
        </p:nvSpPr>
        <p:spPr>
          <a:xfrm>
            <a:off x="7620000" y="3200400"/>
            <a:ext cx="1778000" cy="711200"/>
          </a:xfrm>
          <a:prstGeom prst="roundRect">
            <a:avLst>
              <a:gd name="adj" fmla="val 22000"/>
            </a:avLst>
          </a:prstGeom>
          <a:solidFill>
            <a:srgbClr val="FFFFFF"/>
          </a:solidFill>
          <a:ln w="19050">
            <a:solidFill>
              <a:srgbClr val="EA4B71"/>
            </a:solidFill>
          </a:ln>
        </p:spPr>
        <p:txBody>
          <a:bodyPr lIns="76200" tIns="0" rIns="76200" bIns="0" anchor="ctr"/>
          <a:lstStyle/>
          <a:p>
            <a:pPr algn="ctr">
              <a:buNone/>
            </a:pPr>
            <a:r>
              <a:rPr lang="en-US" sz="1500" b="1" dirty="0">
                <a:solidFill>
                  <a:srgbClr val="EA4B71"/>
                </a:solidFill>
              </a:rPr>
              <a:t>Send Email</a:t>
            </a:r>
          </a:p>
        </p:txBody>
      </p:sp>
      <p:sp>
        <p:nvSpPr>
          <p:cNvPr id="606" name="notes"/>
          <p:cNvSpPr/>
          <p:nvPr/>
        </p:nvSpPr>
        <p:spPr>
          <a:xfrm>
            <a:off x="457200" y="4368800"/>
            <a:ext cx="11277600" cy="2006600"/>
          </a:xfrm>
          <a:prstGeom prst="rect">
            <a:avLst/>
          </a:prstGeom>
          <a:noFill/>
          <a:ln>
            <a:noFill/>
          </a:ln>
        </p:spPr>
        <p:txBody>
          <a:bodyPr lIns="50800" tIns="50800" rIns="50800" bIns="50800" anchor="t"/>
          <a:lstStyle/>
          <a:p>
            <a:pPr>
              <a:buNone/>
            </a:pPr>
            <a:r>
              <a:rPr lang="en-US" sz="1400" b="1" spc="150" dirty="0">
                <a:solidFill>
                  <a:srgbClr val="EA4B71"/>
                </a:solidFill>
              </a:rPr>
              <a:t>HOW IT WORKS</a:t>
            </a:r>
          </a:p>
          <a:p>
            <a:pPr marL="285750" indent="-285750">
              <a:spcBef>
                <a:spcPts val="600"/>
              </a:spcBef>
              <a:buFont typeface="Arial"/>
              <a:buChar char="•"/>
            </a:pPr>
            <a:r>
              <a:rPr lang="en-US" sz="1700" dirty="0">
                <a:solidFill>
                  <a:schemeClr val="tx2"/>
                </a:solidFill>
              </a:rPr>
              <a:t>Create a Data Table with columns matching your form fields</a:t>
            </a:r>
          </a:p>
          <a:p>
            <a:pPr marL="285750" indent="-285750">
              <a:spcBef>
                <a:spcPts val="600"/>
              </a:spcBef>
              <a:buFont typeface="Arial"/>
              <a:buChar char="•"/>
            </a:pPr>
            <a:r>
              <a:rPr lang="en-US" sz="1700" dirty="0">
                <a:solidFill>
                  <a:schemeClr val="tx2"/>
                </a:solidFill>
              </a:rPr>
              <a:t>Insert a new row on each submission to capture the response</a:t>
            </a:r>
          </a:p>
          <a:p>
            <a:pPr marL="285750" indent="-285750">
              <a:spcBef>
                <a:spcPts val="600"/>
              </a:spcBef>
              <a:buFont typeface="Arial"/>
              <a:buChar char="•"/>
            </a:pPr>
            <a:r>
              <a:rPr lang="en-US" sz="1700" dirty="0">
                <a:solidFill>
                  <a:schemeClr val="tx2"/>
                </a:solidFill>
              </a:rPr>
              <a:t>Build a searchable record of all entries inside n8n</a:t>
            </a:r>
          </a:p>
        </p:txBody>
      </p:sp>
    </p:spTree>
    <p:extLst>
      <p:ext uri="{BB962C8B-B14F-4D97-AF65-F5344CB8AC3E}">
        <p14:creationId xmlns:p14="http://schemas.microsoft.com/office/powerpoint/2010/main" val="523407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E34D1-91E1-B3BA-72E1-C71C4698F1BF}"/>
              </a:ext>
            </a:extLst>
          </p:cNvPr>
          <p:cNvSpPr>
            <a:spLocks noGrp="1"/>
          </p:cNvSpPr>
          <p:nvPr>
            <p:ph type="title"/>
          </p:nvPr>
        </p:nvSpPr>
        <p:spPr/>
        <p:txBody>
          <a:bodyPr/>
          <a:lstStyle/>
          <a:p>
            <a:r>
              <a:rPr lang="en-US"/>
              <a:t>Activity 3a — Conditional Response (Data Table)</a:t>
            </a:r>
          </a:p>
        </p:txBody>
      </p:sp>
      <p:sp>
        <p:nvSpPr>
          <p:cNvPr id="600" name="goal"/>
          <p:cNvSpPr/>
          <p:nvPr/>
        </p:nvSpPr>
        <p:spPr>
          <a:xfrm>
            <a:off x="457200" y="1854200"/>
            <a:ext cx="11277600" cy="838200"/>
          </a:xfrm>
          <a:prstGeom prst="roundRect">
            <a:avLst>
              <a:gd name="adj" fmla="val 12000"/>
            </a:avLst>
          </a:prstGeom>
          <a:solidFill>
            <a:srgbClr val="FCEEF2"/>
          </a:solidFill>
          <a:ln>
            <a:noFill/>
          </a:ln>
        </p:spPr>
        <p:txBody>
          <a:bodyPr lIns="254000" tIns="127000" rIns="254000" bIns="127000" anchor="ctr"/>
          <a:lstStyle/>
          <a:p>
            <a:pPr>
              <a:buNone/>
            </a:pPr>
            <a:r>
              <a:rPr lang="en-US" sz="1400" b="1" spc="150" dirty="0">
                <a:solidFill>
                  <a:srgbClr val="EA4B71"/>
                </a:solidFill>
              </a:rPr>
              <a:t>GOAL  </a:t>
            </a:r>
            <a:r>
              <a:rPr lang="en-US" sz="1700" dirty="0">
                <a:solidFill>
                  <a:schemeClr val="tx1"/>
                </a:solidFill>
              </a:rPr>
              <a:t>Branch on the reply — save attendees to the Data Table, thank everyone else.</a:t>
            </a:r>
          </a:p>
        </p:txBody>
      </p:sp>
      <p:sp>
        <p:nvSpPr>
          <p:cNvPr id="601" name="pill"/>
          <p:cNvSpPr/>
          <p:nvPr/>
        </p:nvSpPr>
        <p:spPr>
          <a:xfrm>
            <a:off x="2844800" y="3200400"/>
            <a:ext cx="2032000" cy="711200"/>
          </a:xfrm>
          <a:prstGeom prst="roundRect">
            <a:avLst>
              <a:gd name="adj" fmla="val 22000"/>
            </a:avLst>
          </a:prstGeom>
          <a:solidFill>
            <a:srgbClr val="FFFFFF"/>
          </a:solidFill>
          <a:ln w="19050">
            <a:solidFill>
              <a:srgbClr val="EA4B71"/>
            </a:solidFill>
          </a:ln>
        </p:spPr>
        <p:txBody>
          <a:bodyPr lIns="76200" tIns="0" rIns="76200" bIns="0" anchor="ctr"/>
          <a:lstStyle/>
          <a:p>
            <a:pPr algn="ctr">
              <a:buNone/>
            </a:pPr>
            <a:r>
              <a:rPr lang="en-US" sz="1500" b="1" dirty="0">
                <a:solidFill>
                  <a:srgbClr val="EA4B71"/>
                </a:solidFill>
              </a:rPr>
              <a:t>Form Trigger</a:t>
            </a:r>
          </a:p>
        </p:txBody>
      </p:sp>
      <p:sp>
        <p:nvSpPr>
          <p:cNvPr id="602" name="arr"/>
          <p:cNvSpPr/>
          <p:nvPr/>
        </p:nvSpPr>
        <p:spPr>
          <a:xfrm>
            <a:off x="4965700" y="3441700"/>
            <a:ext cx="330200" cy="228600"/>
          </a:xfrm>
          <a:prstGeom prst="rightArrow">
            <a:avLst/>
          </a:prstGeom>
          <a:solidFill>
            <a:srgbClr val="EA4B71"/>
          </a:solidFill>
          <a:ln>
            <a:noFill/>
          </a:ln>
        </p:spPr>
        <p:txBody>
          <a:bodyPr/>
          <a:lstStyle/>
          <a:p>
            <a:endParaRPr/>
          </a:p>
        </p:txBody>
      </p:sp>
      <p:sp>
        <p:nvSpPr>
          <p:cNvPr id="603" name="pill"/>
          <p:cNvSpPr/>
          <p:nvPr/>
        </p:nvSpPr>
        <p:spPr>
          <a:xfrm>
            <a:off x="5384800" y="3200400"/>
            <a:ext cx="1676400" cy="711200"/>
          </a:xfrm>
          <a:prstGeom prst="roundRect">
            <a:avLst>
              <a:gd name="adj" fmla="val 22000"/>
            </a:avLst>
          </a:prstGeom>
          <a:solidFill>
            <a:srgbClr val="FFFFFF"/>
          </a:solidFill>
          <a:ln w="19050">
            <a:solidFill>
              <a:srgbClr val="EA4B71"/>
            </a:solidFill>
          </a:ln>
        </p:spPr>
        <p:txBody>
          <a:bodyPr lIns="76200" tIns="0" rIns="76200" bIns="0" anchor="ctr"/>
          <a:lstStyle/>
          <a:p>
            <a:pPr algn="ctr">
              <a:buNone/>
            </a:pPr>
            <a:r>
              <a:rPr lang="en-US" sz="1500" b="1" dirty="0">
                <a:solidFill>
                  <a:srgbClr val="EA4B71"/>
                </a:solidFill>
              </a:rPr>
              <a:t>IF</a:t>
            </a:r>
          </a:p>
        </p:txBody>
      </p:sp>
      <p:sp>
        <p:nvSpPr>
          <p:cNvPr id="604" name="arr"/>
          <p:cNvSpPr/>
          <p:nvPr/>
        </p:nvSpPr>
        <p:spPr>
          <a:xfrm>
            <a:off x="7150100" y="3441700"/>
            <a:ext cx="330200" cy="228600"/>
          </a:xfrm>
          <a:prstGeom prst="rightArrow">
            <a:avLst/>
          </a:prstGeom>
          <a:solidFill>
            <a:srgbClr val="EA4B71"/>
          </a:solidFill>
          <a:ln>
            <a:noFill/>
          </a:ln>
        </p:spPr>
        <p:txBody>
          <a:bodyPr/>
          <a:lstStyle/>
          <a:p>
            <a:endParaRPr/>
          </a:p>
        </p:txBody>
      </p:sp>
      <p:sp>
        <p:nvSpPr>
          <p:cNvPr id="605" name="pill"/>
          <p:cNvSpPr/>
          <p:nvPr/>
        </p:nvSpPr>
        <p:spPr>
          <a:xfrm>
            <a:off x="7569200" y="3200400"/>
            <a:ext cx="1778000" cy="711200"/>
          </a:xfrm>
          <a:prstGeom prst="roundRect">
            <a:avLst>
              <a:gd name="adj" fmla="val 22000"/>
            </a:avLst>
          </a:prstGeom>
          <a:solidFill>
            <a:srgbClr val="FFFFFF"/>
          </a:solidFill>
          <a:ln w="19050">
            <a:solidFill>
              <a:srgbClr val="EA4B71"/>
            </a:solidFill>
          </a:ln>
        </p:spPr>
        <p:txBody>
          <a:bodyPr lIns="76200" tIns="0" rIns="76200" bIns="0" anchor="ctr"/>
          <a:lstStyle/>
          <a:p>
            <a:pPr algn="ctr">
              <a:buNone/>
            </a:pPr>
            <a:r>
              <a:rPr lang="en-US" sz="1500" b="1" dirty="0">
                <a:solidFill>
                  <a:srgbClr val="EA4B71"/>
                </a:solidFill>
              </a:rPr>
              <a:t>Data Table</a:t>
            </a:r>
          </a:p>
        </p:txBody>
      </p:sp>
      <p:sp>
        <p:nvSpPr>
          <p:cNvPr id="606" name="notes"/>
          <p:cNvSpPr/>
          <p:nvPr/>
        </p:nvSpPr>
        <p:spPr>
          <a:xfrm>
            <a:off x="457200" y="4368800"/>
            <a:ext cx="11277600" cy="2006600"/>
          </a:xfrm>
          <a:prstGeom prst="rect">
            <a:avLst/>
          </a:prstGeom>
          <a:noFill/>
          <a:ln>
            <a:noFill/>
          </a:ln>
        </p:spPr>
        <p:txBody>
          <a:bodyPr lIns="50800" tIns="50800" rIns="50800" bIns="50800" anchor="t"/>
          <a:lstStyle/>
          <a:p>
            <a:pPr>
              <a:buNone/>
            </a:pPr>
            <a:r>
              <a:rPr lang="en-US" sz="1400" b="1" spc="150" dirty="0">
                <a:solidFill>
                  <a:srgbClr val="EA4B71"/>
                </a:solidFill>
              </a:rPr>
              <a:t>HOW IT WORKS</a:t>
            </a:r>
          </a:p>
          <a:p>
            <a:pPr marL="285750" indent="-285750">
              <a:spcBef>
                <a:spcPts val="600"/>
              </a:spcBef>
              <a:buFont typeface="Arial"/>
              <a:buChar char="•"/>
            </a:pPr>
            <a:r>
              <a:rPr lang="en-US" sz="1700" dirty="0">
                <a:solidFill>
                  <a:schemeClr val="tx2"/>
                </a:solidFill>
              </a:rPr>
              <a:t>IF node checks the “Attending?” answer</a:t>
            </a:r>
          </a:p>
          <a:p>
            <a:pPr marL="285750" indent="-285750">
              <a:spcBef>
                <a:spcPts val="600"/>
              </a:spcBef>
              <a:buFont typeface="Arial"/>
              <a:buChar char="•"/>
            </a:pPr>
            <a:r>
              <a:rPr lang="en-US" sz="1700" dirty="0">
                <a:solidFill>
                  <a:schemeClr val="tx2"/>
                </a:solidFill>
              </a:rPr>
              <a:t>Yes → save the date to the n8n Data Table</a:t>
            </a:r>
          </a:p>
          <a:p>
            <a:pPr marL="285750" indent="-285750">
              <a:spcBef>
                <a:spcPts val="600"/>
              </a:spcBef>
              <a:buFont typeface="Arial"/>
              <a:buChar char="•"/>
            </a:pPr>
            <a:r>
              <a:rPr lang="en-US" sz="1700" dirty="0">
                <a:solidFill>
                  <a:schemeClr val="tx2"/>
                </a:solidFill>
              </a:rPr>
              <a:t>No → send a polite thank-you reply email</a:t>
            </a:r>
          </a:p>
        </p:txBody>
      </p:sp>
    </p:spTree>
    <p:extLst>
      <p:ext uri="{BB962C8B-B14F-4D97-AF65-F5344CB8AC3E}">
        <p14:creationId xmlns:p14="http://schemas.microsoft.com/office/powerpoint/2010/main" val="778701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E435D-4C48-5B1D-4C0D-BB860C5E1A5C}"/>
              </a:ext>
            </a:extLst>
          </p:cNvPr>
          <p:cNvSpPr>
            <a:spLocks noGrp="1"/>
          </p:cNvSpPr>
          <p:nvPr>
            <p:ph type="title"/>
          </p:nvPr>
        </p:nvSpPr>
        <p:spPr/>
        <p:txBody>
          <a:bodyPr/>
          <a:lstStyle/>
          <a:p>
            <a:r>
              <a:rPr lang="en-US"/>
              <a:t>Activity 3b — Conditional Response (Sheets / Excel)</a:t>
            </a:r>
          </a:p>
        </p:txBody>
      </p:sp>
      <p:sp>
        <p:nvSpPr>
          <p:cNvPr id="600" name="goal"/>
          <p:cNvSpPr/>
          <p:nvPr/>
        </p:nvSpPr>
        <p:spPr>
          <a:xfrm>
            <a:off x="457200" y="1854200"/>
            <a:ext cx="11277600" cy="838200"/>
          </a:xfrm>
          <a:prstGeom prst="roundRect">
            <a:avLst>
              <a:gd name="adj" fmla="val 12000"/>
            </a:avLst>
          </a:prstGeom>
          <a:solidFill>
            <a:srgbClr val="FCEEF2"/>
          </a:solidFill>
          <a:ln>
            <a:noFill/>
          </a:ln>
        </p:spPr>
        <p:txBody>
          <a:bodyPr lIns="254000" tIns="127000" rIns="254000" bIns="127000" anchor="ctr"/>
          <a:lstStyle/>
          <a:p>
            <a:pPr>
              <a:buNone/>
            </a:pPr>
            <a:r>
              <a:rPr lang="en-US" sz="1400" b="1" spc="150" dirty="0">
                <a:solidFill>
                  <a:srgbClr val="EA4B71"/>
                </a:solidFill>
              </a:rPr>
              <a:t>GOAL  </a:t>
            </a:r>
            <a:r>
              <a:rPr lang="en-US" sz="1700" dirty="0">
                <a:solidFill>
                  <a:schemeClr val="tx1"/>
                </a:solidFill>
              </a:rPr>
              <a:t>Same branching logic, this time writing confirmed dates to Google Sheets or Excel.</a:t>
            </a:r>
          </a:p>
        </p:txBody>
      </p:sp>
      <p:sp>
        <p:nvSpPr>
          <p:cNvPr id="601" name="pill"/>
          <p:cNvSpPr/>
          <p:nvPr/>
        </p:nvSpPr>
        <p:spPr>
          <a:xfrm>
            <a:off x="2590800" y="3200400"/>
            <a:ext cx="2032000" cy="711200"/>
          </a:xfrm>
          <a:prstGeom prst="roundRect">
            <a:avLst>
              <a:gd name="adj" fmla="val 22000"/>
            </a:avLst>
          </a:prstGeom>
          <a:solidFill>
            <a:srgbClr val="FFFFFF"/>
          </a:solidFill>
          <a:ln w="19050">
            <a:solidFill>
              <a:srgbClr val="EA4B71"/>
            </a:solidFill>
          </a:ln>
        </p:spPr>
        <p:txBody>
          <a:bodyPr lIns="76200" tIns="0" rIns="76200" bIns="0" anchor="ctr"/>
          <a:lstStyle/>
          <a:p>
            <a:pPr algn="ctr">
              <a:buNone/>
            </a:pPr>
            <a:r>
              <a:rPr lang="en-US" sz="1500" b="1" dirty="0">
                <a:solidFill>
                  <a:srgbClr val="EA4B71"/>
                </a:solidFill>
              </a:rPr>
              <a:t>Form Trigger</a:t>
            </a:r>
          </a:p>
        </p:txBody>
      </p:sp>
      <p:sp>
        <p:nvSpPr>
          <p:cNvPr id="602" name="arr"/>
          <p:cNvSpPr/>
          <p:nvPr/>
        </p:nvSpPr>
        <p:spPr>
          <a:xfrm>
            <a:off x="4711700" y="3441700"/>
            <a:ext cx="330200" cy="228600"/>
          </a:xfrm>
          <a:prstGeom prst="rightArrow">
            <a:avLst/>
          </a:prstGeom>
          <a:solidFill>
            <a:srgbClr val="EA4B71"/>
          </a:solidFill>
          <a:ln>
            <a:noFill/>
          </a:ln>
        </p:spPr>
        <p:txBody>
          <a:bodyPr/>
          <a:lstStyle/>
          <a:p>
            <a:endParaRPr/>
          </a:p>
        </p:txBody>
      </p:sp>
      <p:sp>
        <p:nvSpPr>
          <p:cNvPr id="603" name="pill"/>
          <p:cNvSpPr/>
          <p:nvPr/>
        </p:nvSpPr>
        <p:spPr>
          <a:xfrm>
            <a:off x="5130800" y="3200400"/>
            <a:ext cx="1676400" cy="711200"/>
          </a:xfrm>
          <a:prstGeom prst="roundRect">
            <a:avLst>
              <a:gd name="adj" fmla="val 22000"/>
            </a:avLst>
          </a:prstGeom>
          <a:solidFill>
            <a:srgbClr val="FFFFFF"/>
          </a:solidFill>
          <a:ln w="19050">
            <a:solidFill>
              <a:srgbClr val="EA4B71"/>
            </a:solidFill>
          </a:ln>
        </p:spPr>
        <p:txBody>
          <a:bodyPr lIns="76200" tIns="0" rIns="76200" bIns="0" anchor="ctr"/>
          <a:lstStyle/>
          <a:p>
            <a:pPr algn="ctr">
              <a:buNone/>
            </a:pPr>
            <a:r>
              <a:rPr lang="en-US" sz="1500" b="1" dirty="0">
                <a:solidFill>
                  <a:srgbClr val="EA4B71"/>
                </a:solidFill>
              </a:rPr>
              <a:t>IF</a:t>
            </a:r>
          </a:p>
        </p:txBody>
      </p:sp>
      <p:sp>
        <p:nvSpPr>
          <p:cNvPr id="604" name="arr"/>
          <p:cNvSpPr/>
          <p:nvPr/>
        </p:nvSpPr>
        <p:spPr>
          <a:xfrm>
            <a:off x="6896100" y="3441700"/>
            <a:ext cx="330200" cy="228600"/>
          </a:xfrm>
          <a:prstGeom prst="rightArrow">
            <a:avLst/>
          </a:prstGeom>
          <a:solidFill>
            <a:srgbClr val="EA4B71"/>
          </a:solidFill>
          <a:ln>
            <a:noFill/>
          </a:ln>
        </p:spPr>
        <p:txBody>
          <a:bodyPr/>
          <a:lstStyle/>
          <a:p>
            <a:endParaRPr/>
          </a:p>
        </p:txBody>
      </p:sp>
      <p:sp>
        <p:nvSpPr>
          <p:cNvPr id="605" name="pill"/>
          <p:cNvSpPr/>
          <p:nvPr/>
        </p:nvSpPr>
        <p:spPr>
          <a:xfrm>
            <a:off x="7315200" y="3200400"/>
            <a:ext cx="2286000" cy="711200"/>
          </a:xfrm>
          <a:prstGeom prst="roundRect">
            <a:avLst>
              <a:gd name="adj" fmla="val 22000"/>
            </a:avLst>
          </a:prstGeom>
          <a:solidFill>
            <a:srgbClr val="FFFFFF"/>
          </a:solidFill>
          <a:ln w="19050">
            <a:solidFill>
              <a:srgbClr val="EA4B71"/>
            </a:solidFill>
          </a:ln>
        </p:spPr>
        <p:txBody>
          <a:bodyPr lIns="76200" tIns="0" rIns="76200" bIns="0" anchor="ctr"/>
          <a:lstStyle/>
          <a:p>
            <a:pPr algn="ctr">
              <a:buNone/>
            </a:pPr>
            <a:r>
              <a:rPr lang="en-US" sz="1500" b="1" dirty="0">
                <a:solidFill>
                  <a:srgbClr val="EA4B71"/>
                </a:solidFill>
              </a:rPr>
              <a:t>Sheets / Excel</a:t>
            </a:r>
          </a:p>
        </p:txBody>
      </p:sp>
      <p:sp>
        <p:nvSpPr>
          <p:cNvPr id="606" name="notes"/>
          <p:cNvSpPr/>
          <p:nvPr/>
        </p:nvSpPr>
        <p:spPr>
          <a:xfrm>
            <a:off x="457200" y="4368800"/>
            <a:ext cx="11277600" cy="2006600"/>
          </a:xfrm>
          <a:prstGeom prst="rect">
            <a:avLst/>
          </a:prstGeom>
          <a:noFill/>
          <a:ln>
            <a:noFill/>
          </a:ln>
        </p:spPr>
        <p:txBody>
          <a:bodyPr lIns="50800" tIns="50800" rIns="50800" bIns="50800" anchor="t"/>
          <a:lstStyle/>
          <a:p>
            <a:pPr>
              <a:buNone/>
            </a:pPr>
            <a:r>
              <a:rPr lang="en-US" sz="1400" b="1" spc="150" dirty="0">
                <a:solidFill>
                  <a:srgbClr val="EA4B71"/>
                </a:solidFill>
              </a:rPr>
              <a:t>HOW IT WORKS</a:t>
            </a:r>
          </a:p>
          <a:p>
            <a:pPr marL="285750" indent="-285750">
              <a:spcBef>
                <a:spcPts val="600"/>
              </a:spcBef>
              <a:buFont typeface="Arial"/>
              <a:buChar char="•"/>
            </a:pPr>
            <a:r>
              <a:rPr lang="en-US" sz="1700" dirty="0">
                <a:solidFill>
                  <a:schemeClr val="tx2"/>
                </a:solidFill>
              </a:rPr>
              <a:t>IF node routes each submission by the answer</a:t>
            </a:r>
          </a:p>
          <a:p>
            <a:pPr marL="285750" indent="-285750">
              <a:spcBef>
                <a:spcPts val="600"/>
              </a:spcBef>
              <a:buFont typeface="Arial"/>
              <a:buChar char="•"/>
            </a:pPr>
            <a:r>
              <a:rPr lang="en-US" sz="1700" dirty="0">
                <a:solidFill>
                  <a:schemeClr val="tx2"/>
                </a:solidFill>
              </a:rPr>
              <a:t>Yes → append the date to Google Sheets or Excel Online</a:t>
            </a:r>
          </a:p>
          <a:p>
            <a:pPr marL="285750" indent="-285750">
              <a:spcBef>
                <a:spcPts val="600"/>
              </a:spcBef>
              <a:buFont typeface="Arial"/>
              <a:buChar char="•"/>
            </a:pPr>
            <a:r>
              <a:rPr lang="en-US" sz="1700" dirty="0">
                <a:solidFill>
                  <a:schemeClr val="tx2"/>
                </a:solidFill>
              </a:rPr>
              <a:t>No → send a thank-you reply email</a:t>
            </a:r>
          </a:p>
        </p:txBody>
      </p:sp>
    </p:spTree>
    <p:extLst>
      <p:ext uri="{BB962C8B-B14F-4D97-AF65-F5344CB8AC3E}">
        <p14:creationId xmlns:p14="http://schemas.microsoft.com/office/powerpoint/2010/main" val="2979565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85E8B-56D3-CA17-CCDE-07D3EDBB469C}"/>
              </a:ext>
            </a:extLst>
          </p:cNvPr>
          <p:cNvSpPr>
            <a:spLocks noGrp="1"/>
          </p:cNvSpPr>
          <p:nvPr>
            <p:ph type="title"/>
          </p:nvPr>
        </p:nvSpPr>
        <p:spPr/>
        <p:txBody>
          <a:bodyPr/>
          <a:lstStyle/>
          <a:p>
            <a:r>
              <a:rPr lang="en-US" sz="4000" b="1" dirty="0"/>
              <a:t>AI Agents &amp; RAG</a:t>
            </a:r>
          </a:p>
        </p:txBody>
      </p:sp>
      <p:sp>
        <p:nvSpPr>
          <p:cNvPr id="3" name="Text Placeholder 2">
            <a:extLst>
              <a:ext uri="{FF2B5EF4-FFF2-40B4-BE49-F238E27FC236}">
                <a16:creationId xmlns:a16="http://schemas.microsoft.com/office/drawing/2014/main" id="{8721D376-C1E3-6195-F8A5-72E007EC6400}"/>
              </a:ext>
            </a:extLst>
          </p:cNvPr>
          <p:cNvSpPr>
            <a:spLocks noGrp="1"/>
          </p:cNvSpPr>
          <p:nvPr>
            <p:ph type="body" idx="1"/>
          </p:nvPr>
        </p:nvSpPr>
        <p:spPr/>
        <p:txBody>
          <a:bodyPr/>
          <a:lstStyle/>
          <a:p>
            <a:pPr>
              <a:buNone/>
            </a:pPr>
            <a:r>
              <a:rPr lang="en-US" sz="1600" b="1" spc="200" dirty="0">
                <a:solidFill>
                  <a:srgbClr val="EA4B71"/>
                </a:solidFill>
              </a:rPr>
              <a:t>DAY 1 · AFTERNOON — TOPIC 2</a:t>
            </a:r>
          </a:p>
          <a:p>
            <a:pPr>
              <a:spcBef>
                <a:spcPts val="600"/>
              </a:spcBef>
              <a:buNone/>
            </a:pPr>
            <a:r>
              <a:rPr lang="en-US" sz="1800" dirty="0">
                <a:solidFill>
                  <a:schemeClr val="tx2"/>
                </a:solidFill>
              </a:rPr>
              <a:t>Build AI agents with LLMs, memory and tools — then ground them with Retrieval-Augmented Generation.</a:t>
            </a:r>
          </a:p>
        </p:txBody>
      </p:sp>
      <p:sp>
        <p:nvSpPr>
          <p:cNvPr id="420" name="rule"/>
          <p:cNvSpPr/>
          <p:nvPr/>
        </p:nvSpPr>
        <p:spPr>
          <a:xfrm>
            <a:off x="838200" y="4419600"/>
            <a:ext cx="1016000" cy="63500"/>
          </a:xfrm>
          <a:prstGeom prst="rect">
            <a:avLst/>
          </a:prstGeom>
          <a:solidFill>
            <a:srgbClr val="EA4B71"/>
          </a:solidFill>
          <a:ln>
            <a:noFill/>
          </a:ln>
        </p:spPr>
        <p:txBody>
          <a:bodyPr/>
          <a:lstStyle/>
          <a:p>
            <a:endParaRPr/>
          </a:p>
        </p:txBody>
      </p:sp>
    </p:spTree>
    <p:extLst>
      <p:ext uri="{BB962C8B-B14F-4D97-AF65-F5344CB8AC3E}">
        <p14:creationId xmlns:p14="http://schemas.microsoft.com/office/powerpoint/2010/main" val="3923749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DB7E3-0043-E98C-8073-410A5AA99476}"/>
              </a:ext>
            </a:extLst>
          </p:cNvPr>
          <p:cNvSpPr>
            <a:spLocks noGrp="1"/>
          </p:cNvSpPr>
          <p:nvPr>
            <p:ph type="title"/>
          </p:nvPr>
        </p:nvSpPr>
        <p:spPr/>
        <p:txBody>
          <a:bodyPr/>
          <a:lstStyle/>
          <a:p>
            <a:r>
              <a:rPr lang="en-US"/>
              <a:t>Overview of AI Agents</a:t>
            </a:r>
          </a:p>
        </p:txBody>
      </p:sp>
      <p:sp>
        <p:nvSpPr>
          <p:cNvPr id="600" name="intro"/>
          <p:cNvSpPr/>
          <p:nvPr/>
        </p:nvSpPr>
        <p:spPr>
          <a:xfrm>
            <a:off x="457200" y="1803400"/>
            <a:ext cx="11277600" cy="609600"/>
          </a:xfrm>
          <a:prstGeom prst="rect">
            <a:avLst/>
          </a:prstGeom>
          <a:noFill/>
          <a:ln>
            <a:noFill/>
          </a:ln>
        </p:spPr>
        <p:txBody>
          <a:bodyPr lIns="0" tIns="0" rIns="0" bIns="0" anchor="t"/>
          <a:lstStyle/>
          <a:p>
            <a:pPr>
              <a:buNone/>
            </a:pPr>
            <a:r>
              <a:rPr lang="en-US" sz="1800" dirty="0">
                <a:solidFill>
                  <a:schemeClr val="tx2"/>
                </a:solidFill>
              </a:rPr>
              <a:t>An AI agent perceives, decides and acts toward a goal — looping until the task is done. Four parts make it work:</a:t>
            </a:r>
          </a:p>
        </p:txBody>
      </p:sp>
      <p:sp>
        <p:nvSpPr>
          <p:cNvPr id="601" name="container"/>
          <p:cNvSpPr/>
          <p:nvPr/>
        </p:nvSpPr>
        <p:spPr>
          <a:xfrm>
            <a:off x="457200" y="2717800"/>
            <a:ext cx="11277600" cy="3657600"/>
          </a:xfrm>
          <a:prstGeom prst="roundRect">
            <a:avLst>
              <a:gd name="adj" fmla="val 4000"/>
            </a:avLst>
          </a:prstGeom>
          <a:solidFill>
            <a:srgbClr val="F4F2FF"/>
          </a:solidFill>
          <a:ln w="12700">
            <a:solidFill>
              <a:srgbClr val="7A5CFF"/>
            </a:solidFill>
          </a:ln>
        </p:spPr>
        <p:txBody>
          <a:bodyPr lIns="304800" tIns="177800" rIns="0" bIns="0" anchor="t"/>
          <a:lstStyle/>
          <a:p>
            <a:pPr>
              <a:buNone/>
            </a:pPr>
            <a:r>
              <a:rPr lang="en-US" sz="1500" b="1" spc="200" dirty="0">
                <a:solidFill>
                  <a:srgbClr val="7A5CFF"/>
                </a:solidFill>
              </a:rPr>
              <a:t>AI AGENT</a:t>
            </a:r>
          </a:p>
        </p:txBody>
      </p:sp>
      <p:sp>
        <p:nvSpPr>
          <p:cNvPr id="602" name="chip"/>
          <p:cNvSpPr/>
          <p:nvPr/>
        </p:nvSpPr>
        <p:spPr>
          <a:xfrm>
            <a:off x="762000" y="3403600"/>
            <a:ext cx="2514600" cy="2743200"/>
          </a:xfrm>
          <a:prstGeom prst="roundRect">
            <a:avLst>
              <a:gd name="adj" fmla="val 6000"/>
            </a:avLst>
          </a:prstGeom>
          <a:solidFill>
            <a:srgbClr val="FFFFFF"/>
          </a:solidFill>
          <a:ln w="9525">
            <a:solidFill>
              <a:srgbClr val="E2DDFB"/>
            </a:solidFill>
          </a:ln>
        </p:spPr>
        <p:txBody>
          <a:bodyPr lIns="203200" tIns="228600" rIns="203200" bIns="177800" anchor="t"/>
          <a:lstStyle/>
          <a:p>
            <a:pPr>
              <a:buNone/>
            </a:pPr>
            <a:r>
              <a:rPr lang="en-US" sz="1700" b="1" dirty="0">
                <a:solidFill>
                  <a:srgbClr val="7A5CFF"/>
                </a:solidFill>
              </a:rPr>
              <a:t>LLM</a:t>
            </a:r>
          </a:p>
          <a:p>
            <a:pPr>
              <a:spcBef>
                <a:spcPts val="800"/>
              </a:spcBef>
              <a:buNone/>
            </a:pPr>
            <a:r>
              <a:rPr lang="en-US" sz="1500" dirty="0">
                <a:solidFill>
                  <a:schemeClr val="tx2"/>
                </a:solidFill>
              </a:rPr>
              <a:t>The reasoning brain — plans the next best action</a:t>
            </a:r>
          </a:p>
        </p:txBody>
      </p:sp>
      <p:sp>
        <p:nvSpPr>
          <p:cNvPr id="603" name="chip"/>
          <p:cNvSpPr/>
          <p:nvPr/>
        </p:nvSpPr>
        <p:spPr>
          <a:xfrm>
            <a:off x="3479800" y="3403600"/>
            <a:ext cx="2514600" cy="2743200"/>
          </a:xfrm>
          <a:prstGeom prst="roundRect">
            <a:avLst>
              <a:gd name="adj" fmla="val 6000"/>
            </a:avLst>
          </a:prstGeom>
          <a:solidFill>
            <a:srgbClr val="FFFFFF"/>
          </a:solidFill>
          <a:ln w="9525">
            <a:solidFill>
              <a:srgbClr val="E2DDFB"/>
            </a:solidFill>
          </a:ln>
        </p:spPr>
        <p:txBody>
          <a:bodyPr lIns="203200" tIns="228600" rIns="203200" bIns="177800" anchor="t"/>
          <a:lstStyle/>
          <a:p>
            <a:pPr>
              <a:buNone/>
            </a:pPr>
            <a:r>
              <a:rPr lang="en-US" sz="1700" b="1" dirty="0">
                <a:solidFill>
                  <a:srgbClr val="7A5CFF"/>
                </a:solidFill>
              </a:rPr>
              <a:t>Memory</a:t>
            </a:r>
          </a:p>
          <a:p>
            <a:pPr>
              <a:spcBef>
                <a:spcPts val="800"/>
              </a:spcBef>
              <a:buNone/>
            </a:pPr>
            <a:r>
              <a:rPr lang="en-US" sz="1500" dirty="0">
                <a:solidFill>
                  <a:schemeClr val="tx2"/>
                </a:solidFill>
              </a:rPr>
              <a:t>Retains context and history across the conversation</a:t>
            </a:r>
          </a:p>
        </p:txBody>
      </p:sp>
      <p:sp>
        <p:nvSpPr>
          <p:cNvPr id="604" name="chip"/>
          <p:cNvSpPr/>
          <p:nvPr/>
        </p:nvSpPr>
        <p:spPr>
          <a:xfrm>
            <a:off x="6197600" y="3403600"/>
            <a:ext cx="2514600" cy="2743200"/>
          </a:xfrm>
          <a:prstGeom prst="roundRect">
            <a:avLst>
              <a:gd name="adj" fmla="val 6000"/>
            </a:avLst>
          </a:prstGeom>
          <a:solidFill>
            <a:srgbClr val="FFFFFF"/>
          </a:solidFill>
          <a:ln w="9525">
            <a:solidFill>
              <a:srgbClr val="E2DDFB"/>
            </a:solidFill>
          </a:ln>
        </p:spPr>
        <p:txBody>
          <a:bodyPr lIns="203200" tIns="228600" rIns="203200" bIns="177800" anchor="t"/>
          <a:lstStyle/>
          <a:p>
            <a:pPr>
              <a:buNone/>
            </a:pPr>
            <a:r>
              <a:rPr lang="en-US" sz="1700" b="1" dirty="0">
                <a:solidFill>
                  <a:srgbClr val="7A5CFF"/>
                </a:solidFill>
              </a:rPr>
              <a:t>Tools</a:t>
            </a:r>
          </a:p>
          <a:p>
            <a:pPr>
              <a:spcBef>
                <a:spcPts val="800"/>
              </a:spcBef>
              <a:buNone/>
            </a:pPr>
            <a:r>
              <a:rPr lang="en-US" sz="1500" dirty="0">
                <a:solidFill>
                  <a:schemeClr val="tx2"/>
                </a:solidFill>
              </a:rPr>
              <a:t>Calls APIs, search, email and databases to act</a:t>
            </a:r>
          </a:p>
        </p:txBody>
      </p:sp>
      <p:sp>
        <p:nvSpPr>
          <p:cNvPr id="605" name="chip"/>
          <p:cNvSpPr/>
          <p:nvPr/>
        </p:nvSpPr>
        <p:spPr>
          <a:xfrm>
            <a:off x="8915400" y="3403600"/>
            <a:ext cx="2514600" cy="2743200"/>
          </a:xfrm>
          <a:prstGeom prst="roundRect">
            <a:avLst>
              <a:gd name="adj" fmla="val 6000"/>
            </a:avLst>
          </a:prstGeom>
          <a:solidFill>
            <a:srgbClr val="FFFFFF"/>
          </a:solidFill>
          <a:ln w="9525">
            <a:solidFill>
              <a:srgbClr val="E2DDFB"/>
            </a:solidFill>
          </a:ln>
        </p:spPr>
        <p:txBody>
          <a:bodyPr lIns="203200" tIns="228600" rIns="203200" bIns="177800" anchor="t"/>
          <a:lstStyle/>
          <a:p>
            <a:pPr>
              <a:buNone/>
            </a:pPr>
            <a:r>
              <a:rPr lang="en-US" sz="1700" b="1" dirty="0">
                <a:solidFill>
                  <a:srgbClr val="7A5CFF"/>
                </a:solidFill>
              </a:rPr>
              <a:t>System Instruction</a:t>
            </a:r>
          </a:p>
          <a:p>
            <a:pPr>
              <a:spcBef>
                <a:spcPts val="800"/>
              </a:spcBef>
              <a:buNone/>
            </a:pPr>
            <a:r>
              <a:rPr lang="en-US" sz="1500" dirty="0">
                <a:solidFill>
                  <a:schemeClr val="tx2"/>
                </a:solidFill>
              </a:rPr>
              <a:t>Sets the agent's role, rules and tone</a:t>
            </a:r>
          </a:p>
        </p:txBody>
      </p:sp>
    </p:spTree>
    <p:extLst>
      <p:ext uri="{BB962C8B-B14F-4D97-AF65-F5344CB8AC3E}">
        <p14:creationId xmlns:p14="http://schemas.microsoft.com/office/powerpoint/2010/main" val="4207286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4C0A5-F9A5-A9AA-CA6F-4D739F146229}"/>
              </a:ext>
            </a:extLst>
          </p:cNvPr>
          <p:cNvSpPr>
            <a:spLocks noGrp="1"/>
          </p:cNvSpPr>
          <p:nvPr>
            <p:ph type="title"/>
          </p:nvPr>
        </p:nvSpPr>
        <p:spPr/>
        <p:txBody>
          <a:bodyPr/>
          <a:lstStyle/>
          <a:p>
            <a:r>
              <a:rPr lang="en-US"/>
              <a:t>Activity 4 — Telegram-Triggered AI Agent</a:t>
            </a:r>
          </a:p>
        </p:txBody>
      </p:sp>
      <p:sp>
        <p:nvSpPr>
          <p:cNvPr id="600" name="goal"/>
          <p:cNvSpPr/>
          <p:nvPr/>
        </p:nvSpPr>
        <p:spPr>
          <a:xfrm>
            <a:off x="457200" y="1854200"/>
            <a:ext cx="11277600" cy="838200"/>
          </a:xfrm>
          <a:prstGeom prst="roundRect">
            <a:avLst>
              <a:gd name="adj" fmla="val 12000"/>
            </a:avLst>
          </a:prstGeom>
          <a:solidFill>
            <a:srgbClr val="F4F2FF"/>
          </a:solidFill>
          <a:ln>
            <a:noFill/>
          </a:ln>
        </p:spPr>
        <p:txBody>
          <a:bodyPr lIns="254000" tIns="127000" rIns="254000" bIns="127000" anchor="ctr"/>
          <a:lstStyle/>
          <a:p>
            <a:pPr>
              <a:buNone/>
            </a:pPr>
            <a:r>
              <a:rPr lang="en-US" sz="1400" b="1" spc="150" dirty="0">
                <a:solidFill>
                  <a:srgbClr val="7A5CFF"/>
                </a:solidFill>
              </a:rPr>
              <a:t>GOAL  </a:t>
            </a:r>
            <a:r>
              <a:rPr lang="en-US" sz="1700" dirty="0">
                <a:solidFill>
                  <a:schemeClr val="tx1"/>
                </a:solidFill>
              </a:rPr>
              <a:t>Chat with an AI agent from Telegram, powered by OpenAI or Gemini.</a:t>
            </a:r>
          </a:p>
        </p:txBody>
      </p:sp>
      <p:sp>
        <p:nvSpPr>
          <p:cNvPr id="601" name="pill"/>
          <p:cNvSpPr/>
          <p:nvPr/>
        </p:nvSpPr>
        <p:spPr>
          <a:xfrm>
            <a:off x="3073400" y="3200400"/>
            <a:ext cx="1676400" cy="711200"/>
          </a:xfrm>
          <a:prstGeom prst="roundRect">
            <a:avLst>
              <a:gd name="adj" fmla="val 22000"/>
            </a:avLst>
          </a:prstGeom>
          <a:solidFill>
            <a:srgbClr val="FFFFFF"/>
          </a:solidFill>
          <a:ln w="19050">
            <a:solidFill>
              <a:srgbClr val="7A5CFF"/>
            </a:solidFill>
          </a:ln>
        </p:spPr>
        <p:txBody>
          <a:bodyPr lIns="76200" tIns="0" rIns="76200" bIns="0" anchor="ctr"/>
          <a:lstStyle/>
          <a:p>
            <a:pPr algn="ctr">
              <a:buNone/>
            </a:pPr>
            <a:r>
              <a:rPr lang="en-US" sz="1500" b="1" dirty="0">
                <a:solidFill>
                  <a:srgbClr val="7A5CFF"/>
                </a:solidFill>
              </a:rPr>
              <a:t>Telegram</a:t>
            </a:r>
          </a:p>
        </p:txBody>
      </p:sp>
      <p:sp>
        <p:nvSpPr>
          <p:cNvPr id="602" name="arr"/>
          <p:cNvSpPr/>
          <p:nvPr/>
        </p:nvSpPr>
        <p:spPr>
          <a:xfrm>
            <a:off x="4838700" y="3441700"/>
            <a:ext cx="330200" cy="228600"/>
          </a:xfrm>
          <a:prstGeom prst="rightArrow">
            <a:avLst/>
          </a:prstGeom>
          <a:solidFill>
            <a:srgbClr val="7A5CFF"/>
          </a:solidFill>
          <a:ln>
            <a:noFill/>
          </a:ln>
        </p:spPr>
        <p:txBody>
          <a:bodyPr/>
          <a:lstStyle/>
          <a:p>
            <a:endParaRPr/>
          </a:p>
        </p:txBody>
      </p:sp>
      <p:sp>
        <p:nvSpPr>
          <p:cNvPr id="603" name="pill"/>
          <p:cNvSpPr/>
          <p:nvPr/>
        </p:nvSpPr>
        <p:spPr>
          <a:xfrm>
            <a:off x="5257800" y="3200400"/>
            <a:ext cx="1676400" cy="711200"/>
          </a:xfrm>
          <a:prstGeom prst="roundRect">
            <a:avLst>
              <a:gd name="adj" fmla="val 22000"/>
            </a:avLst>
          </a:prstGeom>
          <a:solidFill>
            <a:srgbClr val="FFFFFF"/>
          </a:solidFill>
          <a:ln w="19050">
            <a:solidFill>
              <a:srgbClr val="7A5CFF"/>
            </a:solidFill>
          </a:ln>
        </p:spPr>
        <p:txBody>
          <a:bodyPr lIns="76200" tIns="0" rIns="76200" bIns="0" anchor="ctr"/>
          <a:lstStyle/>
          <a:p>
            <a:pPr algn="ctr">
              <a:buNone/>
            </a:pPr>
            <a:r>
              <a:rPr lang="en-US" sz="1500" b="1" dirty="0">
                <a:solidFill>
                  <a:srgbClr val="7A5CFF"/>
                </a:solidFill>
              </a:rPr>
              <a:t>AI Agent</a:t>
            </a:r>
          </a:p>
        </p:txBody>
      </p:sp>
      <p:sp>
        <p:nvSpPr>
          <p:cNvPr id="604" name="arr"/>
          <p:cNvSpPr/>
          <p:nvPr/>
        </p:nvSpPr>
        <p:spPr>
          <a:xfrm>
            <a:off x="7023100" y="3441700"/>
            <a:ext cx="330200" cy="228600"/>
          </a:xfrm>
          <a:prstGeom prst="rightArrow">
            <a:avLst/>
          </a:prstGeom>
          <a:solidFill>
            <a:srgbClr val="7A5CFF"/>
          </a:solidFill>
          <a:ln>
            <a:noFill/>
          </a:ln>
        </p:spPr>
        <p:txBody>
          <a:bodyPr/>
          <a:lstStyle/>
          <a:p>
            <a:endParaRPr/>
          </a:p>
        </p:txBody>
      </p:sp>
      <p:sp>
        <p:nvSpPr>
          <p:cNvPr id="605" name="pill"/>
          <p:cNvSpPr/>
          <p:nvPr/>
        </p:nvSpPr>
        <p:spPr>
          <a:xfrm>
            <a:off x="7442200" y="3200400"/>
            <a:ext cx="1676400" cy="711200"/>
          </a:xfrm>
          <a:prstGeom prst="roundRect">
            <a:avLst>
              <a:gd name="adj" fmla="val 22000"/>
            </a:avLst>
          </a:prstGeom>
          <a:solidFill>
            <a:srgbClr val="FFFFFF"/>
          </a:solidFill>
          <a:ln w="19050">
            <a:solidFill>
              <a:srgbClr val="7A5CFF"/>
            </a:solidFill>
          </a:ln>
        </p:spPr>
        <p:txBody>
          <a:bodyPr lIns="76200" tIns="0" rIns="76200" bIns="0" anchor="ctr"/>
          <a:lstStyle/>
          <a:p>
            <a:pPr algn="ctr">
              <a:buNone/>
            </a:pPr>
            <a:r>
              <a:rPr lang="en-US" sz="1500" b="1" dirty="0">
                <a:solidFill>
                  <a:srgbClr val="7A5CFF"/>
                </a:solidFill>
              </a:rPr>
              <a:t>Reply</a:t>
            </a:r>
          </a:p>
        </p:txBody>
      </p:sp>
      <p:sp>
        <p:nvSpPr>
          <p:cNvPr id="606" name="notes"/>
          <p:cNvSpPr/>
          <p:nvPr/>
        </p:nvSpPr>
        <p:spPr>
          <a:xfrm>
            <a:off x="457200" y="4368800"/>
            <a:ext cx="11277600" cy="2006600"/>
          </a:xfrm>
          <a:prstGeom prst="rect">
            <a:avLst/>
          </a:prstGeom>
          <a:noFill/>
          <a:ln>
            <a:noFill/>
          </a:ln>
        </p:spPr>
        <p:txBody>
          <a:bodyPr lIns="50800" tIns="50800" rIns="50800" bIns="50800" anchor="t"/>
          <a:lstStyle/>
          <a:p>
            <a:pPr>
              <a:buNone/>
            </a:pPr>
            <a:r>
              <a:rPr lang="en-US" sz="1400" b="1" spc="150" dirty="0">
                <a:solidFill>
                  <a:srgbClr val="7A5CFF"/>
                </a:solidFill>
              </a:rPr>
              <a:t>HOW IT WORKS</a:t>
            </a:r>
          </a:p>
          <a:p>
            <a:pPr marL="285750" indent="-285750">
              <a:spcBef>
                <a:spcPts val="600"/>
              </a:spcBef>
              <a:buFont typeface="Arial"/>
              <a:buChar char="•"/>
            </a:pPr>
            <a:r>
              <a:rPr lang="en-US" sz="1700" dirty="0">
                <a:solidFill>
                  <a:schemeClr val="tx2"/>
                </a:solidFill>
              </a:rPr>
              <a:t>Connect a Telegram bot as the trigger node</a:t>
            </a:r>
          </a:p>
          <a:p>
            <a:pPr marL="285750" indent="-285750">
              <a:spcBef>
                <a:spcPts val="600"/>
              </a:spcBef>
              <a:buFont typeface="Arial"/>
              <a:buChar char="•"/>
            </a:pPr>
            <a:r>
              <a:rPr lang="en-US" sz="1700" dirty="0">
                <a:solidFill>
                  <a:schemeClr val="tx2"/>
                </a:solidFill>
              </a:rPr>
              <a:t>AI Agent uses your OpenAI or Gemini API key, plus memory</a:t>
            </a:r>
          </a:p>
          <a:p>
            <a:pPr marL="285750" indent="-285750">
              <a:spcBef>
                <a:spcPts val="600"/>
              </a:spcBef>
              <a:buFont typeface="Arial"/>
              <a:buChar char="•"/>
            </a:pPr>
            <a:r>
              <a:rPr lang="en-US" sz="1700" dirty="0">
                <a:solidFill>
                  <a:schemeClr val="tx2"/>
                </a:solidFill>
              </a:rPr>
              <a:t>Send the answer back to the user in the same chat</a:t>
            </a:r>
          </a:p>
        </p:txBody>
      </p:sp>
    </p:spTree>
    <p:extLst>
      <p:ext uri="{BB962C8B-B14F-4D97-AF65-F5344CB8AC3E}">
        <p14:creationId xmlns:p14="http://schemas.microsoft.com/office/powerpoint/2010/main" val="948477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AE2AC-7DC3-E29E-4E6C-B34F59D13CF4}"/>
              </a:ext>
            </a:extLst>
          </p:cNvPr>
          <p:cNvSpPr>
            <a:spLocks noGrp="1"/>
          </p:cNvSpPr>
          <p:nvPr>
            <p:ph type="title"/>
          </p:nvPr>
        </p:nvSpPr>
        <p:spPr/>
        <p:txBody>
          <a:bodyPr/>
          <a:lstStyle/>
          <a:p>
            <a:r>
              <a:rPr lang="en-US"/>
              <a:t>Retrieval-Augmented Generation (RAG)</a:t>
            </a:r>
          </a:p>
        </p:txBody>
      </p:sp>
      <p:sp>
        <p:nvSpPr>
          <p:cNvPr id="600" name="intro"/>
          <p:cNvSpPr/>
          <p:nvPr/>
        </p:nvSpPr>
        <p:spPr>
          <a:xfrm>
            <a:off x="457200" y="1879600"/>
            <a:ext cx="11277600" cy="508000"/>
          </a:xfrm>
          <a:prstGeom prst="rect">
            <a:avLst/>
          </a:prstGeom>
          <a:noFill/>
          <a:ln>
            <a:noFill/>
          </a:ln>
        </p:spPr>
        <p:txBody>
          <a:bodyPr lIns="0" tIns="0" rIns="0" bIns="0" anchor="ctr"/>
          <a:lstStyle/>
          <a:p>
            <a:pPr>
              <a:buNone/>
            </a:pPr>
            <a:r>
              <a:rPr lang="en-US" sz="1800" dirty="0">
                <a:solidFill>
                  <a:schemeClr val="tx2"/>
                </a:solidFill>
              </a:rPr>
              <a:t>RAG lets an agent answer from your own documents instead of guessing.</a:t>
            </a:r>
          </a:p>
        </p:txBody>
      </p:sp>
      <p:sp>
        <p:nvSpPr>
          <p:cNvPr id="601" name="stage"/>
          <p:cNvSpPr/>
          <p:nvPr/>
        </p:nvSpPr>
        <p:spPr>
          <a:xfrm>
            <a:off x="495300" y="2946400"/>
            <a:ext cx="2514600" cy="2413000"/>
          </a:xfrm>
          <a:prstGeom prst="roundRect">
            <a:avLst>
              <a:gd name="adj" fmla="val 6000"/>
            </a:avLst>
          </a:prstGeom>
          <a:solidFill>
            <a:srgbClr val="F4F2FF"/>
          </a:solidFill>
          <a:ln w="9525">
            <a:solidFill>
              <a:srgbClr val="E2DDFF"/>
            </a:solidFill>
          </a:ln>
        </p:spPr>
        <p:txBody>
          <a:bodyPr lIns="203200" tIns="939800" rIns="203200" bIns="177800" anchor="t"/>
          <a:lstStyle/>
          <a:p>
            <a:pPr algn="ctr">
              <a:buNone/>
            </a:pPr>
            <a:r>
              <a:rPr lang="en-US" sz="1800" b="1" dirty="0">
                <a:solidFill>
                  <a:srgbClr val="7A5CFF"/>
                </a:solidFill>
              </a:rPr>
              <a:t>Tokenization</a:t>
            </a:r>
          </a:p>
          <a:p>
            <a:pPr algn="ctr">
              <a:spcBef>
                <a:spcPts val="600"/>
              </a:spcBef>
              <a:buNone/>
            </a:pPr>
            <a:r>
              <a:rPr lang="en-US" sz="1500" dirty="0">
                <a:solidFill>
                  <a:schemeClr val="tx2"/>
                </a:solidFill>
              </a:rPr>
              <a:t>Split text into tokens the model can process</a:t>
            </a:r>
          </a:p>
        </p:txBody>
      </p:sp>
      <p:sp>
        <p:nvSpPr>
          <p:cNvPr id="602" name="badge"/>
          <p:cNvSpPr/>
          <p:nvPr/>
        </p:nvSpPr>
        <p:spPr>
          <a:xfrm>
            <a:off x="1485900" y="3175000"/>
            <a:ext cx="533400" cy="533400"/>
          </a:xfrm>
          <a:prstGeom prst="ellipse">
            <a:avLst/>
          </a:prstGeom>
          <a:solidFill>
            <a:srgbClr val="7A5CFF"/>
          </a:solidFill>
          <a:ln>
            <a:noFill/>
          </a:ln>
        </p:spPr>
        <p:txBody>
          <a:bodyPr lIns="0" tIns="0" rIns="0" bIns="0" anchor="ctr"/>
          <a:lstStyle/>
          <a:p>
            <a:pPr algn="ctr">
              <a:buNone/>
            </a:pPr>
            <a:r>
              <a:rPr lang="en-US" sz="1800" b="1" dirty="0">
                <a:solidFill>
                  <a:srgbClr val="FFFFFF"/>
                </a:solidFill>
              </a:rPr>
              <a:t>1</a:t>
            </a:r>
          </a:p>
        </p:txBody>
      </p:sp>
      <p:sp>
        <p:nvSpPr>
          <p:cNvPr id="603" name="arr"/>
          <p:cNvSpPr/>
          <p:nvPr/>
        </p:nvSpPr>
        <p:spPr>
          <a:xfrm>
            <a:off x="3060700" y="4038600"/>
            <a:ext cx="279400" cy="228600"/>
          </a:xfrm>
          <a:prstGeom prst="rightArrow">
            <a:avLst/>
          </a:prstGeom>
          <a:solidFill>
            <a:srgbClr val="7A5CFF"/>
          </a:solidFill>
          <a:ln>
            <a:noFill/>
          </a:ln>
        </p:spPr>
        <p:txBody>
          <a:bodyPr/>
          <a:lstStyle/>
          <a:p>
            <a:endParaRPr/>
          </a:p>
        </p:txBody>
      </p:sp>
      <p:sp>
        <p:nvSpPr>
          <p:cNvPr id="604" name="stage"/>
          <p:cNvSpPr/>
          <p:nvPr/>
        </p:nvSpPr>
        <p:spPr>
          <a:xfrm>
            <a:off x="3390900" y="2946400"/>
            <a:ext cx="2514600" cy="2413000"/>
          </a:xfrm>
          <a:prstGeom prst="roundRect">
            <a:avLst>
              <a:gd name="adj" fmla="val 6000"/>
            </a:avLst>
          </a:prstGeom>
          <a:solidFill>
            <a:srgbClr val="F4F2FF"/>
          </a:solidFill>
          <a:ln w="9525">
            <a:solidFill>
              <a:srgbClr val="E2DDFF"/>
            </a:solidFill>
          </a:ln>
        </p:spPr>
        <p:txBody>
          <a:bodyPr lIns="203200" tIns="939800" rIns="203200" bIns="177800" anchor="t"/>
          <a:lstStyle/>
          <a:p>
            <a:pPr algn="ctr">
              <a:buNone/>
            </a:pPr>
            <a:r>
              <a:rPr lang="en-US" sz="1800" b="1" dirty="0">
                <a:solidFill>
                  <a:srgbClr val="7A5CFF"/>
                </a:solidFill>
              </a:rPr>
              <a:t>Embedding</a:t>
            </a:r>
          </a:p>
          <a:p>
            <a:pPr algn="ctr">
              <a:spcBef>
                <a:spcPts val="600"/>
              </a:spcBef>
              <a:buNone/>
            </a:pPr>
            <a:r>
              <a:rPr lang="en-US" sz="1500" dirty="0">
                <a:solidFill>
                  <a:schemeClr val="tx2"/>
                </a:solidFill>
              </a:rPr>
              <a:t>Turn tokens into numeric vectors of meaning</a:t>
            </a:r>
          </a:p>
        </p:txBody>
      </p:sp>
      <p:sp>
        <p:nvSpPr>
          <p:cNvPr id="605" name="badge"/>
          <p:cNvSpPr/>
          <p:nvPr/>
        </p:nvSpPr>
        <p:spPr>
          <a:xfrm>
            <a:off x="4381500" y="3175000"/>
            <a:ext cx="533400" cy="533400"/>
          </a:xfrm>
          <a:prstGeom prst="ellipse">
            <a:avLst/>
          </a:prstGeom>
          <a:solidFill>
            <a:srgbClr val="7A5CFF"/>
          </a:solidFill>
          <a:ln>
            <a:noFill/>
          </a:ln>
        </p:spPr>
        <p:txBody>
          <a:bodyPr lIns="0" tIns="0" rIns="0" bIns="0" anchor="ctr"/>
          <a:lstStyle/>
          <a:p>
            <a:pPr algn="ctr">
              <a:buNone/>
            </a:pPr>
            <a:r>
              <a:rPr lang="en-US" sz="1800" b="1" dirty="0">
                <a:solidFill>
                  <a:srgbClr val="FFFFFF"/>
                </a:solidFill>
              </a:rPr>
              <a:t>2</a:t>
            </a:r>
          </a:p>
        </p:txBody>
      </p:sp>
      <p:sp>
        <p:nvSpPr>
          <p:cNvPr id="606" name="arr"/>
          <p:cNvSpPr/>
          <p:nvPr/>
        </p:nvSpPr>
        <p:spPr>
          <a:xfrm>
            <a:off x="5956300" y="4038600"/>
            <a:ext cx="279400" cy="228600"/>
          </a:xfrm>
          <a:prstGeom prst="rightArrow">
            <a:avLst/>
          </a:prstGeom>
          <a:solidFill>
            <a:srgbClr val="7A5CFF"/>
          </a:solidFill>
          <a:ln>
            <a:noFill/>
          </a:ln>
        </p:spPr>
        <p:txBody>
          <a:bodyPr/>
          <a:lstStyle/>
          <a:p>
            <a:endParaRPr/>
          </a:p>
        </p:txBody>
      </p:sp>
      <p:sp>
        <p:nvSpPr>
          <p:cNvPr id="607" name="stage"/>
          <p:cNvSpPr/>
          <p:nvPr/>
        </p:nvSpPr>
        <p:spPr>
          <a:xfrm>
            <a:off x="6286500" y="2946400"/>
            <a:ext cx="2514600" cy="2413000"/>
          </a:xfrm>
          <a:prstGeom prst="roundRect">
            <a:avLst>
              <a:gd name="adj" fmla="val 6000"/>
            </a:avLst>
          </a:prstGeom>
          <a:solidFill>
            <a:srgbClr val="F4F2FF"/>
          </a:solidFill>
          <a:ln w="9525">
            <a:solidFill>
              <a:srgbClr val="E2DDFF"/>
            </a:solidFill>
          </a:ln>
        </p:spPr>
        <p:txBody>
          <a:bodyPr lIns="203200" tIns="939800" rIns="203200" bIns="177800" anchor="t"/>
          <a:lstStyle/>
          <a:p>
            <a:pPr algn="ctr">
              <a:buNone/>
            </a:pPr>
            <a:r>
              <a:rPr lang="en-US" sz="1800" b="1" dirty="0">
                <a:solidFill>
                  <a:srgbClr val="7A5CFF"/>
                </a:solidFill>
              </a:rPr>
              <a:t>Vector Store</a:t>
            </a:r>
          </a:p>
          <a:p>
            <a:pPr algn="ctr">
              <a:spcBef>
                <a:spcPts val="600"/>
              </a:spcBef>
              <a:buNone/>
            </a:pPr>
            <a:r>
              <a:rPr lang="en-US" sz="1500" dirty="0">
                <a:solidFill>
                  <a:schemeClr val="tx2"/>
                </a:solidFill>
              </a:rPr>
              <a:t>Index the vectors for fast similarity search</a:t>
            </a:r>
          </a:p>
        </p:txBody>
      </p:sp>
      <p:sp>
        <p:nvSpPr>
          <p:cNvPr id="608" name="badge"/>
          <p:cNvSpPr/>
          <p:nvPr/>
        </p:nvSpPr>
        <p:spPr>
          <a:xfrm>
            <a:off x="7277100" y="3175000"/>
            <a:ext cx="533400" cy="533400"/>
          </a:xfrm>
          <a:prstGeom prst="ellipse">
            <a:avLst/>
          </a:prstGeom>
          <a:solidFill>
            <a:srgbClr val="7A5CFF"/>
          </a:solidFill>
          <a:ln>
            <a:noFill/>
          </a:ln>
        </p:spPr>
        <p:txBody>
          <a:bodyPr lIns="0" tIns="0" rIns="0" bIns="0" anchor="ctr"/>
          <a:lstStyle/>
          <a:p>
            <a:pPr algn="ctr">
              <a:buNone/>
            </a:pPr>
            <a:r>
              <a:rPr lang="en-US" sz="1800" b="1" dirty="0">
                <a:solidFill>
                  <a:srgbClr val="FFFFFF"/>
                </a:solidFill>
              </a:rPr>
              <a:t>3</a:t>
            </a:r>
          </a:p>
        </p:txBody>
      </p:sp>
      <p:sp>
        <p:nvSpPr>
          <p:cNvPr id="609" name="arr"/>
          <p:cNvSpPr/>
          <p:nvPr/>
        </p:nvSpPr>
        <p:spPr>
          <a:xfrm>
            <a:off x="8851900" y="4038600"/>
            <a:ext cx="279400" cy="228600"/>
          </a:xfrm>
          <a:prstGeom prst="rightArrow">
            <a:avLst/>
          </a:prstGeom>
          <a:solidFill>
            <a:srgbClr val="7A5CFF"/>
          </a:solidFill>
          <a:ln>
            <a:noFill/>
          </a:ln>
        </p:spPr>
        <p:txBody>
          <a:bodyPr/>
          <a:lstStyle/>
          <a:p>
            <a:endParaRPr/>
          </a:p>
        </p:txBody>
      </p:sp>
      <p:sp>
        <p:nvSpPr>
          <p:cNvPr id="610" name="stage"/>
          <p:cNvSpPr/>
          <p:nvPr/>
        </p:nvSpPr>
        <p:spPr>
          <a:xfrm>
            <a:off x="9182100" y="2946400"/>
            <a:ext cx="2514600" cy="2413000"/>
          </a:xfrm>
          <a:prstGeom prst="roundRect">
            <a:avLst>
              <a:gd name="adj" fmla="val 6000"/>
            </a:avLst>
          </a:prstGeom>
          <a:solidFill>
            <a:srgbClr val="F4F2FF"/>
          </a:solidFill>
          <a:ln w="9525">
            <a:solidFill>
              <a:srgbClr val="E2DDFF"/>
            </a:solidFill>
          </a:ln>
        </p:spPr>
        <p:txBody>
          <a:bodyPr lIns="203200" tIns="939800" rIns="203200" bIns="177800" anchor="t"/>
          <a:lstStyle/>
          <a:p>
            <a:pPr algn="ctr">
              <a:buNone/>
            </a:pPr>
            <a:r>
              <a:rPr lang="en-US" sz="1800" b="1" dirty="0">
                <a:solidFill>
                  <a:srgbClr val="7A5CFF"/>
                </a:solidFill>
              </a:rPr>
              <a:t>Retrieval</a:t>
            </a:r>
          </a:p>
          <a:p>
            <a:pPr algn="ctr">
              <a:spcBef>
                <a:spcPts val="600"/>
              </a:spcBef>
              <a:buNone/>
            </a:pPr>
            <a:r>
              <a:rPr lang="en-US" sz="1500" dirty="0">
                <a:solidFill>
                  <a:schemeClr val="tx2"/>
                </a:solidFill>
              </a:rPr>
              <a:t>Fetch the most relevant chunks to answer</a:t>
            </a:r>
          </a:p>
        </p:txBody>
      </p:sp>
      <p:sp>
        <p:nvSpPr>
          <p:cNvPr id="611" name="badge"/>
          <p:cNvSpPr/>
          <p:nvPr/>
        </p:nvSpPr>
        <p:spPr>
          <a:xfrm>
            <a:off x="10172700" y="3175000"/>
            <a:ext cx="533400" cy="533400"/>
          </a:xfrm>
          <a:prstGeom prst="ellipse">
            <a:avLst/>
          </a:prstGeom>
          <a:solidFill>
            <a:srgbClr val="7A5CFF"/>
          </a:solidFill>
          <a:ln>
            <a:noFill/>
          </a:ln>
        </p:spPr>
        <p:txBody>
          <a:bodyPr lIns="0" tIns="0" rIns="0" bIns="0" anchor="ctr"/>
          <a:lstStyle/>
          <a:p>
            <a:pPr algn="ctr">
              <a:buNone/>
            </a:pPr>
            <a:r>
              <a:rPr lang="en-US" sz="1800" b="1" dirty="0">
                <a:solidFill>
                  <a:srgbClr val="FFFFFF"/>
                </a:solidFill>
              </a:rPr>
              <a:t>4</a:t>
            </a:r>
          </a:p>
        </p:txBody>
      </p:sp>
    </p:spTree>
    <p:extLst>
      <p:ext uri="{BB962C8B-B14F-4D97-AF65-F5344CB8AC3E}">
        <p14:creationId xmlns:p14="http://schemas.microsoft.com/office/powerpoint/2010/main" val="1950099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2972E-5FF2-D88F-1718-F52750CB093A}"/>
              </a:ext>
            </a:extLst>
          </p:cNvPr>
          <p:cNvSpPr>
            <a:spLocks noGrp="1"/>
          </p:cNvSpPr>
          <p:nvPr>
            <p:ph type="title"/>
          </p:nvPr>
        </p:nvSpPr>
        <p:spPr/>
        <p:txBody>
          <a:bodyPr/>
          <a:lstStyle/>
          <a:p>
            <a:r>
              <a:rPr lang="en-US"/>
              <a:t>Activity 5 — RAG-Powered FAQ Bot</a:t>
            </a:r>
          </a:p>
        </p:txBody>
      </p:sp>
      <p:sp>
        <p:nvSpPr>
          <p:cNvPr id="600" name="goal"/>
          <p:cNvSpPr/>
          <p:nvPr/>
        </p:nvSpPr>
        <p:spPr>
          <a:xfrm>
            <a:off x="457200" y="1854200"/>
            <a:ext cx="11277600" cy="838200"/>
          </a:xfrm>
          <a:prstGeom prst="roundRect">
            <a:avLst>
              <a:gd name="adj" fmla="val 12000"/>
            </a:avLst>
          </a:prstGeom>
          <a:solidFill>
            <a:srgbClr val="F4F2FF"/>
          </a:solidFill>
          <a:ln>
            <a:noFill/>
          </a:ln>
        </p:spPr>
        <p:txBody>
          <a:bodyPr lIns="254000" tIns="127000" rIns="254000" bIns="127000" anchor="ctr"/>
          <a:lstStyle/>
          <a:p>
            <a:pPr>
              <a:buNone/>
            </a:pPr>
            <a:r>
              <a:rPr lang="en-US" sz="1400" b="1" spc="150" dirty="0">
                <a:solidFill>
                  <a:srgbClr val="7A5CFF"/>
                </a:solidFill>
              </a:rPr>
              <a:t>GOAL  </a:t>
            </a:r>
            <a:r>
              <a:rPr lang="en-US" sz="1700" dirty="0">
                <a:solidFill>
                  <a:schemeClr val="tx1"/>
                </a:solidFill>
              </a:rPr>
              <a:t>Upgrade the Telegram agent to answer from your own FAQ knowledge base.</a:t>
            </a:r>
          </a:p>
        </p:txBody>
      </p:sp>
      <p:sp>
        <p:nvSpPr>
          <p:cNvPr id="601" name="pill"/>
          <p:cNvSpPr/>
          <p:nvPr/>
        </p:nvSpPr>
        <p:spPr>
          <a:xfrm>
            <a:off x="1803400" y="3200400"/>
            <a:ext cx="1676400" cy="711200"/>
          </a:xfrm>
          <a:prstGeom prst="roundRect">
            <a:avLst>
              <a:gd name="adj" fmla="val 22000"/>
            </a:avLst>
          </a:prstGeom>
          <a:solidFill>
            <a:srgbClr val="FFFFFF"/>
          </a:solidFill>
          <a:ln w="19050">
            <a:solidFill>
              <a:srgbClr val="7A5CFF"/>
            </a:solidFill>
          </a:ln>
        </p:spPr>
        <p:txBody>
          <a:bodyPr lIns="76200" tIns="0" rIns="76200" bIns="0" anchor="ctr"/>
          <a:lstStyle/>
          <a:p>
            <a:pPr algn="ctr">
              <a:buNone/>
            </a:pPr>
            <a:r>
              <a:rPr lang="en-US" sz="1500" b="1" dirty="0">
                <a:solidFill>
                  <a:srgbClr val="7A5CFF"/>
                </a:solidFill>
              </a:rPr>
              <a:t>Telegram</a:t>
            </a:r>
          </a:p>
        </p:txBody>
      </p:sp>
      <p:sp>
        <p:nvSpPr>
          <p:cNvPr id="602" name="arr"/>
          <p:cNvSpPr/>
          <p:nvPr/>
        </p:nvSpPr>
        <p:spPr>
          <a:xfrm>
            <a:off x="3568700" y="3441700"/>
            <a:ext cx="330200" cy="228600"/>
          </a:xfrm>
          <a:prstGeom prst="rightArrow">
            <a:avLst/>
          </a:prstGeom>
          <a:solidFill>
            <a:srgbClr val="7A5CFF"/>
          </a:solidFill>
          <a:ln>
            <a:noFill/>
          </a:ln>
        </p:spPr>
        <p:txBody>
          <a:bodyPr/>
          <a:lstStyle/>
          <a:p>
            <a:endParaRPr/>
          </a:p>
        </p:txBody>
      </p:sp>
      <p:sp>
        <p:nvSpPr>
          <p:cNvPr id="603" name="pill"/>
          <p:cNvSpPr/>
          <p:nvPr/>
        </p:nvSpPr>
        <p:spPr>
          <a:xfrm>
            <a:off x="3987800" y="3200400"/>
            <a:ext cx="1676400" cy="711200"/>
          </a:xfrm>
          <a:prstGeom prst="roundRect">
            <a:avLst>
              <a:gd name="adj" fmla="val 22000"/>
            </a:avLst>
          </a:prstGeom>
          <a:solidFill>
            <a:srgbClr val="FFFFFF"/>
          </a:solidFill>
          <a:ln w="19050">
            <a:solidFill>
              <a:srgbClr val="7A5CFF"/>
            </a:solidFill>
          </a:ln>
        </p:spPr>
        <p:txBody>
          <a:bodyPr lIns="76200" tIns="0" rIns="76200" bIns="0" anchor="ctr"/>
          <a:lstStyle/>
          <a:p>
            <a:pPr algn="ctr">
              <a:buNone/>
            </a:pPr>
            <a:r>
              <a:rPr lang="en-US" sz="1500" b="1" dirty="0">
                <a:solidFill>
                  <a:srgbClr val="7A5CFF"/>
                </a:solidFill>
              </a:rPr>
              <a:t>AI Agent</a:t>
            </a:r>
          </a:p>
        </p:txBody>
      </p:sp>
      <p:sp>
        <p:nvSpPr>
          <p:cNvPr id="604" name="arr"/>
          <p:cNvSpPr/>
          <p:nvPr/>
        </p:nvSpPr>
        <p:spPr>
          <a:xfrm>
            <a:off x="5753100" y="3441700"/>
            <a:ext cx="330200" cy="228600"/>
          </a:xfrm>
          <a:prstGeom prst="rightArrow">
            <a:avLst/>
          </a:prstGeom>
          <a:solidFill>
            <a:srgbClr val="7A5CFF"/>
          </a:solidFill>
          <a:ln>
            <a:noFill/>
          </a:ln>
        </p:spPr>
        <p:txBody>
          <a:bodyPr/>
          <a:lstStyle/>
          <a:p>
            <a:endParaRPr/>
          </a:p>
        </p:txBody>
      </p:sp>
      <p:sp>
        <p:nvSpPr>
          <p:cNvPr id="605" name="pill"/>
          <p:cNvSpPr/>
          <p:nvPr/>
        </p:nvSpPr>
        <p:spPr>
          <a:xfrm>
            <a:off x="6172200" y="3200400"/>
            <a:ext cx="2032000" cy="711200"/>
          </a:xfrm>
          <a:prstGeom prst="roundRect">
            <a:avLst>
              <a:gd name="adj" fmla="val 22000"/>
            </a:avLst>
          </a:prstGeom>
          <a:solidFill>
            <a:srgbClr val="FFFFFF"/>
          </a:solidFill>
          <a:ln w="19050">
            <a:solidFill>
              <a:srgbClr val="7A5CFF"/>
            </a:solidFill>
          </a:ln>
        </p:spPr>
        <p:txBody>
          <a:bodyPr lIns="76200" tIns="0" rIns="76200" bIns="0" anchor="ctr"/>
          <a:lstStyle/>
          <a:p>
            <a:pPr algn="ctr">
              <a:buNone/>
            </a:pPr>
            <a:r>
              <a:rPr lang="en-US" sz="1500" b="1" dirty="0">
                <a:solidFill>
                  <a:srgbClr val="7A5CFF"/>
                </a:solidFill>
              </a:rPr>
              <a:t>Vector Store</a:t>
            </a:r>
          </a:p>
        </p:txBody>
      </p:sp>
      <p:sp>
        <p:nvSpPr>
          <p:cNvPr id="606" name="arr"/>
          <p:cNvSpPr/>
          <p:nvPr/>
        </p:nvSpPr>
        <p:spPr>
          <a:xfrm>
            <a:off x="8293100" y="3441700"/>
            <a:ext cx="330200" cy="228600"/>
          </a:xfrm>
          <a:prstGeom prst="rightArrow">
            <a:avLst/>
          </a:prstGeom>
          <a:solidFill>
            <a:srgbClr val="7A5CFF"/>
          </a:solidFill>
          <a:ln>
            <a:noFill/>
          </a:ln>
        </p:spPr>
        <p:txBody>
          <a:bodyPr/>
          <a:lstStyle/>
          <a:p>
            <a:endParaRPr/>
          </a:p>
        </p:txBody>
      </p:sp>
      <p:sp>
        <p:nvSpPr>
          <p:cNvPr id="607" name="pill"/>
          <p:cNvSpPr/>
          <p:nvPr/>
        </p:nvSpPr>
        <p:spPr>
          <a:xfrm>
            <a:off x="8712200" y="3200400"/>
            <a:ext cx="1676400" cy="711200"/>
          </a:xfrm>
          <a:prstGeom prst="roundRect">
            <a:avLst>
              <a:gd name="adj" fmla="val 22000"/>
            </a:avLst>
          </a:prstGeom>
          <a:solidFill>
            <a:srgbClr val="FFFFFF"/>
          </a:solidFill>
          <a:ln w="19050">
            <a:solidFill>
              <a:srgbClr val="7A5CFF"/>
            </a:solidFill>
          </a:ln>
        </p:spPr>
        <p:txBody>
          <a:bodyPr lIns="76200" tIns="0" rIns="76200" bIns="0" anchor="ctr"/>
          <a:lstStyle/>
          <a:p>
            <a:pPr algn="ctr">
              <a:buNone/>
            </a:pPr>
            <a:r>
              <a:rPr lang="en-US" sz="1500" b="1" dirty="0">
                <a:solidFill>
                  <a:srgbClr val="7A5CFF"/>
                </a:solidFill>
              </a:rPr>
              <a:t>Reply</a:t>
            </a:r>
          </a:p>
        </p:txBody>
      </p:sp>
      <p:sp>
        <p:nvSpPr>
          <p:cNvPr id="608" name="notes"/>
          <p:cNvSpPr/>
          <p:nvPr/>
        </p:nvSpPr>
        <p:spPr>
          <a:xfrm>
            <a:off x="457200" y="4368800"/>
            <a:ext cx="11277600" cy="2006600"/>
          </a:xfrm>
          <a:prstGeom prst="rect">
            <a:avLst/>
          </a:prstGeom>
          <a:noFill/>
          <a:ln>
            <a:noFill/>
          </a:ln>
        </p:spPr>
        <p:txBody>
          <a:bodyPr lIns="50800" tIns="50800" rIns="50800" bIns="50800" anchor="t"/>
          <a:lstStyle/>
          <a:p>
            <a:pPr>
              <a:buNone/>
            </a:pPr>
            <a:r>
              <a:rPr lang="en-US" sz="1400" b="1" spc="150" dirty="0">
                <a:solidFill>
                  <a:srgbClr val="7A5CFF"/>
                </a:solidFill>
              </a:rPr>
              <a:t>HOW IT WORKS</a:t>
            </a:r>
          </a:p>
          <a:p>
            <a:pPr marL="285750" indent="-285750">
              <a:spcBef>
                <a:spcPts val="600"/>
              </a:spcBef>
              <a:buFont typeface="Arial"/>
              <a:buChar char="•"/>
            </a:pPr>
            <a:r>
              <a:rPr lang="en-US" sz="1700" dirty="0">
                <a:solidFill>
                  <a:schemeClr val="tx2"/>
                </a:solidFill>
              </a:rPr>
              <a:t>Embed your FAQ documents and store the vectors</a:t>
            </a:r>
          </a:p>
          <a:p>
            <a:pPr marL="285750" indent="-285750">
              <a:spcBef>
                <a:spcPts val="600"/>
              </a:spcBef>
              <a:buFont typeface="Arial"/>
              <a:buChar char="•"/>
            </a:pPr>
            <a:r>
              <a:rPr lang="en-US" sz="1700" dirty="0">
                <a:solidFill>
                  <a:schemeClr val="tx2"/>
                </a:solidFill>
              </a:rPr>
              <a:t>Agent retrieves the relevant chunks before answering</a:t>
            </a:r>
          </a:p>
          <a:p>
            <a:pPr marL="285750" indent="-285750">
              <a:spcBef>
                <a:spcPts val="600"/>
              </a:spcBef>
              <a:buFont typeface="Arial"/>
              <a:buChar char="•"/>
            </a:pPr>
            <a:r>
              <a:rPr lang="en-US" sz="1700" dirty="0">
                <a:solidFill>
                  <a:schemeClr val="tx2"/>
                </a:solidFill>
              </a:rPr>
              <a:t>Grounded, accurate replies — built on top of Activity 4</a:t>
            </a:r>
          </a:p>
        </p:txBody>
      </p:sp>
    </p:spTree>
    <p:extLst>
      <p:ext uri="{BB962C8B-B14F-4D97-AF65-F5344CB8AC3E}">
        <p14:creationId xmlns:p14="http://schemas.microsoft.com/office/powerpoint/2010/main" val="2836998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4AE14-563D-6F37-CDC2-CD9089DC23D7}"/>
              </a:ext>
            </a:extLst>
          </p:cNvPr>
          <p:cNvSpPr>
            <a:spLocks noGrp="1"/>
          </p:cNvSpPr>
          <p:nvPr>
            <p:ph type="title"/>
          </p:nvPr>
        </p:nvSpPr>
        <p:spPr/>
        <p:txBody>
          <a:bodyPr/>
          <a:lstStyle/>
          <a:p>
            <a:r>
              <a:rPr lang="en-US" sz="4000" b="1" dirty="0"/>
              <a:t>Webhooks</a:t>
            </a:r>
          </a:p>
        </p:txBody>
      </p:sp>
      <p:sp>
        <p:nvSpPr>
          <p:cNvPr id="3" name="Text Placeholder 2">
            <a:extLst>
              <a:ext uri="{FF2B5EF4-FFF2-40B4-BE49-F238E27FC236}">
                <a16:creationId xmlns:a16="http://schemas.microsoft.com/office/drawing/2014/main" id="{78C9A1F3-10AC-E623-70DD-11D798E37726}"/>
              </a:ext>
            </a:extLst>
          </p:cNvPr>
          <p:cNvSpPr>
            <a:spLocks noGrp="1"/>
          </p:cNvSpPr>
          <p:nvPr>
            <p:ph type="body" idx="1"/>
          </p:nvPr>
        </p:nvSpPr>
        <p:spPr/>
        <p:txBody>
          <a:bodyPr/>
          <a:lstStyle/>
          <a:p>
            <a:pPr>
              <a:buNone/>
            </a:pPr>
            <a:r>
              <a:rPr lang="en-US" sz="1600" b="1" spc="200" dirty="0">
                <a:solidFill>
                  <a:srgbClr val="7A5CFF"/>
                </a:solidFill>
              </a:rPr>
              <a:t>DAY 2 · MORNING — TOPIC 3</a:t>
            </a:r>
          </a:p>
          <a:p>
            <a:pPr>
              <a:spcBef>
                <a:spcPts val="600"/>
              </a:spcBef>
              <a:buNone/>
            </a:pPr>
            <a:r>
              <a:rPr lang="en-US" sz="1800" dirty="0">
                <a:solidFill>
                  <a:schemeClr val="tx2"/>
                </a:solidFill>
              </a:rPr>
              <a:t>Receive external triggers from other systems and let them start your workflows in real time.</a:t>
            </a:r>
          </a:p>
        </p:txBody>
      </p:sp>
      <p:sp>
        <p:nvSpPr>
          <p:cNvPr id="420" name="rule"/>
          <p:cNvSpPr/>
          <p:nvPr/>
        </p:nvSpPr>
        <p:spPr>
          <a:xfrm>
            <a:off x="838200" y="4419600"/>
            <a:ext cx="1016000" cy="63500"/>
          </a:xfrm>
          <a:prstGeom prst="rect">
            <a:avLst/>
          </a:prstGeom>
          <a:solidFill>
            <a:srgbClr val="7A5CFF"/>
          </a:solidFill>
          <a:ln>
            <a:noFill/>
          </a:ln>
        </p:spPr>
        <p:txBody>
          <a:bodyPr/>
          <a:lstStyle/>
          <a:p>
            <a:endParaRPr/>
          </a:p>
        </p:txBody>
      </p:sp>
    </p:spTree>
    <p:extLst>
      <p:ext uri="{BB962C8B-B14F-4D97-AF65-F5344CB8AC3E}">
        <p14:creationId xmlns:p14="http://schemas.microsoft.com/office/powerpoint/2010/main" val="1110757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33908-A482-CA3D-6634-DB4A08BF2B28}"/>
              </a:ext>
            </a:extLst>
          </p:cNvPr>
          <p:cNvSpPr>
            <a:spLocks noGrp="1"/>
          </p:cNvSpPr>
          <p:nvPr>
            <p:ph type="title"/>
          </p:nvPr>
        </p:nvSpPr>
        <p:spPr/>
        <p:txBody>
          <a:bodyPr/>
          <a:lstStyle/>
          <a:p>
            <a:r>
              <a:rPr lang="en-US"/>
              <a:t>Overview of Webhooks</a:t>
            </a:r>
          </a:p>
        </p:txBody>
      </p:sp>
      <p:sp>
        <p:nvSpPr>
          <p:cNvPr id="600" name="col"/>
          <p:cNvSpPr/>
          <p:nvPr/>
        </p:nvSpPr>
        <p:spPr>
          <a:xfrm>
            <a:off x="457200" y="1930400"/>
            <a:ext cx="5410200" cy="4267200"/>
          </a:xfrm>
          <a:prstGeom prst="roundRect">
            <a:avLst>
              <a:gd name="adj" fmla="val 5000"/>
            </a:avLst>
          </a:prstGeom>
          <a:solidFill>
            <a:srgbClr val="F4F2FF"/>
          </a:solidFill>
          <a:ln>
            <a:noFill/>
          </a:ln>
        </p:spPr>
        <p:txBody>
          <a:bodyPr lIns="330200" tIns="304800" rIns="279400" bIns="228600" anchor="t"/>
          <a:lstStyle/>
          <a:p>
            <a:pPr>
              <a:buNone/>
            </a:pPr>
            <a:r>
              <a:rPr lang="en-US" sz="1500" b="1" spc="150" dirty="0">
                <a:solidFill>
                  <a:srgbClr val="7A5CFF"/>
                </a:solidFill>
              </a:rPr>
              <a:t>HOW IT WORKS</a:t>
            </a:r>
          </a:p>
          <a:p>
            <a:pPr marL="285750" indent="-285750">
              <a:spcBef>
                <a:spcPts val="900"/>
              </a:spcBef>
              <a:buFont typeface="Arial"/>
              <a:buChar char="•"/>
            </a:pPr>
            <a:r>
              <a:rPr lang="en-US" sz="1600" dirty="0">
                <a:solidFill>
                  <a:schemeClr val="tx2"/>
                </a:solidFill>
              </a:rPr>
              <a:t>A webhook is a URL another app calls to push data into n8n instantly</a:t>
            </a:r>
          </a:p>
          <a:p>
            <a:pPr marL="285750" indent="-285750">
              <a:spcBef>
                <a:spcPts val="900"/>
              </a:spcBef>
              <a:buFont typeface="Arial"/>
              <a:buChar char="•"/>
            </a:pPr>
            <a:r>
              <a:rPr lang="en-US" sz="1600" dirty="0">
                <a:solidFill>
                  <a:schemeClr val="tx2"/>
                </a:solidFill>
              </a:rPr>
              <a:t>Event-driven — no polling; the workflow runs the moment it fires</a:t>
            </a:r>
          </a:p>
          <a:p>
            <a:pPr marL="285750" indent="-285750">
              <a:spcBef>
                <a:spcPts val="900"/>
              </a:spcBef>
              <a:buFont typeface="Arial"/>
              <a:buChar char="•"/>
            </a:pPr>
            <a:r>
              <a:rPr lang="en-US" sz="1600" dirty="0">
                <a:solidFill>
                  <a:schemeClr val="tx2"/>
                </a:solidFill>
              </a:rPr>
              <a:t>Receive with the Webhook node; send with the HTTP Request node</a:t>
            </a:r>
          </a:p>
        </p:txBody>
      </p:sp>
      <p:sp>
        <p:nvSpPr>
          <p:cNvPr id="601" name="col"/>
          <p:cNvSpPr/>
          <p:nvPr/>
        </p:nvSpPr>
        <p:spPr>
          <a:xfrm>
            <a:off x="6324600" y="1930400"/>
            <a:ext cx="5410200" cy="4267200"/>
          </a:xfrm>
          <a:prstGeom prst="roundRect">
            <a:avLst>
              <a:gd name="adj" fmla="val 5000"/>
            </a:avLst>
          </a:prstGeom>
          <a:solidFill>
            <a:srgbClr val="F4F2FF"/>
          </a:solidFill>
          <a:ln>
            <a:noFill/>
          </a:ln>
        </p:spPr>
        <p:txBody>
          <a:bodyPr lIns="330200" tIns="304800" rIns="279400" bIns="228600" anchor="t"/>
          <a:lstStyle/>
          <a:p>
            <a:pPr>
              <a:buNone/>
            </a:pPr>
            <a:r>
              <a:rPr lang="en-US" sz="1500" b="1" spc="150" dirty="0">
                <a:solidFill>
                  <a:srgbClr val="7A5CFF"/>
                </a:solidFill>
              </a:rPr>
              <a:t>COMMON TRIGGERS</a:t>
            </a:r>
          </a:p>
          <a:p>
            <a:pPr marL="285750" indent="-285750">
              <a:spcBef>
                <a:spcPts val="900"/>
              </a:spcBef>
              <a:buFont typeface="Arial"/>
              <a:buChar char="•"/>
            </a:pPr>
            <a:r>
              <a:rPr lang="en-US" sz="1600" dirty="0">
                <a:solidFill>
                  <a:schemeClr val="tx2"/>
                </a:solidFill>
              </a:rPr>
              <a:t>Payment or order placed (Stripe, Shopify)</a:t>
            </a:r>
          </a:p>
          <a:p>
            <a:pPr marL="285750" indent="-285750">
              <a:spcBef>
                <a:spcPts val="900"/>
              </a:spcBef>
              <a:buFont typeface="Arial"/>
              <a:buChar char="•"/>
            </a:pPr>
            <a:r>
              <a:rPr lang="en-US" sz="1600" dirty="0">
                <a:solidFill>
                  <a:schemeClr val="tx2"/>
                </a:solidFill>
              </a:rPr>
              <a:t>Form submitted (Typeform, Google Forms)</a:t>
            </a:r>
          </a:p>
          <a:p>
            <a:pPr marL="285750" indent="-285750">
              <a:spcBef>
                <a:spcPts val="900"/>
              </a:spcBef>
              <a:buFont typeface="Arial"/>
              <a:buChar char="•"/>
            </a:pPr>
            <a:r>
              <a:rPr lang="en-US" sz="1600" dirty="0">
                <a:solidFill>
                  <a:schemeClr val="tx2"/>
                </a:solidFill>
              </a:rPr>
              <a:t>Message in Slack, Telegram or WhatsApp</a:t>
            </a:r>
          </a:p>
          <a:p>
            <a:pPr marL="285750" indent="-285750">
              <a:spcBef>
                <a:spcPts val="900"/>
              </a:spcBef>
              <a:buFont typeface="Arial"/>
              <a:buChar char="•"/>
            </a:pPr>
            <a:r>
              <a:rPr lang="en-US" sz="1600" dirty="0">
                <a:solidFill>
                  <a:schemeClr val="tx2"/>
                </a:solidFill>
              </a:rPr>
              <a:t>Website chat widget sends a visitor's message</a:t>
            </a:r>
          </a:p>
        </p:txBody>
      </p:sp>
    </p:spTree>
    <p:extLst>
      <p:ext uri="{BB962C8B-B14F-4D97-AF65-F5344CB8AC3E}">
        <p14:creationId xmlns:p14="http://schemas.microsoft.com/office/powerpoint/2010/main" val="3866854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6E72D-2197-ACDE-CADF-3AE9289D0676}"/>
              </a:ext>
            </a:extLst>
          </p:cNvPr>
          <p:cNvSpPr>
            <a:spLocks noGrp="1"/>
          </p:cNvSpPr>
          <p:nvPr>
            <p:ph type="title"/>
          </p:nvPr>
        </p:nvSpPr>
        <p:spPr/>
        <p:txBody>
          <a:bodyPr/>
          <a:lstStyle/>
          <a:p>
            <a:r>
              <a:rPr lang="en-US"/>
              <a:t>Activity 6 — Website Chatbot</a:t>
            </a:r>
          </a:p>
        </p:txBody>
      </p:sp>
      <p:sp>
        <p:nvSpPr>
          <p:cNvPr id="600" name="goal"/>
          <p:cNvSpPr/>
          <p:nvPr/>
        </p:nvSpPr>
        <p:spPr>
          <a:xfrm>
            <a:off x="457200" y="1854200"/>
            <a:ext cx="11277600" cy="838200"/>
          </a:xfrm>
          <a:prstGeom prst="roundRect">
            <a:avLst>
              <a:gd name="adj" fmla="val 12000"/>
            </a:avLst>
          </a:prstGeom>
          <a:solidFill>
            <a:srgbClr val="E6F8F6"/>
          </a:solidFill>
          <a:ln>
            <a:noFill/>
          </a:ln>
        </p:spPr>
        <p:txBody>
          <a:bodyPr lIns="254000" tIns="127000" rIns="254000" bIns="127000" anchor="ctr"/>
          <a:lstStyle/>
          <a:p>
            <a:pPr>
              <a:buNone/>
            </a:pPr>
            <a:r>
              <a:rPr lang="en-US" sz="1400" b="1" spc="150" dirty="0">
                <a:solidFill>
                  <a:srgbClr val="0C7A6D"/>
                </a:solidFill>
              </a:rPr>
              <a:t>GOAL  </a:t>
            </a:r>
            <a:r>
              <a:rPr lang="en-US" sz="1700" dirty="0">
                <a:solidFill>
                  <a:schemeClr val="tx1"/>
                </a:solidFill>
              </a:rPr>
              <a:t>Embed a chat widget on your website that triggers an AI agent live.</a:t>
            </a:r>
          </a:p>
        </p:txBody>
      </p:sp>
      <p:sp>
        <p:nvSpPr>
          <p:cNvPr id="601" name="pill"/>
          <p:cNvSpPr/>
          <p:nvPr/>
        </p:nvSpPr>
        <p:spPr>
          <a:xfrm>
            <a:off x="2895600" y="3200400"/>
            <a:ext cx="2032000" cy="711200"/>
          </a:xfrm>
          <a:prstGeom prst="roundRect">
            <a:avLst>
              <a:gd name="adj" fmla="val 22000"/>
            </a:avLst>
          </a:prstGeom>
          <a:solidFill>
            <a:srgbClr val="FFFFFF"/>
          </a:solidFill>
          <a:ln w="19050">
            <a:solidFill>
              <a:srgbClr val="0C7A6D"/>
            </a:solidFill>
          </a:ln>
        </p:spPr>
        <p:txBody>
          <a:bodyPr lIns="76200" tIns="0" rIns="76200" bIns="0" anchor="ctr"/>
          <a:lstStyle/>
          <a:p>
            <a:pPr algn="ctr">
              <a:buNone/>
            </a:pPr>
            <a:r>
              <a:rPr lang="en-US" sz="1500" b="1" dirty="0">
                <a:solidFill>
                  <a:srgbClr val="0C7A6D"/>
                </a:solidFill>
              </a:rPr>
              <a:t>Chat Trigger</a:t>
            </a:r>
          </a:p>
        </p:txBody>
      </p:sp>
      <p:sp>
        <p:nvSpPr>
          <p:cNvPr id="602" name="arr"/>
          <p:cNvSpPr/>
          <p:nvPr/>
        </p:nvSpPr>
        <p:spPr>
          <a:xfrm>
            <a:off x="5016500" y="3441700"/>
            <a:ext cx="330200" cy="228600"/>
          </a:xfrm>
          <a:prstGeom prst="rightArrow">
            <a:avLst/>
          </a:prstGeom>
          <a:solidFill>
            <a:srgbClr val="0C7A6D"/>
          </a:solidFill>
          <a:ln>
            <a:noFill/>
          </a:ln>
        </p:spPr>
        <p:txBody>
          <a:bodyPr/>
          <a:lstStyle/>
          <a:p>
            <a:endParaRPr/>
          </a:p>
        </p:txBody>
      </p:sp>
      <p:sp>
        <p:nvSpPr>
          <p:cNvPr id="603" name="pill"/>
          <p:cNvSpPr/>
          <p:nvPr/>
        </p:nvSpPr>
        <p:spPr>
          <a:xfrm>
            <a:off x="5435600" y="3200400"/>
            <a:ext cx="1676400" cy="711200"/>
          </a:xfrm>
          <a:prstGeom prst="roundRect">
            <a:avLst>
              <a:gd name="adj" fmla="val 22000"/>
            </a:avLst>
          </a:prstGeom>
          <a:solidFill>
            <a:srgbClr val="FFFFFF"/>
          </a:solidFill>
          <a:ln w="19050">
            <a:solidFill>
              <a:srgbClr val="0C7A6D"/>
            </a:solidFill>
          </a:ln>
        </p:spPr>
        <p:txBody>
          <a:bodyPr lIns="76200" tIns="0" rIns="76200" bIns="0" anchor="ctr"/>
          <a:lstStyle/>
          <a:p>
            <a:pPr algn="ctr">
              <a:buNone/>
            </a:pPr>
            <a:r>
              <a:rPr lang="en-US" sz="1500" b="1" dirty="0">
                <a:solidFill>
                  <a:srgbClr val="0C7A6D"/>
                </a:solidFill>
              </a:rPr>
              <a:t>AI Agent</a:t>
            </a:r>
          </a:p>
        </p:txBody>
      </p:sp>
      <p:sp>
        <p:nvSpPr>
          <p:cNvPr id="604" name="arr"/>
          <p:cNvSpPr/>
          <p:nvPr/>
        </p:nvSpPr>
        <p:spPr>
          <a:xfrm>
            <a:off x="7200900" y="3441700"/>
            <a:ext cx="330200" cy="228600"/>
          </a:xfrm>
          <a:prstGeom prst="rightArrow">
            <a:avLst/>
          </a:prstGeom>
          <a:solidFill>
            <a:srgbClr val="0C7A6D"/>
          </a:solidFill>
          <a:ln>
            <a:noFill/>
          </a:ln>
        </p:spPr>
        <p:txBody>
          <a:bodyPr/>
          <a:lstStyle/>
          <a:p>
            <a:endParaRPr/>
          </a:p>
        </p:txBody>
      </p:sp>
      <p:sp>
        <p:nvSpPr>
          <p:cNvPr id="605" name="pill"/>
          <p:cNvSpPr/>
          <p:nvPr/>
        </p:nvSpPr>
        <p:spPr>
          <a:xfrm>
            <a:off x="7620000" y="3200400"/>
            <a:ext cx="1676400" cy="711200"/>
          </a:xfrm>
          <a:prstGeom prst="roundRect">
            <a:avLst>
              <a:gd name="adj" fmla="val 22000"/>
            </a:avLst>
          </a:prstGeom>
          <a:solidFill>
            <a:srgbClr val="FFFFFF"/>
          </a:solidFill>
          <a:ln w="19050">
            <a:solidFill>
              <a:srgbClr val="0C7A6D"/>
            </a:solidFill>
          </a:ln>
        </p:spPr>
        <p:txBody>
          <a:bodyPr lIns="76200" tIns="0" rIns="76200" bIns="0" anchor="ctr"/>
          <a:lstStyle/>
          <a:p>
            <a:pPr algn="ctr">
              <a:buNone/>
            </a:pPr>
            <a:r>
              <a:rPr lang="en-US" sz="1500" b="1" dirty="0">
                <a:solidFill>
                  <a:srgbClr val="0C7A6D"/>
                </a:solidFill>
              </a:rPr>
              <a:t>Web Reply</a:t>
            </a:r>
          </a:p>
        </p:txBody>
      </p:sp>
      <p:sp>
        <p:nvSpPr>
          <p:cNvPr id="606" name="notes"/>
          <p:cNvSpPr/>
          <p:nvPr/>
        </p:nvSpPr>
        <p:spPr>
          <a:xfrm>
            <a:off x="457200" y="4368800"/>
            <a:ext cx="11277600" cy="2006600"/>
          </a:xfrm>
          <a:prstGeom prst="rect">
            <a:avLst/>
          </a:prstGeom>
          <a:noFill/>
          <a:ln>
            <a:noFill/>
          </a:ln>
        </p:spPr>
        <p:txBody>
          <a:bodyPr lIns="50800" tIns="50800" rIns="50800" bIns="50800" anchor="t"/>
          <a:lstStyle/>
          <a:p>
            <a:pPr>
              <a:buNone/>
            </a:pPr>
            <a:r>
              <a:rPr lang="en-US" sz="1400" b="1" spc="150" dirty="0">
                <a:solidFill>
                  <a:srgbClr val="0C7A6D"/>
                </a:solidFill>
              </a:rPr>
              <a:t>HOW IT WORKS</a:t>
            </a:r>
          </a:p>
          <a:p>
            <a:pPr marL="285750" indent="-285750">
              <a:spcBef>
                <a:spcPts val="600"/>
              </a:spcBef>
              <a:buFont typeface="Arial"/>
              <a:buChar char="•"/>
            </a:pPr>
            <a:r>
              <a:rPr lang="en-US" sz="1700" dirty="0">
                <a:solidFill>
                  <a:schemeClr val="tx2"/>
                </a:solidFill>
              </a:rPr>
              <a:t>Activate the workflow and copy its Production URL</a:t>
            </a:r>
          </a:p>
          <a:p>
            <a:pPr marL="285750" indent="-285750">
              <a:spcBef>
                <a:spcPts val="600"/>
              </a:spcBef>
              <a:buFont typeface="Arial"/>
              <a:buChar char="•"/>
            </a:pPr>
            <a:r>
              <a:rPr lang="en-US" sz="1700" dirty="0">
                <a:solidFill>
                  <a:schemeClr val="tx2"/>
                </a:solidFill>
              </a:rPr>
              <a:t>Add the chat trigger / widget to your website</a:t>
            </a:r>
          </a:p>
          <a:p>
            <a:pPr marL="285750" indent="-285750">
              <a:spcBef>
                <a:spcPts val="600"/>
              </a:spcBef>
              <a:buFont typeface="Arial"/>
              <a:buChar char="•"/>
            </a:pPr>
            <a:r>
              <a:rPr lang="en-US" sz="1700" dirty="0">
                <a:solidFill>
                  <a:schemeClr val="tx2"/>
                </a:solidFill>
              </a:rPr>
              <a:t>Visitors chat with your AI agent in real time</a:t>
            </a:r>
          </a:p>
        </p:txBody>
      </p:sp>
    </p:spTree>
    <p:extLst>
      <p:ext uri="{BB962C8B-B14F-4D97-AF65-F5344CB8AC3E}">
        <p14:creationId xmlns:p14="http://schemas.microsoft.com/office/powerpoint/2010/main" val="1303078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E394F-FF68-E12C-7F95-876281DE91AA}"/>
              </a:ext>
            </a:extLst>
          </p:cNvPr>
          <p:cNvSpPr>
            <a:spLocks noGrp="1"/>
          </p:cNvSpPr>
          <p:nvPr>
            <p:ph type="title"/>
          </p:nvPr>
        </p:nvSpPr>
        <p:spPr/>
        <p:txBody>
          <a:bodyPr/>
          <a:lstStyle/>
          <a:p>
            <a:r>
              <a:rPr lang="en-US" sz="4000" b="1" dirty="0"/>
              <a:t>API &amp; HTTP Requests</a:t>
            </a:r>
          </a:p>
        </p:txBody>
      </p:sp>
      <p:sp>
        <p:nvSpPr>
          <p:cNvPr id="3" name="Text Placeholder 2">
            <a:extLst>
              <a:ext uri="{FF2B5EF4-FFF2-40B4-BE49-F238E27FC236}">
                <a16:creationId xmlns:a16="http://schemas.microsoft.com/office/drawing/2014/main" id="{D87AE268-98FE-9456-86BC-9BE16F8E0891}"/>
              </a:ext>
            </a:extLst>
          </p:cNvPr>
          <p:cNvSpPr>
            <a:spLocks noGrp="1"/>
          </p:cNvSpPr>
          <p:nvPr>
            <p:ph type="body" idx="1"/>
          </p:nvPr>
        </p:nvSpPr>
        <p:spPr/>
        <p:txBody>
          <a:bodyPr/>
          <a:lstStyle/>
          <a:p>
            <a:pPr>
              <a:buNone/>
            </a:pPr>
            <a:r>
              <a:rPr lang="en-US" sz="1600" b="1" spc="200" dirty="0">
                <a:solidFill>
                  <a:srgbClr val="7A5CFF"/>
                </a:solidFill>
              </a:rPr>
              <a:t>DAY 2 · AFTERNOON — TOPIC 4</a:t>
            </a:r>
          </a:p>
          <a:p>
            <a:pPr>
              <a:spcBef>
                <a:spcPts val="600"/>
              </a:spcBef>
              <a:buNone/>
            </a:pPr>
            <a:r>
              <a:rPr lang="en-US" sz="1800" dirty="0">
                <a:solidFill>
                  <a:schemeClr val="tx2"/>
                </a:solidFill>
              </a:rPr>
              <a:t>Connect to any external service: send requests, read JSON responses, and act on live data.</a:t>
            </a:r>
          </a:p>
        </p:txBody>
      </p:sp>
      <p:sp>
        <p:nvSpPr>
          <p:cNvPr id="420" name="rule"/>
          <p:cNvSpPr/>
          <p:nvPr/>
        </p:nvSpPr>
        <p:spPr>
          <a:xfrm>
            <a:off x="838200" y="4419600"/>
            <a:ext cx="1016000" cy="63500"/>
          </a:xfrm>
          <a:prstGeom prst="rect">
            <a:avLst/>
          </a:prstGeom>
          <a:solidFill>
            <a:srgbClr val="7A5CFF"/>
          </a:solidFill>
          <a:ln>
            <a:noFill/>
          </a:ln>
        </p:spPr>
        <p:txBody>
          <a:bodyPr/>
          <a:lstStyle/>
          <a:p>
            <a:endParaRPr/>
          </a:p>
        </p:txBody>
      </p:sp>
    </p:spTree>
    <p:extLst>
      <p:ext uri="{BB962C8B-B14F-4D97-AF65-F5344CB8AC3E}">
        <p14:creationId xmlns:p14="http://schemas.microsoft.com/office/powerpoint/2010/main" val="2894243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CAC0C-814B-67AC-7374-3F078A103997}"/>
              </a:ext>
            </a:extLst>
          </p:cNvPr>
          <p:cNvSpPr>
            <a:spLocks noGrp="1"/>
          </p:cNvSpPr>
          <p:nvPr>
            <p:ph type="title"/>
          </p:nvPr>
        </p:nvSpPr>
        <p:spPr/>
        <p:txBody>
          <a:bodyPr/>
          <a:lstStyle/>
          <a:p>
            <a:r>
              <a:rPr lang="en-US"/>
              <a:t>Overview of API &amp; HTTP Requests</a:t>
            </a:r>
          </a:p>
        </p:txBody>
      </p:sp>
      <p:sp>
        <p:nvSpPr>
          <p:cNvPr id="3" name="Content Placeholder 2">
            <a:extLst>
              <a:ext uri="{FF2B5EF4-FFF2-40B4-BE49-F238E27FC236}">
                <a16:creationId xmlns:a16="http://schemas.microsoft.com/office/drawing/2014/main" id="{FD0EB649-4830-2DCE-19C4-B9E1E27F7AE9}"/>
              </a:ext>
            </a:extLst>
          </p:cNvPr>
          <p:cNvSpPr>
            <a:spLocks noGrp="1"/>
          </p:cNvSpPr>
          <p:nvPr>
            <p:ph idx="1"/>
          </p:nvPr>
        </p:nvSpPr>
        <p:spPr/>
        <p:txBody>
          <a:bodyPr>
            <a:normAutofit/>
          </a:bodyPr>
          <a:lstStyle/>
          <a:p>
            <a:r>
              <a:rPr lang="en-US" sz="1800"/>
              <a:t>An API is how two applications talk to each other over the web
An HTTP request asks a server for data or to perform an action
Common methods: GET (read), POST (create), PUT (update), DELETE (remove)
Responses arrive as JSON, which n8n parses into usable fields
API keys, tokens or OAuth keep access authenticated and secure
The HTTP Request node connects n8n to any service — no prebuilt integration needed</a:t>
            </a:r>
          </a:p>
        </p:txBody>
      </p:sp>
    </p:spTree>
    <p:extLst>
      <p:ext uri="{BB962C8B-B14F-4D97-AF65-F5344CB8AC3E}">
        <p14:creationId xmlns:p14="http://schemas.microsoft.com/office/powerpoint/2010/main" val="4070710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F816B-E3F1-4A81-31F2-3D0762ACDAD5}"/>
              </a:ext>
            </a:extLst>
          </p:cNvPr>
          <p:cNvSpPr>
            <a:spLocks noGrp="1"/>
          </p:cNvSpPr>
          <p:nvPr>
            <p:ph type="title"/>
          </p:nvPr>
        </p:nvSpPr>
        <p:spPr/>
        <p:txBody>
          <a:bodyPr/>
          <a:lstStyle/>
          <a:p>
            <a:r>
              <a:rPr lang="en-US"/>
              <a:t>Activity 7 — Finance API to Telegram</a:t>
            </a:r>
          </a:p>
        </p:txBody>
      </p:sp>
      <p:sp>
        <p:nvSpPr>
          <p:cNvPr id="600" name="goal"/>
          <p:cNvSpPr/>
          <p:nvPr/>
        </p:nvSpPr>
        <p:spPr>
          <a:xfrm>
            <a:off x="457200" y="1854200"/>
            <a:ext cx="11277600" cy="838200"/>
          </a:xfrm>
          <a:prstGeom prst="roundRect">
            <a:avLst>
              <a:gd name="adj" fmla="val 12000"/>
            </a:avLst>
          </a:prstGeom>
          <a:solidFill>
            <a:srgbClr val="FDF0E6"/>
          </a:solidFill>
          <a:ln>
            <a:noFill/>
          </a:ln>
        </p:spPr>
        <p:txBody>
          <a:bodyPr lIns="254000" tIns="127000" rIns="254000" bIns="127000" anchor="ctr"/>
          <a:lstStyle/>
          <a:p>
            <a:pPr>
              <a:buNone/>
            </a:pPr>
            <a:r>
              <a:rPr lang="en-US" sz="1400" b="1" spc="150" dirty="0">
                <a:solidFill>
                  <a:srgbClr val="C25E12"/>
                </a:solidFill>
              </a:rPr>
              <a:t>GOAL  </a:t>
            </a:r>
            <a:r>
              <a:rPr lang="en-US" sz="1700" dirty="0">
                <a:solidFill>
                  <a:schemeClr val="tx1"/>
                </a:solidFill>
              </a:rPr>
              <a:t>Fetch live data from a Finance API and reply with it on Telegram.</a:t>
            </a:r>
          </a:p>
        </p:txBody>
      </p:sp>
      <p:sp>
        <p:nvSpPr>
          <p:cNvPr id="601" name="pill"/>
          <p:cNvSpPr/>
          <p:nvPr/>
        </p:nvSpPr>
        <p:spPr>
          <a:xfrm>
            <a:off x="1803400" y="3200400"/>
            <a:ext cx="1676400" cy="711200"/>
          </a:xfrm>
          <a:prstGeom prst="roundRect">
            <a:avLst>
              <a:gd name="adj" fmla="val 22000"/>
            </a:avLst>
          </a:prstGeom>
          <a:solidFill>
            <a:srgbClr val="FFFFFF"/>
          </a:solidFill>
          <a:ln w="19050">
            <a:solidFill>
              <a:srgbClr val="C25E12"/>
            </a:solidFill>
          </a:ln>
        </p:spPr>
        <p:txBody>
          <a:bodyPr lIns="76200" tIns="0" rIns="76200" bIns="0" anchor="ctr"/>
          <a:lstStyle/>
          <a:p>
            <a:pPr algn="ctr">
              <a:buNone/>
            </a:pPr>
            <a:r>
              <a:rPr lang="en-US" sz="1500" b="1" dirty="0">
                <a:solidFill>
                  <a:srgbClr val="C25E12"/>
                </a:solidFill>
              </a:rPr>
              <a:t>Telegram</a:t>
            </a:r>
          </a:p>
        </p:txBody>
      </p:sp>
      <p:sp>
        <p:nvSpPr>
          <p:cNvPr id="602" name="arr"/>
          <p:cNvSpPr/>
          <p:nvPr/>
        </p:nvSpPr>
        <p:spPr>
          <a:xfrm>
            <a:off x="3568700" y="3441700"/>
            <a:ext cx="330200" cy="228600"/>
          </a:xfrm>
          <a:prstGeom prst="rightArrow">
            <a:avLst/>
          </a:prstGeom>
          <a:solidFill>
            <a:srgbClr val="C25E12"/>
          </a:solidFill>
          <a:ln>
            <a:noFill/>
          </a:ln>
        </p:spPr>
        <p:txBody>
          <a:bodyPr/>
          <a:lstStyle/>
          <a:p>
            <a:endParaRPr/>
          </a:p>
        </p:txBody>
      </p:sp>
      <p:sp>
        <p:nvSpPr>
          <p:cNvPr id="603" name="pill"/>
          <p:cNvSpPr/>
          <p:nvPr/>
        </p:nvSpPr>
        <p:spPr>
          <a:xfrm>
            <a:off x="3987800" y="3200400"/>
            <a:ext cx="2032000" cy="711200"/>
          </a:xfrm>
          <a:prstGeom prst="roundRect">
            <a:avLst>
              <a:gd name="adj" fmla="val 22000"/>
            </a:avLst>
          </a:prstGeom>
          <a:solidFill>
            <a:srgbClr val="FFFFFF"/>
          </a:solidFill>
          <a:ln w="19050">
            <a:solidFill>
              <a:srgbClr val="C25E12"/>
            </a:solidFill>
          </a:ln>
        </p:spPr>
        <p:txBody>
          <a:bodyPr lIns="76200" tIns="0" rIns="76200" bIns="0" anchor="ctr"/>
          <a:lstStyle/>
          <a:p>
            <a:pPr algn="ctr">
              <a:buNone/>
            </a:pPr>
            <a:r>
              <a:rPr lang="en-US" sz="1500" b="1" dirty="0">
                <a:solidFill>
                  <a:srgbClr val="C25E12"/>
                </a:solidFill>
              </a:rPr>
              <a:t>HTTP Request</a:t>
            </a:r>
          </a:p>
        </p:txBody>
      </p:sp>
      <p:sp>
        <p:nvSpPr>
          <p:cNvPr id="604" name="arr"/>
          <p:cNvSpPr/>
          <p:nvPr/>
        </p:nvSpPr>
        <p:spPr>
          <a:xfrm>
            <a:off x="6108700" y="3441700"/>
            <a:ext cx="330200" cy="228600"/>
          </a:xfrm>
          <a:prstGeom prst="rightArrow">
            <a:avLst/>
          </a:prstGeom>
          <a:solidFill>
            <a:srgbClr val="C25E12"/>
          </a:solidFill>
          <a:ln>
            <a:noFill/>
          </a:ln>
        </p:spPr>
        <p:txBody>
          <a:bodyPr/>
          <a:lstStyle/>
          <a:p>
            <a:endParaRPr/>
          </a:p>
        </p:txBody>
      </p:sp>
      <p:sp>
        <p:nvSpPr>
          <p:cNvPr id="605" name="pill"/>
          <p:cNvSpPr/>
          <p:nvPr/>
        </p:nvSpPr>
        <p:spPr>
          <a:xfrm>
            <a:off x="6527800" y="3200400"/>
            <a:ext cx="1676400" cy="711200"/>
          </a:xfrm>
          <a:prstGeom prst="roundRect">
            <a:avLst>
              <a:gd name="adj" fmla="val 22000"/>
            </a:avLst>
          </a:prstGeom>
          <a:solidFill>
            <a:srgbClr val="FFFFFF"/>
          </a:solidFill>
          <a:ln w="19050">
            <a:solidFill>
              <a:srgbClr val="C25E12"/>
            </a:solidFill>
          </a:ln>
        </p:spPr>
        <p:txBody>
          <a:bodyPr lIns="76200" tIns="0" rIns="76200" bIns="0" anchor="ctr"/>
          <a:lstStyle/>
          <a:p>
            <a:pPr algn="ctr">
              <a:buNone/>
            </a:pPr>
            <a:r>
              <a:rPr lang="en-US" sz="1500" b="1" dirty="0">
                <a:solidFill>
                  <a:srgbClr val="C25E12"/>
                </a:solidFill>
              </a:rPr>
              <a:t>AI Agent</a:t>
            </a:r>
          </a:p>
        </p:txBody>
      </p:sp>
      <p:sp>
        <p:nvSpPr>
          <p:cNvPr id="606" name="arr"/>
          <p:cNvSpPr/>
          <p:nvPr/>
        </p:nvSpPr>
        <p:spPr>
          <a:xfrm>
            <a:off x="8293100" y="3441700"/>
            <a:ext cx="330200" cy="228600"/>
          </a:xfrm>
          <a:prstGeom prst="rightArrow">
            <a:avLst/>
          </a:prstGeom>
          <a:solidFill>
            <a:srgbClr val="C25E12"/>
          </a:solidFill>
          <a:ln>
            <a:noFill/>
          </a:ln>
        </p:spPr>
        <p:txBody>
          <a:bodyPr/>
          <a:lstStyle/>
          <a:p>
            <a:endParaRPr/>
          </a:p>
        </p:txBody>
      </p:sp>
      <p:sp>
        <p:nvSpPr>
          <p:cNvPr id="607" name="pill"/>
          <p:cNvSpPr/>
          <p:nvPr/>
        </p:nvSpPr>
        <p:spPr>
          <a:xfrm>
            <a:off x="8712200" y="3200400"/>
            <a:ext cx="1676400" cy="711200"/>
          </a:xfrm>
          <a:prstGeom prst="roundRect">
            <a:avLst>
              <a:gd name="adj" fmla="val 22000"/>
            </a:avLst>
          </a:prstGeom>
          <a:solidFill>
            <a:srgbClr val="FFFFFF"/>
          </a:solidFill>
          <a:ln w="19050">
            <a:solidFill>
              <a:srgbClr val="C25E12"/>
            </a:solidFill>
          </a:ln>
        </p:spPr>
        <p:txBody>
          <a:bodyPr lIns="76200" tIns="0" rIns="76200" bIns="0" anchor="ctr"/>
          <a:lstStyle/>
          <a:p>
            <a:pPr algn="ctr">
              <a:buNone/>
            </a:pPr>
            <a:r>
              <a:rPr lang="en-US" sz="1500" b="1" dirty="0">
                <a:solidFill>
                  <a:srgbClr val="C25E12"/>
                </a:solidFill>
              </a:rPr>
              <a:t>Reply</a:t>
            </a:r>
          </a:p>
        </p:txBody>
      </p:sp>
      <p:sp>
        <p:nvSpPr>
          <p:cNvPr id="608" name="notes"/>
          <p:cNvSpPr/>
          <p:nvPr/>
        </p:nvSpPr>
        <p:spPr>
          <a:xfrm>
            <a:off x="457200" y="4368800"/>
            <a:ext cx="11277600" cy="2006600"/>
          </a:xfrm>
          <a:prstGeom prst="rect">
            <a:avLst/>
          </a:prstGeom>
          <a:noFill/>
          <a:ln>
            <a:noFill/>
          </a:ln>
        </p:spPr>
        <p:txBody>
          <a:bodyPr lIns="50800" tIns="50800" rIns="50800" bIns="50800" anchor="t"/>
          <a:lstStyle/>
          <a:p>
            <a:pPr>
              <a:buNone/>
            </a:pPr>
            <a:r>
              <a:rPr lang="en-US" sz="1400" b="1" spc="150" dirty="0">
                <a:solidFill>
                  <a:srgbClr val="C25E12"/>
                </a:solidFill>
              </a:rPr>
              <a:t>HOW IT WORKS</a:t>
            </a:r>
          </a:p>
          <a:p>
            <a:pPr marL="285750" indent="-285750">
              <a:spcBef>
                <a:spcPts val="600"/>
              </a:spcBef>
              <a:buFont typeface="Arial"/>
              <a:buChar char="•"/>
            </a:pPr>
            <a:r>
              <a:rPr lang="en-US" sz="1700" dirty="0">
                <a:solidFill>
                  <a:schemeClr val="tx2"/>
                </a:solidFill>
              </a:rPr>
              <a:t>HTTP Request node calls the finance API for live data</a:t>
            </a:r>
          </a:p>
          <a:p>
            <a:pPr marL="285750" indent="-285750">
              <a:spcBef>
                <a:spcPts val="600"/>
              </a:spcBef>
              <a:buFont typeface="Arial"/>
              <a:buChar char="•"/>
            </a:pPr>
            <a:r>
              <a:rPr lang="en-US" sz="1700" dirty="0">
                <a:solidFill>
                  <a:schemeClr val="tx2"/>
                </a:solidFill>
              </a:rPr>
              <a:t>Parse the JSON response into clean fields</a:t>
            </a:r>
          </a:p>
          <a:p>
            <a:pPr marL="285750" indent="-285750">
              <a:spcBef>
                <a:spcPts val="600"/>
              </a:spcBef>
              <a:buFont typeface="Arial"/>
              <a:buChar char="•"/>
            </a:pPr>
            <a:r>
              <a:rPr lang="en-US" sz="1700" dirty="0">
                <a:solidFill>
                  <a:schemeClr val="tx2"/>
                </a:solidFill>
              </a:rPr>
              <a:t>Agent formats the answer and sends it to Telegram</a:t>
            </a:r>
          </a:p>
        </p:txBody>
      </p:sp>
    </p:spTree>
    <p:extLst>
      <p:ext uri="{BB962C8B-B14F-4D97-AF65-F5344CB8AC3E}">
        <p14:creationId xmlns:p14="http://schemas.microsoft.com/office/powerpoint/2010/main" val="4191048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A6B6A-8AAA-6986-BB95-AF4500F40DB9}"/>
              </a:ext>
            </a:extLst>
          </p:cNvPr>
          <p:cNvSpPr>
            <a:spLocks noGrp="1"/>
          </p:cNvSpPr>
          <p:nvPr>
            <p:ph type="title"/>
          </p:nvPr>
        </p:nvSpPr>
        <p:spPr/>
        <p:txBody>
          <a:bodyPr/>
          <a:lstStyle/>
          <a:p>
            <a:r>
              <a:rPr lang="en-US" sz="4000" b="1" dirty="0"/>
              <a:t>Security &amp; Guardrails</a:t>
            </a:r>
          </a:p>
        </p:txBody>
      </p:sp>
      <p:sp>
        <p:nvSpPr>
          <p:cNvPr id="3" name="Text Placeholder 2">
            <a:extLst>
              <a:ext uri="{FF2B5EF4-FFF2-40B4-BE49-F238E27FC236}">
                <a16:creationId xmlns:a16="http://schemas.microsoft.com/office/drawing/2014/main" id="{B07C5DB4-9ED8-1B6F-7E88-0D3AC3A50351}"/>
              </a:ext>
            </a:extLst>
          </p:cNvPr>
          <p:cNvSpPr>
            <a:spLocks noGrp="1"/>
          </p:cNvSpPr>
          <p:nvPr>
            <p:ph type="body" idx="1"/>
          </p:nvPr>
        </p:nvSpPr>
        <p:spPr/>
        <p:txBody>
          <a:bodyPr/>
          <a:lstStyle/>
          <a:p>
            <a:pPr>
              <a:buNone/>
            </a:pPr>
            <a:r>
              <a:rPr lang="en-US" sz="1600" b="1" spc="200" dirty="0">
                <a:solidFill>
                  <a:srgbClr val="0C7A6D"/>
                </a:solidFill>
              </a:rPr>
              <a:t>DAY 3 · MORNING — TOPIC 5</a:t>
            </a:r>
          </a:p>
          <a:p>
            <a:pPr>
              <a:spcBef>
                <a:spcPts val="600"/>
              </a:spcBef>
              <a:buNone/>
            </a:pPr>
            <a:r>
              <a:rPr lang="en-US" sz="1800" dirty="0">
                <a:solidFill>
                  <a:schemeClr val="tx2"/>
                </a:solidFill>
              </a:rPr>
              <a:t>Keep agents safe and controllable with human-in-the-loop approvals and input/output guardrails.</a:t>
            </a:r>
          </a:p>
        </p:txBody>
      </p:sp>
      <p:sp>
        <p:nvSpPr>
          <p:cNvPr id="420" name="rule"/>
          <p:cNvSpPr/>
          <p:nvPr/>
        </p:nvSpPr>
        <p:spPr>
          <a:xfrm>
            <a:off x="838200" y="4419600"/>
            <a:ext cx="1016000" cy="63500"/>
          </a:xfrm>
          <a:prstGeom prst="rect">
            <a:avLst/>
          </a:prstGeom>
          <a:solidFill>
            <a:srgbClr val="0C7A6D"/>
          </a:solidFill>
          <a:ln>
            <a:noFill/>
          </a:ln>
        </p:spPr>
        <p:txBody>
          <a:bodyPr/>
          <a:lstStyle/>
          <a:p>
            <a:endParaRPr/>
          </a:p>
        </p:txBody>
      </p:sp>
    </p:spTree>
    <p:extLst>
      <p:ext uri="{BB962C8B-B14F-4D97-AF65-F5344CB8AC3E}">
        <p14:creationId xmlns:p14="http://schemas.microsoft.com/office/powerpoint/2010/main" val="4234251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D5A38-CE21-C119-1688-41AD3AF22B78}"/>
              </a:ext>
            </a:extLst>
          </p:cNvPr>
          <p:cNvSpPr>
            <a:spLocks noGrp="1"/>
          </p:cNvSpPr>
          <p:nvPr>
            <p:ph type="title"/>
          </p:nvPr>
        </p:nvSpPr>
        <p:spPr/>
        <p:txBody>
          <a:bodyPr/>
          <a:lstStyle/>
          <a:p>
            <a:r>
              <a:rPr lang="en-US"/>
              <a:t>Human in the Loop &amp; Guardrails</a:t>
            </a:r>
          </a:p>
        </p:txBody>
      </p:sp>
      <p:sp>
        <p:nvSpPr>
          <p:cNvPr id="600" name="col"/>
          <p:cNvSpPr/>
          <p:nvPr/>
        </p:nvSpPr>
        <p:spPr>
          <a:xfrm>
            <a:off x="457200" y="1905000"/>
            <a:ext cx="5410200" cy="4318000"/>
          </a:xfrm>
          <a:prstGeom prst="roundRect">
            <a:avLst>
              <a:gd name="adj" fmla="val 5000"/>
            </a:avLst>
          </a:prstGeom>
          <a:solidFill>
            <a:srgbClr val="E6F8F6"/>
          </a:solidFill>
          <a:ln>
            <a:noFill/>
          </a:ln>
        </p:spPr>
        <p:txBody>
          <a:bodyPr lIns="330200" tIns="304800" rIns="330200" bIns="254000" anchor="t"/>
          <a:lstStyle/>
          <a:p>
            <a:pPr>
              <a:buNone/>
            </a:pPr>
            <a:r>
              <a:rPr lang="en-US" sz="1600" b="1" spc="150" dirty="0">
                <a:solidFill>
                  <a:srgbClr val="0C7A6D"/>
                </a:solidFill>
              </a:rPr>
              <a:t>HUMAN IN THE LOOP</a:t>
            </a:r>
          </a:p>
          <a:p>
            <a:pPr marL="285750" indent="-285750">
              <a:spcBef>
                <a:spcPts val="1000"/>
              </a:spcBef>
              <a:buFont typeface="Arial"/>
              <a:buChar char="•"/>
            </a:pPr>
            <a:r>
              <a:rPr lang="en-US" sz="1700" dirty="0">
                <a:solidFill>
                  <a:schemeClr val="tx1"/>
                </a:solidFill>
              </a:rPr>
              <a:t>Pause the workflow for a person to review or approve</a:t>
            </a:r>
          </a:p>
          <a:p>
            <a:pPr marL="285750" indent="-285750">
              <a:spcBef>
                <a:spcPts val="1000"/>
              </a:spcBef>
              <a:buFont typeface="Arial"/>
              <a:buChar char="•"/>
            </a:pPr>
            <a:r>
              <a:rPr lang="en-US" sz="1700" dirty="0">
                <a:solidFill>
                  <a:schemeClr val="tx1"/>
                </a:solidFill>
              </a:rPr>
              <a:t>Approve, edit or reject the agent's proposed action</a:t>
            </a:r>
          </a:p>
          <a:p>
            <a:pPr marL="285750" indent="-285750">
              <a:spcBef>
                <a:spcPts val="1000"/>
              </a:spcBef>
              <a:buFont typeface="Arial"/>
              <a:buChar char="•"/>
            </a:pPr>
            <a:r>
              <a:rPr lang="en-US" sz="1700" dirty="0">
                <a:solidFill>
                  <a:schemeClr val="tx1"/>
                </a:solidFill>
              </a:rPr>
              <a:t>Essential for sensitive steps: payments, emails, data changes</a:t>
            </a:r>
          </a:p>
        </p:txBody>
      </p:sp>
      <p:sp>
        <p:nvSpPr>
          <p:cNvPr id="601" name="col"/>
          <p:cNvSpPr/>
          <p:nvPr/>
        </p:nvSpPr>
        <p:spPr>
          <a:xfrm>
            <a:off x="6324600" y="1905000"/>
            <a:ext cx="5410200" cy="4318000"/>
          </a:xfrm>
          <a:prstGeom prst="roundRect">
            <a:avLst>
              <a:gd name="adj" fmla="val 5000"/>
            </a:avLst>
          </a:prstGeom>
          <a:solidFill>
            <a:srgbClr val="E6F8F6"/>
          </a:solidFill>
          <a:ln>
            <a:noFill/>
          </a:ln>
        </p:spPr>
        <p:txBody>
          <a:bodyPr lIns="330200" tIns="304800" rIns="330200" bIns="254000" anchor="t"/>
          <a:lstStyle/>
          <a:p>
            <a:pPr>
              <a:buNone/>
            </a:pPr>
            <a:r>
              <a:rPr lang="en-US" sz="1600" b="1" spc="150" dirty="0">
                <a:solidFill>
                  <a:srgbClr val="0C7A6D"/>
                </a:solidFill>
              </a:rPr>
              <a:t>GUARDRAILS</a:t>
            </a:r>
          </a:p>
          <a:p>
            <a:pPr marL="285750" indent="-285750">
              <a:spcBef>
                <a:spcPts val="1000"/>
              </a:spcBef>
              <a:buFont typeface="Arial"/>
              <a:buChar char="•"/>
            </a:pPr>
            <a:r>
              <a:rPr lang="en-US" sz="1700" dirty="0">
                <a:solidFill>
                  <a:schemeClr val="tx1"/>
                </a:solidFill>
              </a:rPr>
              <a:t>Validate and filter inputs before the agent runs</a:t>
            </a:r>
          </a:p>
          <a:p>
            <a:pPr marL="285750" indent="-285750">
              <a:spcBef>
                <a:spcPts val="1000"/>
              </a:spcBef>
              <a:buFont typeface="Arial"/>
              <a:buChar char="•"/>
            </a:pPr>
            <a:r>
              <a:rPr lang="en-US" sz="1700" dirty="0">
                <a:solidFill>
                  <a:schemeClr val="tx1"/>
                </a:solidFill>
              </a:rPr>
              <a:t>Constrain outputs to safe, on-topic, well-formatted answers</a:t>
            </a:r>
          </a:p>
          <a:p>
            <a:pPr marL="285750" indent="-285750">
              <a:spcBef>
                <a:spcPts val="1000"/>
              </a:spcBef>
              <a:buFont typeface="Arial"/>
              <a:buChar char="•"/>
            </a:pPr>
            <a:r>
              <a:rPr lang="en-US" sz="1700" dirty="0">
                <a:solidFill>
                  <a:schemeClr val="tx1"/>
                </a:solidFill>
              </a:rPr>
              <a:t>Block prompt injection, secret leakage and unsafe actions</a:t>
            </a:r>
          </a:p>
        </p:txBody>
      </p:sp>
    </p:spTree>
    <p:extLst>
      <p:ext uri="{BB962C8B-B14F-4D97-AF65-F5344CB8AC3E}">
        <p14:creationId xmlns:p14="http://schemas.microsoft.com/office/powerpoint/2010/main" val="3592796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49B31-3486-C40E-BCC3-D06644902F30}"/>
              </a:ext>
            </a:extLst>
          </p:cNvPr>
          <p:cNvSpPr>
            <a:spLocks noGrp="1"/>
          </p:cNvSpPr>
          <p:nvPr>
            <p:ph type="title"/>
          </p:nvPr>
        </p:nvSpPr>
        <p:spPr/>
        <p:txBody>
          <a:bodyPr/>
          <a:lstStyle/>
          <a:p>
            <a:r>
              <a:rPr lang="en-US"/>
              <a:t>Activity 8 — Human-in-the-Loop + Guardrails</a:t>
            </a:r>
          </a:p>
        </p:txBody>
      </p:sp>
      <p:sp>
        <p:nvSpPr>
          <p:cNvPr id="600" name="goal"/>
          <p:cNvSpPr/>
          <p:nvPr/>
        </p:nvSpPr>
        <p:spPr>
          <a:xfrm>
            <a:off x="457200" y="1854200"/>
            <a:ext cx="11277600" cy="838200"/>
          </a:xfrm>
          <a:prstGeom prst="roundRect">
            <a:avLst>
              <a:gd name="adj" fmla="val 12000"/>
            </a:avLst>
          </a:prstGeom>
          <a:solidFill>
            <a:srgbClr val="E6F3FB"/>
          </a:solidFill>
          <a:ln>
            <a:noFill/>
          </a:ln>
        </p:spPr>
        <p:txBody>
          <a:bodyPr lIns="254000" tIns="127000" rIns="254000" bIns="127000" anchor="ctr"/>
          <a:lstStyle/>
          <a:p>
            <a:pPr>
              <a:buNone/>
            </a:pPr>
            <a:r>
              <a:rPr lang="en-US" sz="1400" b="1" spc="150" dirty="0">
                <a:solidFill>
                  <a:srgbClr val="1B7FB8"/>
                </a:solidFill>
              </a:rPr>
              <a:t>GOAL  </a:t>
            </a:r>
            <a:r>
              <a:rPr lang="en-US" sz="1700" dirty="0">
                <a:solidFill>
                  <a:schemeClr val="tx1"/>
                </a:solidFill>
              </a:rPr>
              <a:t>Add approval and safety guardrails to your website chatbot from Activity 6.</a:t>
            </a:r>
          </a:p>
        </p:txBody>
      </p:sp>
      <p:sp>
        <p:nvSpPr>
          <p:cNvPr id="601" name="pill"/>
          <p:cNvSpPr/>
          <p:nvPr/>
        </p:nvSpPr>
        <p:spPr>
          <a:xfrm>
            <a:off x="1346200" y="3200400"/>
            <a:ext cx="1879600" cy="711200"/>
          </a:xfrm>
          <a:prstGeom prst="roundRect">
            <a:avLst>
              <a:gd name="adj" fmla="val 22000"/>
            </a:avLst>
          </a:prstGeom>
          <a:solidFill>
            <a:srgbClr val="FFFFFF"/>
          </a:solidFill>
          <a:ln w="19050">
            <a:solidFill>
              <a:srgbClr val="1B7FB8"/>
            </a:solidFill>
          </a:ln>
        </p:spPr>
        <p:txBody>
          <a:bodyPr lIns="76200" tIns="0" rIns="76200" bIns="0" anchor="ctr"/>
          <a:lstStyle/>
          <a:p>
            <a:pPr algn="ctr">
              <a:buNone/>
            </a:pPr>
            <a:r>
              <a:rPr lang="en-US" sz="1400" b="1" dirty="0">
                <a:solidFill>
                  <a:srgbClr val="1B7FB8"/>
                </a:solidFill>
              </a:rPr>
              <a:t>Chat Trigger</a:t>
            </a:r>
          </a:p>
        </p:txBody>
      </p:sp>
      <p:sp>
        <p:nvSpPr>
          <p:cNvPr id="602" name="arr"/>
          <p:cNvSpPr/>
          <p:nvPr/>
        </p:nvSpPr>
        <p:spPr>
          <a:xfrm>
            <a:off x="3276600" y="3454400"/>
            <a:ext cx="279400" cy="203200"/>
          </a:xfrm>
          <a:prstGeom prst="rightArrow">
            <a:avLst/>
          </a:prstGeom>
          <a:solidFill>
            <a:srgbClr val="1B7FB8"/>
          </a:solidFill>
          <a:ln>
            <a:noFill/>
          </a:ln>
        </p:spPr>
        <p:txBody>
          <a:bodyPr/>
          <a:lstStyle/>
          <a:p>
            <a:endParaRPr/>
          </a:p>
        </p:txBody>
      </p:sp>
      <p:sp>
        <p:nvSpPr>
          <p:cNvPr id="603" name="pill"/>
          <p:cNvSpPr/>
          <p:nvPr/>
        </p:nvSpPr>
        <p:spPr>
          <a:xfrm>
            <a:off x="3606800" y="3200400"/>
            <a:ext cx="1524000" cy="711200"/>
          </a:xfrm>
          <a:prstGeom prst="roundRect">
            <a:avLst>
              <a:gd name="adj" fmla="val 22000"/>
            </a:avLst>
          </a:prstGeom>
          <a:solidFill>
            <a:srgbClr val="FFFFFF"/>
          </a:solidFill>
          <a:ln w="19050">
            <a:solidFill>
              <a:srgbClr val="1B7FB8"/>
            </a:solidFill>
          </a:ln>
        </p:spPr>
        <p:txBody>
          <a:bodyPr lIns="76200" tIns="0" rIns="76200" bIns="0" anchor="ctr"/>
          <a:lstStyle/>
          <a:p>
            <a:pPr algn="ctr">
              <a:buNone/>
            </a:pPr>
            <a:r>
              <a:rPr lang="en-US" sz="1400" b="1" dirty="0">
                <a:solidFill>
                  <a:srgbClr val="1B7FB8"/>
                </a:solidFill>
              </a:rPr>
              <a:t>Guardrail</a:t>
            </a:r>
          </a:p>
        </p:txBody>
      </p:sp>
      <p:sp>
        <p:nvSpPr>
          <p:cNvPr id="604" name="arr"/>
          <p:cNvSpPr/>
          <p:nvPr/>
        </p:nvSpPr>
        <p:spPr>
          <a:xfrm>
            <a:off x="5181600" y="3454400"/>
            <a:ext cx="279400" cy="203200"/>
          </a:xfrm>
          <a:prstGeom prst="rightArrow">
            <a:avLst/>
          </a:prstGeom>
          <a:solidFill>
            <a:srgbClr val="1B7FB8"/>
          </a:solidFill>
          <a:ln>
            <a:noFill/>
          </a:ln>
        </p:spPr>
        <p:txBody>
          <a:bodyPr/>
          <a:lstStyle/>
          <a:p>
            <a:endParaRPr/>
          </a:p>
        </p:txBody>
      </p:sp>
      <p:sp>
        <p:nvSpPr>
          <p:cNvPr id="605" name="pill"/>
          <p:cNvSpPr/>
          <p:nvPr/>
        </p:nvSpPr>
        <p:spPr>
          <a:xfrm>
            <a:off x="5511800" y="3200400"/>
            <a:ext cx="1524000" cy="711200"/>
          </a:xfrm>
          <a:prstGeom prst="roundRect">
            <a:avLst>
              <a:gd name="adj" fmla="val 22000"/>
            </a:avLst>
          </a:prstGeom>
          <a:solidFill>
            <a:srgbClr val="FFFFFF"/>
          </a:solidFill>
          <a:ln w="19050">
            <a:solidFill>
              <a:srgbClr val="1B7FB8"/>
            </a:solidFill>
          </a:ln>
        </p:spPr>
        <p:txBody>
          <a:bodyPr lIns="76200" tIns="0" rIns="76200" bIns="0" anchor="ctr"/>
          <a:lstStyle/>
          <a:p>
            <a:pPr algn="ctr">
              <a:buNone/>
            </a:pPr>
            <a:r>
              <a:rPr lang="en-US" sz="1400" b="1" dirty="0">
                <a:solidFill>
                  <a:srgbClr val="1B7FB8"/>
                </a:solidFill>
              </a:rPr>
              <a:t>AI Agent</a:t>
            </a:r>
          </a:p>
        </p:txBody>
      </p:sp>
      <p:sp>
        <p:nvSpPr>
          <p:cNvPr id="606" name="arr"/>
          <p:cNvSpPr/>
          <p:nvPr/>
        </p:nvSpPr>
        <p:spPr>
          <a:xfrm>
            <a:off x="7086600" y="3454400"/>
            <a:ext cx="279400" cy="203200"/>
          </a:xfrm>
          <a:prstGeom prst="rightArrow">
            <a:avLst/>
          </a:prstGeom>
          <a:solidFill>
            <a:srgbClr val="1B7FB8"/>
          </a:solidFill>
          <a:ln>
            <a:noFill/>
          </a:ln>
        </p:spPr>
        <p:txBody>
          <a:bodyPr/>
          <a:lstStyle/>
          <a:p>
            <a:endParaRPr/>
          </a:p>
        </p:txBody>
      </p:sp>
      <p:sp>
        <p:nvSpPr>
          <p:cNvPr id="607" name="pill"/>
          <p:cNvSpPr/>
          <p:nvPr/>
        </p:nvSpPr>
        <p:spPr>
          <a:xfrm>
            <a:off x="7416800" y="3200400"/>
            <a:ext cx="1524000" cy="711200"/>
          </a:xfrm>
          <a:prstGeom prst="roundRect">
            <a:avLst>
              <a:gd name="adj" fmla="val 22000"/>
            </a:avLst>
          </a:prstGeom>
          <a:solidFill>
            <a:srgbClr val="FFFFFF"/>
          </a:solidFill>
          <a:ln w="19050">
            <a:solidFill>
              <a:srgbClr val="1B7FB8"/>
            </a:solidFill>
          </a:ln>
        </p:spPr>
        <p:txBody>
          <a:bodyPr lIns="76200" tIns="0" rIns="76200" bIns="0" anchor="ctr"/>
          <a:lstStyle/>
          <a:p>
            <a:pPr algn="ctr">
              <a:buNone/>
            </a:pPr>
            <a:r>
              <a:rPr lang="en-US" sz="1400" b="1" dirty="0">
                <a:solidFill>
                  <a:srgbClr val="1B7FB8"/>
                </a:solidFill>
              </a:rPr>
              <a:t>Approve</a:t>
            </a:r>
          </a:p>
        </p:txBody>
      </p:sp>
      <p:sp>
        <p:nvSpPr>
          <p:cNvPr id="608" name="arr"/>
          <p:cNvSpPr/>
          <p:nvPr/>
        </p:nvSpPr>
        <p:spPr>
          <a:xfrm>
            <a:off x="8991600" y="3454400"/>
            <a:ext cx="279400" cy="203200"/>
          </a:xfrm>
          <a:prstGeom prst="rightArrow">
            <a:avLst/>
          </a:prstGeom>
          <a:solidFill>
            <a:srgbClr val="1B7FB8"/>
          </a:solidFill>
          <a:ln>
            <a:noFill/>
          </a:ln>
        </p:spPr>
        <p:txBody>
          <a:bodyPr/>
          <a:lstStyle/>
          <a:p>
            <a:endParaRPr/>
          </a:p>
        </p:txBody>
      </p:sp>
      <p:sp>
        <p:nvSpPr>
          <p:cNvPr id="609" name="pill"/>
          <p:cNvSpPr/>
          <p:nvPr/>
        </p:nvSpPr>
        <p:spPr>
          <a:xfrm>
            <a:off x="9321800" y="3200400"/>
            <a:ext cx="1524000" cy="711200"/>
          </a:xfrm>
          <a:prstGeom prst="roundRect">
            <a:avLst>
              <a:gd name="adj" fmla="val 22000"/>
            </a:avLst>
          </a:prstGeom>
          <a:solidFill>
            <a:srgbClr val="FFFFFF"/>
          </a:solidFill>
          <a:ln w="19050">
            <a:solidFill>
              <a:srgbClr val="1B7FB8"/>
            </a:solidFill>
          </a:ln>
        </p:spPr>
        <p:txBody>
          <a:bodyPr lIns="76200" tIns="0" rIns="76200" bIns="0" anchor="ctr"/>
          <a:lstStyle/>
          <a:p>
            <a:pPr algn="ctr">
              <a:buNone/>
            </a:pPr>
            <a:r>
              <a:rPr lang="en-US" sz="1400" b="1" dirty="0">
                <a:solidFill>
                  <a:srgbClr val="1B7FB8"/>
                </a:solidFill>
              </a:rPr>
              <a:t>Reply</a:t>
            </a:r>
          </a:p>
        </p:txBody>
      </p:sp>
      <p:sp>
        <p:nvSpPr>
          <p:cNvPr id="610" name="notes"/>
          <p:cNvSpPr/>
          <p:nvPr/>
        </p:nvSpPr>
        <p:spPr>
          <a:xfrm>
            <a:off x="457200" y="4368800"/>
            <a:ext cx="11277600" cy="2006600"/>
          </a:xfrm>
          <a:prstGeom prst="rect">
            <a:avLst/>
          </a:prstGeom>
          <a:noFill/>
          <a:ln>
            <a:noFill/>
          </a:ln>
        </p:spPr>
        <p:txBody>
          <a:bodyPr lIns="50800" tIns="50800" rIns="50800" bIns="50800" anchor="t"/>
          <a:lstStyle/>
          <a:p>
            <a:pPr>
              <a:buNone/>
            </a:pPr>
            <a:r>
              <a:rPr lang="en-US" sz="1400" b="1" spc="150" dirty="0">
                <a:solidFill>
                  <a:srgbClr val="1B7FB8"/>
                </a:solidFill>
              </a:rPr>
              <a:t>HOW IT WORKS</a:t>
            </a:r>
          </a:p>
          <a:p>
            <a:pPr marL="285750" indent="-285750">
              <a:spcBef>
                <a:spcPts val="600"/>
              </a:spcBef>
              <a:buFont typeface="Arial"/>
              <a:buChar char="•"/>
            </a:pPr>
            <a:r>
              <a:rPr lang="en-US" sz="1700" dirty="0">
                <a:solidFill>
                  <a:schemeClr val="tx2"/>
                </a:solidFill>
              </a:rPr>
              <a:t>Guardrails screen unsafe or off-topic input and output</a:t>
            </a:r>
          </a:p>
          <a:p>
            <a:pPr marL="285750" indent="-285750">
              <a:spcBef>
                <a:spcPts val="600"/>
              </a:spcBef>
              <a:buFont typeface="Arial"/>
              <a:buChar char="•"/>
            </a:pPr>
            <a:r>
              <a:rPr lang="en-US" sz="1700" dirty="0">
                <a:solidFill>
                  <a:schemeClr val="tx2"/>
                </a:solidFill>
              </a:rPr>
              <a:t>Human-in-the-loop approves sensitive actions before they run</a:t>
            </a:r>
          </a:p>
          <a:p>
            <a:pPr marL="285750" indent="-285750">
              <a:spcBef>
                <a:spcPts val="600"/>
              </a:spcBef>
              <a:buFont typeface="Arial"/>
              <a:buChar char="•"/>
            </a:pPr>
            <a:r>
              <a:rPr lang="en-US" sz="1700" dirty="0">
                <a:solidFill>
                  <a:schemeClr val="tx2"/>
                </a:solidFill>
              </a:rPr>
              <a:t>A safer, production-ready version of Activity 6</a:t>
            </a:r>
          </a:p>
        </p:txBody>
      </p:sp>
    </p:spTree>
    <p:extLst>
      <p:ext uri="{BB962C8B-B14F-4D97-AF65-F5344CB8AC3E}">
        <p14:creationId xmlns:p14="http://schemas.microsoft.com/office/powerpoint/2010/main" val="17112630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DF7F5-19A4-D22E-7B31-F64C26D8FB03}"/>
              </a:ext>
            </a:extLst>
          </p:cNvPr>
          <p:cNvSpPr>
            <a:spLocks noGrp="1"/>
          </p:cNvSpPr>
          <p:nvPr>
            <p:ph type="title"/>
          </p:nvPr>
        </p:nvSpPr>
        <p:spPr/>
        <p:txBody>
          <a:bodyPr/>
          <a:lstStyle/>
          <a:p>
            <a:r>
              <a:rPr lang="en-US" sz="4000" b="1" dirty="0"/>
              <a:t>Mini Capstone Project</a:t>
            </a:r>
          </a:p>
        </p:txBody>
      </p:sp>
      <p:sp>
        <p:nvSpPr>
          <p:cNvPr id="3" name="Text Placeholder 2">
            <a:extLst>
              <a:ext uri="{FF2B5EF4-FFF2-40B4-BE49-F238E27FC236}">
                <a16:creationId xmlns:a16="http://schemas.microsoft.com/office/drawing/2014/main" id="{A8D16604-20C5-4BBB-D62B-843B1C19271D}"/>
              </a:ext>
            </a:extLst>
          </p:cNvPr>
          <p:cNvSpPr>
            <a:spLocks noGrp="1"/>
          </p:cNvSpPr>
          <p:nvPr>
            <p:ph type="body" idx="1"/>
          </p:nvPr>
        </p:nvSpPr>
        <p:spPr/>
        <p:txBody>
          <a:bodyPr/>
          <a:lstStyle/>
          <a:p>
            <a:pPr>
              <a:buNone/>
            </a:pPr>
            <a:r>
              <a:rPr lang="en-US" sz="1600" b="1" spc="200" dirty="0">
                <a:solidFill>
                  <a:srgbClr val="0C7A6D"/>
                </a:solidFill>
              </a:rPr>
              <a:t>DAY 3 · AFTERNOON — TOPIC 6</a:t>
            </a:r>
          </a:p>
          <a:p>
            <a:pPr>
              <a:spcBef>
                <a:spcPts val="600"/>
              </a:spcBef>
              <a:buNone/>
            </a:pPr>
            <a:r>
              <a:rPr lang="en-US" sz="1800" dirty="0">
                <a:solidFill>
                  <a:schemeClr val="tx2"/>
                </a:solidFill>
              </a:rPr>
              <a:t>Design and present your own end-to-end agentic workflow — then complete the assessment.</a:t>
            </a:r>
          </a:p>
        </p:txBody>
      </p:sp>
      <p:sp>
        <p:nvSpPr>
          <p:cNvPr id="420" name="rule"/>
          <p:cNvSpPr/>
          <p:nvPr/>
        </p:nvSpPr>
        <p:spPr>
          <a:xfrm>
            <a:off x="838200" y="4419600"/>
            <a:ext cx="1016000" cy="63500"/>
          </a:xfrm>
          <a:prstGeom prst="rect">
            <a:avLst/>
          </a:prstGeom>
          <a:solidFill>
            <a:srgbClr val="0C7A6D"/>
          </a:solidFill>
          <a:ln>
            <a:noFill/>
          </a:ln>
        </p:spPr>
        <p:txBody>
          <a:bodyPr/>
          <a:lstStyle/>
          <a:p>
            <a:endParaRPr/>
          </a:p>
        </p:txBody>
      </p:sp>
    </p:spTree>
    <p:extLst>
      <p:ext uri="{BB962C8B-B14F-4D97-AF65-F5344CB8AC3E}">
        <p14:creationId xmlns:p14="http://schemas.microsoft.com/office/powerpoint/2010/main" val="33922518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C5730-5D5F-5218-9535-862736B466B5}"/>
              </a:ext>
            </a:extLst>
          </p:cNvPr>
          <p:cNvSpPr>
            <a:spLocks noGrp="1"/>
          </p:cNvSpPr>
          <p:nvPr>
            <p:ph type="title"/>
          </p:nvPr>
        </p:nvSpPr>
        <p:spPr/>
        <p:txBody>
          <a:bodyPr/>
          <a:lstStyle/>
          <a:p>
            <a:r>
              <a:rPr lang="en-US"/>
              <a:t>Build &amp; Present Your Agent</a:t>
            </a:r>
          </a:p>
        </p:txBody>
      </p:sp>
      <p:sp>
        <p:nvSpPr>
          <p:cNvPr id="700" name="brief"/>
          <p:cNvSpPr/>
          <p:nvPr/>
        </p:nvSpPr>
        <p:spPr>
          <a:xfrm>
            <a:off x="457200" y="1854200"/>
            <a:ext cx="11277600" cy="762000"/>
          </a:xfrm>
          <a:prstGeom prst="roundRect">
            <a:avLst>
              <a:gd name="adj" fmla="val 14000"/>
            </a:avLst>
          </a:prstGeom>
          <a:solidFill>
            <a:srgbClr val="E6F8F6"/>
          </a:solidFill>
          <a:ln>
            <a:noFill/>
          </a:ln>
        </p:spPr>
        <p:txBody>
          <a:bodyPr lIns="254000" tIns="101600" rIns="254000" bIns="101600" anchor="ctr"/>
          <a:lstStyle/>
          <a:p>
            <a:pPr>
              <a:buNone/>
            </a:pPr>
            <a:r>
              <a:rPr lang="en-US" sz="1300" b="1" spc="150" dirty="0">
                <a:solidFill>
                  <a:srgbClr val="0C7A6D"/>
                </a:solidFill>
              </a:rPr>
              <a:t>YOUR CHALLENGE  </a:t>
            </a:r>
            <a:r>
              <a:rPr lang="en-US" sz="1600" dirty="0">
                <a:solidFill>
                  <a:schemeClr val="tx1"/>
                </a:solidFill>
              </a:rPr>
              <a:t>Combine what you've built into one working agentic workflow — then demo it to the class.</a:t>
            </a:r>
          </a:p>
        </p:txBody>
      </p:sp>
      <p:sp>
        <p:nvSpPr>
          <p:cNvPr id="701" name="col"/>
          <p:cNvSpPr/>
          <p:nvPr/>
        </p:nvSpPr>
        <p:spPr>
          <a:xfrm>
            <a:off x="457200" y="2844800"/>
            <a:ext cx="5410200" cy="3530600"/>
          </a:xfrm>
          <a:prstGeom prst="roundRect">
            <a:avLst>
              <a:gd name="adj" fmla="val 5000"/>
            </a:avLst>
          </a:prstGeom>
          <a:solidFill>
            <a:srgbClr val="F4FBFA"/>
          </a:solidFill>
          <a:ln w="9525">
            <a:solidFill>
              <a:srgbClr val="E4E4EC"/>
            </a:solidFill>
          </a:ln>
        </p:spPr>
        <p:txBody>
          <a:bodyPr lIns="279400" tIns="254000" rIns="254000" bIns="203200" anchor="t"/>
          <a:lstStyle/>
          <a:p>
            <a:pPr>
              <a:buNone/>
            </a:pPr>
            <a:r>
              <a:rPr lang="en-US" sz="1700" b="1" dirty="0">
                <a:solidFill>
                  <a:srgbClr val="0C7A6D"/>
                </a:solidFill>
              </a:rPr>
              <a:t>PROJECT IDEAS</a:t>
            </a:r>
          </a:p>
          <a:p>
            <a:pPr marL="285750" indent="-285750">
              <a:spcBef>
                <a:spcPts val="900"/>
              </a:spcBef>
              <a:buFont typeface="Arial"/>
              <a:buChar char="•"/>
            </a:pPr>
            <a:r>
              <a:rPr lang="en-US" sz="1600" dirty="0">
                <a:solidFill>
                  <a:schemeClr val="tx2"/>
                </a:solidFill>
              </a:rPr>
              <a:t>A RAG support bot trained on your own FAQ</a:t>
            </a:r>
          </a:p>
          <a:p>
            <a:pPr marL="285750" indent="-285750">
              <a:spcBef>
                <a:spcPts val="900"/>
              </a:spcBef>
              <a:buFont typeface="Arial"/>
              <a:buChar char="•"/>
            </a:pPr>
            <a:r>
              <a:rPr lang="en-US" sz="1600" dirty="0">
                <a:solidFill>
                  <a:schemeClr val="tx2"/>
                </a:solidFill>
              </a:rPr>
              <a:t>A Telegram assistant pulling live data from an API</a:t>
            </a:r>
          </a:p>
          <a:p>
            <a:pPr marL="285750" indent="-285750">
              <a:spcBef>
                <a:spcPts val="900"/>
              </a:spcBef>
              <a:buFont typeface="Arial"/>
              <a:buChar char="•"/>
            </a:pPr>
            <a:r>
              <a:rPr lang="en-US" sz="1600" dirty="0">
                <a:solidFill>
                  <a:schemeClr val="tx2"/>
                </a:solidFill>
              </a:rPr>
              <a:t>A website chatbot with human-in-the-loop approval</a:t>
            </a:r>
          </a:p>
        </p:txBody>
      </p:sp>
      <p:sp>
        <p:nvSpPr>
          <p:cNvPr id="702" name="col"/>
          <p:cNvSpPr/>
          <p:nvPr/>
        </p:nvSpPr>
        <p:spPr>
          <a:xfrm>
            <a:off x="6324600" y="2844800"/>
            <a:ext cx="5410200" cy="3530600"/>
          </a:xfrm>
          <a:prstGeom prst="roundRect">
            <a:avLst>
              <a:gd name="adj" fmla="val 5000"/>
            </a:avLst>
          </a:prstGeom>
          <a:solidFill>
            <a:srgbClr val="F4FBFA"/>
          </a:solidFill>
          <a:ln w="9525">
            <a:solidFill>
              <a:srgbClr val="E4E4EC"/>
            </a:solidFill>
          </a:ln>
        </p:spPr>
        <p:txBody>
          <a:bodyPr lIns="279400" tIns="254000" rIns="254000" bIns="203200" anchor="t"/>
          <a:lstStyle/>
          <a:p>
            <a:pPr>
              <a:buNone/>
            </a:pPr>
            <a:r>
              <a:rPr lang="en-US" sz="1700" b="1" dirty="0">
                <a:solidFill>
                  <a:srgbClr val="0C7A6D"/>
                </a:solidFill>
              </a:rPr>
              <a:t>WHAT TO PRESENT</a:t>
            </a:r>
          </a:p>
          <a:p>
            <a:pPr marL="285750" indent="-285750">
              <a:spcBef>
                <a:spcPts val="900"/>
              </a:spcBef>
              <a:buFont typeface="Arial"/>
              <a:buChar char="•"/>
            </a:pPr>
            <a:r>
              <a:rPr lang="en-US" sz="1600" dirty="0">
                <a:solidFill>
                  <a:schemeClr val="tx2"/>
                </a:solidFill>
              </a:rPr>
              <a:t>The problem your agent solves</a:t>
            </a:r>
          </a:p>
          <a:p>
            <a:pPr marL="285750" indent="-285750">
              <a:spcBef>
                <a:spcPts val="900"/>
              </a:spcBef>
              <a:buFont typeface="Arial"/>
              <a:buChar char="•"/>
            </a:pPr>
            <a:r>
              <a:rPr lang="en-US" sz="1600" dirty="0">
                <a:solidFill>
                  <a:schemeClr val="tx2"/>
                </a:solidFill>
              </a:rPr>
              <a:t>A live demo of the workflow running</a:t>
            </a:r>
          </a:p>
          <a:p>
            <a:pPr marL="285750" indent="-285750">
              <a:spcBef>
                <a:spcPts val="900"/>
              </a:spcBef>
              <a:buFont typeface="Arial"/>
              <a:buChar char="•"/>
            </a:pPr>
            <a:r>
              <a:rPr lang="en-US" sz="1600" dirty="0">
                <a:solidFill>
                  <a:schemeClr val="tx2"/>
                </a:solidFill>
              </a:rPr>
              <a:t>Your trigger, tools, memory and guardrails</a:t>
            </a:r>
          </a:p>
        </p:txBody>
      </p:sp>
    </p:spTree>
    <p:extLst>
      <p:ext uri="{BB962C8B-B14F-4D97-AF65-F5344CB8AC3E}">
        <p14:creationId xmlns:p14="http://schemas.microsoft.com/office/powerpoint/2010/main" val="3504684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4F2C1-52E6-1326-A294-EE9E9FADD958}"/>
              </a:ext>
            </a:extLst>
          </p:cNvPr>
          <p:cNvSpPr>
            <a:spLocks noGrp="1"/>
          </p:cNvSpPr>
          <p:nvPr>
            <p:ph type="title"/>
          </p:nvPr>
        </p:nvSpPr>
        <p:spPr/>
        <p:txBody>
          <a:bodyPr/>
          <a:lstStyle/>
          <a:p>
            <a:r>
              <a:rPr lang="en-US"/>
              <a:t>Assessment</a:t>
            </a:r>
          </a:p>
        </p:txBody>
      </p:sp>
      <p:sp>
        <p:nvSpPr>
          <p:cNvPr id="3" name="Content Placeholder 2">
            <a:extLst>
              <a:ext uri="{FF2B5EF4-FFF2-40B4-BE49-F238E27FC236}">
                <a16:creationId xmlns:a16="http://schemas.microsoft.com/office/drawing/2014/main" id="{C0FC8952-5A7C-445A-2CE8-A63025781C40}"/>
              </a:ext>
            </a:extLst>
          </p:cNvPr>
          <p:cNvSpPr>
            <a:spLocks noGrp="1"/>
          </p:cNvSpPr>
          <p:nvPr>
            <p:ph idx="1"/>
          </p:nvPr>
        </p:nvSpPr>
        <p:spPr/>
        <p:txBody>
          <a:bodyPr>
            <a:normAutofit/>
          </a:bodyPr>
          <a:lstStyle/>
          <a:p>
            <a:r>
              <a:rPr lang="en-US" sz="1800"/>
              <a:t>Competency-based — you pass by demonstrating the skills, not by memorising
Practical task: design, build and run an agentic workflow in n8n
Capstone demo: present your project and explain your design choices
Knowledge check: triggers, AI agents, RAG, webhooks, APIs and guardrails
Earn a WSQ Statement of Attainment on successful completion</a:t>
            </a:r>
          </a:p>
        </p:txBody>
      </p:sp>
    </p:spTree>
    <p:extLst>
      <p:ext uri="{BB962C8B-B14F-4D97-AF65-F5344CB8AC3E}">
        <p14:creationId xmlns:p14="http://schemas.microsoft.com/office/powerpoint/2010/main" val="5410463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56441-3F98-BED7-31C0-DE6200710D17}"/>
              </a:ext>
            </a:extLst>
          </p:cNvPr>
          <p:cNvSpPr>
            <a:spLocks noGrp="1"/>
          </p:cNvSpPr>
          <p:nvPr>
            <p:ph type="ctrTitle"/>
          </p:nvPr>
        </p:nvSpPr>
        <p:spPr/>
        <p:txBody>
          <a:bodyPr/>
          <a:lstStyle/>
          <a:p>
            <a:pPr algn="ctr"/>
            <a:r>
              <a:rPr lang="en-US" sz="4400" b="1" dirty="0"/>
              <a:t>Thank You</a:t>
            </a:r>
          </a:p>
        </p:txBody>
      </p:sp>
      <p:sp>
        <p:nvSpPr>
          <p:cNvPr id="3" name="Subtitle 2">
            <a:extLst>
              <a:ext uri="{FF2B5EF4-FFF2-40B4-BE49-F238E27FC236}">
                <a16:creationId xmlns:a16="http://schemas.microsoft.com/office/drawing/2014/main" id="{BC77E29C-F114-ABF1-D9C9-5F95FC7ACC60}"/>
              </a:ext>
            </a:extLst>
          </p:cNvPr>
          <p:cNvSpPr>
            <a:spLocks noGrp="1"/>
          </p:cNvSpPr>
          <p:nvPr>
            <p:ph type="subTitle" idx="1"/>
          </p:nvPr>
        </p:nvSpPr>
        <p:spPr/>
        <p:txBody>
          <a:bodyPr/>
          <a:lstStyle/>
          <a:p>
            <a:pPr algn="ctr"/>
            <a:r>
              <a:rPr lang="en-US" sz="2000" dirty="0">
                <a:solidFill>
                  <a:schemeClr val="tx2"/>
                </a:solidFill>
              </a:rPr>
              <a:t>You can now design, build and deploy agentic AI workflows with n8n.</a:t>
            </a:r>
          </a:p>
          <a:p>
            <a:pPr algn="ctr">
              <a:spcBef>
                <a:spcPts val="900"/>
              </a:spcBef>
            </a:pPr>
            <a:r>
              <a:rPr lang="en-US" sz="1600" b="1" dirty="0">
                <a:solidFill>
                  <a:schemeClr val="accent1"/>
                </a:solidFill>
              </a:rPr>
              <a:t>Agentic AI Automation with n8n</a:t>
            </a:r>
            <a:r>
              <a:rPr lang="en-US" sz="1600" dirty="0">
                <a:solidFill>
                  <a:schemeClr val="tx2"/>
                </a:solidFill>
              </a:rPr>
              <a:t>   •   TGS-2023035977</a:t>
            </a:r>
          </a:p>
        </p:txBody>
      </p:sp>
    </p:spTree>
    <p:extLst>
      <p:ext uri="{BB962C8B-B14F-4D97-AF65-F5344CB8AC3E}">
        <p14:creationId xmlns:p14="http://schemas.microsoft.com/office/powerpoint/2010/main" val="3407085409"/>
      </p:ext>
    </p:extLst>
  </p:cSld>
  <p:clrMapOvr>
    <a:masterClrMapping/>
  </p:clrMapOvr>
</p:sld>
</file>

<file path=ppt/theme/theme1.xml><?xml version="1.0" encoding="utf-8"?>
<a:theme xmlns:a="http://schemas.openxmlformats.org/drawingml/2006/main" name="Office Theme [1782187755328]">
  <a:themeElements>
    <a:clrScheme name="Office">
      <a:dk1>
        <a:srgbClr val="1A1A2E"/>
      </a:dk1>
      <a:lt1>
        <a:srgbClr val="FFFFFF"/>
      </a:lt1>
      <a:dk2>
        <a:srgbClr val="3A3A52"/>
      </a:dk2>
      <a:lt2>
        <a:srgbClr val="F4F4F8"/>
      </a:lt2>
      <a:accent1>
        <a:srgbClr val="EA4B71"/>
      </a:accent1>
      <a:accent2>
        <a:srgbClr val="7A5CFF"/>
      </a:accent2>
      <a:accent3>
        <a:srgbClr val="1FB6A6"/>
      </a:accent3>
      <a:accent4>
        <a:srgbClr val="FF8C42"/>
      </a:accent4>
      <a:accent5>
        <a:srgbClr val="2D9CDB"/>
      </a:accent5>
      <a:accent6>
        <a:srgbClr val="27AE60"/>
      </a:accent6>
      <a:hlink>
        <a:srgbClr val="467886"/>
      </a:hlink>
      <a:folHlink>
        <a:srgbClr val="96607D"/>
      </a:folHlink>
    </a:clrScheme>
    <a:fontScheme name="Office">
      <a:majorFont>
        <a:latin typeface="Montserra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39118D1-2BD2-A343-9B2C-9DB0CC7E8904}">
  <we:reference id="WA200010001" version="1.0.0.1" store="Omex" storeType="OMEX"/>
  <we:alternateReferences>
    <we:reference id="WA200010001" version="1.0.0.1" store="WA200010001" storeType="OMEX"/>
  </we:alternateReferences>
  <we:properties>
    <we:property name="claude.fileId" value="&quot;9b6b66cf-40f9-4a5a-a0e0-1136946d9f2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165</TotalTime>
  <Words>1527</Words>
  <Application>Microsoft Macintosh PowerPoint</Application>
  <PresentationFormat>Widescreen</PresentationFormat>
  <Paragraphs>195</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Montserrat</vt:lpstr>
      <vt:lpstr>Open Sans</vt:lpstr>
      <vt:lpstr>Office Theme [1782187755328]</vt:lpstr>
      <vt:lpstr>Agentic AI Automation with n8n</vt:lpstr>
      <vt:lpstr>Course Roadmap</vt:lpstr>
      <vt:lpstr>Workflow Automation with n8n</vt:lpstr>
      <vt:lpstr>What is n8n?</vt:lpstr>
      <vt:lpstr>Exploring the n8n Editor</vt:lpstr>
      <vt:lpstr>Key Concepts of n8n</vt:lpstr>
      <vt:lpstr>Activity 1 — Flyer with QR Code</vt:lpstr>
      <vt:lpstr>Activity 2 — Capture Data in a Data Table</vt:lpstr>
      <vt:lpstr>Activity 3a — Conditional Response (Data Table)</vt:lpstr>
      <vt:lpstr>Activity 3b — Conditional Response (Sheets / Excel)</vt:lpstr>
      <vt:lpstr>AI Agents &amp; RAG</vt:lpstr>
      <vt:lpstr>Overview of AI Agents</vt:lpstr>
      <vt:lpstr>Activity 4 — Telegram-Triggered AI Agent</vt:lpstr>
      <vt:lpstr>Retrieval-Augmented Generation (RAG)</vt:lpstr>
      <vt:lpstr>Activity 5 — RAG-Powered FAQ Bot</vt:lpstr>
      <vt:lpstr>Webhooks</vt:lpstr>
      <vt:lpstr>Overview of Webhooks</vt:lpstr>
      <vt:lpstr>Activity 6 — Website Chatbot</vt:lpstr>
      <vt:lpstr>API &amp; HTTP Requests</vt:lpstr>
      <vt:lpstr>Overview of API &amp; HTTP Requests</vt:lpstr>
      <vt:lpstr>Activity 7 — Finance API to Telegram</vt:lpstr>
      <vt:lpstr>Security &amp; Guardrails</vt:lpstr>
      <vt:lpstr>Human in the Loop &amp; Guardrails</vt:lpstr>
      <vt:lpstr>Activity 8 — Human-in-the-Loop + Guardrails</vt:lpstr>
      <vt:lpstr>Mini Capstone Project</vt:lpstr>
      <vt:lpstr>Build &amp; Present Your Agent</vt:lpstr>
      <vt:lpstr>Assessment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Tertiary Infotech Admin</dc:creator>
  <cp:lastModifiedBy>Tertiary Infotech Admin</cp:lastModifiedBy>
  <cp:revision>3</cp:revision>
  <dcterms:created xsi:type="dcterms:W3CDTF">2026-06-23T02:30:52Z</dcterms:created>
  <dcterms:modified xsi:type="dcterms:W3CDTF">2026-06-23T05:16:09Z</dcterms:modified>
</cp:coreProperties>
</file>