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52" r:id="rId2"/>
  </p:sldMasterIdLst>
  <p:notesMasterIdLst>
    <p:notesMasterId r:id="rId54"/>
  </p:notesMasterIdLst>
  <p:sldIdLst>
    <p:sldId id="258" r:id="rId3"/>
    <p:sldId id="261" r:id="rId4"/>
    <p:sldId id="263" r:id="rId5"/>
    <p:sldId id="265" r:id="rId6"/>
    <p:sldId id="268" r:id="rId7"/>
    <p:sldId id="334" r:id="rId8"/>
    <p:sldId id="335" r:id="rId9"/>
    <p:sldId id="336" r:id="rId10"/>
    <p:sldId id="337" r:id="rId11"/>
    <p:sldId id="338" r:id="rId12"/>
    <p:sldId id="270" r:id="rId13"/>
    <p:sldId id="340" r:id="rId14"/>
    <p:sldId id="273" r:id="rId15"/>
    <p:sldId id="275" r:id="rId16"/>
    <p:sldId id="278" r:id="rId17"/>
    <p:sldId id="351" r:id="rId18"/>
    <p:sldId id="352" r:id="rId19"/>
    <p:sldId id="357" r:id="rId20"/>
    <p:sldId id="353" r:id="rId21"/>
    <p:sldId id="354" r:id="rId22"/>
    <p:sldId id="355" r:id="rId23"/>
    <p:sldId id="280" r:id="rId24"/>
    <p:sldId id="283" r:id="rId25"/>
    <p:sldId id="368" r:id="rId26"/>
    <p:sldId id="373" r:id="rId27"/>
    <p:sldId id="376" r:id="rId28"/>
    <p:sldId id="370" r:id="rId29"/>
    <p:sldId id="374" r:id="rId30"/>
    <p:sldId id="377" r:id="rId31"/>
    <p:sldId id="375" r:id="rId32"/>
    <p:sldId id="378" r:id="rId33"/>
    <p:sldId id="322" r:id="rId34"/>
    <p:sldId id="287" r:id="rId35"/>
    <p:sldId id="290" r:id="rId36"/>
    <p:sldId id="390" r:id="rId37"/>
    <p:sldId id="391" r:id="rId38"/>
    <p:sldId id="392" r:id="rId39"/>
    <p:sldId id="393" r:id="rId40"/>
    <p:sldId id="394" r:id="rId41"/>
    <p:sldId id="389" r:id="rId42"/>
    <p:sldId id="292" r:id="rId43"/>
    <p:sldId id="295" r:id="rId44"/>
    <p:sldId id="297" r:id="rId45"/>
    <p:sldId id="299" r:id="rId46"/>
    <p:sldId id="302" r:id="rId47"/>
    <p:sldId id="399" r:id="rId48"/>
    <p:sldId id="400" r:id="rId49"/>
    <p:sldId id="304" r:id="rId50"/>
    <p:sldId id="306" r:id="rId51"/>
    <p:sldId id="308" r:id="rId52"/>
    <p:sldId id="309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F43F74-1068-4905-9866-C5CEBBC36C65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2C7CE-4788-4E56-ADFE-700CA997E5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8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n8n and you land on the canvas — an infinite workspace.</a:t>
            </a:r>
          </a:p>
          <a:p>
            <a:r>
              <a:rPr lang="en-US" dirty="0"/>
              <a:t>Click the + button to add the first node. Each node is one step; connect them so data flows left to right.</a:t>
            </a:r>
          </a:p>
          <a:p>
            <a:r>
              <a:rPr lang="en-US" dirty="0"/>
              <a:t>Hit Execute Workflow to run and watch the data move through each node.</a:t>
            </a:r>
          </a:p>
          <a:p>
            <a:r>
              <a:rPr lang="en-US" dirty="0"/>
              <a:t>Key point: it's all visual — no code is needed to build a flow.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workflow starts with exactly one trigger — the event n8n waits for.</a:t>
            </a:r>
          </a:p>
          <a:p>
            <a:r>
              <a:rPr lang="en-US" dirty="0"/>
              <a:t>Manual = run a test on click. Webhook = an incoming HTTP request. Schedule = a timer or cron. Form = on submit. Chat = a new message.</a:t>
            </a:r>
          </a:p>
          <a:p>
            <a:r>
              <a:rPr lang="en-US" dirty="0"/>
              <a:t>Ask learners: which trigger fits a 'daily report at 8am' use case? (Schedule.)</a:t>
            </a:r>
          </a:p>
          <a:p>
            <a:r>
              <a:rPr lang="en-US" dirty="0"/>
              <a:t>Once the trigger fires, the rest of the flow runs in order.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trigger, action nodes do the actual work.</a:t>
            </a:r>
          </a:p>
          <a:p>
            <a:r>
              <a:rPr lang="en-US" dirty="0"/>
              <a:t>HTTP Request calls any API. Edit Fields (Set) shapes and adds data. Google Sheets reads or writes rows. Send Email notifies someone. Code runs custom JS or Python.</a:t>
            </a:r>
          </a:p>
          <a:p>
            <a:r>
              <a:rPr lang="en-US" dirty="0"/>
              <a:t>Chain as many actions as you need — each node passes its output to the next.</a:t>
            </a:r>
          </a:p>
          <a:p>
            <a:r>
              <a:rPr lang="en-US" dirty="0"/>
              <a:t>Tip: start with Set and HTTP Request; they cover most beginner automations.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moves between nodes as JSON — always a list of items.</a:t>
            </a:r>
          </a:p>
          <a:p>
            <a:r>
              <a:rPr lang="en-US" dirty="0"/>
              <a:t>Each item has a 'json' object holding the fields. The next node reads them by name, e.g. {{ $json.email }}.</a:t>
            </a:r>
          </a:p>
          <a:p>
            <a:r>
              <a:rPr lang="en-US" dirty="0"/>
              <a:t>One item usually equals one record or one row.</a:t>
            </a:r>
          </a:p>
          <a:p>
            <a:r>
              <a:rPr lang="en-US" dirty="0"/>
              <a:t>This is the most important concept for debugging — open any node's output to see its JSON.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IF node branches a flow based on a condition — here, active = true.</a:t>
            </a:r>
          </a:p>
          <a:p>
            <a:r>
              <a:rPr lang="en-US" dirty="0"/>
              <a:t>Items that match the condition leave through the TRUE branch; everything else goes out FALSE.</a:t>
            </a:r>
          </a:p>
          <a:p>
            <a:r>
              <a:rPr lang="en-US" dirty="0"/>
              <a:t>Each branch can have its own actions, so one flow handles two outcomes.</a:t>
            </a:r>
          </a:p>
          <a:p>
            <a:r>
              <a:rPr lang="en-US" dirty="0"/>
              <a:t>For more than two paths, mention the Switch node as the next step.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EEAA-4AD7-5D85-DF32-0BB94F53DC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74B7F-A892-97E3-CD1A-FDE085987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E3E2A-BCA8-E447-3A44-1C2A0F82A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89961-E721-E99F-2FB7-6FFA6316A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C800F-0197-5CEB-CE89-55FEC735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272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C7677-8FE6-A068-396D-85B37B828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75F5CB-7D16-92B9-8508-EE79AAC6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094CC-C4F9-B421-626C-DFA11F0B0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B109-2AF7-06CD-FE8E-A28509547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05163-A7F3-1333-E8BC-2C46EAEE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73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B5532-131E-32EB-28A4-DB93D38C9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7579B-992D-5EEA-C579-3EFA277BF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9B4646-C4C5-60DD-7DA5-081BCF07A0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B5E641-842F-C7A0-E4B8-8FB1E26A4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62D99-62EA-DFFF-47D1-E650902D4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98867-B0D3-3722-D033-B49C7112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0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6FBCD-E097-7B22-30ED-E8603517C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56917-70FA-8B6C-B72F-E3CE63259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2E17B-2A11-D503-5667-6E9AB2D89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0B6142-FE91-0D1E-4FB3-0A1AA2461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2DB00A-4C92-E025-47F9-701C5D0F38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C1230C-28BD-586F-9DA5-4682EE42B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F5874F-CC64-43B4-421C-79C948690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278C96-AAC8-92E9-4E5A-670C2DEAC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758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B81-E105-C5E8-5A8C-03E69DD3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A9166-6942-9D4D-2CB9-A66F6C6B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DF8BDD-CA5B-A4EF-7718-545EA6129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DA098D-CB7A-5ED8-0B84-EFAA892B8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039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ACD071-90BF-2227-96DE-69066CC2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B2610-7005-64D4-07D2-EFEB8090E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DA1E0-AF65-455B-9EB8-D2404C574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76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8AEDB-1854-5E39-D24F-EFDF38A3C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A33FD-F359-F059-3DD6-4219F500F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9BFC8-71B0-D6EE-F387-1723724AF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EC97E5-2605-763E-6022-51D81C01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5E538-1F11-7C9B-2E07-7B72314D2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6EBC0-B173-012E-EBBD-900BD76D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37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51B95-F6E8-D813-512C-9A5E0EF9C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F92FD4-4A91-3CE1-AC52-8B898E43F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DE0C3-4DF0-B31D-2BF3-B9D500403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7CB7D-2751-F084-FFE9-41334C39A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B51DE0-9FD7-0688-1753-D403B348C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D53D49-9988-7F0F-43FF-A776778A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624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69012-B2E8-CC48-54B6-D5B22E8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AC850-75CB-3801-2847-908008AC5F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3C027-5423-9D68-5B18-17E33663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91F905-BCA0-E131-3FEC-CB69204E2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0244-6D75-E0C0-6255-4BB1051D9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78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1BD3CA-236D-0C61-7CEB-19BF8F4FA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85EAF1-7C7F-9C28-E687-69DE773D73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994C-F344-65C7-7061-791C21E54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62A8-03C6-2B8C-1979-4CD9C22A1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7B39E-0B1E-B296-612E-ADDDEB4CE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34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058765" cy="692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/>
          <a:p>
            <a:pPr indent="0">
              <a:buNone/>
            </a:pPr>
            <a:endParaRPr lang="en-US" sz="169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182868" y="777165"/>
            <a:ext cx="10726989" cy="524814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714"/>
              </a:spcBef>
              <a:buNone/>
            </a:pPr>
            <a:endParaRPr lang="en-US" sz="169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03FD4F8-C2F9-4CC7-A05F-5CC0B0DBFA1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6217AE-793A-F4B6-F961-F63905C7E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33E98-90E7-0F05-E16C-F42F910BC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79899-3C8B-5A46-35A4-B918614E2A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E0E2F9-91E7-4FF6-8EC0-7930ED829033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77132-2C8D-E7D8-1B2F-DF9DB9068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BEE62-50C6-0C31-D8A0-2866A1AF3B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9FEC6-8273-46FD-B677-9E1230E938B6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LeftAccentBar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gradFill>
            <a:gsLst>
              <a:gs pos="0">
                <a:srgbClr val="4F46E5"/>
              </a:gs>
              <a:gs pos="100000">
                <a:srgbClr val="06B6D4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CornerAccent"/>
          <p:cNvSpPr/>
          <p:nvPr/>
        </p:nvSpPr>
        <p:spPr>
          <a:xfrm>
            <a:off x="11430000" y="6629400"/>
            <a:ext cx="710400" cy="228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3726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E293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26;p53"/>
          <p:cNvSpPr/>
          <p:nvPr/>
        </p:nvSpPr>
        <p:spPr>
          <a:xfrm>
            <a:off x="0" y="5848980"/>
            <a:ext cx="11058765" cy="33394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tIns="83594" bIns="83594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1088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This material belongs to Tertiary Infotech Academy Pte Ltd  (UEN: 20120096W). All Rights Reserved</a:t>
            </a:r>
            <a:endParaRPr lang="en-US" sz="1088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058765" cy="69226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en-US" sz="4354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82868" y="777165"/>
            <a:ext cx="10726989" cy="52481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522461" indent="-391846">
              <a:spcBef>
                <a:spcPts val="17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1044922" lvl="1" indent="-391846">
              <a:spcBef>
                <a:spcPts val="137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567382" lvl="2" indent="-348307">
              <a:spcBef>
                <a:spcPts val="102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2089843" lvl="3" indent="-261230">
              <a:spcBef>
                <a:spcPts val="68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612304" lvl="4" indent="-261230">
              <a:spcBef>
                <a:spcPts val="3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3134765" lvl="5" indent="-261230">
              <a:spcBef>
                <a:spcPts val="3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657226" lvl="6" indent="-261230">
              <a:spcBef>
                <a:spcPts val="3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3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sldNum" idx="5"/>
          </p:nvPr>
        </p:nvSpPr>
        <p:spPr>
          <a:xfrm>
            <a:off x="10247176" y="5639559"/>
            <a:ext cx="663117" cy="47544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" sz="1209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768F2DF-4D99-46BD-8AF6-CCC82F303389}" type="slidenum">
              <a:rPr lang="en" sz="1209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‹#›</a:t>
            </a:fld>
            <a:endParaRPr lang="en-US" sz="120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286E0-B8C2-EDC3-5BB4-A406F69CBA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5400" b="1" dirty="0"/>
              <a:t>AI Automation </a:t>
            </a:r>
            <a:r>
              <a:rPr lang="en-US" sz="5400" b="1" dirty="0">
                <a:solidFill>
                  <a:srgbClr val="4F46E5"/>
                </a:solidFill>
              </a:rPr>
              <a:t>&amp; Agents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B05043-CEEB-2F74-B7CF-FF92752E19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2200" dirty="0">
                <a:solidFill>
                  <a:srgbClr val="334155"/>
                </a:solidFill>
              </a:rPr>
              <a:t>3-Day Hands-On Workshop  ·  Build real no-code AI workflows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2B0035-362B-45ED-8DEF-5AA0C590A5C0}"/>
              </a:ext>
            </a:extLst>
          </p:cNvPr>
          <p:cNvSpPr/>
          <p:nvPr/>
        </p:nvSpPr>
        <p:spPr>
          <a:xfrm>
            <a:off x="5461000" y="3327400"/>
            <a:ext cx="1270000" cy="635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BCABD-6C6B-496A-8215-E29EDB2F377F}"/>
              </a:ext>
            </a:extLst>
          </p:cNvPr>
          <p:cNvSpPr txBox="1"/>
          <p:nvPr/>
        </p:nvSpPr>
        <p:spPr>
          <a:xfrm>
            <a:off x="1524000" y="609600"/>
            <a:ext cx="914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06B6D4"/>
                </a:solidFill>
              </a:rPr>
              <a:t>HANDS-ON  ·  NO-CODE  ·  AI WORKFLOWS</a:t>
            </a:r>
          </a:p>
        </p:txBody>
      </p:sp>
    </p:spTree>
    <p:extLst>
      <p:ext uri="{BB962C8B-B14F-4D97-AF65-F5344CB8AC3E}">
        <p14:creationId xmlns:p14="http://schemas.microsoft.com/office/powerpoint/2010/main" val="4031719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9BDF4-F6B4-4E39-0885-C2BF4D1E2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 at a Glance</a:t>
            </a:r>
          </a:p>
        </p:txBody>
      </p:sp>
      <p:sp>
        <p:nvSpPr>
          <p:cNvPr id="50" name="s51"/>
          <p:cNvSpPr/>
          <p:nvPr/>
        </p:nvSpPr>
        <p:spPr>
          <a:xfrm>
            <a:off x="635000" y="1905000"/>
            <a:ext cx="3492500" cy="4318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" name="t52"/>
          <p:cNvSpPr txBox="1"/>
          <p:nvPr/>
        </p:nvSpPr>
        <p:spPr>
          <a:xfrm>
            <a:off x="863600" y="2108200"/>
            <a:ext cx="30353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lang="en-US" sz="2600" b="1" dirty="0">
                <a:solidFill>
                  <a:srgbClr val="4F46E5"/>
                </a:solidFill>
              </a:rPr>
              <a:t>DAY 1</a:t>
            </a:r>
          </a:p>
        </p:txBody>
      </p:sp>
      <p:sp>
        <p:nvSpPr>
          <p:cNvPr id="52" name="s53"/>
          <p:cNvSpPr/>
          <p:nvPr/>
        </p:nvSpPr>
        <p:spPr>
          <a:xfrm>
            <a:off x="863600" y="2692400"/>
            <a:ext cx="3035300" cy="25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t54"/>
          <p:cNvSpPr txBox="1"/>
          <p:nvPr/>
        </p:nvSpPr>
        <p:spPr>
          <a:xfrm>
            <a:off x="863600" y="2895600"/>
            <a:ext cx="3035300" cy="3124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4F46E5"/>
                </a:solidFill>
              </a:rPr>
              <a:t>MORNING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1 · Flows</a:t>
            </a:r>
          </a:p>
          <a:p>
            <a:pPr>
              <a:spcAft>
                <a:spcPts val="20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Forms, data tables &amp; conditional logic</a:t>
            </a:r>
          </a:p>
          <a:p>
            <a:pPr>
              <a:spcBef>
                <a:spcPts val="6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4F46E5"/>
                </a:solidFill>
              </a:rPr>
              <a:t>AFTERNOON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2 · AI Agents &amp; RAG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LLMs, memory, tools &amp; retrieval</a:t>
            </a:r>
          </a:p>
        </p:txBody>
      </p:sp>
      <p:sp>
        <p:nvSpPr>
          <p:cNvPr id="54" name="s55"/>
          <p:cNvSpPr/>
          <p:nvPr/>
        </p:nvSpPr>
        <p:spPr>
          <a:xfrm>
            <a:off x="4432300" y="1905000"/>
            <a:ext cx="3492500" cy="4318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5" name="t56"/>
          <p:cNvSpPr txBox="1"/>
          <p:nvPr/>
        </p:nvSpPr>
        <p:spPr>
          <a:xfrm>
            <a:off x="4660900" y="2108200"/>
            <a:ext cx="30353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lang="en-US" sz="2600" b="1" dirty="0">
                <a:solidFill>
                  <a:srgbClr val="06B6D4"/>
                </a:solidFill>
              </a:rPr>
              <a:t>DAY 2</a:t>
            </a:r>
          </a:p>
        </p:txBody>
      </p:sp>
      <p:sp>
        <p:nvSpPr>
          <p:cNvPr id="56" name="s57"/>
          <p:cNvSpPr/>
          <p:nvPr/>
        </p:nvSpPr>
        <p:spPr>
          <a:xfrm>
            <a:off x="4660900" y="2692400"/>
            <a:ext cx="3035300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t58"/>
          <p:cNvSpPr txBox="1"/>
          <p:nvPr/>
        </p:nvSpPr>
        <p:spPr>
          <a:xfrm>
            <a:off x="4660900" y="2895600"/>
            <a:ext cx="3035300" cy="3124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6B6D4"/>
                </a:solidFill>
              </a:rPr>
              <a:t>MORNING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3 · Webhooks</a:t>
            </a:r>
          </a:p>
          <a:p>
            <a:pPr>
              <a:spcAft>
                <a:spcPts val="20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External triggers &amp; website chatbot</a:t>
            </a:r>
          </a:p>
          <a:p>
            <a:pPr>
              <a:spcBef>
                <a:spcPts val="6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6B6D4"/>
                </a:solidFill>
              </a:rPr>
              <a:t>AFTERNOON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4 · API &amp; HTTP Request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Pull live data into your agent</a:t>
            </a:r>
          </a:p>
        </p:txBody>
      </p:sp>
      <p:sp>
        <p:nvSpPr>
          <p:cNvPr id="58" name="s59"/>
          <p:cNvSpPr/>
          <p:nvPr/>
        </p:nvSpPr>
        <p:spPr>
          <a:xfrm>
            <a:off x="8229600" y="1905000"/>
            <a:ext cx="3492500" cy="4318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9" name="t60"/>
          <p:cNvSpPr txBox="1"/>
          <p:nvPr/>
        </p:nvSpPr>
        <p:spPr>
          <a:xfrm>
            <a:off x="8458200" y="2108200"/>
            <a:ext cx="30353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lang="en-US" sz="2600" b="1" dirty="0">
                <a:solidFill>
                  <a:srgbClr val="8B5CF6"/>
                </a:solidFill>
              </a:rPr>
              <a:t>DAY 3</a:t>
            </a:r>
          </a:p>
        </p:txBody>
      </p:sp>
      <p:sp>
        <p:nvSpPr>
          <p:cNvPr id="60" name="s61"/>
          <p:cNvSpPr/>
          <p:nvPr/>
        </p:nvSpPr>
        <p:spPr>
          <a:xfrm>
            <a:off x="8458200" y="2692400"/>
            <a:ext cx="303530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t62"/>
          <p:cNvSpPr txBox="1"/>
          <p:nvPr/>
        </p:nvSpPr>
        <p:spPr>
          <a:xfrm>
            <a:off x="8458200" y="2895600"/>
            <a:ext cx="3035300" cy="3124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8B5CF6"/>
                </a:solidFill>
              </a:rPr>
              <a:t>MORNING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5 · Security &amp; Guardrails</a:t>
            </a:r>
          </a:p>
          <a:p>
            <a:pPr>
              <a:spcAft>
                <a:spcPts val="20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Human-in-the-loop &amp; safe outputs</a:t>
            </a:r>
          </a:p>
          <a:p>
            <a:pPr>
              <a:spcBef>
                <a:spcPts val="6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8B5CF6"/>
                </a:solidFill>
              </a:rPr>
              <a:t>AFTERNOON</a:t>
            </a:r>
          </a:p>
          <a:p>
            <a:pPr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Topic 6 · Mini Capstone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Design, build &amp; present your project</a:t>
            </a:r>
          </a:p>
        </p:txBody>
      </p:sp>
    </p:spTree>
    <p:extLst>
      <p:ext uri="{BB962C8B-B14F-4D97-AF65-F5344CB8AC3E}">
        <p14:creationId xmlns:p14="http://schemas.microsoft.com/office/powerpoint/2010/main" val="3671688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9047D-DF00-0D94-56AD-0FFFAB726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the Course Works</a:t>
            </a:r>
          </a:p>
        </p:txBody>
      </p:sp>
      <p:sp>
        <p:nvSpPr>
          <p:cNvPr id="60" name="s61"/>
          <p:cNvSpPr/>
          <p:nvPr/>
        </p:nvSpPr>
        <p:spPr>
          <a:xfrm>
            <a:off x="635000" y="2133600"/>
            <a:ext cx="3492500" cy="299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6000" rIns="91440" bIns="46000" anchor="t"/>
          <a:lstStyle/>
          <a:p>
            <a:endParaRPr/>
          </a:p>
        </p:txBody>
      </p:sp>
      <p:sp>
        <p:nvSpPr>
          <p:cNvPr id="61" name="s62"/>
          <p:cNvSpPr/>
          <p:nvPr/>
        </p:nvSpPr>
        <p:spPr>
          <a:xfrm>
            <a:off x="2000250" y="2463800"/>
            <a:ext cx="762000" cy="7620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6000" rIns="91440" bIns="46000" anchor="ctr"/>
          <a:lstStyle/>
          <a:p>
            <a:pPr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2" name="s63"/>
          <p:cNvSpPr/>
          <p:nvPr/>
        </p:nvSpPr>
        <p:spPr>
          <a:xfrm>
            <a:off x="863600" y="3429000"/>
            <a:ext cx="3035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6000" rIns="91440" bIns="46000" anchor="t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F46E5"/>
                </a:solidFill>
              </a:rPr>
              <a:t>SEE IT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dirty="0">
                <a:solidFill>
                  <a:srgbClr val="334155"/>
                </a:solidFill>
              </a:rPr>
              <a:t>A short, plain-English overview of each concept</a:t>
            </a:r>
          </a:p>
        </p:txBody>
      </p:sp>
      <p:sp>
        <p:nvSpPr>
          <p:cNvPr id="63" name="s64"/>
          <p:cNvSpPr/>
          <p:nvPr/>
        </p:nvSpPr>
        <p:spPr>
          <a:xfrm>
            <a:off x="4432300" y="2133600"/>
            <a:ext cx="3492500" cy="299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6000" rIns="91440" bIns="46000" anchor="t"/>
          <a:lstStyle/>
          <a:p>
            <a:endParaRPr/>
          </a:p>
        </p:txBody>
      </p:sp>
      <p:sp>
        <p:nvSpPr>
          <p:cNvPr id="64" name="s65"/>
          <p:cNvSpPr/>
          <p:nvPr/>
        </p:nvSpPr>
        <p:spPr>
          <a:xfrm>
            <a:off x="5797550" y="2463800"/>
            <a:ext cx="762000" cy="762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46000" rIns="91440" bIns="46000" anchor="ctr"/>
          <a:lstStyle/>
          <a:p>
            <a:pPr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5" name="s66"/>
          <p:cNvSpPr/>
          <p:nvPr/>
        </p:nvSpPr>
        <p:spPr>
          <a:xfrm>
            <a:off x="4660900" y="3429000"/>
            <a:ext cx="3035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6000" rIns="91440" bIns="46000" anchor="t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6B6D4"/>
                </a:solidFill>
              </a:rPr>
              <a:t>BUILD IT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dirty="0">
                <a:solidFill>
                  <a:srgbClr val="334155"/>
                </a:solidFill>
              </a:rPr>
              <a:t>Create the automation yourself, step by step</a:t>
            </a:r>
          </a:p>
        </p:txBody>
      </p:sp>
      <p:sp>
        <p:nvSpPr>
          <p:cNvPr id="66" name="s67"/>
          <p:cNvSpPr/>
          <p:nvPr/>
        </p:nvSpPr>
        <p:spPr>
          <a:xfrm>
            <a:off x="8229600" y="2133600"/>
            <a:ext cx="3492500" cy="299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6000" rIns="91440" bIns="46000" anchor="t"/>
          <a:lstStyle/>
          <a:p>
            <a:endParaRPr/>
          </a:p>
        </p:txBody>
      </p:sp>
      <p:sp>
        <p:nvSpPr>
          <p:cNvPr id="67" name="s68"/>
          <p:cNvSpPr/>
          <p:nvPr/>
        </p:nvSpPr>
        <p:spPr>
          <a:xfrm>
            <a:off x="9594850" y="2463800"/>
            <a:ext cx="762000" cy="762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46000" rIns="91440" bIns="46000" anchor="ctr"/>
          <a:lstStyle/>
          <a:p>
            <a:pPr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8" name="s69"/>
          <p:cNvSpPr/>
          <p:nvPr/>
        </p:nvSpPr>
        <p:spPr>
          <a:xfrm>
            <a:off x="8458200" y="3429000"/>
            <a:ext cx="3035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6000" rIns="91440" bIns="46000" anchor="t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0B981"/>
                </a:solidFill>
              </a:rPr>
              <a:t>CONNECT IT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dirty="0">
                <a:solidFill>
                  <a:srgbClr val="334155"/>
                </a:solidFill>
              </a:rPr>
              <a:t>Wire it to real tools — Telegram, Sheets, APIs</a:t>
            </a:r>
          </a:p>
        </p:txBody>
      </p:sp>
      <p:sp>
        <p:nvSpPr>
          <p:cNvPr id="69" name="s70"/>
          <p:cNvSpPr/>
          <p:nvPr/>
        </p:nvSpPr>
        <p:spPr>
          <a:xfrm>
            <a:off x="635000" y="5461000"/>
            <a:ext cx="110998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91440" tIns="46000" rIns="91440" bIns="46000" anchor="ctr"/>
          <a:lstStyle/>
          <a:p>
            <a:pPr algn="ctr">
              <a:buNone/>
            </a:pPr>
            <a:r>
              <a:rPr lang="en-US" sz="1600" b="1" dirty="0">
                <a:solidFill>
                  <a:srgbClr val="4F46E5"/>
                </a:solidFill>
              </a:rPr>
              <a:t>Every activity builds on the last — by Day 3 you're extending your own earlier work.</a:t>
            </a:r>
          </a:p>
        </p:txBody>
      </p:sp>
    </p:spTree>
    <p:extLst>
      <p:ext uri="{BB962C8B-B14F-4D97-AF65-F5344CB8AC3E}">
        <p14:creationId xmlns:p14="http://schemas.microsoft.com/office/powerpoint/2010/main" val="2041355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anel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gradFill>
            <a:gsLst>
              <a:gs pos="0">
                <a:srgbClr val="4F46E5"/>
              </a:gs>
              <a:gs pos="100000">
                <a:srgbClr val="4338CA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t"/>
          <p:cNvSpPr txBox="1"/>
          <p:nvPr/>
        </p:nvSpPr>
        <p:spPr>
          <a:xfrm>
            <a:off x="609600" y="1778000"/>
            <a:ext cx="3556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spc="100" dirty="0">
                <a:solidFill>
                  <a:srgbClr val="C7D2FE"/>
                </a:solidFill>
              </a:rPr>
              <a:t>DAY ONE</a:t>
            </a:r>
          </a:p>
        </p:txBody>
      </p:sp>
      <p:sp>
        <p:nvSpPr>
          <p:cNvPr id="72" name="t"/>
          <p:cNvSpPr txBox="1"/>
          <p:nvPr/>
        </p:nvSpPr>
        <p:spPr>
          <a:xfrm>
            <a:off x="508000" y="2133600"/>
            <a:ext cx="38100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0" b="1" spc="0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3" name="t"/>
          <p:cNvSpPr txBox="1"/>
          <p:nvPr/>
        </p:nvSpPr>
        <p:spPr>
          <a:xfrm>
            <a:off x="609600" y="4368800"/>
            <a:ext cx="355600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800" spc="100" dirty="0">
                <a:solidFill>
                  <a:srgbClr val="E0E7FF"/>
                </a:solidFill>
              </a:rPr>
              <a:t>Foundations &amp; first automations</a:t>
            </a:r>
          </a:p>
        </p:txBody>
      </p:sp>
      <p:sp>
        <p:nvSpPr>
          <p:cNvPr id="74" name="t"/>
          <p:cNvSpPr txBox="1"/>
          <p:nvPr/>
        </p:nvSpPr>
        <p:spPr>
          <a:xfrm>
            <a:off x="5207000" y="1905000"/>
            <a:ext cx="6477000" cy="190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spcAft>
                <a:spcPts val="200"/>
              </a:spcAft>
              <a:buNone/>
            </a:pPr>
            <a:r>
              <a:rPr lang="en-US" sz="1400" b="1" spc="100" dirty="0">
                <a:solidFill>
                  <a:srgbClr val="4F46E5"/>
                </a:solidFill>
              </a:rPr>
              <a:t>MORNING</a:t>
            </a:r>
          </a:p>
          <a:p>
            <a:pPr>
              <a:spcAft>
                <a:spcPts val="100"/>
              </a:spcAft>
              <a:buNone/>
            </a:pPr>
            <a:r>
              <a:rPr lang="en-US" sz="2600" b="1" spc="100" dirty="0">
                <a:solidFill>
                  <a:srgbClr val="1E293B"/>
                </a:solidFill>
              </a:rPr>
              <a:t>Topic 1 · Flows</a:t>
            </a:r>
          </a:p>
          <a:p>
            <a:pPr>
              <a:buNone/>
            </a:pPr>
            <a:r>
              <a:rPr lang="en-US" sz="1700" spc="100" dirty="0">
                <a:solidFill>
                  <a:srgbClr val="64748B"/>
                </a:solidFill>
              </a:rPr>
              <a:t>Forms, QR codes, data capture &amp; conditional logic</a:t>
            </a:r>
          </a:p>
        </p:txBody>
      </p:sp>
      <p:sp>
        <p:nvSpPr>
          <p:cNvPr id="75" name="t"/>
          <p:cNvSpPr txBox="1"/>
          <p:nvPr/>
        </p:nvSpPr>
        <p:spPr>
          <a:xfrm>
            <a:off x="5207000" y="4191000"/>
            <a:ext cx="6477000" cy="190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spcAft>
                <a:spcPts val="200"/>
              </a:spcAft>
              <a:buNone/>
            </a:pPr>
            <a:r>
              <a:rPr lang="en-US" sz="1400" b="1" spc="100" dirty="0">
                <a:solidFill>
                  <a:srgbClr val="06B6D4"/>
                </a:solidFill>
              </a:rPr>
              <a:t>AFTERNOON</a:t>
            </a:r>
          </a:p>
          <a:p>
            <a:pPr>
              <a:spcAft>
                <a:spcPts val="100"/>
              </a:spcAft>
              <a:buNone/>
            </a:pPr>
            <a:r>
              <a:rPr lang="en-US" sz="2600" b="1" spc="100" dirty="0">
                <a:solidFill>
                  <a:srgbClr val="1E293B"/>
                </a:solidFill>
              </a:rPr>
              <a:t>Topic 2 · AI Agents &amp; RAG</a:t>
            </a:r>
          </a:p>
          <a:p>
            <a:pPr>
              <a:buNone/>
            </a:pPr>
            <a:r>
              <a:rPr lang="en-US" sz="1700" spc="100" dirty="0">
                <a:solidFill>
                  <a:srgbClr val="64748B"/>
                </a:solidFill>
              </a:rPr>
              <a:t>LLMs, memory, tools, retrieval &amp; a FAQ bot</a:t>
            </a:r>
          </a:p>
        </p:txBody>
      </p:sp>
    </p:spTree>
    <p:extLst>
      <p:ext uri="{BB962C8B-B14F-4D97-AF65-F5344CB8AC3E}">
        <p14:creationId xmlns:p14="http://schemas.microsoft.com/office/powerpoint/2010/main" val="334959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1 · Flows</a:t>
            </a:r>
          </a:p>
        </p:txBody>
      </p:sp>
      <p:sp>
        <p:nvSpPr>
          <p:cNvPr id="80" name="s"/>
          <p:cNvSpPr/>
          <p:nvPr/>
        </p:nvSpPr>
        <p:spPr>
          <a:xfrm>
            <a:off x="635000" y="1803400"/>
            <a:ext cx="10414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/>
          <a:lstStyle/>
          <a:p>
            <a:pPr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</a:rPr>
              <a:t>A flow is an automated sequence: a trigger kicks it off, then actions run step by step — no code required.</a:t>
            </a:r>
          </a:p>
        </p:txBody>
      </p:sp>
      <p:sp>
        <p:nvSpPr>
          <p:cNvPr id="8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Trigger</a:t>
            </a:r>
          </a:p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An event that starts the flow — a form submitted or message received</a:t>
            </a:r>
          </a:p>
        </p:txBody>
      </p:sp>
      <p:sp>
        <p:nvSpPr>
          <p:cNvPr id="8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Action</a:t>
            </a:r>
          </a:p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A task the flow runs — send an email, save a row, post a reply</a:t>
            </a:r>
          </a:p>
        </p:txBody>
      </p:sp>
      <p:sp>
        <p:nvSpPr>
          <p:cNvPr id="8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8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Data</a:t>
            </a:r>
          </a:p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Information passed from one step to the next</a:t>
            </a:r>
          </a:p>
        </p:txBody>
      </p:sp>
      <p:sp>
        <p:nvSpPr>
          <p:cNvPr id="9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9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Logic</a:t>
            </a:r>
          </a:p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Rules that branch the flow — if Yes do this, if No do that</a:t>
            </a:r>
          </a:p>
        </p:txBody>
      </p:sp>
      <p:pic>
        <p:nvPicPr>
          <p:cNvPr id="93" name="Graphic 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60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n8n Workflow Editor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E521C8-4BC0-43A6-8A16-0CF2B7F52F88}"/>
              </a:ext>
            </a:extLst>
          </p:cNvPr>
          <p:cNvSpPr/>
          <p:nvPr/>
        </p:nvSpPr>
        <p:spPr>
          <a:xfrm>
            <a:off x="9779000" y="660400"/>
            <a:ext cx="1651000" cy="381000"/>
          </a:xfrm>
          <a:prstGeom prst="roundRect">
            <a:avLst/>
          </a:prstGeom>
          <a:solidFill>
            <a:srgbClr val="FEF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n8n BASICS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D01E87-F9CF-4ED8-91A2-4429F22D1982}"/>
              </a:ext>
            </a:extLst>
          </p:cNvPr>
          <p:cNvSpPr txBox="1"/>
          <p:nvPr/>
        </p:nvSpPr>
        <p:spPr>
          <a:xfrm>
            <a:off x="635000" y="1778000"/>
            <a:ext cx="108966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Build flows visually — drag nodes onto the canvas, wire them together, and run. No code.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B76FE50-BE36-4109-BE9C-D74A7E498B2B}"/>
              </a:ext>
            </a:extLst>
          </p:cNvPr>
          <p:cNvSpPr/>
          <p:nvPr/>
        </p:nvSpPr>
        <p:spPr>
          <a:xfrm>
            <a:off x="635000" y="2540000"/>
            <a:ext cx="4191000" cy="8382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C17E96-DD8D-481C-AE02-A785312ECAC1}"/>
              </a:ext>
            </a:extLst>
          </p:cNvPr>
          <p:cNvSpPr/>
          <p:nvPr/>
        </p:nvSpPr>
        <p:spPr>
          <a:xfrm>
            <a:off x="635000" y="2540000"/>
            <a:ext cx="76200" cy="8382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D807E-9D57-4C9C-ADBB-9BB6835FDB52}"/>
              </a:ext>
            </a:extLst>
          </p:cNvPr>
          <p:cNvSpPr txBox="1"/>
          <p:nvPr/>
        </p:nvSpPr>
        <p:spPr>
          <a:xfrm>
            <a:off x="889000" y="2654300"/>
            <a:ext cx="3175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4F46E5"/>
                </a:solidFill>
              </a:rPr>
              <a:t>Canvas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Infinite workspace for your nodes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2681D34-E054-4C67-8644-EFE2D3B17FC9}"/>
              </a:ext>
            </a:extLst>
          </p:cNvPr>
          <p:cNvSpPr/>
          <p:nvPr/>
        </p:nvSpPr>
        <p:spPr>
          <a:xfrm>
            <a:off x="635000" y="3505200"/>
            <a:ext cx="4191000" cy="8382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5E16BF-7981-415F-AC64-A041124B8FA2}"/>
              </a:ext>
            </a:extLst>
          </p:cNvPr>
          <p:cNvSpPr/>
          <p:nvPr/>
        </p:nvSpPr>
        <p:spPr>
          <a:xfrm>
            <a:off x="635000" y="3505200"/>
            <a:ext cx="76200" cy="8382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3AE78E-A87D-4159-98E9-50EAFCFC446E}"/>
              </a:ext>
            </a:extLst>
          </p:cNvPr>
          <p:cNvSpPr txBox="1"/>
          <p:nvPr/>
        </p:nvSpPr>
        <p:spPr>
          <a:xfrm>
            <a:off x="889000" y="3619500"/>
            <a:ext cx="3175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6B6D4"/>
                </a:solidFill>
              </a:rPr>
              <a:t>Nodes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Each step — add with the + button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063B52-E0DA-448F-A5D2-1F9ED1CDC185}"/>
              </a:ext>
            </a:extLst>
          </p:cNvPr>
          <p:cNvSpPr/>
          <p:nvPr/>
        </p:nvSpPr>
        <p:spPr>
          <a:xfrm>
            <a:off x="635000" y="4470400"/>
            <a:ext cx="4191000" cy="8382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81B68-4FD9-4C8F-86E5-4716709FABC3}"/>
              </a:ext>
            </a:extLst>
          </p:cNvPr>
          <p:cNvSpPr/>
          <p:nvPr/>
        </p:nvSpPr>
        <p:spPr>
          <a:xfrm>
            <a:off x="635000" y="4470400"/>
            <a:ext cx="76200" cy="8382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4157E-13AA-42DC-B147-5A902571AA8E}"/>
              </a:ext>
            </a:extLst>
          </p:cNvPr>
          <p:cNvSpPr txBox="1"/>
          <p:nvPr/>
        </p:nvSpPr>
        <p:spPr>
          <a:xfrm>
            <a:off x="889000" y="4584700"/>
            <a:ext cx="3175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0B981"/>
                </a:solidFill>
              </a:rPr>
              <a:t>Connections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Wires pass data downstream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8BE932A-456B-4AA5-BF96-F524E7AE1B7E}"/>
              </a:ext>
            </a:extLst>
          </p:cNvPr>
          <p:cNvSpPr/>
          <p:nvPr/>
        </p:nvSpPr>
        <p:spPr>
          <a:xfrm>
            <a:off x="635000" y="5435600"/>
            <a:ext cx="4191000" cy="8382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9CCCEE-98FB-4A87-84A1-801260F9B012}"/>
              </a:ext>
            </a:extLst>
          </p:cNvPr>
          <p:cNvSpPr/>
          <p:nvPr/>
        </p:nvSpPr>
        <p:spPr>
          <a:xfrm>
            <a:off x="635000" y="5435600"/>
            <a:ext cx="76200" cy="838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73BB02-8251-4479-9B17-BC6EB840E3DE}"/>
              </a:ext>
            </a:extLst>
          </p:cNvPr>
          <p:cNvSpPr txBox="1"/>
          <p:nvPr/>
        </p:nvSpPr>
        <p:spPr>
          <a:xfrm>
            <a:off x="889000" y="5549900"/>
            <a:ext cx="3175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59E0B"/>
                </a:solidFill>
              </a:rPr>
              <a:t>Execute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Run the flow and watch it work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7233AE3-1089-47B2-8A61-BE3E9A8812E1}"/>
              </a:ext>
            </a:extLst>
          </p:cNvPr>
          <p:cNvSpPr/>
          <p:nvPr/>
        </p:nvSpPr>
        <p:spPr>
          <a:xfrm>
            <a:off x="5207000" y="2476500"/>
            <a:ext cx="6350000" cy="3962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F0DF6B-F68F-4E31-B2CB-745D6E23FFAF}"/>
              </a:ext>
            </a:extLst>
          </p:cNvPr>
          <p:cNvSpPr txBox="1"/>
          <p:nvPr/>
        </p:nvSpPr>
        <p:spPr>
          <a:xfrm>
            <a:off x="5486400" y="2641600"/>
            <a:ext cx="317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300" b="1" dirty="0">
                <a:solidFill>
                  <a:srgbClr val="64748B"/>
                </a:solidFill>
              </a:rPr>
              <a:t>WORKFLOW CANVAS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8A3179F-C92B-4E65-B54F-3A8C9B0CBCB4}"/>
              </a:ext>
            </a:extLst>
          </p:cNvPr>
          <p:cNvSpPr/>
          <p:nvPr/>
        </p:nvSpPr>
        <p:spPr>
          <a:xfrm>
            <a:off x="9804400" y="2616200"/>
            <a:ext cx="1473200" cy="355600"/>
          </a:xfrm>
          <a:prstGeom prst="round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Execute</a:t>
            </a:r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EE1D875-2260-4660-985D-977CA1070A85}"/>
              </a:ext>
            </a:extLst>
          </p:cNvPr>
          <p:cNvSpPr/>
          <p:nvPr/>
        </p:nvSpPr>
        <p:spPr>
          <a:xfrm rot="5400000">
            <a:off x="9918700" y="2705100"/>
            <a:ext cx="139700" cy="165100"/>
          </a:xfrm>
          <a:prstGeom prst="triangl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E04DEA8-F5FE-467D-8739-694728C23CA0}"/>
              </a:ext>
            </a:extLst>
          </p:cNvPr>
          <p:cNvSpPr/>
          <p:nvPr/>
        </p:nvSpPr>
        <p:spPr>
          <a:xfrm>
            <a:off x="5588000" y="4191000"/>
            <a:ext cx="1524000" cy="914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E8AC59-E455-442F-9AD2-C828E0DE39E5}"/>
              </a:ext>
            </a:extLst>
          </p:cNvPr>
          <p:cNvSpPr/>
          <p:nvPr/>
        </p:nvSpPr>
        <p:spPr>
          <a:xfrm>
            <a:off x="5588000" y="4191000"/>
            <a:ext cx="76200" cy="9144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BB606A-530D-480A-B3E4-919E8082845F}"/>
              </a:ext>
            </a:extLst>
          </p:cNvPr>
          <p:cNvSpPr txBox="1"/>
          <p:nvPr/>
        </p:nvSpPr>
        <p:spPr>
          <a:xfrm>
            <a:off x="5791200" y="4368800"/>
            <a:ext cx="12446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4F46E5"/>
                </a:solidFill>
              </a:rPr>
              <a:t>Trigger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starts flow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36F552-F380-4826-BC49-2C0386F6F5C9}"/>
              </a:ext>
            </a:extLst>
          </p:cNvPr>
          <p:cNvSpPr/>
          <p:nvPr/>
        </p:nvSpPr>
        <p:spPr>
          <a:xfrm>
            <a:off x="7620000" y="4191000"/>
            <a:ext cx="1524000" cy="914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F50207-E4C6-4C76-B40E-A1C85A067DD5}"/>
              </a:ext>
            </a:extLst>
          </p:cNvPr>
          <p:cNvSpPr/>
          <p:nvPr/>
        </p:nvSpPr>
        <p:spPr>
          <a:xfrm>
            <a:off x="7620000" y="4191000"/>
            <a:ext cx="76200" cy="9144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A06790-48A3-412D-B966-AE3C67651031}"/>
              </a:ext>
            </a:extLst>
          </p:cNvPr>
          <p:cNvSpPr txBox="1"/>
          <p:nvPr/>
        </p:nvSpPr>
        <p:spPr>
          <a:xfrm>
            <a:off x="7823200" y="4368800"/>
            <a:ext cx="12446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6B6D4"/>
                </a:solidFill>
              </a:rPr>
              <a:t>Action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does work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EA29973-1120-4EC5-A24A-D05B804ED1D3}"/>
              </a:ext>
            </a:extLst>
          </p:cNvPr>
          <p:cNvSpPr/>
          <p:nvPr/>
        </p:nvSpPr>
        <p:spPr>
          <a:xfrm>
            <a:off x="9652000" y="4191000"/>
            <a:ext cx="1524000" cy="914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21D47C-5782-49F4-80A0-044CD8930C63}"/>
              </a:ext>
            </a:extLst>
          </p:cNvPr>
          <p:cNvSpPr/>
          <p:nvPr/>
        </p:nvSpPr>
        <p:spPr>
          <a:xfrm>
            <a:off x="9652000" y="4191000"/>
            <a:ext cx="76200" cy="9144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F5008F-A5CF-4DEB-AE5B-6249EE57C460}"/>
              </a:ext>
            </a:extLst>
          </p:cNvPr>
          <p:cNvSpPr txBox="1"/>
          <p:nvPr/>
        </p:nvSpPr>
        <p:spPr>
          <a:xfrm>
            <a:off x="9855200" y="4368800"/>
            <a:ext cx="12446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0B981"/>
                </a:solidFill>
              </a:rPr>
              <a:t>Result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output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F375E1C-9889-462E-9A0F-92BE9D03E7DC}"/>
              </a:ext>
            </a:extLst>
          </p:cNvPr>
          <p:cNvSpPr/>
          <p:nvPr/>
        </p:nvSpPr>
        <p:spPr>
          <a:xfrm>
            <a:off x="7188200" y="4470400"/>
            <a:ext cx="355600" cy="3302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06AEB89-4EA7-4C7D-8370-E2C1A56384C3}"/>
              </a:ext>
            </a:extLst>
          </p:cNvPr>
          <p:cNvSpPr/>
          <p:nvPr/>
        </p:nvSpPr>
        <p:spPr>
          <a:xfrm>
            <a:off x="9220200" y="4470400"/>
            <a:ext cx="355600" cy="3302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AFF5EF-A523-405E-B384-8E0AEE088668}"/>
              </a:ext>
            </a:extLst>
          </p:cNvPr>
          <p:cNvSpPr txBox="1"/>
          <p:nvPr/>
        </p:nvSpPr>
        <p:spPr>
          <a:xfrm>
            <a:off x="5588000" y="5334000"/>
            <a:ext cx="558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Data flows from one node to the next  →</a:t>
            </a:r>
          </a:p>
        </p:txBody>
      </p:sp>
    </p:spTree>
    <p:extLst>
      <p:ext uri="{BB962C8B-B14F-4D97-AF65-F5344CB8AC3E}">
        <p14:creationId xmlns:p14="http://schemas.microsoft.com/office/powerpoint/2010/main" val="2745323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Triggers · What Starts a 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81B2D2-6E99-41EA-8446-E00EADF27DB9}"/>
              </a:ext>
            </a:extLst>
          </p:cNvPr>
          <p:cNvSpPr/>
          <p:nvPr/>
        </p:nvSpPr>
        <p:spPr>
          <a:xfrm>
            <a:off x="9779000" y="660400"/>
            <a:ext cx="1651000" cy="381000"/>
          </a:xfrm>
          <a:prstGeom prst="roundRect">
            <a:avLst/>
          </a:prstGeom>
          <a:solidFill>
            <a:srgbClr val="FEF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n8n BASICS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99A86-A1DE-4D8F-AB57-1A84600C6C51}"/>
              </a:ext>
            </a:extLst>
          </p:cNvPr>
          <p:cNvSpPr txBox="1"/>
          <p:nvPr/>
        </p:nvSpPr>
        <p:spPr>
          <a:xfrm>
            <a:off x="635000" y="1778000"/>
            <a:ext cx="108966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Every flow begins with one trigger — the event n8n listens for. Pick the one that fits.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18DCDF-847D-47B8-8BB0-D3DC0FFA2669}"/>
              </a:ext>
            </a:extLst>
          </p:cNvPr>
          <p:cNvSpPr/>
          <p:nvPr/>
        </p:nvSpPr>
        <p:spPr>
          <a:xfrm>
            <a:off x="635000" y="2540000"/>
            <a:ext cx="3581400" cy="685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279A3D-4B22-4EFC-9AC1-6C52D51BDB2C}"/>
              </a:ext>
            </a:extLst>
          </p:cNvPr>
          <p:cNvSpPr/>
          <p:nvPr/>
        </p:nvSpPr>
        <p:spPr>
          <a:xfrm>
            <a:off x="635000" y="2540000"/>
            <a:ext cx="76200" cy="6858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2A6BA-1E01-4D00-BFAE-41AA0A2CD643}"/>
              </a:ext>
            </a:extLst>
          </p:cNvPr>
          <p:cNvSpPr txBox="1"/>
          <p:nvPr/>
        </p:nvSpPr>
        <p:spPr>
          <a:xfrm>
            <a:off x="889000" y="2628900"/>
            <a:ext cx="26035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4F46E5"/>
                </a:solidFill>
              </a:rPr>
              <a:t>Manual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click to run a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F10C00-59D1-4195-8E83-DFA1E2BC2EA9}"/>
              </a:ext>
            </a:extLst>
          </p:cNvPr>
          <p:cNvSpPr/>
          <p:nvPr/>
        </p:nvSpPr>
        <p:spPr>
          <a:xfrm>
            <a:off x="635000" y="3327400"/>
            <a:ext cx="3581400" cy="685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BB238B-DF75-4179-A278-EED96DFC5B0D}"/>
              </a:ext>
            </a:extLst>
          </p:cNvPr>
          <p:cNvSpPr/>
          <p:nvPr/>
        </p:nvSpPr>
        <p:spPr>
          <a:xfrm>
            <a:off x="635000" y="3327400"/>
            <a:ext cx="76200" cy="6858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B8823-A3FE-4772-8307-367695378EA8}"/>
              </a:ext>
            </a:extLst>
          </p:cNvPr>
          <p:cNvSpPr txBox="1"/>
          <p:nvPr/>
        </p:nvSpPr>
        <p:spPr>
          <a:xfrm>
            <a:off x="889000" y="3416300"/>
            <a:ext cx="26035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6B6D4"/>
                </a:solidFill>
              </a:rPr>
              <a:t>Webhook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an incoming HTTP call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258951-6330-4A25-9D7A-42D542638E72}"/>
              </a:ext>
            </a:extLst>
          </p:cNvPr>
          <p:cNvSpPr/>
          <p:nvPr/>
        </p:nvSpPr>
        <p:spPr>
          <a:xfrm>
            <a:off x="635000" y="4114800"/>
            <a:ext cx="3581400" cy="685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A2226F-8CBD-4921-99E7-3BB56572866A}"/>
              </a:ext>
            </a:extLst>
          </p:cNvPr>
          <p:cNvSpPr/>
          <p:nvPr/>
        </p:nvSpPr>
        <p:spPr>
          <a:xfrm>
            <a:off x="635000" y="4114800"/>
            <a:ext cx="76200" cy="685800"/>
          </a:xfrm>
          <a:prstGeom prst="rect">
            <a:avLst/>
          </a:prstGeom>
          <a:solidFill>
            <a:srgbClr val="8B5C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2D4037-F296-49C3-8BA5-B2B39879F53C}"/>
              </a:ext>
            </a:extLst>
          </p:cNvPr>
          <p:cNvSpPr txBox="1"/>
          <p:nvPr/>
        </p:nvSpPr>
        <p:spPr>
          <a:xfrm>
            <a:off x="889000" y="4203700"/>
            <a:ext cx="26035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B5CF6"/>
                </a:solidFill>
              </a:rPr>
              <a:t>Schedule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 time or cron interval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E9B3F29-EF2B-4297-9A45-7EFD71F8E8A0}"/>
              </a:ext>
            </a:extLst>
          </p:cNvPr>
          <p:cNvSpPr/>
          <p:nvPr/>
        </p:nvSpPr>
        <p:spPr>
          <a:xfrm>
            <a:off x="635000" y="4902200"/>
            <a:ext cx="3581400" cy="685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DBE03A-FFF3-4D84-9E23-5AFAC9217D0F}"/>
              </a:ext>
            </a:extLst>
          </p:cNvPr>
          <p:cNvSpPr/>
          <p:nvPr/>
        </p:nvSpPr>
        <p:spPr>
          <a:xfrm>
            <a:off x="635000" y="4902200"/>
            <a:ext cx="76200" cy="6858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91D0E3-7631-43ED-A091-AC22FD8E156B}"/>
              </a:ext>
            </a:extLst>
          </p:cNvPr>
          <p:cNvSpPr txBox="1"/>
          <p:nvPr/>
        </p:nvSpPr>
        <p:spPr>
          <a:xfrm>
            <a:off x="889000" y="4991100"/>
            <a:ext cx="26035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0B981"/>
                </a:solidFill>
              </a:rPr>
              <a:t>Form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 form is submitted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767EF4F-CE2F-4AAB-92A6-700AB36F41C3}"/>
              </a:ext>
            </a:extLst>
          </p:cNvPr>
          <p:cNvSpPr/>
          <p:nvPr/>
        </p:nvSpPr>
        <p:spPr>
          <a:xfrm>
            <a:off x="635000" y="5689600"/>
            <a:ext cx="3581400" cy="6858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D9CDC9-DB05-4F7A-A0A2-3D51D036A440}"/>
              </a:ext>
            </a:extLst>
          </p:cNvPr>
          <p:cNvSpPr/>
          <p:nvPr/>
        </p:nvSpPr>
        <p:spPr>
          <a:xfrm>
            <a:off x="635000" y="5689600"/>
            <a:ext cx="76200" cy="685800"/>
          </a:xfrm>
          <a:prstGeom prst="rect">
            <a:avLst/>
          </a:prstGeom>
          <a:solidFill>
            <a:srgbClr val="EC48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861E68-2877-4A45-8117-0F85D4ADDCC1}"/>
              </a:ext>
            </a:extLst>
          </p:cNvPr>
          <p:cNvSpPr txBox="1"/>
          <p:nvPr/>
        </p:nvSpPr>
        <p:spPr>
          <a:xfrm>
            <a:off x="889000" y="5778500"/>
            <a:ext cx="26035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500" b="1" dirty="0">
                <a:solidFill>
                  <a:srgbClr val="EC4899"/>
                </a:solidFill>
              </a:rPr>
              <a:t>Chat</a:t>
            </a:r>
          </a:p>
          <a:p>
            <a:pPr>
              <a:spcAft>
                <a:spcPts val="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 new chat message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336FECE-E971-4C63-A0D1-1AFBA20950E0}"/>
              </a:ext>
            </a:extLst>
          </p:cNvPr>
          <p:cNvSpPr/>
          <p:nvPr/>
        </p:nvSpPr>
        <p:spPr>
          <a:xfrm>
            <a:off x="4368800" y="2565400"/>
            <a:ext cx="279400" cy="3810000"/>
          </a:xfrm>
          <a:prstGeom prst="rightBrace">
            <a:avLst/>
          </a:prstGeom>
          <a:noFill/>
          <a:ln w="19050" cap="flat" cmpd="sng" algn="ctr">
            <a:solidFill>
              <a:srgbClr val="94A3B8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C17AE533-5F16-4754-8369-A27D899F5552}"/>
              </a:ext>
            </a:extLst>
          </p:cNvPr>
          <p:cNvSpPr/>
          <p:nvPr/>
        </p:nvSpPr>
        <p:spPr>
          <a:xfrm>
            <a:off x="4800600" y="4089400"/>
            <a:ext cx="812800" cy="7366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012270F-0ED3-44E6-964F-DC4225845B2E}"/>
              </a:ext>
            </a:extLst>
          </p:cNvPr>
          <p:cNvSpPr/>
          <p:nvPr/>
        </p:nvSpPr>
        <p:spPr>
          <a:xfrm>
            <a:off x="5791200" y="3657600"/>
            <a:ext cx="3022600" cy="1625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F09851-6614-488F-8115-42D42DD8D4BC}"/>
              </a:ext>
            </a:extLst>
          </p:cNvPr>
          <p:cNvSpPr/>
          <p:nvPr/>
        </p:nvSpPr>
        <p:spPr>
          <a:xfrm>
            <a:off x="5791200" y="3657600"/>
            <a:ext cx="76200" cy="16256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3D64AF-B2DA-4BFD-947C-42F5861FD6A4}"/>
              </a:ext>
            </a:extLst>
          </p:cNvPr>
          <p:cNvSpPr txBox="1"/>
          <p:nvPr/>
        </p:nvSpPr>
        <p:spPr>
          <a:xfrm>
            <a:off x="6045200" y="3962400"/>
            <a:ext cx="2540000" cy="1041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334155"/>
                </a:solidFill>
              </a:rPr>
              <a:t>Flow runs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actions execute in order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E5D3619D-F66F-46CF-BF27-0093AA5A3D40}"/>
              </a:ext>
            </a:extLst>
          </p:cNvPr>
          <p:cNvSpPr/>
          <p:nvPr/>
        </p:nvSpPr>
        <p:spPr>
          <a:xfrm>
            <a:off x="8940800" y="4191000"/>
            <a:ext cx="533400" cy="558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1211C12-2D76-4038-8A3D-0336C95797A5}"/>
              </a:ext>
            </a:extLst>
          </p:cNvPr>
          <p:cNvSpPr/>
          <p:nvPr/>
        </p:nvSpPr>
        <p:spPr>
          <a:xfrm>
            <a:off x="9626600" y="3657600"/>
            <a:ext cx="1854200" cy="1625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ED8049-C992-4A87-900C-DE5D806968D3}"/>
              </a:ext>
            </a:extLst>
          </p:cNvPr>
          <p:cNvSpPr/>
          <p:nvPr/>
        </p:nvSpPr>
        <p:spPr>
          <a:xfrm>
            <a:off x="9626600" y="3657600"/>
            <a:ext cx="76200" cy="16256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8385D7-BAE0-4215-B46A-3117190CEB55}"/>
              </a:ext>
            </a:extLst>
          </p:cNvPr>
          <p:cNvSpPr txBox="1"/>
          <p:nvPr/>
        </p:nvSpPr>
        <p:spPr>
          <a:xfrm>
            <a:off x="9855200" y="3962400"/>
            <a:ext cx="1498600" cy="1041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Result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saved or sent</a:t>
            </a:r>
          </a:p>
        </p:txBody>
      </p:sp>
    </p:spTree>
    <p:extLst>
      <p:ext uri="{BB962C8B-B14F-4D97-AF65-F5344CB8AC3E}">
        <p14:creationId xmlns:p14="http://schemas.microsoft.com/office/powerpoint/2010/main" val="1153005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Action Nodes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63DB97-4092-4492-AD6E-A6D12189C6D6}"/>
              </a:ext>
            </a:extLst>
          </p:cNvPr>
          <p:cNvSpPr/>
          <p:nvPr/>
        </p:nvSpPr>
        <p:spPr>
          <a:xfrm>
            <a:off x="9779000" y="660400"/>
            <a:ext cx="1651000" cy="381000"/>
          </a:xfrm>
          <a:prstGeom prst="roundRect">
            <a:avLst/>
          </a:prstGeom>
          <a:solidFill>
            <a:srgbClr val="FEF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n8n BASICS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0FC9B4-B762-42D0-A052-941BC455F8F0}"/>
              </a:ext>
            </a:extLst>
          </p:cNvPr>
          <p:cNvSpPr txBox="1"/>
          <p:nvPr/>
        </p:nvSpPr>
        <p:spPr>
          <a:xfrm>
            <a:off x="635000" y="1778000"/>
            <a:ext cx="108966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After the trigger, action nodes do the work — fetch, transform, and send data onward.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F3CF3E-9E1F-4880-B74D-BEA830D54F6A}"/>
              </a:ext>
            </a:extLst>
          </p:cNvPr>
          <p:cNvSpPr/>
          <p:nvPr/>
        </p:nvSpPr>
        <p:spPr>
          <a:xfrm>
            <a:off x="635000" y="3327400"/>
            <a:ext cx="1854200" cy="2133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0EAD9B-D11A-46D1-B502-886C1C511810}"/>
              </a:ext>
            </a:extLst>
          </p:cNvPr>
          <p:cNvSpPr/>
          <p:nvPr/>
        </p:nvSpPr>
        <p:spPr>
          <a:xfrm>
            <a:off x="635000" y="3327400"/>
            <a:ext cx="1854200" cy="762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B7CB16-3043-4772-9342-927E364BE890}"/>
              </a:ext>
            </a:extLst>
          </p:cNvPr>
          <p:cNvSpPr txBox="1"/>
          <p:nvPr/>
        </p:nvSpPr>
        <p:spPr>
          <a:xfrm>
            <a:off x="762000" y="3886200"/>
            <a:ext cx="16002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6B6D4"/>
                </a:solidFill>
              </a:rPr>
              <a:t>HTTP Request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call any API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F08F95-137C-459D-BD32-72F8CF43EE8D}"/>
              </a:ext>
            </a:extLst>
          </p:cNvPr>
          <p:cNvSpPr/>
          <p:nvPr/>
        </p:nvSpPr>
        <p:spPr>
          <a:xfrm>
            <a:off x="2844800" y="3327400"/>
            <a:ext cx="1854200" cy="2133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0B55CA-41D0-4FEF-B544-EC88D0B9C65E}"/>
              </a:ext>
            </a:extLst>
          </p:cNvPr>
          <p:cNvSpPr/>
          <p:nvPr/>
        </p:nvSpPr>
        <p:spPr>
          <a:xfrm>
            <a:off x="2844800" y="3327400"/>
            <a:ext cx="1854200" cy="762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CAA156-529C-4DEC-9DA3-24CAB323059E}"/>
              </a:ext>
            </a:extLst>
          </p:cNvPr>
          <p:cNvSpPr txBox="1"/>
          <p:nvPr/>
        </p:nvSpPr>
        <p:spPr>
          <a:xfrm>
            <a:off x="2971800" y="3886200"/>
            <a:ext cx="16002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4F46E5"/>
                </a:solidFill>
              </a:rPr>
              <a:t>Edit Fields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shape &amp; add data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EF38D7-7CA4-4101-B3B8-7960C3FE18F6}"/>
              </a:ext>
            </a:extLst>
          </p:cNvPr>
          <p:cNvSpPr/>
          <p:nvPr/>
        </p:nvSpPr>
        <p:spPr>
          <a:xfrm>
            <a:off x="5054600" y="3327400"/>
            <a:ext cx="1854200" cy="2133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E189A8-0293-432F-ACDC-827CB9225CB1}"/>
              </a:ext>
            </a:extLst>
          </p:cNvPr>
          <p:cNvSpPr/>
          <p:nvPr/>
        </p:nvSpPr>
        <p:spPr>
          <a:xfrm>
            <a:off x="5054600" y="3327400"/>
            <a:ext cx="1854200" cy="762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0427B5-08FF-4E3A-B393-A77C644308A2}"/>
              </a:ext>
            </a:extLst>
          </p:cNvPr>
          <p:cNvSpPr txBox="1"/>
          <p:nvPr/>
        </p:nvSpPr>
        <p:spPr>
          <a:xfrm>
            <a:off x="5181600" y="3886200"/>
            <a:ext cx="16002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0B981"/>
                </a:solidFill>
              </a:rPr>
              <a:t>Google Sheets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read / write rows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37D04C3-2E90-4DB3-9ED0-A41D9747042F}"/>
              </a:ext>
            </a:extLst>
          </p:cNvPr>
          <p:cNvSpPr/>
          <p:nvPr/>
        </p:nvSpPr>
        <p:spPr>
          <a:xfrm>
            <a:off x="7264400" y="3327400"/>
            <a:ext cx="1854200" cy="2133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505AD0-DDCC-4DD5-806B-9FDBE50E730F}"/>
              </a:ext>
            </a:extLst>
          </p:cNvPr>
          <p:cNvSpPr/>
          <p:nvPr/>
        </p:nvSpPr>
        <p:spPr>
          <a:xfrm>
            <a:off x="7264400" y="3327400"/>
            <a:ext cx="1854200" cy="76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E02B93-5F98-4D87-A4C2-15F746033485}"/>
              </a:ext>
            </a:extLst>
          </p:cNvPr>
          <p:cNvSpPr txBox="1"/>
          <p:nvPr/>
        </p:nvSpPr>
        <p:spPr>
          <a:xfrm>
            <a:off x="7391400" y="3886200"/>
            <a:ext cx="16002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59E0B"/>
                </a:solidFill>
              </a:rPr>
              <a:t>Send Email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notify someone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B340DB1-3C8D-42B4-ADF2-4658ABAE9795}"/>
              </a:ext>
            </a:extLst>
          </p:cNvPr>
          <p:cNvSpPr/>
          <p:nvPr/>
        </p:nvSpPr>
        <p:spPr>
          <a:xfrm>
            <a:off x="9474200" y="3327400"/>
            <a:ext cx="1854200" cy="21336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EE068A-C6C4-43F2-9C6C-DAD5FD1001E5}"/>
              </a:ext>
            </a:extLst>
          </p:cNvPr>
          <p:cNvSpPr/>
          <p:nvPr/>
        </p:nvSpPr>
        <p:spPr>
          <a:xfrm>
            <a:off x="9474200" y="3327400"/>
            <a:ext cx="1854200" cy="76200"/>
          </a:xfrm>
          <a:prstGeom prst="rect">
            <a:avLst/>
          </a:prstGeom>
          <a:solidFill>
            <a:srgbClr val="8B5C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331EB4-6C60-49F0-B34E-3F70F19F2566}"/>
              </a:ext>
            </a:extLst>
          </p:cNvPr>
          <p:cNvSpPr txBox="1"/>
          <p:nvPr/>
        </p:nvSpPr>
        <p:spPr>
          <a:xfrm>
            <a:off x="9601200" y="3886200"/>
            <a:ext cx="16002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B5CF6"/>
                </a:solidFill>
              </a:rPr>
              <a:t>Code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custom JS / Python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647C1C8-CDA7-4487-B946-CC6E517D5358}"/>
              </a:ext>
            </a:extLst>
          </p:cNvPr>
          <p:cNvSpPr/>
          <p:nvPr/>
        </p:nvSpPr>
        <p:spPr>
          <a:xfrm>
            <a:off x="2514600" y="4114800"/>
            <a:ext cx="330200" cy="558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9053AC96-F78E-4FED-8B08-B45F82694863}"/>
              </a:ext>
            </a:extLst>
          </p:cNvPr>
          <p:cNvSpPr/>
          <p:nvPr/>
        </p:nvSpPr>
        <p:spPr>
          <a:xfrm>
            <a:off x="4724400" y="4114800"/>
            <a:ext cx="330200" cy="558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F00E49B-98BA-4B81-BD98-546EA5679CA0}"/>
              </a:ext>
            </a:extLst>
          </p:cNvPr>
          <p:cNvSpPr/>
          <p:nvPr/>
        </p:nvSpPr>
        <p:spPr>
          <a:xfrm>
            <a:off x="6934200" y="4114800"/>
            <a:ext cx="330200" cy="558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3FA097-0B66-45D5-BD31-B9FC2398748C}"/>
              </a:ext>
            </a:extLst>
          </p:cNvPr>
          <p:cNvSpPr/>
          <p:nvPr/>
        </p:nvSpPr>
        <p:spPr>
          <a:xfrm>
            <a:off x="9144000" y="4114800"/>
            <a:ext cx="330200" cy="558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2A10D9-64DF-4F57-B1AA-D7242BBF01DC}"/>
              </a:ext>
            </a:extLst>
          </p:cNvPr>
          <p:cNvSpPr txBox="1"/>
          <p:nvPr/>
        </p:nvSpPr>
        <p:spPr>
          <a:xfrm>
            <a:off x="635000" y="5740400"/>
            <a:ext cx="10896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Chain as many actions as you need — each passes its data to the next.</a:t>
            </a:r>
          </a:p>
        </p:txBody>
      </p:sp>
    </p:spTree>
    <p:extLst>
      <p:ext uri="{BB962C8B-B14F-4D97-AF65-F5344CB8AC3E}">
        <p14:creationId xmlns:p14="http://schemas.microsoft.com/office/powerpoint/2010/main" val="4224232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is JSON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9E115B-E017-4840-8671-B30A22943C2A}"/>
              </a:ext>
            </a:extLst>
          </p:cNvPr>
          <p:cNvSpPr/>
          <p:nvPr/>
        </p:nvSpPr>
        <p:spPr>
          <a:xfrm>
            <a:off x="9779000" y="660400"/>
            <a:ext cx="1651000" cy="381000"/>
          </a:xfrm>
          <a:prstGeom prst="roundRect">
            <a:avLst/>
          </a:prstGeom>
          <a:solidFill>
            <a:srgbClr val="FEF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n8n BASICS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0C2A39-A3BE-4F7B-B83C-A7EE91D3EE2B}"/>
              </a:ext>
            </a:extLst>
          </p:cNvPr>
          <p:cNvSpPr txBox="1"/>
          <p:nvPr/>
        </p:nvSpPr>
        <p:spPr>
          <a:xfrm>
            <a:off x="635000" y="1778000"/>
            <a:ext cx="108966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Every node passes data as JSON — a list of items, each carrying fields the next node can read.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479A91-2178-4056-8E81-C284BF47FDD0}"/>
              </a:ext>
            </a:extLst>
          </p:cNvPr>
          <p:cNvSpPr/>
          <p:nvPr/>
        </p:nvSpPr>
        <p:spPr>
          <a:xfrm>
            <a:off x="635000" y="2616200"/>
            <a:ext cx="3810000" cy="1168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1C1BE9-C936-42C1-8D89-BFDA19E23BD9}"/>
              </a:ext>
            </a:extLst>
          </p:cNvPr>
          <p:cNvSpPr/>
          <p:nvPr/>
        </p:nvSpPr>
        <p:spPr>
          <a:xfrm>
            <a:off x="635000" y="2616200"/>
            <a:ext cx="76200" cy="11684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B59DF-549C-48D4-89E5-BCD2E944F772}"/>
              </a:ext>
            </a:extLst>
          </p:cNvPr>
          <p:cNvSpPr txBox="1"/>
          <p:nvPr/>
        </p:nvSpPr>
        <p:spPr>
          <a:xfrm>
            <a:off x="914400" y="2895600"/>
            <a:ext cx="33020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4F46E5"/>
                </a:solidFill>
              </a:rPr>
              <a:t>Set node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adds &amp; shapes fields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70920F51-F959-447F-B95C-C09EB3501EB8}"/>
              </a:ext>
            </a:extLst>
          </p:cNvPr>
          <p:cNvSpPr/>
          <p:nvPr/>
        </p:nvSpPr>
        <p:spPr>
          <a:xfrm>
            <a:off x="2286000" y="3886200"/>
            <a:ext cx="508000" cy="533400"/>
          </a:xfrm>
          <a:prstGeom prst="down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375A1A-38E1-4FE6-8487-1711F3CA5ECB}"/>
              </a:ext>
            </a:extLst>
          </p:cNvPr>
          <p:cNvSpPr/>
          <p:nvPr/>
        </p:nvSpPr>
        <p:spPr>
          <a:xfrm>
            <a:off x="635000" y="4521200"/>
            <a:ext cx="3810000" cy="1168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C42E04-F69B-4A60-AA63-364A2C45AB6F}"/>
              </a:ext>
            </a:extLst>
          </p:cNvPr>
          <p:cNvSpPr/>
          <p:nvPr/>
        </p:nvSpPr>
        <p:spPr>
          <a:xfrm>
            <a:off x="635000" y="4521200"/>
            <a:ext cx="76200" cy="11684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02741A-4827-4321-8ABE-E06ABFBF63A2}"/>
              </a:ext>
            </a:extLst>
          </p:cNvPr>
          <p:cNvSpPr txBox="1"/>
          <p:nvPr/>
        </p:nvSpPr>
        <p:spPr>
          <a:xfrm>
            <a:off x="914400" y="4800600"/>
            <a:ext cx="33020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Sheets node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reads those fields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2BA99C93-930E-4556-8C0C-C5F1CC136835}"/>
              </a:ext>
            </a:extLst>
          </p:cNvPr>
          <p:cNvSpPr/>
          <p:nvPr/>
        </p:nvSpPr>
        <p:spPr>
          <a:xfrm>
            <a:off x="4572000" y="4038600"/>
            <a:ext cx="508000" cy="5080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4B0F3-32BA-4C18-A79B-97D3C7B09ADA}"/>
              </a:ext>
            </a:extLst>
          </p:cNvPr>
          <p:cNvSpPr txBox="1"/>
          <p:nvPr/>
        </p:nvSpPr>
        <p:spPr>
          <a:xfrm>
            <a:off x="4470400" y="37338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dirty="0">
                <a:solidFill>
                  <a:srgbClr val="64748B"/>
                </a:solidFill>
              </a:rPr>
              <a:t>passes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07F710-4916-45D9-BBB4-E6F542246E62}"/>
              </a:ext>
            </a:extLst>
          </p:cNvPr>
          <p:cNvSpPr/>
          <p:nvPr/>
        </p:nvSpPr>
        <p:spPr>
          <a:xfrm>
            <a:off x="5232400" y="2489200"/>
            <a:ext cx="6299200" cy="3810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83999B-EFBA-4A7A-AB2F-F004CF1A51D2}"/>
              </a:ext>
            </a:extLst>
          </p:cNvPr>
          <p:cNvSpPr txBox="1"/>
          <p:nvPr/>
        </p:nvSpPr>
        <p:spPr>
          <a:xfrm>
            <a:off x="5511800" y="26416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200" b="1" dirty="0">
                <a:solidFill>
                  <a:srgbClr val="94A3B8"/>
                </a:solidFill>
              </a:rPr>
              <a:t>items  ·  JSON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0006B8-66D3-45DD-BA04-13FD44893959}"/>
              </a:ext>
            </a:extLst>
          </p:cNvPr>
          <p:cNvSpPr txBox="1"/>
          <p:nvPr/>
        </p:nvSpPr>
        <p:spPr>
          <a:xfrm>
            <a:off x="5511800" y="2997200"/>
            <a:ext cx="5740400" cy="317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[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{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38BDF8"/>
                </a:solidFill>
                <a:latin typeface="Consolas"/>
              </a:rPr>
              <a:t>"json"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: {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38BDF8"/>
                </a:solidFill>
                <a:latin typeface="Consolas"/>
              </a:rPr>
              <a:t>"name"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: </a:t>
            </a:r>
            <a:r>
              <a:rPr lang="en-US" sz="1400" dirty="0">
                <a:solidFill>
                  <a:srgbClr val="FBBF24"/>
                </a:solidFill>
                <a:latin typeface="Consolas"/>
              </a:rPr>
              <a:t>"Ada"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,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38BDF8"/>
                </a:solidFill>
                <a:latin typeface="Consolas"/>
              </a:rPr>
              <a:t>"email"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: </a:t>
            </a:r>
            <a:r>
              <a:rPr lang="en-US" sz="1400" dirty="0">
                <a:solidFill>
                  <a:srgbClr val="FBBF24"/>
                </a:solidFill>
                <a:latin typeface="Consolas"/>
              </a:rPr>
              <a:t>"ada@n8n.io"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,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    </a:t>
            </a:r>
            <a:r>
              <a:rPr lang="en-US" sz="1400" dirty="0">
                <a:solidFill>
                  <a:srgbClr val="38BDF8"/>
                </a:solidFill>
                <a:latin typeface="Consolas"/>
              </a:rPr>
              <a:t>"active"</a:t>
            </a:r>
            <a:r>
              <a:rPr lang="en-US" sz="1400" dirty="0">
                <a:solidFill>
                  <a:srgbClr val="94A3B8"/>
                </a:solidFill>
                <a:latin typeface="Consolas"/>
              </a:rPr>
              <a:t>: </a:t>
            </a:r>
            <a:r>
              <a:rPr lang="en-US" sz="1400" dirty="0">
                <a:solidFill>
                  <a:srgbClr val="34D399"/>
                </a:solidFill>
                <a:latin typeface="Consolas"/>
              </a:rPr>
              <a:t>true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  }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  }</a:t>
            </a:r>
          </a:p>
          <a:p>
            <a:pPr algn="l">
              <a:lnSpc>
                <a:spcPts val="175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onsola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81512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FAE4-DD90-45F7-6A5F-39F638099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IF / Else Logic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38F512-69F9-4C18-8090-CD01B530BFA9}"/>
              </a:ext>
            </a:extLst>
          </p:cNvPr>
          <p:cNvSpPr/>
          <p:nvPr/>
        </p:nvSpPr>
        <p:spPr>
          <a:xfrm>
            <a:off x="9779000" y="660400"/>
            <a:ext cx="1651000" cy="381000"/>
          </a:xfrm>
          <a:prstGeom prst="roundRect">
            <a:avLst/>
          </a:prstGeom>
          <a:solidFill>
            <a:srgbClr val="FEF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n8n BASICS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000E7-F6B9-488C-9CAB-1A0D21D4D837}"/>
              </a:ext>
            </a:extLst>
          </p:cNvPr>
          <p:cNvSpPr txBox="1"/>
          <p:nvPr/>
        </p:nvSpPr>
        <p:spPr>
          <a:xfrm>
            <a:off x="635000" y="1778000"/>
            <a:ext cx="108966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dirty="0">
                <a:solidFill>
                  <a:srgbClr val="334155"/>
                </a:solidFill>
              </a:rPr>
              <a:t>Use an IF node to branch a flow — when the condition is true, take one path; otherwise take the other.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B760C1C-7115-4463-A366-B0413F6B0709}"/>
              </a:ext>
            </a:extLst>
          </p:cNvPr>
          <p:cNvSpPr/>
          <p:nvPr/>
        </p:nvSpPr>
        <p:spPr>
          <a:xfrm>
            <a:off x="508000" y="3175000"/>
            <a:ext cx="2286000" cy="11430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36C970-E221-4271-9F87-6022AF6FEF6C}"/>
              </a:ext>
            </a:extLst>
          </p:cNvPr>
          <p:cNvSpPr/>
          <p:nvPr/>
        </p:nvSpPr>
        <p:spPr>
          <a:xfrm>
            <a:off x="508000" y="3175000"/>
            <a:ext cx="76200" cy="1143000"/>
          </a:xfrm>
          <a:prstGeom prst="rect">
            <a:avLst/>
          </a:prstGeom>
          <a:solidFill>
            <a:srgbClr val="4F46E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CCD39-5258-4A80-A2AC-1A0E5E05CF12}"/>
              </a:ext>
            </a:extLst>
          </p:cNvPr>
          <p:cNvSpPr txBox="1"/>
          <p:nvPr/>
        </p:nvSpPr>
        <p:spPr>
          <a:xfrm>
            <a:off x="762000" y="3454400"/>
            <a:ext cx="19050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4F46E5"/>
                </a:solidFill>
              </a:rPr>
              <a:t>Trigger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a new item arrives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C941B4D-B287-447D-B491-3D09FB63D0B4}"/>
              </a:ext>
            </a:extLst>
          </p:cNvPr>
          <p:cNvSpPr/>
          <p:nvPr/>
        </p:nvSpPr>
        <p:spPr>
          <a:xfrm>
            <a:off x="2870200" y="3530600"/>
            <a:ext cx="584200" cy="431800"/>
          </a:xfrm>
          <a:prstGeom prst="rightArrow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2110449A-B034-4AFA-9761-2D8F79B417AC}"/>
              </a:ext>
            </a:extLst>
          </p:cNvPr>
          <p:cNvSpPr/>
          <p:nvPr/>
        </p:nvSpPr>
        <p:spPr>
          <a:xfrm>
            <a:off x="3581400" y="2717800"/>
            <a:ext cx="2032000" cy="2032000"/>
          </a:xfrm>
          <a:prstGeom prst="diamond">
            <a:avLst/>
          </a:prstGeom>
          <a:solidFill>
            <a:srgbClr val="FFFFFF"/>
          </a:solidFill>
          <a:ln w="19050" cap="flat" cmpd="sng" algn="ctr">
            <a:solidFill>
              <a:srgbClr val="F59E0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B45309"/>
                </a:solidFill>
              </a:rPr>
              <a:t>IF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active = true?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222CFAA-3517-48EF-B329-6338CBD4A52E}"/>
              </a:ext>
            </a:extLst>
          </p:cNvPr>
          <p:cNvSpPr/>
          <p:nvPr/>
        </p:nvSpPr>
        <p:spPr>
          <a:xfrm>
            <a:off x="5969000" y="2616200"/>
            <a:ext cx="914400" cy="431800"/>
          </a:xfrm>
          <a:prstGeom prst="rightArrow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0E5F2-378D-441D-803C-A473615DF78F}"/>
              </a:ext>
            </a:extLst>
          </p:cNvPr>
          <p:cNvSpPr txBox="1"/>
          <p:nvPr/>
        </p:nvSpPr>
        <p:spPr>
          <a:xfrm>
            <a:off x="5994400" y="2336800"/>
            <a:ext cx="914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0B981"/>
                </a:solidFill>
              </a:rPr>
              <a:t>TRUE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952720-E008-4D80-BD7A-4BC004ED1036}"/>
              </a:ext>
            </a:extLst>
          </p:cNvPr>
          <p:cNvSpPr/>
          <p:nvPr/>
        </p:nvSpPr>
        <p:spPr>
          <a:xfrm>
            <a:off x="7086600" y="2260600"/>
            <a:ext cx="4445000" cy="1168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CFCF53-DECE-4030-8DDA-3495793D198A}"/>
              </a:ext>
            </a:extLst>
          </p:cNvPr>
          <p:cNvSpPr/>
          <p:nvPr/>
        </p:nvSpPr>
        <p:spPr>
          <a:xfrm>
            <a:off x="7086600" y="2260600"/>
            <a:ext cx="76200" cy="1168400"/>
          </a:xfrm>
          <a:prstGeom prst="rect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5E34B9-8CCE-4486-885D-6152B1DC0D88}"/>
              </a:ext>
            </a:extLst>
          </p:cNvPr>
          <p:cNvSpPr txBox="1"/>
          <p:nvPr/>
        </p:nvSpPr>
        <p:spPr>
          <a:xfrm>
            <a:off x="7366000" y="2514600"/>
            <a:ext cx="3937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Send welcome email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the happy path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3931D70B-A2CE-4298-88F0-C216018F3BDC}"/>
              </a:ext>
            </a:extLst>
          </p:cNvPr>
          <p:cNvSpPr/>
          <p:nvPr/>
        </p:nvSpPr>
        <p:spPr>
          <a:xfrm>
            <a:off x="5969000" y="4419600"/>
            <a:ext cx="914400" cy="431800"/>
          </a:xfrm>
          <a:prstGeom prst="rightArrow">
            <a:avLst/>
          </a:prstGeom>
          <a:solidFill>
            <a:srgbClr val="EC48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B699BE-AD41-4077-A829-AA49D2BC78E8}"/>
              </a:ext>
            </a:extLst>
          </p:cNvPr>
          <p:cNvSpPr txBox="1"/>
          <p:nvPr/>
        </p:nvSpPr>
        <p:spPr>
          <a:xfrm>
            <a:off x="5994400" y="4140200"/>
            <a:ext cx="914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C4899"/>
                </a:solidFill>
              </a:rPr>
              <a:t>FALSE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DEE6975-3F7C-4219-9253-830318818B77}"/>
              </a:ext>
            </a:extLst>
          </p:cNvPr>
          <p:cNvSpPr/>
          <p:nvPr/>
        </p:nvSpPr>
        <p:spPr>
          <a:xfrm>
            <a:off x="7086600" y="4013200"/>
            <a:ext cx="4445000" cy="1168400"/>
          </a:xfrm>
          <a:prstGeom prst="roundRect">
            <a:avLst/>
          </a:prstGeom>
          <a:solidFill>
            <a:srgbClr val="FFFFFF"/>
          </a:solidFill>
          <a:ln w="1143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511191-85C1-49FF-808F-C35670CA6D90}"/>
              </a:ext>
            </a:extLst>
          </p:cNvPr>
          <p:cNvSpPr/>
          <p:nvPr/>
        </p:nvSpPr>
        <p:spPr>
          <a:xfrm>
            <a:off x="7086600" y="4013200"/>
            <a:ext cx="76200" cy="1168400"/>
          </a:xfrm>
          <a:prstGeom prst="rect">
            <a:avLst/>
          </a:prstGeom>
          <a:solidFill>
            <a:srgbClr val="EC489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664038-ABAC-4843-A71F-8308C3D1A50E}"/>
              </a:ext>
            </a:extLst>
          </p:cNvPr>
          <p:cNvSpPr txBox="1"/>
          <p:nvPr/>
        </p:nvSpPr>
        <p:spPr>
          <a:xfrm>
            <a:off x="7366000" y="4267200"/>
            <a:ext cx="3937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EC4899"/>
                </a:solidFill>
              </a:rPr>
              <a:t>Add to follow-up list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dirty="0">
                <a:solidFill>
                  <a:srgbClr val="64748B"/>
                </a:solidFill>
              </a:rPr>
              <a:t>handle everything else</a:t>
            </a:r>
          </a:p>
        </p:txBody>
      </p:sp>
    </p:spTree>
    <p:extLst>
      <p:ext uri="{BB962C8B-B14F-4D97-AF65-F5344CB8AC3E}">
        <p14:creationId xmlns:p14="http://schemas.microsoft.com/office/powerpoint/2010/main" val="1357521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63AF7-A197-C3BB-13C6-0B96C842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 · Flyer with QR Code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</a:t>
            </a:r>
            <a:r>
              <a:rPr lang="en-US" sz="1700" dirty="0">
                <a:solidFill>
                  <a:srgbClr val="334155"/>
                </a:solidFill>
              </a:rPr>
              <a:t>Build a flyer whose QR code opens a sign-up form — and email the admin on every submission.</a:t>
            </a:r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93" name="s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4" name="s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Design a flyer and generate a QR code that links to your form</a:t>
            </a:r>
          </a:p>
        </p:txBody>
      </p:sp>
      <p:sp>
        <p:nvSpPr>
          <p:cNvPr id="95" name="s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6" name="s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Build an online form to collect name and email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8" name="s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Create a flow that triggers when the form is submitted</a:t>
            </a:r>
          </a:p>
        </p:txBody>
      </p:sp>
      <p:sp>
        <p:nvSpPr>
          <p:cNvPr id="99" name="s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0" name="s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Auto-send an email notifying the admin of each entry</a:t>
            </a:r>
          </a:p>
        </p:txBody>
      </p:sp>
      <p:sp>
        <p:nvSpPr>
          <p:cNvPr id="101" name="s"/>
          <p:cNvSpPr/>
          <p:nvPr/>
        </p:nvSpPr>
        <p:spPr>
          <a:xfrm>
            <a:off x="7975600" y="2692400"/>
            <a:ext cx="3556000" cy="368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pPr algn="l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Online form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QR code generator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Email / SMTP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Admin notification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673A2-CF3F-43E0-A897-2BF13FC77B21}"/>
              </a:ext>
            </a:extLst>
          </p:cNvPr>
          <p:cNvSpPr txBox="1"/>
          <p:nvPr/>
        </p:nvSpPr>
        <p:spPr>
          <a:xfrm>
            <a:off x="8191500" y="4851400"/>
            <a:ext cx="31242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F46E5"/>
                </a:solidFill>
              </a:rPr>
              <a:t>▶  See the finished n8n flow on the next slide</a:t>
            </a:r>
          </a:p>
        </p:txBody>
      </p:sp>
    </p:spTree>
    <p:extLst>
      <p:ext uri="{BB962C8B-B14F-4D97-AF65-F5344CB8AC3E}">
        <p14:creationId xmlns:p14="http://schemas.microsoft.com/office/powerpoint/2010/main" val="1147605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3341F1-388D-499B-B720-B68B6B13F8D4}"/>
              </a:ext>
            </a:extLst>
          </p:cNvPr>
          <p:cNvSpPr/>
          <p:nvPr/>
        </p:nvSpPr>
        <p:spPr>
          <a:xfrm>
            <a:off x="1371600" y="2819400"/>
            <a:ext cx="9448800" cy="340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A63AF7-A197-C3BB-13C6-0B96C842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Activity 1 · The n8n Flow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WORKFLOW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FLOW   </a:t>
            </a:r>
            <a:r>
              <a:rPr lang="en-US" sz="1700" dirty="0">
                <a:solidFill>
                  <a:srgbClr val="334155"/>
                </a:solidFill>
              </a:rPr>
              <a:t>The finished workflow — a form-submission trigger emails the admin on every sign-up.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23DD9E-50F5-85DC-14B0-C2C9A7A2A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921000"/>
            <a:ext cx="9144000" cy="3308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29935-3ED5-412B-BD0B-3E7421724BF9}"/>
              </a:ext>
            </a:extLst>
          </p:cNvPr>
          <p:cNvSpPr txBox="1"/>
          <p:nvPr/>
        </p:nvSpPr>
        <p:spPr>
          <a:xfrm>
            <a:off x="1371600" y="6299200"/>
            <a:ext cx="9448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buNone/>
            </a:pPr>
            <a:r>
              <a:rPr lang="en-US" sz="1300" i="1" dirty="0">
                <a:solidFill>
                  <a:srgbClr val="64748B"/>
                </a:solidFill>
              </a:rPr>
              <a:t>n8n canvas — Activity 1: Flyer with QR Code</a:t>
            </a:r>
          </a:p>
        </p:txBody>
      </p:sp>
    </p:spTree>
    <p:extLst>
      <p:ext uri="{BB962C8B-B14F-4D97-AF65-F5344CB8AC3E}">
        <p14:creationId xmlns:p14="http://schemas.microsoft.com/office/powerpoint/2010/main" val="172469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A9E66-BAFE-4F4C-BFCA-6C3624150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· Capture Data in a Table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</a:t>
            </a:r>
            <a:r>
              <a:rPr lang="en-US" sz="1700" dirty="0">
                <a:solidFill>
                  <a:srgbClr val="334155"/>
                </a:solidFill>
              </a:rPr>
              <a:t>Extend Activity 1 so every submission is stored as a row you can review later.</a:t>
            </a:r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93" name="s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4" name="s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Add a data table (database) node to your existing flow</a:t>
            </a:r>
          </a:p>
        </p:txBody>
      </p:sp>
      <p:sp>
        <p:nvSpPr>
          <p:cNvPr id="95" name="s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6" name="s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Map each form field to a column — name, email, date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8" name="s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On submit, append a new row for every entry</a:t>
            </a:r>
          </a:p>
        </p:txBody>
      </p:sp>
      <p:sp>
        <p:nvSpPr>
          <p:cNvPr id="99" name="s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0" name="s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Open the table to review all captured responses</a:t>
            </a:r>
          </a:p>
        </p:txBody>
      </p:sp>
      <p:sp>
        <p:nvSpPr>
          <p:cNvPr id="101" name="s"/>
          <p:cNvSpPr/>
          <p:nvPr/>
        </p:nvSpPr>
        <p:spPr>
          <a:xfrm>
            <a:off x="7975600" y="2692400"/>
            <a:ext cx="3556000" cy="254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pPr algn="l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Data table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Field mapping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Flow from Activity 1</a:t>
            </a:r>
          </a:p>
        </p:txBody>
      </p:sp>
      <p:sp>
        <p:nvSpPr>
          <p:cNvPr id="102" name="s"/>
          <p:cNvSpPr/>
          <p:nvPr/>
        </p:nvSpPr>
        <p:spPr>
          <a:xfrm>
            <a:off x="7975600" y="5435600"/>
            <a:ext cx="35560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F46E5"/>
                </a:solidFill>
              </a:rPr>
              <a:t>Builds on Activity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7A6A43-11A0-BA9E-AD6F-1E7F6E41C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3886200"/>
            <a:ext cx="2971800" cy="131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943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CBA4A-5E7E-0A64-0EA2-A17F2E459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3 · Conditional Response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</a:t>
            </a:r>
            <a:r>
              <a:rPr lang="en-US" sz="1700" dirty="0">
                <a:solidFill>
                  <a:srgbClr val="334155"/>
                </a:solidFill>
              </a:rPr>
              <a:t>Branch the flow on the user's reply — Yes saves the date, No sends a thank-you email.</a:t>
            </a:r>
          </a:p>
        </p:txBody>
      </p:sp>
      <p:sp>
        <p:nvSpPr>
          <p:cNvPr id="92" name="s"/>
          <p:cNvSpPr/>
          <p:nvPr/>
        </p:nvSpPr>
        <p:spPr>
          <a:xfrm>
            <a:off x="635000" y="2717800"/>
            <a:ext cx="10896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600" dirty="0">
                <a:solidFill>
                  <a:srgbClr val="64748B"/>
                </a:solidFill>
              </a:rPr>
              <a:t>When the user replies, the flow takes one of two paths:</a:t>
            </a:r>
          </a:p>
        </p:txBody>
      </p:sp>
      <p:sp>
        <p:nvSpPr>
          <p:cNvPr id="93" name="s"/>
          <p:cNvSpPr/>
          <p:nvPr/>
        </p:nvSpPr>
        <p:spPr>
          <a:xfrm>
            <a:off x="635000" y="3251200"/>
            <a:ext cx="5397500" cy="1879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7F3D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4" name="s"/>
          <p:cNvSpPr/>
          <p:nvPr/>
        </p:nvSpPr>
        <p:spPr>
          <a:xfrm>
            <a:off x="635000" y="3251200"/>
            <a:ext cx="5397500" cy="584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IF  YES</a:t>
            </a:r>
          </a:p>
        </p:txBody>
      </p:sp>
      <p:sp>
        <p:nvSpPr>
          <p:cNvPr id="95" name="s"/>
          <p:cNvSpPr/>
          <p:nvPr/>
        </p:nvSpPr>
        <p:spPr>
          <a:xfrm>
            <a:off x="939800" y="38100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2400" b="1" dirty="0">
                <a:solidFill>
                  <a:srgbClr val="1E293B"/>
                </a:solidFill>
              </a:rPr>
              <a:t>Save the date</a:t>
            </a:r>
          </a:p>
        </p:txBody>
      </p:sp>
      <p:sp>
        <p:nvSpPr>
          <p:cNvPr id="96" name="s"/>
          <p:cNvSpPr/>
          <p:nvPr/>
        </p:nvSpPr>
        <p:spPr>
          <a:xfrm>
            <a:off x="939800" y="4216400"/>
            <a:ext cx="4826000" cy="43180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500" b="1" dirty="0">
                <a:solidFill>
                  <a:srgbClr val="059669"/>
                </a:solidFill>
              </a:rPr>
              <a:t>3a   </a:t>
            </a:r>
            <a:r>
              <a:rPr lang="en-US" sz="1600" dirty="0">
                <a:solidFill>
                  <a:srgbClr val="334155"/>
                </a:solidFill>
              </a:rPr>
              <a:t>→  Data table</a:t>
            </a:r>
          </a:p>
        </p:txBody>
      </p:sp>
      <p:sp>
        <p:nvSpPr>
          <p:cNvPr id="97" name="s"/>
          <p:cNvSpPr/>
          <p:nvPr/>
        </p:nvSpPr>
        <p:spPr>
          <a:xfrm>
            <a:off x="939800" y="4673600"/>
            <a:ext cx="4826000" cy="40640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500" b="1" dirty="0">
                <a:solidFill>
                  <a:srgbClr val="059669"/>
                </a:solidFill>
              </a:rPr>
              <a:t>3b   </a:t>
            </a:r>
            <a:r>
              <a:rPr lang="en-US" sz="1600" dirty="0">
                <a:solidFill>
                  <a:srgbClr val="334155"/>
                </a:solidFill>
              </a:rPr>
              <a:t>→  Google Sheet / Excel</a:t>
            </a:r>
          </a:p>
        </p:txBody>
      </p:sp>
      <p:sp>
        <p:nvSpPr>
          <p:cNvPr id="98" name="s"/>
          <p:cNvSpPr/>
          <p:nvPr/>
        </p:nvSpPr>
        <p:spPr>
          <a:xfrm>
            <a:off x="6134100" y="3251200"/>
            <a:ext cx="5397500" cy="1879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6134100" y="3251200"/>
            <a:ext cx="5397500" cy="584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</a:rPr>
              <a:t>IF  NO</a:t>
            </a:r>
          </a:p>
        </p:txBody>
      </p:sp>
      <p:sp>
        <p:nvSpPr>
          <p:cNvPr id="100" name="s"/>
          <p:cNvSpPr/>
          <p:nvPr/>
        </p:nvSpPr>
        <p:spPr>
          <a:xfrm>
            <a:off x="6438900" y="38100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2400" b="1" dirty="0">
                <a:solidFill>
                  <a:srgbClr val="1E293B"/>
                </a:solidFill>
              </a:rPr>
              <a:t>Send a thank-you email</a:t>
            </a:r>
          </a:p>
        </p:txBody>
      </p:sp>
      <p:sp>
        <p:nvSpPr>
          <p:cNvPr id="101" name="s"/>
          <p:cNvSpPr/>
          <p:nvPr/>
        </p:nvSpPr>
        <p:spPr>
          <a:xfrm>
            <a:off x="6438900" y="4216400"/>
            <a:ext cx="4826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600" dirty="0">
                <a:solidFill>
                  <a:srgbClr val="64748B"/>
                </a:solidFill>
              </a:rPr>
              <a:t>A polite automated reply goes out — no date is saved, and the conversation closes cleanly.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4F20DA-A79E-92F0-908F-E1D4CA6E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700" y="5257800"/>
            <a:ext cx="2755900" cy="154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198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ABE85-6969-DF03-A457-75A1C7C5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2 · AI Agents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An AI agent is an LLM given memory, tools, and instructions — so it can reason, remember, and take action.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LLM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reasoning engine that understands and generates language.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Memory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Holds context across a conversation — and across sessions.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Tools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Lets the agent act: search, call APIs, send messages.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System Instruction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Sets the agent's role, rules, scope and tone.</a:t>
            </a:r>
          </a:p>
        </p:txBody>
      </p:sp>
      <p:pic>
        <p:nvPicPr>
          <p:cNvPr id="103" name="Graphic 10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488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AI Agent?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An AI agent uses an LLM to reason, plan, and act — it breaks a goal into steps and uses tools to finish the task on its own.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LLM · The Brain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Reasons, plans, and chooses the next step. Generates responses by predicting text from your input.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Memory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Retains context across turns so the agent stays aware of earlier messages and data, not just the latest one.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Tools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Skills the agent can call to act — send an email, query a database, search the web, or run a workflow.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System Instruction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agent's role, rules, examples, and output format — the prompt that guides how it behaves.</a:t>
            </a:r>
          </a:p>
        </p:txBody>
      </p:sp>
      <p:pic>
        <p:nvPicPr>
          <p:cNvPr id="103" name="Graphic 103" descr="AI agent bra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03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Agent in a Workflow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Example — an invoice-processing agent that reads a document, extracts the data, decides, and acts.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1 · Trigger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new invoice PDF arrives by email or file upload and starts the workflow.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2 · Extract (LLM)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agent reads the document and pulls out invoice no, item, price, tax, and total.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3 · Decide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It applies the rules — for example, if the total is over $20, flag it for approval.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4 · Act (Tool)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It emails a confirmation, writes the row to a sheet, and passes data to the next node.</a:t>
            </a:r>
          </a:p>
        </p:txBody>
      </p:sp>
      <p:pic>
        <p:nvPicPr>
          <p:cNvPr id="103" name="Graphic 103" descr="Workflow step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604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029B-345D-AE38-4FE7-6945F243C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Agent in a Workflow — Built in n8n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B2ED7-BC4A-6D89-661A-EE10D4AC6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06600"/>
            <a:ext cx="10668000" cy="445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230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AI Agents?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Agents go beyond fixed scripts — they sense, decide, and act, freeing people for higher-value work.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Automate Repetitive Work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Handle scheduling, data entry, form processing, and report generation without manual effort.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Handle Complex Tasks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Break a big goal into smaller steps and adapt when the inputs or conditions change.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Work Autonomously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Sense, decide, and act continuously — not just follow a static, pre-wired flow.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Free People for Strategy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Let your team focus on creativity, judgement, and decisions instead of admin.</a:t>
            </a:r>
          </a:p>
        </p:txBody>
      </p:sp>
      <p:pic>
        <p:nvPicPr>
          <p:cNvPr id="103" name="Graphic 103" descr="Benefits lightbulb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41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Tools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Tools give an agent skills to act in the real world — without them, an LLM can only talk.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Email · Gmail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Send confirmations, alerts, or summaries automatically on the agent's behalf.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Calendar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Book appointments and create or update events straight from a chat request.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Database / Sheets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Look up records, fetch a credit-card row, or calculate an outstanding balance.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MCP &amp; APIs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Connect to external services and other workflows through standard tool protocols.</a:t>
            </a:r>
          </a:p>
        </p:txBody>
      </p:sp>
      <p:pic>
        <p:nvPicPr>
          <p:cNvPr id="103" name="Graphic 103" descr="Agent too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248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Good System Instructions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The system instruction sets the agent's role, rules, and output format. Clear instructions = reliable behaviour.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Be Specific · Give a Role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“You are a customer-service agent for an online bicycle store.” State the goal clearly.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Break Into Steps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List the steps in order and use simple, unambiguous syntax the model can follow.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Use Examples · Say “Do”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Show sample inputs and outputs. Tell it what to do rather than what not to do.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Set Tone &amp; Fallbacks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Define the voice, and an escape hatch: if unsure, offer alternatives or hand off to a human.</a:t>
            </a:r>
          </a:p>
        </p:txBody>
      </p:sp>
      <p:pic>
        <p:nvPicPr>
          <p:cNvPr id="103" name="Graphic 103" descr="Instructions checkli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26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AE92D-D9A4-DEA1-3CF8-3E25F2ED6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· Telegram-Triggered AI Agent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</a:t>
            </a:r>
            <a:r>
              <a:rPr lang="en-US" sz="1700" dirty="0">
                <a:solidFill>
                  <a:srgbClr val="334155"/>
                </a:solidFill>
              </a:rPr>
              <a:t>Build an AI agent that chats inside Telegram, powered by an OpenAI or Gemini model.</a:t>
            </a:r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93" name="s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4" name="s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Create a Telegram bot and copy its API token</a:t>
            </a:r>
          </a:p>
        </p:txBody>
      </p:sp>
      <p:sp>
        <p:nvSpPr>
          <p:cNvPr id="95" name="s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6" name="s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Add a Telegram trigger that fires on each new message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8" name="s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Connect an AI agent node using your OpenAI / Gemini key</a:t>
            </a:r>
          </a:p>
        </p:txBody>
      </p:sp>
      <p:sp>
        <p:nvSpPr>
          <p:cNvPr id="99" name="s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0" name="s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Send the agent's reply back into the Telegram chat</a:t>
            </a:r>
          </a:p>
        </p:txBody>
      </p:sp>
      <p:sp>
        <p:nvSpPr>
          <p:cNvPr id="101" name="s"/>
          <p:cNvSpPr/>
          <p:nvPr/>
        </p:nvSpPr>
        <p:spPr>
          <a:xfrm>
            <a:off x="7975600" y="2692400"/>
            <a:ext cx="3556000" cy="368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pPr algn="l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Telegram bot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OpenAI API key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Gemini API key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AI agent node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0DD0A8-8A50-53B0-528E-8AD8F3463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6100" y="4749800"/>
            <a:ext cx="3200400" cy="153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495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· Retrieval-Augmented Generation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RAG lets an agent answer from your own documents — it retrieves the most relevant text and feeds it to the LLM.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1 · Tokenization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Splits text into small tokens the model can process.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2 · Embedding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Turns tokens into vectors that capture meaning.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3 · Vector Store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database that finds the most similar chunks fast.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4 · Retrieval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Pulls the best-matching text into the prompt at answer time.</a:t>
            </a:r>
          </a:p>
        </p:txBody>
      </p:sp>
      <p:pic>
        <p:nvPicPr>
          <p:cNvPr id="103" name="Graphic 10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186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RAG?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Retrieval-Augmented Generation lets an LLM answer from your own documents — it retrieves relevant facts first, then generates a grounded answer.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Retrieve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Search a knowledge base for the chunks of your documents most relevant to the question.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Augment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Add those retrieved facts to the prompt as extra context for the model.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Generate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LLM answers using the supplied context, not only its original training data.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Grounded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Answers are backed by real source material, so they stay accurate and current.</a:t>
            </a:r>
          </a:p>
        </p:txBody>
      </p:sp>
      <p:pic>
        <p:nvPicPr>
          <p:cNvPr id="103" name="Graphic 103" descr="Retrieval 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1166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RAG Process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How an agent answers a question using a vector store as its knowledge tool.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1 · Query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user asks a question; the agent decides it needs to look something up.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2 · Embed &amp; Search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query is embedded and matched against the vector store for similar chunks.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3 · Retrieve Top-N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store returns the top N chunks ranked by their similarity score.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4 · Generate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agent feeds those chunks to the LLM to produce a grounded answer.</a:t>
            </a:r>
          </a:p>
        </p:txBody>
      </p:sp>
      <p:pic>
        <p:nvPicPr>
          <p:cNvPr id="103" name="Graphic 103" descr="Process flow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921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7333D-9DF8-B414-034B-3CAC587D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RAG Architecture at a Glance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AFAB3A-9C7C-9050-F8C5-25D1BBA74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2133600"/>
            <a:ext cx="8890000" cy="441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572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RAG?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RAG grounds the model in your data without the cost of training a custom model.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Fresh &amp; Latest Data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Feed in company documents and real-time updates without retraining a public model.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Fewer Hallucinations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model must retrieve a specific document before answering, keeping it factual.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Cost-Efficient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Avoid expensive fine-tuning, specialised talent, and long training cycles.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Easy to Maintain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Update the AI's knowledge by simply updating the documents in the store.</a:t>
            </a:r>
          </a:p>
        </p:txBody>
      </p:sp>
      <p:pic>
        <p:nvPicPr>
          <p:cNvPr id="103" name="Graphic 103" descr="Benefits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079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Tokenization &amp; Embedding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Raw documents are split, converted to numbers, and stored so they can be searched by meaning.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1 · Chunk / Split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Recursive Character Text Splitter breaks documents into chunks with overlap.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2 · Embed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An embedding model (e.g. OpenAI text-embedding-3-small) turns each chunk into a vector.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3 · Store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Vectors are saved in a vector database — Pinecone, Supabase, Chroma, or Redis.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4 · Index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Embeddings are indexed so similar meanings sit close together for fast search.</a:t>
            </a:r>
          </a:p>
        </p:txBody>
      </p:sp>
      <p:pic>
        <p:nvPicPr>
          <p:cNvPr id="103" name="Graphic 103" descr="Vector store databas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0979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43CD2-4B16-E942-4DFD-03AB6CC9B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Text to Vectors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F01DEF-00EC-93E4-5A3B-BAD6F7F31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514600"/>
            <a:ext cx="11430000" cy="3577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07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Retrieval from the Store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The vector store becomes a tool the agent can call to fetch relevant knowledge on demand.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Store as a Tool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Connect the vector store to the agent and describe when it should be used.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Similarity Search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agent embeds the question and finds the closest chunks by similarity score.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Top-N Chunks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It retrieves the top N most relevant passages as supporting context.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Grounded Answer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agent answers from those chunks — a Retrieval QA chain in action.</a:t>
            </a:r>
          </a:p>
        </p:txBody>
      </p:sp>
      <p:pic>
        <p:nvPicPr>
          <p:cNvPr id="103" name="Graphic 103" descr="Retrieval from sto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0503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8604C-6EA0-E6D5-E383-D0918563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Retrieval in n8n — Vector Store as a Tool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14E1D-645A-55B5-E29E-D66528E9A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0" y="2006600"/>
            <a:ext cx="5418264" cy="4546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879EAA-CAF9-3C9E-A27E-63F70D5D9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5800" y="2006600"/>
            <a:ext cx="4057523" cy="454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84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4773D-47FC-E0D9-F569-DF11A6D51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Activity 5 · Build a RAG FAQ Bot</a:t>
            </a:r>
          </a:p>
        </p:txBody>
      </p:sp>
      <p:sp>
        <p:nvSpPr>
          <p:cNvPr id="90" name="s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91" name="s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91440" tIns="36000" rIns="9144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</a:t>
            </a:r>
            <a:r>
              <a:rPr lang="en-US" sz="1700" dirty="0">
                <a:solidFill>
                  <a:srgbClr val="334155"/>
                </a:solidFill>
              </a:rPr>
              <a:t>Turn your Telegram agent into an FAQ bot that answers from your own documents.</a:t>
            </a:r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93" name="s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4" name="s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Gather your FAQ documents as the knowledge source</a:t>
            </a:r>
          </a:p>
        </p:txBody>
      </p:sp>
      <p:sp>
        <p:nvSpPr>
          <p:cNvPr id="95" name="s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6" name="s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Embed the content and store it in a vector store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8" name="s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Add a retrieval tool to your Activity 4 agent</a:t>
            </a:r>
          </a:p>
        </p:txBody>
      </p:sp>
      <p:sp>
        <p:nvSpPr>
          <p:cNvPr id="99" name="s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91440" bIns="36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0" name="s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Ask in Telegram — the agent answers from your docs</a:t>
            </a:r>
          </a:p>
        </p:txBody>
      </p:sp>
      <p:sp>
        <p:nvSpPr>
          <p:cNvPr id="101" name="s"/>
          <p:cNvSpPr/>
          <p:nvPr/>
        </p:nvSpPr>
        <p:spPr>
          <a:xfrm>
            <a:off x="7975600" y="2692400"/>
            <a:ext cx="3556000" cy="254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pPr algn="l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Vector store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Embeddings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Retrieval tool</a:t>
            </a:r>
          </a:p>
        </p:txBody>
      </p:sp>
      <p:sp>
        <p:nvSpPr>
          <p:cNvPr id="102" name="s"/>
          <p:cNvSpPr/>
          <p:nvPr/>
        </p:nvSpPr>
        <p:spPr>
          <a:xfrm>
            <a:off x="7975600" y="5435600"/>
            <a:ext cx="35560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F46E5"/>
                </a:solidFill>
              </a:rPr>
              <a:t>Builds on Activity 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62F842F-6248-A1AD-CB66-52418DABB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3251200"/>
            <a:ext cx="3352800" cy="141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1843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anel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gradFill>
            <a:gsLst>
              <a:gs pos="0">
                <a:srgbClr val="06B6D4"/>
              </a:gs>
              <a:gs pos="100000">
                <a:srgbClr val="0891B2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t"/>
          <p:cNvSpPr/>
          <p:nvPr/>
        </p:nvSpPr>
        <p:spPr>
          <a:xfrm>
            <a:off x="609600" y="1778000"/>
            <a:ext cx="3556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1" dirty="0">
                <a:solidFill>
                  <a:srgbClr val="CFFAFE"/>
                </a:solidFill>
              </a:rPr>
              <a:t>DAY TWO</a:t>
            </a:r>
          </a:p>
        </p:txBody>
      </p:sp>
      <p:sp>
        <p:nvSpPr>
          <p:cNvPr id="92" name="t"/>
          <p:cNvSpPr/>
          <p:nvPr/>
        </p:nvSpPr>
        <p:spPr>
          <a:xfrm>
            <a:off x="508000" y="2133600"/>
            <a:ext cx="3810000" cy="203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00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3" name="t"/>
          <p:cNvSpPr/>
          <p:nvPr/>
        </p:nvSpPr>
        <p:spPr>
          <a:xfrm>
            <a:off x="609600" y="4368800"/>
            <a:ext cx="3683000" cy="152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800" dirty="0">
                <a:solidFill>
                  <a:srgbClr val="CFFAFE"/>
                </a:solidFill>
              </a:rPr>
              <a:t>Connecting your agents to the outside world</a:t>
            </a:r>
          </a:p>
        </p:txBody>
      </p:sp>
      <p:sp>
        <p:nvSpPr>
          <p:cNvPr id="94" name="t"/>
          <p:cNvSpPr/>
          <p:nvPr/>
        </p:nvSpPr>
        <p:spPr>
          <a:xfrm>
            <a:off x="5207000" y="1905000"/>
            <a:ext cx="6350000" cy="190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6B6D4"/>
                </a:solidFill>
              </a:rPr>
              <a:t>MORNING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E293B"/>
                </a:solidFill>
              </a:rPr>
              <a:t>Topic 3 · Webhooks</a:t>
            </a:r>
          </a:p>
          <a:p>
            <a:pPr algn="l">
              <a:buNone/>
            </a:pPr>
            <a:r>
              <a:rPr lang="en-US" sz="1700" dirty="0">
                <a:solidFill>
                  <a:srgbClr val="64748B"/>
                </a:solidFill>
              </a:rPr>
              <a:t>External triggers &amp; a website chatbot</a:t>
            </a:r>
          </a:p>
        </p:txBody>
      </p:sp>
      <p:sp>
        <p:nvSpPr>
          <p:cNvPr id="95" name="t"/>
          <p:cNvSpPr/>
          <p:nvPr/>
        </p:nvSpPr>
        <p:spPr>
          <a:xfrm>
            <a:off x="5207000" y="4191000"/>
            <a:ext cx="6350000" cy="190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6B6D4"/>
                </a:solidFill>
              </a:rPr>
              <a:t>AFTERNOON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E293B"/>
                </a:solidFill>
              </a:rPr>
              <a:t>Topic 4 · API &amp; HTTP Request</a:t>
            </a:r>
          </a:p>
          <a:p>
            <a:pPr algn="l">
              <a:buNone/>
            </a:pPr>
            <a:r>
              <a:rPr lang="en-US" sz="1700" dirty="0">
                <a:solidFill>
                  <a:srgbClr val="64748B"/>
                </a:solidFill>
              </a:rPr>
              <a:t>Pull live external data into your agent</a:t>
            </a:r>
          </a:p>
        </p:txBody>
      </p:sp>
    </p:spTree>
    <p:extLst>
      <p:ext uri="{BB962C8B-B14F-4D97-AF65-F5344CB8AC3E}">
        <p14:creationId xmlns:p14="http://schemas.microsoft.com/office/powerpoint/2010/main" val="39113811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B19E-E4C7-92B9-B39A-D71DC6D3A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3 · Webhooks</a:t>
            </a:r>
          </a:p>
        </p:txBody>
      </p:sp>
      <p:sp>
        <p:nvSpPr>
          <p:cNvPr id="120" name="b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 webhook is a URL that lets an outside app instantly notify your flow the moment something happens.</a:t>
            </a:r>
          </a:p>
        </p:txBody>
      </p:sp>
      <p:sp>
        <p:nvSpPr>
          <p:cNvPr id="121" name="b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2" name="b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3" name="b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What it is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unique URL your flow quietly listens on</a:t>
            </a:r>
          </a:p>
        </p:txBody>
      </p:sp>
      <p:sp>
        <p:nvSpPr>
          <p:cNvPr id="124" name="b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5" name="b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6" name="b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External trigger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Another app calls that URL to start your flow</a:t>
            </a:r>
          </a:p>
        </p:txBody>
      </p:sp>
      <p:sp>
        <p:nvSpPr>
          <p:cNvPr id="127" name="b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8" name="b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9" name="b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Real-time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Fires the instant an event happens, no polling</a:t>
            </a:r>
          </a:p>
        </p:txBody>
      </p:sp>
      <p:sp>
        <p:nvSpPr>
          <p:cNvPr id="130" name="b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31" name="b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32" name="b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Use cases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Form submits, payments, chat messages, alerts</a:t>
            </a:r>
          </a:p>
        </p:txBody>
      </p:sp>
      <p:pic>
        <p:nvPicPr>
          <p:cNvPr id="133" name="Graphic 13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919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URL &amp; HTTP Methods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Every HTTP call targets a URL and uses a method that says what action to perform.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URL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unique address of a resource on the web — where the request is sent.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GET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Receive information — fetch data from the server without changing it.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POST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Send information — submit data to the server to create or process it.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PUT · PATCH · DELETE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Update or remove a resource. Less common, but part of REST APIs.</a:t>
            </a:r>
          </a:p>
        </p:txBody>
      </p:sp>
      <p:pic>
        <p:nvPicPr>
          <p:cNvPr id="103" name="Graphic 103" descr="URL lin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991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Webhook?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 webhook is an automatic message an app sends when an event happens — “don't call us, we'll call you.”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Event-Driven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Fires the moment something happens — a new form, payment, or message.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Server Initiates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external system pushes data to you; you don't poll or ask repeatedly.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Real-Time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You receive the data instantly instead of checking on a schedule.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Triggers a Workflow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In n8n the Webhook node is a trigger that starts a flow when it is called.</a:t>
            </a:r>
          </a:p>
        </p:txBody>
      </p:sp>
      <p:pic>
        <p:nvPicPr>
          <p:cNvPr id="103" name="Graphic 103" descr="Webhook notifica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247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Webhook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To receive a webhook you expose an endpoint and tell the sender where to deliver events.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An Endpoint URL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unique callback URL the sender posts to — provided by the n8n Webhook node.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HTTP Method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Choose the method the sender will use to call you — usually POST.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Register the URL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Paste the URL into the external app so it knows where to send events.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Handle the Payload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Read the incoming body and, optionally, verify it before acting on it.</a:t>
            </a:r>
          </a:p>
        </p:txBody>
      </p:sp>
      <p:pic>
        <p:nvPicPr>
          <p:cNvPr id="103" name="Graphic 103" descr="Webhook endpoint plu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3535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HTTP Request?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An HTTP Request is a call you make to an app's API to query or send data — the most versatile node in n8n.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You Initiate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client (you) decides when to call the service and ask for data.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Four Parts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URL, Method, Header, and an optional Body make up every request.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Get a Response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server replies with a status code, headers, and a body (JSON or HTML).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Node or AI Tool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Use it as a normal node, or attach it to an AI agent as a tool.</a:t>
            </a:r>
          </a:p>
        </p:txBody>
      </p:sp>
      <p:pic>
        <p:nvPicPr>
          <p:cNvPr id="103" name="Graphic 103" descr="HTTP request clou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071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an HTTP Request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Configure the call so the API knows what you want — and that you're allowed to ask.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URL &amp; Method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Set the endpoint and choose GET, POST, PUT, PATCH, or DELETE.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Headers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Add context such as Content-Type and the authentication token.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Body (Optional)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For POST or PUT, include the data to send — e.g. name, email, date.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Credentials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Authenticate via query parameter, header (Bearer token), or OAuth.</a:t>
            </a:r>
          </a:p>
        </p:txBody>
      </p:sp>
      <p:pic>
        <p:nvPicPr>
          <p:cNvPr id="103" name="Graphic 103" descr="HTTP setup setting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3795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004CD-4C36-35AB-2269-8FAD50CF4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Webhook vs HTTP Request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DB7C705-F775-49B3-97F0-EE7A3206F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458845"/>
              </p:ext>
            </p:extLst>
          </p:nvPr>
        </p:nvGraphicFramePr>
        <p:xfrm>
          <a:off x="508000" y="2006600"/>
          <a:ext cx="11176000" cy="375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3456371625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1208369358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90846187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HTTP Request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>
                          <a:solidFill>
                            <a:srgbClr val="FFFFFF"/>
                          </a:solidFill>
                        </a:rPr>
                        <a:t>Webhook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70584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4F46E5"/>
                          </a:solidFill>
                        </a:rPr>
                        <a:t>Initiator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Client — you call out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Server — the app calls you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710694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4F46E5"/>
                          </a:solidFill>
                        </a:rPr>
                        <a:t>Direction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You request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You receive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68975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4F46E5"/>
                          </a:solidFill>
                        </a:rPr>
                        <a:t>Timing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You decide when to run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Triggered by an external event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57295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4F46E5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API call / fetch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Event notification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36966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4F46E5"/>
                          </a:solidFill>
                        </a:rPr>
                        <a:t>Setup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Just call the URL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334155"/>
                          </a:solidFill>
                        </a:rPr>
                        <a:t>Needs an endpoint to receive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840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81514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AB3F5-9C52-0A0C-BB85-7269D8777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Activity 6 · Website Chatbot</a:t>
            </a:r>
          </a:p>
        </p:txBody>
      </p:sp>
      <p:sp>
        <p:nvSpPr>
          <p:cNvPr id="120" name="b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17780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121" name="b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203200" tIns="36000" rIns="17780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 </a:t>
            </a:r>
            <a:r>
              <a:rPr lang="en-US" sz="1700" dirty="0">
                <a:solidFill>
                  <a:srgbClr val="334155"/>
                </a:solidFill>
              </a:rPr>
              <a:t>Embed a chat widget on your website that triggers your AI agent live via a webhook.</a:t>
            </a:r>
          </a:p>
        </p:txBody>
      </p:sp>
      <p:sp>
        <p:nvSpPr>
          <p:cNvPr id="122" name="b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123" name="c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4" name="b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Add a webhook trigger to receive messages from your site</a:t>
            </a:r>
          </a:p>
        </p:txBody>
      </p:sp>
      <p:sp>
        <p:nvSpPr>
          <p:cNvPr id="125" name="c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6" name="b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Embed a chat widget and point it at the webhook URL</a:t>
            </a:r>
          </a:p>
        </p:txBody>
      </p:sp>
      <p:sp>
        <p:nvSpPr>
          <p:cNvPr id="127" name="c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8" name="b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Pass each visitor message to your AI agent</a:t>
            </a:r>
          </a:p>
        </p:txBody>
      </p:sp>
      <p:sp>
        <p:nvSpPr>
          <p:cNvPr id="129" name="c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0" name="b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Return the agent's reply to the widget in real time</a:t>
            </a:r>
          </a:p>
        </p:txBody>
      </p:sp>
      <p:sp>
        <p:nvSpPr>
          <p:cNvPr id="131" name="b"/>
          <p:cNvSpPr/>
          <p:nvPr/>
        </p:nvSpPr>
        <p:spPr>
          <a:xfrm>
            <a:off x="7975600" y="2692400"/>
            <a:ext cx="3556000" cy="254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228600" tIns="36000" rIns="177800" bIns="36000" anchor="t"/>
          <a:lstStyle/>
          <a:p>
            <a:pPr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Webhook trigger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Website chat widget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Production URL</a:t>
            </a:r>
          </a:p>
          <a:p>
            <a:pPr algn="l"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AI agent node</a:t>
            </a:r>
          </a:p>
        </p:txBody>
      </p:sp>
      <p:sp>
        <p:nvSpPr>
          <p:cNvPr id="132" name="b"/>
          <p:cNvSpPr/>
          <p:nvPr/>
        </p:nvSpPr>
        <p:spPr>
          <a:xfrm>
            <a:off x="7975600" y="5435600"/>
            <a:ext cx="35560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127000" tIns="36000" rIns="177800" bIns="36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F46E5"/>
                </a:solidFill>
              </a:rPr>
              <a:t>Builds on Activity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D5EAEB-601D-B80C-8F40-52BF0FBD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3289300"/>
            <a:ext cx="3352800" cy="133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568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36142-E532-4E0E-FDC0-8881D4E00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4 · API &amp; HTTP Request</a:t>
            </a:r>
          </a:p>
        </p:txBody>
      </p:sp>
      <p:sp>
        <p:nvSpPr>
          <p:cNvPr id="120" name="b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An API is how two apps talk; an HTTP request is the message you send to ask for or share data.</a:t>
            </a:r>
          </a:p>
        </p:txBody>
      </p:sp>
      <p:sp>
        <p:nvSpPr>
          <p:cNvPr id="121" name="b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2" name="b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3" name="b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API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A defined way for apps to exchange data &amp; actions</a:t>
            </a:r>
          </a:p>
        </p:txBody>
      </p:sp>
      <p:sp>
        <p:nvSpPr>
          <p:cNvPr id="124" name="b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5" name="b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6" name="b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Endpoint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URL address you send your request to</a:t>
            </a:r>
          </a:p>
        </p:txBody>
      </p:sp>
      <p:sp>
        <p:nvSpPr>
          <p:cNvPr id="127" name="b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28" name="b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29" name="b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Request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GET to fetch data, POST to send data</a:t>
            </a:r>
          </a:p>
        </p:txBody>
      </p:sp>
      <p:sp>
        <p:nvSpPr>
          <p:cNvPr id="130" name="b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77800" tIns="36000" rIns="177800" bIns="36000" anchor="t"/>
          <a:lstStyle/>
          <a:p>
            <a:endParaRPr/>
          </a:p>
        </p:txBody>
      </p:sp>
      <p:sp>
        <p:nvSpPr>
          <p:cNvPr id="131" name="b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177800" bIns="36000" anchor="t"/>
          <a:lstStyle/>
          <a:p>
            <a:endParaRPr/>
          </a:p>
        </p:txBody>
      </p:sp>
      <p:sp>
        <p:nvSpPr>
          <p:cNvPr id="132" name="b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76200" tIns="36000" rIns="17780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Response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data the API sends back, usually JSON</a:t>
            </a:r>
          </a:p>
        </p:txBody>
      </p:sp>
      <p:pic>
        <p:nvPicPr>
          <p:cNvPr id="133" name="Graphic 13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711200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436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27D11-97AD-893C-CD87-77FE94338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Activity 7 · Finance Data to Telegram</a:t>
            </a:r>
          </a:p>
        </p:txBody>
      </p:sp>
      <p:sp>
        <p:nvSpPr>
          <p:cNvPr id="120" name="b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177800" bIns="36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121" name="b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203200" tIns="36000" rIns="177800" bIns="36000" anchor="ctr"/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 </a:t>
            </a:r>
            <a:r>
              <a:rPr lang="en-US" sz="1700" dirty="0">
                <a:solidFill>
                  <a:srgbClr val="334155"/>
                </a:solidFill>
              </a:rPr>
              <a:t>Fetch live data from a finance API and send it back as a Telegram reply.</a:t>
            </a:r>
          </a:p>
        </p:txBody>
      </p:sp>
      <p:sp>
        <p:nvSpPr>
          <p:cNvPr id="122" name="b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t"/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123" name="c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4" name="b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Trigger the flow from a Telegram message (e.g. a stock symbol)</a:t>
            </a:r>
          </a:p>
        </p:txBody>
      </p:sp>
      <p:sp>
        <p:nvSpPr>
          <p:cNvPr id="125" name="c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6" name="b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Send an HTTP request to a finance API for live data</a:t>
            </a:r>
          </a:p>
        </p:txBody>
      </p:sp>
      <p:sp>
        <p:nvSpPr>
          <p:cNvPr id="127" name="c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8" name="b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Parse the JSON response for the values you need</a:t>
            </a:r>
          </a:p>
        </p:txBody>
      </p:sp>
      <p:sp>
        <p:nvSpPr>
          <p:cNvPr id="129" name="c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0" name="b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177800" bIns="36000" anchor="ctr"/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Reply in Telegram with the formatted result</a:t>
            </a:r>
          </a:p>
        </p:txBody>
      </p:sp>
      <p:sp>
        <p:nvSpPr>
          <p:cNvPr id="131" name="b"/>
          <p:cNvSpPr/>
          <p:nvPr/>
        </p:nvSpPr>
        <p:spPr>
          <a:xfrm>
            <a:off x="7975600" y="2692400"/>
            <a:ext cx="3556000" cy="254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228600" tIns="36000" rIns="177800" bIns="36000" anchor="t"/>
          <a:lstStyle/>
          <a:p>
            <a:pPr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HTTP Request node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Finance API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JSON parsing</a:t>
            </a:r>
          </a:p>
          <a:p>
            <a:pPr algn="l"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Telegram reply</a:t>
            </a:r>
          </a:p>
        </p:txBody>
      </p:sp>
      <p:sp>
        <p:nvSpPr>
          <p:cNvPr id="132" name="b"/>
          <p:cNvSpPr/>
          <p:nvPr/>
        </p:nvSpPr>
        <p:spPr>
          <a:xfrm>
            <a:off x="7975600" y="5435600"/>
            <a:ext cx="35560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127000" tIns="36000" rIns="177800" bIns="36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F46E5"/>
                </a:solidFill>
              </a:rPr>
              <a:t>Builds on Activity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A731DA-F16A-2B54-3DBD-DEB2DB0A6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3073400"/>
            <a:ext cx="3352800" cy="178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4819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20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gradFill>
            <a:gsLst>
              <a:gs pos="0">
                <a:srgbClr val="8B5CF6"/>
              </a:gs>
              <a:gs pos="100000">
                <a:srgbClr val="6D28D9"/>
              </a:gs>
            </a:gsLst>
            <a:lin ang="5400000" scaled="1"/>
          </a:gra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/>
          </a:p>
        </p:txBody>
      </p:sp>
      <p:sp>
        <p:nvSpPr>
          <p:cNvPr id="201" name="s202"/>
          <p:cNvSpPr/>
          <p:nvPr/>
        </p:nvSpPr>
        <p:spPr>
          <a:xfrm>
            <a:off x="609600" y="1778000"/>
            <a:ext cx="381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2000" b="1" dirty="0">
                <a:solidFill>
                  <a:srgbClr val="EDE9FE"/>
                </a:solidFill>
              </a:rPr>
              <a:t>DAY THREE</a:t>
            </a:r>
          </a:p>
        </p:txBody>
      </p:sp>
      <p:sp>
        <p:nvSpPr>
          <p:cNvPr id="202" name="s203"/>
          <p:cNvSpPr/>
          <p:nvPr/>
        </p:nvSpPr>
        <p:spPr>
          <a:xfrm>
            <a:off x="508000" y="2032000"/>
            <a:ext cx="4064000" cy="215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3" name="s204"/>
          <p:cNvSpPr/>
          <p:nvPr/>
        </p:nvSpPr>
        <p:spPr>
          <a:xfrm>
            <a:off x="609600" y="4368800"/>
            <a:ext cx="3810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800" dirty="0">
                <a:solidFill>
                  <a:srgbClr val="EDE9FE"/>
                </a:solidFill>
              </a:rPr>
              <a:t>Safety, control &amp; your capstone</a:t>
            </a:r>
          </a:p>
        </p:txBody>
      </p:sp>
      <p:sp>
        <p:nvSpPr>
          <p:cNvPr id="204" name="s205"/>
          <p:cNvSpPr/>
          <p:nvPr/>
        </p:nvSpPr>
        <p:spPr>
          <a:xfrm>
            <a:off x="5207000" y="1905000"/>
            <a:ext cx="6350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8B5CF6"/>
                </a:solidFill>
              </a:rPr>
              <a:t>MORNING</a:t>
            </a:r>
          </a:p>
          <a:p>
            <a:pPr algn="l">
              <a:spcAft>
                <a:spcPts val="300"/>
              </a:spcAft>
              <a:buNone/>
            </a:pPr>
            <a:r>
              <a:rPr lang="en-US" sz="2600" b="1" dirty="0">
                <a:solidFill>
                  <a:srgbClr val="1E293B"/>
                </a:solidFill>
              </a:rPr>
              <a:t>Topic 5 · Security &amp; Guardrails</a:t>
            </a:r>
          </a:p>
          <a:p>
            <a:pPr algn="l">
              <a:buNone/>
            </a:pPr>
            <a:r>
              <a:rPr lang="en-US" sz="1700" dirty="0">
                <a:solidFill>
                  <a:srgbClr val="64748B"/>
                </a:solidFill>
              </a:rPr>
              <a:t>Human-in-the-loop reviews and guardrails that keep AI outputs safe.</a:t>
            </a:r>
          </a:p>
        </p:txBody>
      </p:sp>
      <p:sp>
        <p:nvSpPr>
          <p:cNvPr id="205" name="s206"/>
          <p:cNvSpPr/>
          <p:nvPr/>
        </p:nvSpPr>
        <p:spPr>
          <a:xfrm>
            <a:off x="5207000" y="4191000"/>
            <a:ext cx="6350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8B5CF6"/>
                </a:solidFill>
              </a:rPr>
              <a:t>AFTERNOON</a:t>
            </a:r>
          </a:p>
          <a:p>
            <a:pPr algn="l">
              <a:spcAft>
                <a:spcPts val="300"/>
              </a:spcAft>
              <a:buNone/>
            </a:pPr>
            <a:r>
              <a:rPr lang="en-US" sz="2600" b="1" dirty="0">
                <a:solidFill>
                  <a:srgbClr val="1E293B"/>
                </a:solidFill>
              </a:rPr>
              <a:t>Topic 6 · Mini Capstone</a:t>
            </a:r>
          </a:p>
          <a:p>
            <a:pPr algn="l">
              <a:buNone/>
            </a:pPr>
            <a:r>
              <a:rPr lang="en-US" sz="1700" dirty="0">
                <a:solidFill>
                  <a:srgbClr val="64748B"/>
                </a:solidFill>
              </a:rPr>
              <a:t>Design, build and present your own automation project.</a:t>
            </a:r>
          </a:p>
        </p:txBody>
      </p:sp>
    </p:spTree>
    <p:extLst>
      <p:ext uri="{BB962C8B-B14F-4D97-AF65-F5344CB8AC3E}">
        <p14:creationId xmlns:p14="http://schemas.microsoft.com/office/powerpoint/2010/main" val="33155207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0FCA-84F3-0040-A1FA-0F865449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5 · Security &amp; Guardrails</a:t>
            </a:r>
          </a:p>
        </p:txBody>
      </p:sp>
      <p:sp>
        <p:nvSpPr>
          <p:cNvPr id="200" name="s201"/>
          <p:cNvSpPr/>
          <p:nvPr/>
        </p:nvSpPr>
        <p:spPr>
          <a:xfrm>
            <a:off x="635000" y="1803400"/>
            <a:ext cx="10160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t">
            <a:normAutofit/>
          </a:bodyPr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Guardrails keep your AI safe and on-task; human-in-the-loop puts a person in control of risky actions.</a:t>
            </a:r>
          </a:p>
        </p:txBody>
      </p:sp>
      <p:sp>
        <p:nvSpPr>
          <p:cNvPr id="201" name="s202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2" name="s203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3" name="s204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Human-in-the-Loop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Pause the flow for a person to approve before the agent acts.</a:t>
            </a:r>
          </a:p>
        </p:txBody>
      </p:sp>
      <p:sp>
        <p:nvSpPr>
          <p:cNvPr id="204" name="s205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5" name="s206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6" name="s207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06B6D4"/>
                </a:solidFill>
              </a:rPr>
              <a:t>Guardrails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Rules that limit what the AI is allowed to say or do.</a:t>
            </a:r>
          </a:p>
        </p:txBody>
      </p:sp>
      <p:sp>
        <p:nvSpPr>
          <p:cNvPr id="207" name="s208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8" name="s209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09" name="s210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0B981"/>
                </a:solidFill>
              </a:rPr>
              <a:t>Input Checks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Filter or validate what users send before it reaches the agent.</a:t>
            </a:r>
          </a:p>
        </p:txBody>
      </p:sp>
      <p:sp>
        <p:nvSpPr>
          <p:cNvPr id="210" name="s211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11" name="s212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36000" tIns="36000" rIns="36000" bIns="36000" anchor="t">
            <a:normAutofit/>
          </a:bodyPr>
          <a:lstStyle/>
          <a:p>
            <a:endParaRPr/>
          </a:p>
        </p:txBody>
      </p:sp>
      <p:sp>
        <p:nvSpPr>
          <p:cNvPr id="212" name="s213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59E0B"/>
                </a:solidFill>
              </a:rPr>
              <a:t>Output Checks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Review or sanitise the agent's response before it is sent.</a:t>
            </a:r>
          </a:p>
        </p:txBody>
      </p:sp>
      <p:pic>
        <p:nvPicPr>
          <p:cNvPr id="213" name="Graphic 213" descr="Shield icon for secur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3952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Guardrails — Human in the Loop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 person reviews or approves the agent's work before it acts — keeping a human in control of high-stakes steps.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Human in the Loop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Pause the workflow and wait for a person to approve, edit, or reject before it continues.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Approval Step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Route risky actions — payments, emails, deletions — to a human for sign-off.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Review &amp; Edit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The reviewer can correct the agent's draft output before it is sent or saved.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When to Use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Best for high-risk, irreversible, or compliance-sensitive decisions.</a:t>
            </a:r>
          </a:p>
        </p:txBody>
      </p:sp>
      <p:pic>
        <p:nvPicPr>
          <p:cNvPr id="103" name="Graphic 103" descr="Human in the loop peop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8624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402-380E-3F1E-5512-4AEA207FF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Guardrails — Input &amp; Output Checks</a:t>
            </a:r>
          </a:p>
        </p:txBody>
      </p:sp>
      <p:sp>
        <p:nvSpPr>
          <p:cNvPr id="90" name="s"/>
          <p:cNvSpPr/>
          <p:nvPr/>
        </p:nvSpPr>
        <p:spPr>
          <a:xfrm>
            <a:off x="635000" y="18034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t"/>
          <a:lstStyle/>
          <a:p>
            <a:pPr algn="l">
              <a:buNone/>
            </a:pPr>
            <a:r>
              <a:rPr lang="en-US" sz="1800" dirty="0">
                <a:solidFill>
                  <a:srgbClr val="334155"/>
                </a:solidFill>
              </a:rPr>
              <a:t>Automated checks validate what goes into and comes out of the agent — catching problems without a human.</a:t>
            </a:r>
          </a:p>
        </p:txBody>
      </p:sp>
      <p:sp>
        <p:nvSpPr>
          <p:cNvPr id="91" name="s"/>
          <p:cNvSpPr/>
          <p:nvPr/>
        </p:nvSpPr>
        <p:spPr>
          <a:xfrm>
            <a:off x="6350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2" name="s"/>
          <p:cNvSpPr/>
          <p:nvPr/>
        </p:nvSpPr>
        <p:spPr>
          <a:xfrm>
            <a:off x="635000" y="2692400"/>
            <a:ext cx="88900" cy="1676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3" name="s"/>
          <p:cNvSpPr/>
          <p:nvPr/>
        </p:nvSpPr>
        <p:spPr>
          <a:xfrm>
            <a:off x="9398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Input Check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Screen incoming prompts for unsafe, off-topic, or malicious content before the agent runs.</a:t>
            </a:r>
          </a:p>
        </p:txBody>
      </p:sp>
      <p:sp>
        <p:nvSpPr>
          <p:cNvPr id="94" name="s"/>
          <p:cNvSpPr/>
          <p:nvPr/>
        </p:nvSpPr>
        <p:spPr>
          <a:xfrm>
            <a:off x="6337300" y="26924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5" name="s"/>
          <p:cNvSpPr/>
          <p:nvPr/>
        </p:nvSpPr>
        <p:spPr>
          <a:xfrm>
            <a:off x="6337300" y="2692400"/>
            <a:ext cx="88900" cy="1676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6" name="s"/>
          <p:cNvSpPr/>
          <p:nvPr/>
        </p:nvSpPr>
        <p:spPr>
          <a:xfrm>
            <a:off x="6642100" y="26924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Output Check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Validate the response for accuracy, format, and policy before it is delivered.</a:t>
            </a:r>
          </a:p>
        </p:txBody>
      </p:sp>
      <p:sp>
        <p:nvSpPr>
          <p:cNvPr id="97" name="s"/>
          <p:cNvSpPr/>
          <p:nvPr/>
        </p:nvSpPr>
        <p:spPr>
          <a:xfrm>
            <a:off x="6350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8" name="s"/>
          <p:cNvSpPr/>
          <p:nvPr/>
        </p:nvSpPr>
        <p:spPr>
          <a:xfrm>
            <a:off x="635000" y="4622800"/>
            <a:ext cx="88900" cy="1676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99" name="s"/>
          <p:cNvSpPr/>
          <p:nvPr/>
        </p:nvSpPr>
        <p:spPr>
          <a:xfrm>
            <a:off x="9398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Filter &amp; Sanitize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Block PII, profanity, prompt injection, and hallucinated or unsafe answers.</a:t>
            </a:r>
          </a:p>
        </p:txBody>
      </p:sp>
      <p:sp>
        <p:nvSpPr>
          <p:cNvPr id="100" name="s"/>
          <p:cNvSpPr/>
          <p:nvPr/>
        </p:nvSpPr>
        <p:spPr>
          <a:xfrm>
            <a:off x="6337300" y="4622800"/>
            <a:ext cx="53975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1" name="s"/>
          <p:cNvSpPr/>
          <p:nvPr/>
        </p:nvSpPr>
        <p:spPr>
          <a:xfrm>
            <a:off x="6337300" y="4622800"/>
            <a:ext cx="88900" cy="1676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/>
          </a:p>
        </p:txBody>
      </p:sp>
      <p:sp>
        <p:nvSpPr>
          <p:cNvPr id="102" name="s"/>
          <p:cNvSpPr/>
          <p:nvPr/>
        </p:nvSpPr>
        <p:spPr>
          <a:xfrm>
            <a:off x="6642100" y="4622800"/>
            <a:ext cx="4838700" cy="16764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91440" bIns="36000" anchor="ctr"/>
          <a:lstStyle/>
          <a:p>
            <a:pPr algn="l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4F46E5"/>
                </a:solidFill>
              </a:rPr>
              <a:t>Stay On-Track</a:t>
            </a:r>
          </a:p>
          <a:p>
            <a:pPr algn="l">
              <a:buNone/>
            </a:pPr>
            <a:r>
              <a:rPr lang="en-US" sz="1600" dirty="0">
                <a:solidFill>
                  <a:srgbClr val="334155"/>
                </a:solidFill>
              </a:rPr>
              <a:t>Keep the agent within scope — refuse out-of-bounds requests automatically.</a:t>
            </a:r>
          </a:p>
        </p:txBody>
      </p:sp>
      <p:pic>
        <p:nvPicPr>
          <p:cNvPr id="103" name="Graphic 103" descr="AI guardrail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20400" y="5588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4904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1BF29-C729-7FBA-7FD9-564762430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Activity 8 · Human-in-the-Loop &amp; Guardrails</a:t>
            </a:r>
          </a:p>
        </p:txBody>
      </p:sp>
      <p:sp>
        <p:nvSpPr>
          <p:cNvPr id="200" name="s201"/>
          <p:cNvSpPr/>
          <p:nvPr/>
        </p:nvSpPr>
        <p:spPr>
          <a:xfrm>
            <a:off x="10033000" y="635000"/>
            <a:ext cx="1498600" cy="38100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B45309"/>
                </a:solidFill>
              </a:rPr>
              <a:t>HANDS-ON</a:t>
            </a:r>
          </a:p>
        </p:txBody>
      </p:sp>
      <p:sp>
        <p:nvSpPr>
          <p:cNvPr id="201" name="s202"/>
          <p:cNvSpPr/>
          <p:nvPr/>
        </p:nvSpPr>
        <p:spPr>
          <a:xfrm>
            <a:off x="635000" y="1778000"/>
            <a:ext cx="10896600" cy="762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24000" tIns="36000" rIns="36000" bIns="36000" anchor="ctr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B45309"/>
                </a:solidFill>
              </a:rPr>
              <a:t>GOAL    </a:t>
            </a:r>
            <a:r>
              <a:rPr lang="en-US" sz="1700" dirty="0">
                <a:solidFill>
                  <a:srgbClr val="334155"/>
                </a:solidFill>
              </a:rPr>
              <a:t>Make your website chatbot safe — add an approval step and guardrails before it replies.</a:t>
            </a:r>
          </a:p>
        </p:txBody>
      </p:sp>
      <p:sp>
        <p:nvSpPr>
          <p:cNvPr id="202" name="s203"/>
          <p:cNvSpPr/>
          <p:nvPr/>
        </p:nvSpPr>
        <p:spPr>
          <a:xfrm>
            <a:off x="635000" y="2692400"/>
            <a:ext cx="685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t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STEPS TO BUILD</a:t>
            </a:r>
          </a:p>
        </p:txBody>
      </p:sp>
      <p:sp>
        <p:nvSpPr>
          <p:cNvPr id="203" name="s204"/>
          <p:cNvSpPr/>
          <p:nvPr/>
        </p:nvSpPr>
        <p:spPr>
          <a:xfrm>
            <a:off x="635000" y="31750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4" name="s205"/>
          <p:cNvSpPr/>
          <p:nvPr/>
        </p:nvSpPr>
        <p:spPr>
          <a:xfrm>
            <a:off x="1219200" y="30480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Add an input guardrail that filters or blocks risky messages.</a:t>
            </a:r>
          </a:p>
        </p:txBody>
      </p:sp>
      <p:sp>
        <p:nvSpPr>
          <p:cNvPr id="205" name="s206"/>
          <p:cNvSpPr/>
          <p:nvPr/>
        </p:nvSpPr>
        <p:spPr>
          <a:xfrm>
            <a:off x="635000" y="39624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6" name="s207"/>
          <p:cNvSpPr/>
          <p:nvPr/>
        </p:nvSpPr>
        <p:spPr>
          <a:xfrm>
            <a:off x="1219200" y="38354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Route sensitive requests to a human for approval.</a:t>
            </a:r>
          </a:p>
        </p:txBody>
      </p:sp>
      <p:sp>
        <p:nvSpPr>
          <p:cNvPr id="207" name="s208"/>
          <p:cNvSpPr/>
          <p:nvPr/>
        </p:nvSpPr>
        <p:spPr>
          <a:xfrm>
            <a:off x="635000" y="47498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8" name="s209"/>
          <p:cNvSpPr/>
          <p:nvPr/>
        </p:nvSpPr>
        <p:spPr>
          <a:xfrm>
            <a:off x="1219200" y="46228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Let the reviewer approve, edit, or reject the proposed reply.</a:t>
            </a:r>
          </a:p>
        </p:txBody>
      </p:sp>
      <p:sp>
        <p:nvSpPr>
          <p:cNvPr id="209" name="s210"/>
          <p:cNvSpPr/>
          <p:nvPr/>
        </p:nvSpPr>
        <p:spPr>
          <a:xfrm>
            <a:off x="635000" y="5537200"/>
            <a:ext cx="431800" cy="431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0" name="s211"/>
          <p:cNvSpPr/>
          <p:nvPr/>
        </p:nvSpPr>
        <p:spPr>
          <a:xfrm>
            <a:off x="1219200" y="5410200"/>
            <a:ext cx="6223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E293B"/>
                </a:solidFill>
              </a:rPr>
              <a:t>Apply an output guardrail before the message is sent.</a:t>
            </a:r>
          </a:p>
        </p:txBody>
      </p:sp>
      <p:sp>
        <p:nvSpPr>
          <p:cNvPr id="211" name="s212"/>
          <p:cNvSpPr/>
          <p:nvPr/>
        </p:nvSpPr>
        <p:spPr>
          <a:xfrm>
            <a:off x="7975600" y="2692400"/>
            <a:ext cx="3556000" cy="254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59E0B"/>
                </a:solidFill>
              </a:rPr>
              <a:t>YOU'LL USE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Guardrail rules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Human approval step</a:t>
            </a:r>
          </a:p>
          <a:p>
            <a:pPr algn="l"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Input &amp; output filters</a:t>
            </a:r>
          </a:p>
        </p:txBody>
      </p:sp>
      <p:sp>
        <p:nvSpPr>
          <p:cNvPr id="212" name="s213"/>
          <p:cNvSpPr/>
          <p:nvPr/>
        </p:nvSpPr>
        <p:spPr>
          <a:xfrm>
            <a:off x="7975600" y="5435600"/>
            <a:ext cx="3556000" cy="787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txBody>
          <a:bodyPr wrap="square" lIns="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4F46E5"/>
                </a:solidFill>
              </a:rPr>
              <a:t>Builds on Activity 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3A2283-B7F8-A64E-B21E-7FDEC469B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3454400"/>
            <a:ext cx="3352800" cy="99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3645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523A-23D4-E0AA-C2FA-981AA535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 6 · Mini Capstone Project</a:t>
            </a:r>
          </a:p>
        </p:txBody>
      </p:sp>
      <p:sp>
        <p:nvSpPr>
          <p:cNvPr id="200" name="s201"/>
          <p:cNvSpPr/>
          <p:nvPr/>
        </p:nvSpPr>
        <p:spPr>
          <a:xfrm>
            <a:off x="635000" y="1778000"/>
            <a:ext cx="10896600" cy="7366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DDD6FE"/>
            </a:solidFill>
          </a:ln>
        </p:spPr>
        <p:txBody>
          <a:bodyPr wrap="square" lIns="2400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Bring it all together — design, build and present one automation of your own.</a:t>
            </a:r>
          </a:p>
        </p:txBody>
      </p:sp>
      <p:sp>
        <p:nvSpPr>
          <p:cNvPr id="201" name="s202"/>
          <p:cNvSpPr/>
          <p:nvPr/>
        </p:nvSpPr>
        <p:spPr>
          <a:xfrm>
            <a:off x="635000" y="2717800"/>
            <a:ext cx="53975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0B981"/>
                </a:solidFill>
              </a:rPr>
              <a:t>MUST INCLUDE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A trigger — Telegram, webhook or form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An AI agent with a clear system instruction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At least one tool or external API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A guardrail or human-in-the-loop check</a:t>
            </a:r>
          </a:p>
        </p:txBody>
      </p:sp>
      <p:sp>
        <p:nvSpPr>
          <p:cNvPr id="202" name="s203"/>
          <p:cNvSpPr/>
          <p:nvPr/>
        </p:nvSpPr>
        <p:spPr>
          <a:xfrm>
            <a:off x="6337300" y="2717800"/>
            <a:ext cx="53975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B5CF6"/>
                </a:solidFill>
              </a:rPr>
              <a:t>IDEA STARTERS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8B5CF6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Customer FAQ assistant (RAG)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8B5CF6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Personal finance helper bot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8B5CF6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Website lead-capture chatbot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8B5CF6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Internal IT helpdesk agent</a:t>
            </a:r>
          </a:p>
        </p:txBody>
      </p:sp>
    </p:spTree>
    <p:extLst>
      <p:ext uri="{BB962C8B-B14F-4D97-AF65-F5344CB8AC3E}">
        <p14:creationId xmlns:p14="http://schemas.microsoft.com/office/powerpoint/2010/main" val="102294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418A-08B3-2C5F-E515-1DA9E598F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Capstone Presentations &amp; Review</a:t>
            </a:r>
          </a:p>
        </p:txBody>
      </p:sp>
      <p:sp>
        <p:nvSpPr>
          <p:cNvPr id="200" name="s201"/>
          <p:cNvSpPr/>
          <p:nvPr/>
        </p:nvSpPr>
        <p:spPr>
          <a:xfrm>
            <a:off x="635000" y="1778000"/>
            <a:ext cx="10896600" cy="736600"/>
          </a:xfrm>
          <a:prstGeom prst="roundRect">
            <a:avLst/>
          </a:prstGeom>
          <a:solidFill>
            <a:srgbClr val="ECFEFF"/>
          </a:solidFill>
          <a:ln w="9525">
            <a:solidFill>
              <a:srgbClr val="A5F3FC"/>
            </a:solidFill>
          </a:ln>
        </p:spPr>
        <p:txBody>
          <a:bodyPr wrap="square" lIns="24000" tIns="36000" rIns="36000" bIns="36000" anchor="ctr">
            <a:normAutofit/>
          </a:bodyPr>
          <a:lstStyle/>
          <a:p>
            <a:pPr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The finish line — present your project and show what you built.</a:t>
            </a:r>
          </a:p>
        </p:txBody>
      </p:sp>
      <p:sp>
        <p:nvSpPr>
          <p:cNvPr id="201" name="s202"/>
          <p:cNvSpPr/>
          <p:nvPr/>
        </p:nvSpPr>
        <p:spPr>
          <a:xfrm>
            <a:off x="635000" y="2717800"/>
            <a:ext cx="53975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6B6D4"/>
                </a:solidFill>
              </a:rPr>
              <a:t>YOUR 5-MINUTE SHARE</a:t>
            </a:r>
          </a:p>
          <a:p>
            <a:pPr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Demo your automation live</a:t>
            </a:r>
          </a:p>
          <a:p>
            <a:pPr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Walk through how you built the flow</a:t>
            </a:r>
          </a:p>
          <a:p>
            <a:pPr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6B6D4"/>
                </a:solidFill>
              </a:rPr>
              <a:t>•  </a:t>
            </a:r>
            <a:r>
              <a:rPr lang="en-US" sz="1600" dirty="0">
                <a:solidFill>
                  <a:srgbClr val="334155"/>
                </a:solidFill>
              </a:rPr>
              <a:t>Share one challenge you solved</a:t>
            </a:r>
          </a:p>
        </p:txBody>
      </p:sp>
      <p:sp>
        <p:nvSpPr>
          <p:cNvPr id="202" name="s203"/>
          <p:cNvSpPr/>
          <p:nvPr/>
        </p:nvSpPr>
        <p:spPr>
          <a:xfrm>
            <a:off x="6337300" y="2717800"/>
            <a:ext cx="539750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6000" tIns="36000" rIns="36000" bIns="36000" anchor="t">
            <a:norm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9E0B"/>
                </a:solidFill>
              </a:rPr>
              <a:t>WHAT WE LOOK FOR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Works end-to-end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Clever use of AI agents &amp; RAG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Solves a real-world problem</a:t>
            </a:r>
          </a:p>
          <a:p>
            <a:pPr algn="l">
              <a:spcAft>
                <a:spcPts val="260"/>
              </a:spcAft>
              <a:buNone/>
            </a:pPr>
            <a:r>
              <a:rPr lang="en-US" sz="1600" b="1" dirty="0">
                <a:solidFill>
                  <a:srgbClr val="10B981"/>
                </a:solidFill>
              </a:rPr>
              <a:t>✓  </a:t>
            </a:r>
            <a:r>
              <a:rPr lang="en-US" sz="1600" dirty="0">
                <a:solidFill>
                  <a:srgbClr val="334155"/>
                </a:solidFill>
              </a:rPr>
              <a:t>Includes a guardrail or human check</a:t>
            </a:r>
          </a:p>
        </p:txBody>
      </p:sp>
    </p:spTree>
    <p:extLst>
      <p:ext uri="{BB962C8B-B14F-4D97-AF65-F5344CB8AC3E}">
        <p14:creationId xmlns:p14="http://schemas.microsoft.com/office/powerpoint/2010/main" val="34759852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B915-5B44-4F3E-BA07-CE58E407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 8 Activities + Capstone</a:t>
            </a:r>
          </a:p>
        </p:txBody>
      </p:sp>
    </p:spTree>
    <p:extLst>
      <p:ext uri="{BB962C8B-B14F-4D97-AF65-F5344CB8AC3E}">
        <p14:creationId xmlns:p14="http://schemas.microsoft.com/office/powerpoint/2010/main" val="2986785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88517828]">
  <a:themeElements>
    <a:clrScheme name="Office">
      <a:dk1>
        <a:srgbClr val="1E293B"/>
      </a:dk1>
      <a:lt1>
        <a:srgbClr val="F7F9FC"/>
      </a:lt1>
      <a:dk2>
        <a:srgbClr val="334155"/>
      </a:dk2>
      <a:lt2>
        <a:srgbClr val="E2E8F0"/>
      </a:lt2>
      <a:accent1>
        <a:srgbClr val="4F46E5"/>
      </a:accent1>
      <a:accent2>
        <a:srgbClr val="06B6D4"/>
      </a:accent2>
      <a:accent3>
        <a:srgbClr val="F59E0B"/>
      </a:accent3>
      <a:accent4>
        <a:srgbClr val="10B981"/>
      </a:accent4>
      <a:accent5>
        <a:srgbClr val="EC4899"/>
      </a:accent5>
      <a:accent6>
        <a:srgbClr val="8B5CF6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aster WSQ Slides Templat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766E989-4569-4C9B-B36D-75D189B19F2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f995a6cc-d2c7-4747-b939-16b11a0f179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4079</Words>
  <Application>Microsoft Office PowerPoint</Application>
  <PresentationFormat>Widescreen</PresentationFormat>
  <Paragraphs>579</Paragraphs>
  <Slides>51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51</vt:i4>
      </vt:variant>
    </vt:vector>
  </HeadingPairs>
  <TitlesOfParts>
    <vt:vector size="61" baseType="lpstr">
      <vt:lpstr>Aptos</vt:lpstr>
      <vt:lpstr>Arial</vt:lpstr>
      <vt:lpstr>Consolas</vt:lpstr>
      <vt:lpstr>Montserrat</vt:lpstr>
      <vt:lpstr>Open Sans</vt:lpstr>
      <vt:lpstr>Symbol</vt:lpstr>
      <vt:lpstr>Times New Roman</vt:lpstr>
      <vt:lpstr>Wingdings</vt:lpstr>
      <vt:lpstr>Office Theme [1782188517828]</vt:lpstr>
      <vt:lpstr>Master WSQ Slides Template</vt:lpstr>
      <vt:lpstr>AI Automation &amp; Agents</vt:lpstr>
      <vt:lpstr>Agenda at a Glance</vt:lpstr>
      <vt:lpstr>How the Course Works</vt:lpstr>
      <vt:lpstr>PowerPoint Presentation</vt:lpstr>
      <vt:lpstr>Topic 1 · Flows</vt:lpstr>
      <vt:lpstr>The n8n Workflow Editor</vt:lpstr>
      <vt:lpstr>Triggers · What Starts a Flow</vt:lpstr>
      <vt:lpstr>Core Action Nodes</vt:lpstr>
      <vt:lpstr>Data is JSON</vt:lpstr>
      <vt:lpstr>IF / Else Logic</vt:lpstr>
      <vt:lpstr>Activity 1 · Flyer with QR Code</vt:lpstr>
      <vt:lpstr>Activity 1 · The n8n Flow</vt:lpstr>
      <vt:lpstr>Activity 2 · Capture Data in a Table</vt:lpstr>
      <vt:lpstr>Activity 3 · Conditional Response</vt:lpstr>
      <vt:lpstr>Topic 2 · AI Agents</vt:lpstr>
      <vt:lpstr>What is an AI Agent?</vt:lpstr>
      <vt:lpstr>AI Agent in a Workflow</vt:lpstr>
      <vt:lpstr>AI Agent in a Workflow — Built in n8n</vt:lpstr>
      <vt:lpstr>Why Use AI Agents?</vt:lpstr>
      <vt:lpstr>Agent Tools</vt:lpstr>
      <vt:lpstr>Writing Good System Instructions</vt:lpstr>
      <vt:lpstr>Activity 4 · Telegram-Triggered AI Agent</vt:lpstr>
      <vt:lpstr>RAG · Retrieval-Augmented Generation</vt:lpstr>
      <vt:lpstr>What is RAG?</vt:lpstr>
      <vt:lpstr>The RAG Process</vt:lpstr>
      <vt:lpstr>RAG Architecture at a Glance</vt:lpstr>
      <vt:lpstr>Why Use RAG?</vt:lpstr>
      <vt:lpstr>Tokenization &amp; Embedding</vt:lpstr>
      <vt:lpstr>From Text to Vectors</vt:lpstr>
      <vt:lpstr>Agent Retrieval from the Store</vt:lpstr>
      <vt:lpstr>Retrieval in n8n — Vector Store as a Tool</vt:lpstr>
      <vt:lpstr>Activity 5 · Build a RAG FAQ Bot</vt:lpstr>
      <vt:lpstr>PowerPoint Presentation</vt:lpstr>
      <vt:lpstr>Topic 3 · Webhooks</vt:lpstr>
      <vt:lpstr>URL &amp; HTTP Methods</vt:lpstr>
      <vt:lpstr>What is a Webhook?</vt:lpstr>
      <vt:lpstr>Setting Up a Webhook</vt:lpstr>
      <vt:lpstr>What is an HTTP Request?</vt:lpstr>
      <vt:lpstr>Setting Up an HTTP Request</vt:lpstr>
      <vt:lpstr>Webhook vs HTTP Request</vt:lpstr>
      <vt:lpstr>Activity 6 · Website Chatbot</vt:lpstr>
      <vt:lpstr>Topic 4 · API &amp; HTTP Request</vt:lpstr>
      <vt:lpstr>Activity 7 · Finance Data to Telegram</vt:lpstr>
      <vt:lpstr>PowerPoint Presentation</vt:lpstr>
      <vt:lpstr>Topic 5 · Security &amp; Guardrails</vt:lpstr>
      <vt:lpstr>Manual Guardrails — Human in the Loop</vt:lpstr>
      <vt:lpstr>AI Guardrails — Input &amp; Output Checks</vt:lpstr>
      <vt:lpstr>Activity 8 · Human-in-the-Loop &amp; Guardrails</vt:lpstr>
      <vt:lpstr>Topic 6 · Mini Capstone Project</vt:lpstr>
      <vt:lpstr>Capstone Presentations &amp; Review</vt:lpstr>
      <vt:lpstr>All 8 Activities + Capstone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Woei Ming Tan</dc:creator>
  <cp:lastModifiedBy>Woei Ming Tan</cp:lastModifiedBy>
  <cp:revision>15</cp:revision>
  <dcterms:created xsi:type="dcterms:W3CDTF">2026-06-23T04:21:57Z</dcterms:created>
  <dcterms:modified xsi:type="dcterms:W3CDTF">2026-06-24T04:55:22Z</dcterms:modified>
</cp:coreProperties>
</file>