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n8n-course-logo.png"/>
          <p:cNvPicPr>
            <a:picLocks noChangeAspect="1"/>
          </p:cNvPicPr>
          <p:nvPr/>
        </p:nvPicPr>
        <p:blipFill>
          <a:blip r:embed="rId3"/>
          <a:stretch>
            <a:fillRect/>
          </a:stretch>
        </p:blipFill>
        <p:spPr>
          <a:xfrm>
            <a:off x="10424160" y="658368"/>
            <a:ext cx="914400" cy="914400"/>
          </a:xfrm>
          <a:prstGeom prst="rect">
            <a:avLst/>
          </a:prstGeom>
        </p:spPr>
      </p:pic>
      <p:sp>
        <p:nvSpPr>
          <p:cNvPr id="7" name="TextBox 6"/>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LEARNER GUIDE  ·  COURSE SLIDES</a:t>
            </a:r>
          </a:p>
        </p:txBody>
      </p:sp>
      <p:sp>
        <p:nvSpPr>
          <p:cNvPr id="8" name="TextBox 7"/>
          <p:cNvSpPr txBox="1"/>
          <p:nvPr/>
        </p:nvSpPr>
        <p:spPr>
          <a:xfrm>
            <a:off x="822960" y="2651760"/>
            <a:ext cx="10972800" cy="1463040"/>
          </a:xfrm>
          <a:prstGeom prst="rect">
            <a:avLst/>
          </a:prstGeom>
          <a:noFill/>
        </p:spPr>
        <p:txBody>
          <a:bodyPr wrap="square" anchor="t" lIns="0" rIns="0" tIns="0" bIns="0">
            <a:spAutoFit/>
          </a:bodyPr>
          <a:lstStyle/>
          <a:p>
            <a:pPr algn="l">
              <a:spcBef>
                <a:spcPts val="0"/>
              </a:spcBef>
              <a:spcAft>
                <a:spcPts val="400"/>
              </a:spcAft>
            </a:pPr>
            <a:r>
              <a:rPr sz="4600" b="1">
                <a:solidFill>
                  <a:srgbClr val="161B26"/>
                </a:solidFill>
                <a:latin typeface="Arial"/>
              </a:rPr>
              <a:t>Agentic AI Automation with n8n</a:t>
            </a:r>
          </a:p>
        </p:txBody>
      </p:sp>
      <p:sp>
        <p:nvSpPr>
          <p:cNvPr id="9" name="Rectangle 8"/>
          <p:cNvSpPr/>
          <p:nvPr/>
        </p:nvSpPr>
        <p:spPr>
          <a:xfrm>
            <a:off x="841248" y="393192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5196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TGS-2023035977</a:t>
            </a:r>
          </a:p>
          <a:p>
            <a:pPr algn="l">
              <a:spcBef>
                <a:spcPts val="0"/>
              </a:spcBef>
              <a:spcAft>
                <a:spcPts val="600"/>
              </a:spcAft>
            </a:pPr>
            <a:r>
              <a:rPr sz="1400" b="0">
                <a:solidFill>
                  <a:srgbClr val="5B6372"/>
                </a:solidFill>
                <a:latin typeface="Arial"/>
              </a:rPr>
              <a:t>Conducted by Tertiary Infotech Academy Pte Ltd  ·  UEN 201200696W</a:t>
            </a:r>
          </a:p>
          <a:p>
            <a:pPr algn="l">
              <a:spcBef>
                <a:spcPts val="0"/>
              </a:spcBef>
              <a:spcAft>
                <a:spcPts val="600"/>
              </a:spcAft>
            </a:pPr>
            <a:r>
              <a:rPr sz="1400" b="1">
                <a:solidFill>
                  <a:srgbClr val="1F6FEB"/>
                </a:solidFill>
                <a:latin typeface="Arial"/>
              </a:rPr>
              <a:t>Version v47  ·  8 Aug 2026</a:t>
            </a:r>
          </a:p>
        </p:txBody>
      </p:sp>
      <p:sp>
        <p:nvSpPr>
          <p:cNvPr id="11" name="TextBox 10"/>
          <p:cNvSpPr txBox="1"/>
          <p:nvPr/>
        </p:nvSpPr>
        <p:spPr>
          <a:xfrm>
            <a:off x="822960" y="598932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Digital Attendance (Mandatory)</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It is mandatory to take the AM, PM and Assessment digital attendance for WSQ-funded courses.</a:t>
            </a:r>
          </a:p>
          <a:p>
            <a:pPr>
              <a:spcBef>
                <a:spcPts val="0"/>
              </a:spcBef>
              <a:spcAft>
                <a:spcPts val="1000"/>
              </a:spcAft>
            </a:pPr>
            <a:r>
              <a:rPr sz="2000" b="1">
                <a:solidFill>
                  <a:srgbClr val="1F6FEB"/>
                </a:solidFill>
                <a:latin typeface="Arial"/>
              </a:rPr>
              <a:t>•  </a:t>
            </a:r>
            <a:r>
              <a:rPr sz="2000">
                <a:solidFill>
                  <a:srgbClr val="161B26"/>
                </a:solidFill>
                <a:latin typeface="Arial"/>
              </a:rPr>
              <a:t>The trainer/administrator will display the digital attendance QR code generated from the SSG portal.</a:t>
            </a:r>
          </a:p>
          <a:p>
            <a:pPr>
              <a:spcBef>
                <a:spcPts val="0"/>
              </a:spcBef>
              <a:spcAft>
                <a:spcPts val="1000"/>
              </a:spcAft>
            </a:pPr>
            <a:r>
              <a:rPr sz="2000" b="1">
                <a:solidFill>
                  <a:srgbClr val="1F6FEB"/>
                </a:solidFill>
                <a:latin typeface="Arial"/>
              </a:rPr>
              <a:t>•  </a:t>
            </a:r>
            <a:r>
              <a:rPr sz="2000">
                <a:solidFill>
                  <a:srgbClr val="161B26"/>
                </a:solidFill>
                <a:latin typeface="Arial"/>
              </a:rPr>
              <a:t>Scan the QR code with your mobile phone camera and submit your attendance.</a:t>
            </a:r>
          </a:p>
          <a:p>
            <a:pPr>
              <a:spcBef>
                <a:spcPts val="0"/>
              </a:spcBef>
              <a:spcAft>
                <a:spcPts val="1000"/>
              </a:spcAft>
            </a:pPr>
            <a:r>
              <a:rPr sz="2000" b="1">
                <a:solidFill>
                  <a:srgbClr val="1F6FEB"/>
                </a:solidFill>
                <a:latin typeface="Arial"/>
              </a:rPr>
              <a:t>•  </a:t>
            </a:r>
            <a:r>
              <a:rPr sz="2000">
                <a:solidFill>
                  <a:srgbClr val="161B26"/>
                </a:solidFill>
                <a:latin typeface="Arial"/>
              </a:rPr>
              <a:t>A minimum of 75% attendance is required to be eligible for assessment and funding.</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YOUR TRAINER · GENERAL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lIns="0" rIns="0" tIns="0" bIns="0">
            <a:spAutoFit/>
          </a:bodyPr>
          <a:lstStyle/>
          <a:p>
            <a:pPr algn="ctr">
              <a:spcBef>
                <a:spcPts val="0"/>
              </a:spcBef>
              <a:spcAft>
                <a:spcPts val="400"/>
              </a:spcAft>
            </a:pPr>
            <a:r>
              <a:rPr sz="4400" b="1">
                <a:solidFill>
                  <a:srgbClr val="FFFFFF"/>
                </a:solidFill>
                <a:latin typeface="Arial"/>
              </a:rPr>
              <a:t>?</a:t>
            </a:r>
          </a:p>
        </p:txBody>
      </p:sp>
      <p:sp>
        <p:nvSpPr>
          <p:cNvPr id="10" name="TextBox 9"/>
          <p:cNvSpPr txBox="1"/>
          <p:nvPr/>
        </p:nvSpPr>
        <p:spPr>
          <a:xfrm>
            <a:off x="914400" y="4160520"/>
            <a:ext cx="3063240" cy="548640"/>
          </a:xfrm>
          <a:prstGeom prst="rect">
            <a:avLst/>
          </a:prstGeom>
          <a:noFill/>
        </p:spPr>
        <p:txBody>
          <a:bodyPr wrap="square" anchor="t" lIns="0" rIns="0" tIns="0" bIns="0">
            <a:spAutoFit/>
          </a:bodyPr>
          <a:lstStyle/>
          <a:p>
            <a:pPr algn="ctr">
              <a:spcBef>
                <a:spcPts val="0"/>
              </a:spcBef>
              <a:spcAft>
                <a:spcPts val="400"/>
              </a:spcAft>
            </a:pPr>
            <a:r>
              <a:rPr sz="2100" b="1">
                <a:solidFill>
                  <a:srgbClr val="161B26"/>
                </a:solidFill>
                <a:latin typeface="Arial"/>
              </a:rPr>
              <a:t>Your Trainer</a:t>
            </a:r>
          </a:p>
        </p:txBody>
      </p:sp>
      <p:sp>
        <p:nvSpPr>
          <p:cNvPr id="11" name="TextBox 10"/>
          <p:cNvSpPr txBox="1"/>
          <p:nvPr/>
        </p:nvSpPr>
        <p:spPr>
          <a:xfrm>
            <a:off x="914400" y="4754880"/>
            <a:ext cx="3063240" cy="109728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General Trainer template —
to be completed by the trainer</a:t>
            </a:r>
          </a:p>
        </p:txBody>
      </p:sp>
      <p:sp>
        <p:nvSpPr>
          <p:cNvPr id="12" name="Rectangle 11"/>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NAME</a:t>
            </a:r>
          </a:p>
          <a:p>
            <a:pPr algn="l">
              <a:spcBef>
                <a:spcPts val="0"/>
              </a:spcBef>
              <a:spcAft>
                <a:spcPts val="300"/>
              </a:spcAft>
            </a:pPr>
            <a:r>
              <a:rPr sz="1300" b="0">
                <a:solidFill>
                  <a:srgbClr val="E2E8F0"/>
                </a:solidFill>
                <a:latin typeface="Arial"/>
              </a:rPr>
              <a:t>____________________________________________</a:t>
            </a:r>
          </a:p>
        </p:txBody>
      </p:sp>
      <p:sp>
        <p:nvSpPr>
          <p:cNvPr id="15" name="Rectangle 14"/>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52984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TITLE / DESIGNATION</a:t>
            </a:r>
          </a:p>
          <a:p>
            <a:pPr algn="l">
              <a:spcBef>
                <a:spcPts val="0"/>
              </a:spcBef>
              <a:spcAft>
                <a:spcPts val="300"/>
              </a:spcAft>
            </a:pPr>
            <a:r>
              <a:rPr sz="1300" b="0">
                <a:solidFill>
                  <a:srgbClr val="E2E8F0"/>
                </a:solidFill>
                <a:latin typeface="Arial"/>
              </a:rPr>
              <a:t>____________________________________________</a:t>
            </a:r>
          </a:p>
        </p:txBody>
      </p:sp>
      <p:sp>
        <p:nvSpPr>
          <p:cNvPr id="18" name="Rectangle 17"/>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327660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7C3AED"/>
                </a:solidFill>
                <a:latin typeface="Arial"/>
              </a:rPr>
              <a:t>QUALIFICATIONS</a:t>
            </a:r>
          </a:p>
          <a:p>
            <a:pPr algn="l">
              <a:spcBef>
                <a:spcPts val="0"/>
              </a:spcBef>
              <a:spcAft>
                <a:spcPts val="300"/>
              </a:spcAft>
            </a:pPr>
            <a:r>
              <a:rPr sz="1300" b="0">
                <a:solidFill>
                  <a:srgbClr val="E2E8F0"/>
                </a:solidFill>
                <a:latin typeface="Arial"/>
              </a:rPr>
              <a:t>____________________________________________</a:t>
            </a:r>
          </a:p>
        </p:txBody>
      </p:sp>
      <p:sp>
        <p:nvSpPr>
          <p:cNvPr id="21" name="Rectangle 20"/>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402336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F59E0B"/>
                </a:solidFill>
                <a:latin typeface="Arial"/>
              </a:rPr>
              <a:t>AREAS OF EXPERTISE</a:t>
            </a:r>
          </a:p>
          <a:p>
            <a:pPr algn="l">
              <a:spcBef>
                <a:spcPts val="0"/>
              </a:spcBef>
              <a:spcAft>
                <a:spcPts val="300"/>
              </a:spcAft>
            </a:pPr>
            <a:r>
              <a:rPr sz="1300" b="0">
                <a:solidFill>
                  <a:srgbClr val="E2E8F0"/>
                </a:solidFill>
                <a:latin typeface="Arial"/>
              </a:rPr>
              <a:t>____________________________________________</a:t>
            </a:r>
          </a:p>
        </p:txBody>
      </p:sp>
      <p:sp>
        <p:nvSpPr>
          <p:cNvPr id="24" name="Rectangle 23"/>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73168" y="477012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TRAINING &amp; INDUSTRY EXPERIENCE</a:t>
            </a:r>
          </a:p>
          <a:p>
            <a:pPr algn="l">
              <a:spcBef>
                <a:spcPts val="0"/>
              </a:spcBef>
              <a:spcAft>
                <a:spcPts val="300"/>
              </a:spcAft>
            </a:pPr>
            <a:r>
              <a:rPr sz="1300" b="0">
                <a:solidFill>
                  <a:srgbClr val="E2E8F0"/>
                </a:solidFill>
                <a:latin typeface="Arial"/>
              </a:rPr>
              <a:t>____________________________________________</a:t>
            </a:r>
          </a:p>
        </p:txBody>
      </p:sp>
      <p:sp>
        <p:nvSpPr>
          <p:cNvPr id="27" name="Rectangle 26"/>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551688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CONTACT</a:t>
            </a:r>
          </a:p>
          <a:p>
            <a:pPr algn="l">
              <a:spcBef>
                <a:spcPts val="0"/>
              </a:spcBef>
              <a:spcAft>
                <a:spcPts val="300"/>
              </a:spcAft>
            </a:pPr>
            <a:r>
              <a:rPr sz="1300" b="0">
                <a:solidFill>
                  <a:srgbClr val="E2E8F0"/>
                </a:solidFill>
                <a:latin typeface="Arial"/>
              </a:rPr>
              <a:t>____________________________________________</a:t>
            </a:r>
          </a:p>
        </p:txBody>
      </p:sp>
      <p:sp>
        <p:nvSpPr>
          <p:cNvPr id="30" name="TextBox 2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1" name="TextBox 3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2" name="TextBox 3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lIns="0" rIns="0" tIns="0" bIns="0">
            <a:spAutoFit/>
          </a:bodyPr>
          <a:lstStyle/>
          <a:p>
            <a:pPr algn="ctr">
              <a:spcBef>
                <a:spcPts val="0"/>
              </a:spcBef>
              <a:spcAft>
                <a:spcPts val="400"/>
              </a:spcAft>
            </a:pPr>
            <a:r>
              <a:rPr sz="4400" b="1">
                <a:solidFill>
                  <a:srgbClr val="FFFFFF"/>
                </a:solidFill>
                <a:latin typeface="Arial"/>
              </a:rPr>
              <a:t>AA</a:t>
            </a:r>
          </a:p>
        </p:txBody>
      </p:sp>
      <p:sp>
        <p:nvSpPr>
          <p:cNvPr id="10" name="TextBox 9"/>
          <p:cNvSpPr txBox="1"/>
          <p:nvPr/>
        </p:nvSpPr>
        <p:spPr>
          <a:xfrm>
            <a:off x="914400" y="4160520"/>
            <a:ext cx="3063240" cy="548640"/>
          </a:xfrm>
          <a:prstGeom prst="rect">
            <a:avLst/>
          </a:prstGeom>
          <a:noFill/>
        </p:spPr>
        <p:txBody>
          <a:bodyPr wrap="square" anchor="t" lIns="0" rIns="0" tIns="0" bIns="0">
            <a:spAutoFit/>
          </a:bodyPr>
          <a:lstStyle/>
          <a:p>
            <a:pPr algn="ctr">
              <a:spcBef>
                <a:spcPts val="0"/>
              </a:spcBef>
              <a:spcAft>
                <a:spcPts val="400"/>
              </a:spcAft>
            </a:pPr>
            <a:r>
              <a:rPr sz="2100" b="1">
                <a:solidFill>
                  <a:srgbClr val="161B26"/>
                </a:solidFill>
                <a:latin typeface="Arial"/>
              </a:rPr>
              <a:t>Dr. Alfred Ang</a:t>
            </a:r>
          </a:p>
        </p:txBody>
      </p:sp>
      <p:sp>
        <p:nvSpPr>
          <p:cNvPr id="11" name="TextBox 10"/>
          <p:cNvSpPr txBox="1"/>
          <p:nvPr/>
        </p:nvSpPr>
        <p:spPr>
          <a:xfrm>
            <a:off x="914400" y="4754880"/>
            <a:ext cx="3063240" cy="109728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Principal Trainer
Tertiary Infotech Academy Pte. Ltd.</a:t>
            </a:r>
          </a:p>
        </p:txBody>
      </p:sp>
      <p:sp>
        <p:nvSpPr>
          <p:cNvPr id="12" name="Rectangle 11"/>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ROLE</a:t>
            </a:r>
          </a:p>
          <a:p>
            <a:pPr algn="l">
              <a:spcBef>
                <a:spcPts val="0"/>
              </a:spcBef>
              <a:spcAft>
                <a:spcPts val="300"/>
              </a:spcAft>
            </a:pPr>
            <a:r>
              <a:rPr sz="1400" b="0">
                <a:solidFill>
                  <a:srgbClr val="161B26"/>
                </a:solidFill>
                <a:latin typeface="Arial"/>
              </a:rPr>
              <a:t>Principal Trainer, Tertiary Infotech Academy Pte. Ltd.</a:t>
            </a:r>
          </a:p>
        </p:txBody>
      </p:sp>
      <p:sp>
        <p:nvSpPr>
          <p:cNvPr id="15" name="Rectangle 14"/>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90322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QUALIFICATIONS</a:t>
            </a:r>
          </a:p>
          <a:p>
            <a:pPr algn="l">
              <a:spcBef>
                <a:spcPts val="0"/>
              </a:spcBef>
              <a:spcAft>
                <a:spcPts val="300"/>
              </a:spcAft>
            </a:pPr>
            <a:r>
              <a:rPr sz="1400" b="0">
                <a:solidFill>
                  <a:srgbClr val="161B26"/>
                </a:solidFill>
                <a:latin typeface="Arial"/>
              </a:rPr>
              <a:t>PhD — specialises in AI, automation and software engineering.</a:t>
            </a:r>
          </a:p>
        </p:txBody>
      </p:sp>
      <p:sp>
        <p:nvSpPr>
          <p:cNvPr id="18" name="Rectangle 17"/>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402336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7C3AED"/>
                </a:solidFill>
                <a:latin typeface="Arial"/>
              </a:rPr>
              <a:t>DELIVERS</a:t>
            </a:r>
          </a:p>
          <a:p>
            <a:pPr algn="l">
              <a:spcBef>
                <a:spcPts val="0"/>
              </a:spcBef>
              <a:spcAft>
                <a:spcPts val="300"/>
              </a:spcAft>
            </a:pPr>
            <a:r>
              <a:rPr sz="1400" b="0">
                <a:solidFill>
                  <a:srgbClr val="161B26"/>
                </a:solidFill>
                <a:latin typeface="Arial"/>
              </a:rPr>
              <a:t>WSQ courses on AI agents, automation (n8n) and app development.</a:t>
            </a:r>
          </a:p>
        </p:txBody>
      </p:sp>
      <p:sp>
        <p:nvSpPr>
          <p:cNvPr id="21" name="Rectangle 20"/>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514350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F59E0B"/>
                </a:solidFill>
                <a:latin typeface="Arial"/>
              </a:rPr>
              <a:t>FOUNDER</a:t>
            </a:r>
          </a:p>
          <a:p>
            <a:pPr algn="l">
              <a:spcBef>
                <a:spcPts val="0"/>
              </a:spcBef>
              <a:spcAft>
                <a:spcPts val="300"/>
              </a:spcAft>
            </a:pPr>
            <a:r>
              <a:rPr sz="1400" b="0">
                <a:solidFill>
                  <a:srgbClr val="161B26"/>
                </a:solidFill>
                <a:latin typeface="Arial"/>
              </a:rPr>
              <a:t>Founder and lead instructor at Tertiary Infotech / Tertiary Courses.</a:t>
            </a:r>
          </a:p>
        </p:txBody>
      </p:sp>
      <p:sp>
        <p:nvSpPr>
          <p:cNvPr id="24" name="TextBox 2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Let's Know Each Other</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Your name and organisation / role.</a:t>
            </a:r>
          </a:p>
          <a:p>
            <a:pPr>
              <a:spcBef>
                <a:spcPts val="0"/>
              </a:spcBef>
              <a:spcAft>
                <a:spcPts val="1000"/>
              </a:spcAft>
            </a:pPr>
            <a:r>
              <a:rPr sz="2000" b="1">
                <a:solidFill>
                  <a:srgbClr val="1F6FEB"/>
                </a:solidFill>
                <a:latin typeface="Arial"/>
              </a:rPr>
              <a:t>•  </a:t>
            </a:r>
            <a:r>
              <a:rPr sz="2000">
                <a:solidFill>
                  <a:srgbClr val="161B26"/>
                </a:solidFill>
                <a:latin typeface="Arial"/>
              </a:rPr>
              <a:t>Your experience with automation or AI tools (if any).</a:t>
            </a:r>
          </a:p>
          <a:p>
            <a:pPr>
              <a:spcBef>
                <a:spcPts val="0"/>
              </a:spcBef>
              <a:spcAft>
                <a:spcPts val="1000"/>
              </a:spcAft>
            </a:pPr>
            <a:r>
              <a:rPr sz="2000" b="1">
                <a:solidFill>
                  <a:srgbClr val="1F6FEB"/>
                </a:solidFill>
                <a:latin typeface="Arial"/>
              </a:rPr>
              <a:t>•  </a:t>
            </a:r>
            <a:r>
              <a:rPr sz="2000">
                <a:solidFill>
                  <a:srgbClr val="161B26"/>
                </a:solidFill>
                <a:latin typeface="Arial"/>
              </a:rPr>
              <a:t>What you want to automate after this course.</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HOUSEKEEPING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75% attendance is required.</a:t>
            </a:r>
          </a:p>
        </p:txBody>
      </p:sp>
      <p:sp>
        <p:nvSpPr>
          <p:cNvPr id="36" name="TextBox 3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7" name="TextBox 3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8" name="TextBox 3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COURSE PORTAL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Download Course Material</a:t>
            </a:r>
          </a:p>
        </p:txBody>
      </p:sp>
      <p:sp>
        <p:nvSpPr>
          <p:cNvPr id="6" name="TextBox 5"/>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Go to lms-tms.tertiaryinfotech.com.</a:t>
            </a:r>
          </a:p>
          <a:p>
            <a:pPr>
              <a:spcBef>
                <a:spcPts val="0"/>
              </a:spcBef>
              <a:spcAft>
                <a:spcPts val="1000"/>
              </a:spcAft>
            </a:pPr>
            <a:r>
              <a:rPr sz="1600" b="1">
                <a:solidFill>
                  <a:srgbClr val="1F6FEB"/>
                </a:solidFill>
                <a:latin typeface="Arial"/>
              </a:rPr>
              <a:t>•  </a:t>
            </a:r>
            <a:r>
              <a:rPr sz="1600">
                <a:solidFill>
                  <a:srgbClr val="161B26"/>
                </a:solidFill>
                <a:latin typeface="Arial"/>
              </a:rPr>
              <a:t>Enter your registered email and click Send OTP.</a:t>
            </a:r>
          </a:p>
          <a:p>
            <a:pPr>
              <a:spcBef>
                <a:spcPts val="0"/>
              </a:spcBef>
              <a:spcAft>
                <a:spcPts val="1000"/>
              </a:spcAft>
            </a:pPr>
            <a:r>
              <a:rPr sz="1600" b="1">
                <a:solidFill>
                  <a:srgbClr val="1F6FEB"/>
                </a:solidFill>
                <a:latin typeface="Arial"/>
              </a:rPr>
              <a:t>•  </a:t>
            </a:r>
            <a:r>
              <a:rPr sz="1600">
                <a:solidFill>
                  <a:srgbClr val="161B26"/>
                </a:solidFill>
                <a:latin typeface="Arial"/>
              </a:rPr>
              <a:t>Key in the one-time password from your inbox to log in.</a:t>
            </a:r>
          </a:p>
          <a:p>
            <a:pPr>
              <a:spcBef>
                <a:spcPts val="0"/>
              </a:spcBef>
              <a:spcAft>
                <a:spcPts val="1000"/>
              </a:spcAft>
            </a:pPr>
            <a:r>
              <a:rPr sz="1600" b="1">
                <a:solidFill>
                  <a:srgbClr val="1F6FEB"/>
                </a:solidFill>
                <a:latin typeface="Arial"/>
              </a:rPr>
              <a:t>•  </a:t>
            </a:r>
            <a:r>
              <a:rPr sz="1600">
                <a:solidFill>
                  <a:srgbClr val="161B26"/>
                </a:solidFill>
                <a:latin typeface="Arial"/>
              </a:rPr>
              <a:t>Open this course to download the slides and Learner Guide.</a:t>
            </a:r>
          </a:p>
          <a:p>
            <a:pPr>
              <a:spcBef>
                <a:spcPts val="0"/>
              </a:spcBef>
              <a:spcAft>
                <a:spcPts val="1000"/>
              </a:spcAft>
            </a:pPr>
            <a:r>
              <a:rPr sz="1600" b="1">
                <a:solidFill>
                  <a:srgbClr val="1F6FEB"/>
                </a:solidFill>
                <a:latin typeface="Arial"/>
              </a:rPr>
              <a:t>•  </a:t>
            </a:r>
            <a:r>
              <a:rPr sz="1600">
                <a:solidFill>
                  <a:srgbClr val="161B26"/>
                </a:solidFill>
                <a:latin typeface="Arial"/>
              </a:rPr>
              <a:t>Keep them open — the assessment is open book.</a:t>
            </a:r>
          </a:p>
          <a:p>
            <a:pPr>
              <a:spcBef>
                <a:spcPts val="0"/>
              </a:spcBef>
              <a:spcAft>
                <a:spcPts val="1000"/>
              </a:spcAft>
            </a:pPr>
            <a:r>
              <a:rPr sz="1600" b="1">
                <a:solidFill>
                  <a:srgbClr val="1F6FEB"/>
                </a:solidFill>
                <a:latin typeface="Arial"/>
              </a:rPr>
              <a:t>•  </a:t>
            </a:r>
            <a:r>
              <a:rPr sz="1600">
                <a:solidFill>
                  <a:srgbClr val="161B26"/>
                </a:solidFill>
                <a:latin typeface="Arial"/>
              </a:rPr>
              <a:t>Attendance and assessment submission also happen here.</a:t>
            </a:r>
          </a:p>
        </p:txBody>
      </p:sp>
      <p:pic>
        <p:nvPicPr>
          <p:cNvPr id="7" name="Picture 6" descr="lms-tms-portal.png"/>
          <p:cNvPicPr>
            <a:picLocks noChangeAspect="1"/>
          </p:cNvPicPr>
          <p:nvPr/>
        </p:nvPicPr>
        <p:blipFill>
          <a:blip r:embed="rId2"/>
          <a:stretch>
            <a:fillRect/>
          </a:stretch>
        </p:blipFill>
        <p:spPr>
          <a:xfrm>
            <a:off x="5943600" y="1783080"/>
            <a:ext cx="5486400" cy="3480435"/>
          </a:xfrm>
          <a:prstGeom prst="rect">
            <a:avLst/>
          </a:prstGeom>
        </p:spPr>
      </p:pic>
      <p:sp>
        <p:nvSpPr>
          <p:cNvPr id="8" name="Rectangle 7"/>
          <p:cNvSpPr/>
          <p:nvPr/>
        </p:nvSpPr>
        <p:spPr>
          <a:xfrm>
            <a:off x="5930900" y="1770380"/>
            <a:ext cx="5511800" cy="350583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GET THE WORKFLOWS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Download the Course Flows (GitHub)</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Open the course repo: github.com/tertiarycourses/TGS-2023035977-Agentic-AI-Automation-with-n8n</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Code ▾ → Download ZIP (or git clone) — all workflows are in the labs/ folder.</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In n8n: Workflows → Add workflow → ... → Import from File → pick the activity .json.</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After importing, re-select YOUR OWN credentials on each node, then Save &amp; Publish.</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Lesson Plan — 3 Days, 9:30am–6:30pm</a:t>
            </a:r>
          </a:p>
        </p:txBody>
      </p:sp>
      <p:sp>
        <p:nvSpPr>
          <p:cNvPr id="6" name="Rectangle 5"/>
          <p:cNvSpPr/>
          <p:nvPr/>
        </p:nvSpPr>
        <p:spPr>
          <a:xfrm>
            <a:off x="777240" y="1783080"/>
            <a:ext cx="342900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3429000" cy="457200"/>
          </a:xfrm>
          <a:prstGeom prst="rect">
            <a:avLst/>
          </a:prstGeom>
          <a:noFill/>
        </p:spPr>
        <p:txBody>
          <a:bodyPr wrap="square" anchor="ctr" lIns="0" rIns="0" tIns="0" bIns="0">
            <a:spAutoFit/>
          </a:bodyPr>
          <a:lstStyle/>
          <a:p>
            <a:pPr algn="ctr">
              <a:spcBef>
                <a:spcPts val="0"/>
              </a:spcBef>
              <a:spcAft>
                <a:spcPts val="400"/>
              </a:spcAft>
            </a:pPr>
            <a:r>
              <a:rPr sz="1250" b="1">
                <a:solidFill>
                  <a:srgbClr val="FFFFFF"/>
                </a:solidFill>
                <a:latin typeface="Arial"/>
              </a:rPr>
              <a:t>Day 1 — Automate, then add AI</a:t>
            </a:r>
          </a:p>
        </p:txBody>
      </p:sp>
      <p:sp>
        <p:nvSpPr>
          <p:cNvPr id="8" name="Rectangle 7"/>
          <p:cNvSpPr/>
          <p:nvPr/>
        </p:nvSpPr>
        <p:spPr>
          <a:xfrm>
            <a:off x="777240" y="2240280"/>
            <a:ext cx="3429000" cy="320040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450592"/>
            <a:ext cx="3044952" cy="2926080"/>
          </a:xfrm>
          <a:prstGeom prst="rect">
            <a:avLst/>
          </a:prstGeom>
          <a:noFill/>
        </p:spPr>
        <p:txBody>
          <a:bodyPr wrap="square" lIns="0" rIns="0">
            <a:spAutoFit/>
          </a:bodyPr>
          <a:lstStyle/>
          <a:p>
            <a:pPr>
              <a:spcBef>
                <a:spcPts val="0"/>
              </a:spcBef>
              <a:spcAft>
                <a:spcPts val="800"/>
              </a:spcAft>
            </a:pPr>
            <a:r>
              <a:rPr sz="1150" b="1">
                <a:solidFill>
                  <a:srgbClr val="1F6FEB"/>
                </a:solidFill>
                <a:latin typeface="Arial"/>
              </a:rPr>
              <a:t>•  </a:t>
            </a:r>
            <a:r>
              <a:rPr sz="1150">
                <a:solidFill>
                  <a:srgbClr val="161B26"/>
                </a:solidFill>
                <a:latin typeface="Arial"/>
              </a:rPr>
              <a:t>Topic 1: n8n basics — triggers, actions, data</a:t>
            </a:r>
          </a:p>
          <a:p>
            <a:pPr>
              <a:spcBef>
                <a:spcPts val="0"/>
              </a:spcBef>
              <a:spcAft>
                <a:spcPts val="800"/>
              </a:spcAft>
            </a:pPr>
            <a:r>
              <a:rPr sz="1150" b="1">
                <a:solidFill>
                  <a:srgbClr val="1F6FEB"/>
                </a:solidFill>
                <a:latin typeface="Arial"/>
              </a:rPr>
              <a:t>•  </a:t>
            </a:r>
            <a:r>
              <a:rPr sz="1150">
                <a:solidFill>
                  <a:srgbClr val="161B26"/>
                </a:solidFill>
                <a:latin typeface="Arial"/>
              </a:rPr>
              <a:t>Activities 1, 2, 3a, 3b — forms, storage, logic</a:t>
            </a:r>
          </a:p>
          <a:p>
            <a:pPr>
              <a:spcBef>
                <a:spcPts val="0"/>
              </a:spcBef>
              <a:spcAft>
                <a:spcPts val="800"/>
              </a:spcAft>
            </a:pPr>
            <a:r>
              <a:rPr sz="1150" b="1">
                <a:solidFill>
                  <a:srgbClr val="1F6FEB"/>
                </a:solidFill>
                <a:latin typeface="Arial"/>
              </a:rPr>
              <a:t>•  </a:t>
            </a:r>
            <a:r>
              <a:rPr sz="1150">
                <a:solidFill>
                  <a:srgbClr val="161B26"/>
                </a:solidFill>
                <a:latin typeface="Arial"/>
              </a:rPr>
              <a:t>Topic 2: AI Agents — model · memory · tools · instructions</a:t>
            </a:r>
          </a:p>
          <a:p>
            <a:pPr>
              <a:spcBef>
                <a:spcPts val="0"/>
              </a:spcBef>
              <a:spcAft>
                <a:spcPts val="800"/>
              </a:spcAft>
            </a:pPr>
            <a:r>
              <a:rPr sz="1150" b="1">
                <a:solidFill>
                  <a:srgbClr val="1F6FEB"/>
                </a:solidFill>
                <a:latin typeface="Arial"/>
              </a:rPr>
              <a:t>•  </a:t>
            </a:r>
            <a:r>
              <a:rPr sz="1150">
                <a:solidFill>
                  <a:srgbClr val="161B26"/>
                </a:solidFill>
                <a:latin typeface="Arial"/>
              </a:rPr>
              <a:t>Activities 4a, 4b — Telegram agent + Data Table tool</a:t>
            </a:r>
          </a:p>
        </p:txBody>
      </p:sp>
      <p:sp>
        <p:nvSpPr>
          <p:cNvPr id="10" name="Rectangle 9"/>
          <p:cNvSpPr/>
          <p:nvPr/>
        </p:nvSpPr>
        <p:spPr>
          <a:xfrm>
            <a:off x="4425696" y="1783080"/>
            <a:ext cx="34290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5696" y="1783080"/>
            <a:ext cx="3429000" cy="457200"/>
          </a:xfrm>
          <a:prstGeom prst="rect">
            <a:avLst/>
          </a:prstGeom>
          <a:noFill/>
        </p:spPr>
        <p:txBody>
          <a:bodyPr wrap="square" anchor="ctr" lIns="0" rIns="0" tIns="0" bIns="0">
            <a:spAutoFit/>
          </a:bodyPr>
          <a:lstStyle/>
          <a:p>
            <a:pPr algn="ctr">
              <a:spcBef>
                <a:spcPts val="0"/>
              </a:spcBef>
              <a:spcAft>
                <a:spcPts val="400"/>
              </a:spcAft>
            </a:pPr>
            <a:r>
              <a:rPr sz="1250" b="1">
                <a:solidFill>
                  <a:srgbClr val="FFFFFF"/>
                </a:solidFill>
                <a:latin typeface="Arial"/>
              </a:rPr>
              <a:t>Day 2 — Connect it to the world</a:t>
            </a:r>
          </a:p>
        </p:txBody>
      </p:sp>
      <p:sp>
        <p:nvSpPr>
          <p:cNvPr id="12" name="Rectangle 11"/>
          <p:cNvSpPr/>
          <p:nvPr/>
        </p:nvSpPr>
        <p:spPr>
          <a:xfrm>
            <a:off x="4425696" y="2240280"/>
            <a:ext cx="3429000" cy="3200400"/>
          </a:xfrm>
          <a:prstGeom prst="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2450592"/>
            <a:ext cx="3044952" cy="2926080"/>
          </a:xfrm>
          <a:prstGeom prst="rect">
            <a:avLst/>
          </a:prstGeom>
          <a:noFill/>
        </p:spPr>
        <p:txBody>
          <a:bodyPr wrap="square" lIns="0" rIns="0">
            <a:spAutoFit/>
          </a:bodyPr>
          <a:lstStyle/>
          <a:p>
            <a:pPr>
              <a:spcBef>
                <a:spcPts val="0"/>
              </a:spcBef>
              <a:spcAft>
                <a:spcPts val="800"/>
              </a:spcAft>
            </a:pPr>
            <a:r>
              <a:rPr sz="1150" b="1">
                <a:solidFill>
                  <a:srgbClr val="10B981"/>
                </a:solidFill>
                <a:latin typeface="Arial"/>
              </a:rPr>
              <a:t>•  </a:t>
            </a:r>
            <a:r>
              <a:rPr sz="1150">
                <a:solidFill>
                  <a:srgbClr val="161B26"/>
                </a:solidFill>
                <a:latin typeface="Arial"/>
              </a:rPr>
              <a:t>Topic 3: Webhooks — Activity 5 (website chatbot)</a:t>
            </a:r>
          </a:p>
          <a:p>
            <a:pPr>
              <a:spcBef>
                <a:spcPts val="0"/>
              </a:spcBef>
              <a:spcAft>
                <a:spcPts val="800"/>
              </a:spcAft>
            </a:pPr>
            <a:r>
              <a:rPr sz="1150" b="1">
                <a:solidFill>
                  <a:srgbClr val="10B981"/>
                </a:solidFill>
                <a:latin typeface="Arial"/>
              </a:rPr>
              <a:t>•  </a:t>
            </a:r>
            <a:r>
              <a:rPr sz="1150">
                <a:solidFill>
                  <a:srgbClr val="161B26"/>
                </a:solidFill>
                <a:latin typeface="Arial"/>
              </a:rPr>
              <a:t>Topic 4: APIs &amp; HTTP — Activity 6 (day-trading agent)</a:t>
            </a:r>
          </a:p>
          <a:p>
            <a:pPr>
              <a:spcBef>
                <a:spcPts val="0"/>
              </a:spcBef>
              <a:spcAft>
                <a:spcPts val="800"/>
              </a:spcAft>
            </a:pPr>
            <a:r>
              <a:rPr sz="1150" b="1">
                <a:solidFill>
                  <a:srgbClr val="10B981"/>
                </a:solidFill>
                <a:latin typeface="Arial"/>
              </a:rPr>
              <a:t>•  </a:t>
            </a:r>
            <a:r>
              <a:rPr sz="1150">
                <a:solidFill>
                  <a:srgbClr val="161B26"/>
                </a:solidFill>
                <a:latin typeface="Arial"/>
              </a:rPr>
              <a:t>Topic 5: RAG — Activities 7a, 7b (grounded agents)</a:t>
            </a:r>
          </a:p>
        </p:txBody>
      </p:sp>
      <p:sp>
        <p:nvSpPr>
          <p:cNvPr id="14" name="Rectangle 13"/>
          <p:cNvSpPr/>
          <p:nvPr/>
        </p:nvSpPr>
        <p:spPr>
          <a:xfrm>
            <a:off x="8074152" y="1783080"/>
            <a:ext cx="342900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74152" y="1783080"/>
            <a:ext cx="3429000" cy="457200"/>
          </a:xfrm>
          <a:prstGeom prst="rect">
            <a:avLst/>
          </a:prstGeom>
          <a:noFill/>
        </p:spPr>
        <p:txBody>
          <a:bodyPr wrap="square" anchor="ctr" lIns="0" rIns="0" tIns="0" bIns="0">
            <a:spAutoFit/>
          </a:bodyPr>
          <a:lstStyle/>
          <a:p>
            <a:pPr algn="ctr">
              <a:spcBef>
                <a:spcPts val="0"/>
              </a:spcBef>
              <a:spcAft>
                <a:spcPts val="400"/>
              </a:spcAft>
            </a:pPr>
            <a:r>
              <a:rPr sz="1250" b="1">
                <a:solidFill>
                  <a:srgbClr val="FFFFFF"/>
                </a:solidFill>
                <a:latin typeface="Arial"/>
              </a:rPr>
              <a:t>Day 3 — Govern, then prove it</a:t>
            </a:r>
          </a:p>
        </p:txBody>
      </p:sp>
      <p:sp>
        <p:nvSpPr>
          <p:cNvPr id="16" name="Rectangle 15"/>
          <p:cNvSpPr/>
          <p:nvPr/>
        </p:nvSpPr>
        <p:spPr>
          <a:xfrm>
            <a:off x="8074152" y="2240280"/>
            <a:ext cx="3429000" cy="320040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2450592"/>
            <a:ext cx="3044952" cy="2926080"/>
          </a:xfrm>
          <a:prstGeom prst="rect">
            <a:avLst/>
          </a:prstGeom>
          <a:noFill/>
        </p:spPr>
        <p:txBody>
          <a:bodyPr wrap="square" lIns="0" rIns="0">
            <a:spAutoFit/>
          </a:bodyPr>
          <a:lstStyle/>
          <a:p>
            <a:pPr>
              <a:spcBef>
                <a:spcPts val="0"/>
              </a:spcBef>
              <a:spcAft>
                <a:spcPts val="800"/>
              </a:spcAft>
            </a:pPr>
            <a:r>
              <a:rPr sz="1150" b="1">
                <a:solidFill>
                  <a:srgbClr val="7C3AED"/>
                </a:solidFill>
                <a:latin typeface="Arial"/>
              </a:rPr>
              <a:t>•  </a:t>
            </a:r>
            <a:r>
              <a:rPr sz="1150">
                <a:solidFill>
                  <a:srgbClr val="161B26"/>
                </a:solidFill>
                <a:latin typeface="Arial"/>
              </a:rPr>
              <a:t>Topic 6: Security — human-in-the-loop + guardrails</a:t>
            </a:r>
          </a:p>
          <a:p>
            <a:pPr>
              <a:spcBef>
                <a:spcPts val="0"/>
              </a:spcBef>
              <a:spcAft>
                <a:spcPts val="800"/>
              </a:spcAft>
            </a:pPr>
            <a:r>
              <a:rPr sz="1150" b="1">
                <a:solidFill>
                  <a:srgbClr val="7C3AED"/>
                </a:solidFill>
                <a:latin typeface="Arial"/>
              </a:rPr>
              <a:t>•  </a:t>
            </a:r>
            <a:r>
              <a:rPr sz="1150">
                <a:solidFill>
                  <a:srgbClr val="161B26"/>
                </a:solidFill>
                <a:latin typeface="Arial"/>
              </a:rPr>
              <a:t>Activities 8a, 8b, 8c — the HR Service Portal</a:t>
            </a:r>
          </a:p>
          <a:p>
            <a:pPr>
              <a:spcBef>
                <a:spcPts val="0"/>
              </a:spcBef>
              <a:spcAft>
                <a:spcPts val="800"/>
              </a:spcAft>
            </a:pPr>
            <a:r>
              <a:rPr sz="1150" b="1">
                <a:solidFill>
                  <a:srgbClr val="7C3AED"/>
                </a:solidFill>
                <a:latin typeface="Arial"/>
              </a:rPr>
              <a:t>•  </a:t>
            </a:r>
            <a:r>
              <a:rPr sz="1150">
                <a:solidFill>
                  <a:srgbClr val="161B26"/>
                </a:solidFill>
                <a:latin typeface="Arial"/>
              </a:rPr>
              <a:t>Topic 7: Mini capstone + presentations</a:t>
            </a:r>
          </a:p>
          <a:p>
            <a:pPr>
              <a:spcBef>
                <a:spcPts val="0"/>
              </a:spcBef>
              <a:spcAft>
                <a:spcPts val="800"/>
              </a:spcAft>
            </a:pPr>
            <a:r>
              <a:rPr sz="1150" b="1">
                <a:solidFill>
                  <a:srgbClr val="7C3AED"/>
                </a:solidFill>
                <a:latin typeface="Arial"/>
              </a:rPr>
              <a:t>•  </a:t>
            </a:r>
            <a:r>
              <a:rPr sz="1150">
                <a:solidFill>
                  <a:srgbClr val="161B26"/>
                </a:solidFill>
                <a:latin typeface="Arial"/>
              </a:rPr>
              <a:t>Written Assessment (SAQ) 1 hr · Practical (PP) 1 hr</a:t>
            </a:r>
          </a:p>
        </p:txBody>
      </p:sp>
      <p:sp>
        <p:nvSpPr>
          <p:cNvPr id="18" name="Rounded Rectangle 17"/>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Each day runs 9:30am–6:30pm — 8 instructional hours with a 1-hour lunch; tea breaks counted within.</a:t>
            </a:r>
          </a:p>
        </p:txBody>
      </p:sp>
      <p:sp>
        <p:nvSpPr>
          <p:cNvPr id="20" name="TextBox 1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1" name="TextBox 2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2" name="TextBox 2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WHAT YOU'LL ACHIEVE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Learning Outcomes</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50745"/>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0" name="TextBox 9"/>
          <p:cNvSpPr txBox="1"/>
          <p:nvPr/>
        </p:nvSpPr>
        <p:spPr>
          <a:xfrm>
            <a:off x="1764792" y="1874520"/>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LO1: Build automated workflows in n8n using triggers, actions, nodes and flows.</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277246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5" name="TextBox 14"/>
          <p:cNvSpPr txBox="1"/>
          <p:nvPr/>
        </p:nvSpPr>
        <p:spPr>
          <a:xfrm>
            <a:off x="1764792" y="2796235"/>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LO2: Design AI agents with LLMs, memory and tools, triggered from chat / Telegram.</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5"/>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0" name="TextBox 19"/>
          <p:cNvSpPr txBox="1"/>
          <p:nvPr/>
        </p:nvSpPr>
        <p:spPr>
          <a:xfrm>
            <a:off x="1764792" y="3717950"/>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LO3: Apply Retrieval-Augmented Generation (RAG) to ground agents in your documents.</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61589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5" name="TextBox 24"/>
          <p:cNvSpPr txBox="1"/>
          <p:nvPr/>
        </p:nvSpPr>
        <p:spPr>
          <a:xfrm>
            <a:off x="1764792" y="4639665"/>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LO4: Integrate external systems via webhooks, APIs and HTTP requests.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537605"/>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5</a:t>
            </a:r>
          </a:p>
        </p:txBody>
      </p:sp>
      <p:sp>
        <p:nvSpPr>
          <p:cNvPr id="30" name="TextBox 29"/>
          <p:cNvSpPr txBox="1"/>
          <p:nvPr/>
        </p:nvSpPr>
        <p:spPr>
          <a:xfrm>
            <a:off x="1764792" y="5561380"/>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LO5: Apply human-in-the-loop and guardrails to secure agentic automations.</a:t>
            </a:r>
          </a:p>
        </p:txBody>
      </p:sp>
      <p:sp>
        <p:nvSpPr>
          <p:cNvPr id="31" name="TextBox 3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2" name="TextBox 3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3" name="TextBox 3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COURSE JOURNEY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Twelve Connected Labs</a:t>
            </a:r>
          </a:p>
        </p:txBody>
      </p:sp>
      <p:sp>
        <p:nvSpPr>
          <p:cNvPr id="6" name="Rectangle 5"/>
          <p:cNvSpPr/>
          <p:nvPr/>
        </p:nvSpPr>
        <p:spPr>
          <a:xfrm>
            <a:off x="777240" y="1783080"/>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77393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0" name="TextBox 9"/>
          <p:cNvSpPr txBox="1"/>
          <p:nvPr/>
        </p:nvSpPr>
        <p:spPr>
          <a:xfrm>
            <a:off x="1764792" y="1874520"/>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1 — Form → Email: your first automation, on a real flyer.</a:t>
            </a:r>
          </a:p>
        </p:txBody>
      </p:sp>
      <p:sp>
        <p:nvSpPr>
          <p:cNvPr id="11" name="Rectangle 10"/>
          <p:cNvSpPr/>
          <p:nvPr/>
        </p:nvSpPr>
        <p:spPr>
          <a:xfrm>
            <a:off x="6231636" y="1783080"/>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177393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177393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5" name="TextBox 14"/>
          <p:cNvSpPr txBox="1"/>
          <p:nvPr/>
        </p:nvSpPr>
        <p:spPr>
          <a:xfrm>
            <a:off x="7219188" y="1874520"/>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2 — Data Table: store every submission, not just forward it.</a:t>
            </a:r>
          </a:p>
        </p:txBody>
      </p:sp>
      <p:sp>
        <p:nvSpPr>
          <p:cNvPr id="16" name="Rectangle 15"/>
          <p:cNvSpPr/>
          <p:nvPr/>
        </p:nvSpPr>
        <p:spPr>
          <a:xfrm>
            <a:off x="777240" y="2551176"/>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2551176"/>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2542032"/>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0" name="TextBox 19"/>
          <p:cNvSpPr txBox="1"/>
          <p:nvPr/>
        </p:nvSpPr>
        <p:spPr>
          <a:xfrm>
            <a:off x="1764792" y="2642616"/>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3a/3b — IF logic: route Yes/No to storage or a thank-you.</a:t>
            </a:r>
          </a:p>
        </p:txBody>
      </p:sp>
      <p:sp>
        <p:nvSpPr>
          <p:cNvPr id="21" name="Rectangle 20"/>
          <p:cNvSpPr/>
          <p:nvPr/>
        </p:nvSpPr>
        <p:spPr>
          <a:xfrm>
            <a:off x="6231636" y="2551176"/>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551176"/>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254203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2542032"/>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5" name="TextBox 24"/>
          <p:cNvSpPr txBox="1"/>
          <p:nvPr/>
        </p:nvSpPr>
        <p:spPr>
          <a:xfrm>
            <a:off x="7219188" y="2642616"/>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4a — Telegram AI agent: model + memory + instruction.</a:t>
            </a:r>
          </a:p>
        </p:txBody>
      </p:sp>
      <p:sp>
        <p:nvSpPr>
          <p:cNvPr id="26" name="Rectangle 25"/>
          <p:cNvSpPr/>
          <p:nvPr/>
        </p:nvSpPr>
        <p:spPr>
          <a:xfrm>
            <a:off x="777240" y="3319272"/>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3319272"/>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331012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331012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5</a:t>
            </a:r>
          </a:p>
        </p:txBody>
      </p:sp>
      <p:sp>
        <p:nvSpPr>
          <p:cNvPr id="30" name="TextBox 29"/>
          <p:cNvSpPr txBox="1"/>
          <p:nvPr/>
        </p:nvSpPr>
        <p:spPr>
          <a:xfrm>
            <a:off x="1764792" y="3410712"/>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4b — Agent + tool: answers HR questions from a Data Table.</a:t>
            </a:r>
          </a:p>
        </p:txBody>
      </p:sp>
      <p:sp>
        <p:nvSpPr>
          <p:cNvPr id="31" name="Rectangle 30"/>
          <p:cNvSpPr/>
          <p:nvPr/>
        </p:nvSpPr>
        <p:spPr>
          <a:xfrm>
            <a:off x="6231636" y="3319272"/>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3319272"/>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331012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331012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6</a:t>
            </a:r>
          </a:p>
        </p:txBody>
      </p:sp>
      <p:sp>
        <p:nvSpPr>
          <p:cNvPr id="35" name="TextBox 34"/>
          <p:cNvSpPr txBox="1"/>
          <p:nvPr/>
        </p:nvSpPr>
        <p:spPr>
          <a:xfrm>
            <a:off x="7219188" y="3410712"/>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5 — Webhook: your agent behind a public website chatbot.</a:t>
            </a:r>
          </a:p>
        </p:txBody>
      </p:sp>
      <p:sp>
        <p:nvSpPr>
          <p:cNvPr id="36" name="Rectangle 35"/>
          <p:cNvSpPr/>
          <p:nvPr/>
        </p:nvSpPr>
        <p:spPr>
          <a:xfrm>
            <a:off x="777240" y="4087368"/>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4087368"/>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3272" y="407822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3272" y="407822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7</a:t>
            </a:r>
          </a:p>
        </p:txBody>
      </p:sp>
      <p:sp>
        <p:nvSpPr>
          <p:cNvPr id="40" name="TextBox 39"/>
          <p:cNvSpPr txBox="1"/>
          <p:nvPr/>
        </p:nvSpPr>
        <p:spPr>
          <a:xfrm>
            <a:off x="1764792" y="4178808"/>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6 — APIs: live candles + news → Buy / Sell / Hold calls.</a:t>
            </a:r>
          </a:p>
        </p:txBody>
      </p:sp>
      <p:sp>
        <p:nvSpPr>
          <p:cNvPr id="41" name="Rectangle 40"/>
          <p:cNvSpPr/>
          <p:nvPr/>
        </p:nvSpPr>
        <p:spPr>
          <a:xfrm>
            <a:off x="6231636" y="4087368"/>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31636"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487668"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87668" y="407822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8</a:t>
            </a:r>
          </a:p>
        </p:txBody>
      </p:sp>
      <p:sp>
        <p:nvSpPr>
          <p:cNvPr id="45" name="TextBox 44"/>
          <p:cNvSpPr txBox="1"/>
          <p:nvPr/>
        </p:nvSpPr>
        <p:spPr>
          <a:xfrm>
            <a:off x="7219188" y="4178808"/>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7a — RAG: upload a PDF, ask the bot in Telegram.</a:t>
            </a:r>
          </a:p>
        </p:txBody>
      </p:sp>
      <p:sp>
        <p:nvSpPr>
          <p:cNvPr id="46" name="Rectangle 45"/>
          <p:cNvSpPr/>
          <p:nvPr/>
        </p:nvSpPr>
        <p:spPr>
          <a:xfrm>
            <a:off x="777240" y="4855464"/>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33272" y="484632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9</a:t>
            </a:r>
          </a:p>
        </p:txBody>
      </p:sp>
      <p:sp>
        <p:nvSpPr>
          <p:cNvPr id="50" name="TextBox 49"/>
          <p:cNvSpPr txBox="1"/>
          <p:nvPr/>
        </p:nvSpPr>
        <p:spPr>
          <a:xfrm>
            <a:off x="1764792" y="4946904"/>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7b — RAG at scale: 20 brochures in a real vector DB.</a:t>
            </a:r>
          </a:p>
        </p:txBody>
      </p:sp>
      <p:sp>
        <p:nvSpPr>
          <p:cNvPr id="51" name="Rectangle 50"/>
          <p:cNvSpPr/>
          <p:nvPr/>
        </p:nvSpPr>
        <p:spPr>
          <a:xfrm>
            <a:off x="6231636" y="4855464"/>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31636" y="4855464"/>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487668"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87668" y="484632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10</a:t>
            </a:r>
          </a:p>
        </p:txBody>
      </p:sp>
      <p:sp>
        <p:nvSpPr>
          <p:cNvPr id="55" name="TextBox 54"/>
          <p:cNvSpPr txBox="1"/>
          <p:nvPr/>
        </p:nvSpPr>
        <p:spPr>
          <a:xfrm>
            <a:off x="7219188" y="4946904"/>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8a–8c — HR portal: approval gate, dashboard, guardrails.</a:t>
            </a:r>
          </a:p>
        </p:txBody>
      </p:sp>
      <p:sp>
        <p:nvSpPr>
          <p:cNvPr id="56" name="Rectangle 55"/>
          <p:cNvSpPr/>
          <p:nvPr/>
        </p:nvSpPr>
        <p:spPr>
          <a:xfrm>
            <a:off x="777240" y="5623560"/>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77240" y="5623560"/>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033272" y="561441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33272" y="561441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11</a:t>
            </a:r>
          </a:p>
        </p:txBody>
      </p:sp>
      <p:sp>
        <p:nvSpPr>
          <p:cNvPr id="60" name="TextBox 59"/>
          <p:cNvSpPr txBox="1"/>
          <p:nvPr/>
        </p:nvSpPr>
        <p:spPr>
          <a:xfrm>
            <a:off x="1764792" y="5715000"/>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Capstone — design and demo your own end-to-end automation.</a:t>
            </a:r>
          </a:p>
        </p:txBody>
      </p:sp>
      <p:sp>
        <p:nvSpPr>
          <p:cNvPr id="61" name="TextBox 6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62" name="TextBox 6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63" name="TextBox 6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BEFORE THE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Briefing for Assessment</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Place phones and other materials under the table or on the floor.</a:t>
            </a:r>
          </a:p>
          <a:p>
            <a:pPr>
              <a:spcBef>
                <a:spcPts val="0"/>
              </a:spcBef>
              <a:spcAft>
                <a:spcPts val="1000"/>
              </a:spcAft>
            </a:pPr>
            <a:r>
              <a:rPr sz="2000" b="1">
                <a:solidFill>
                  <a:srgbClr val="1F6FEB"/>
                </a:solidFill>
                <a:latin typeface="Arial"/>
              </a:rPr>
              <a:t>•  </a:t>
            </a:r>
            <a:r>
              <a:rPr sz="2000">
                <a:solidFill>
                  <a:srgbClr val="161B26"/>
                </a:solidFill>
                <a:latin typeface="Arial"/>
              </a:rPr>
              <a:t>No photos or recording of assessment scripts.</a:t>
            </a:r>
          </a:p>
          <a:p>
            <a:pPr>
              <a:spcBef>
                <a:spcPts val="0"/>
              </a:spcBef>
              <a:spcAft>
                <a:spcPts val="1000"/>
              </a:spcAft>
            </a:pPr>
            <a:r>
              <a:rPr sz="2000" b="1">
                <a:solidFill>
                  <a:srgbClr val="1F6FEB"/>
                </a:solidFill>
                <a:latin typeface="Arial"/>
              </a:rPr>
              <a:t>•  </a:t>
            </a:r>
            <a:r>
              <a:rPr sz="2000">
                <a:solidFill>
                  <a:srgbClr val="161B26"/>
                </a:solidFill>
                <a:latin typeface="Arial"/>
              </a:rPr>
              <a:t>No discussion during the assessment.</a:t>
            </a:r>
          </a:p>
          <a:p>
            <a:pPr>
              <a:spcBef>
                <a:spcPts val="0"/>
              </a:spcBef>
              <a:spcAft>
                <a:spcPts val="1000"/>
              </a:spcAft>
            </a:pPr>
            <a:r>
              <a:rPr sz="2000" b="1">
                <a:solidFill>
                  <a:srgbClr val="1F6FEB"/>
                </a:solidFill>
                <a:latin typeface="Arial"/>
              </a:rPr>
              <a:t>•  </a:t>
            </a:r>
            <a:r>
              <a:rPr sz="2000">
                <a:solidFill>
                  <a:srgbClr val="161B26"/>
                </a:solidFill>
                <a:latin typeface="Arial"/>
              </a:rPr>
              <a:t>Use a black/blue pen for hard-copy assessments.</a:t>
            </a:r>
          </a:p>
          <a:p>
            <a:pPr>
              <a:spcBef>
                <a:spcPts val="0"/>
              </a:spcBef>
              <a:spcAft>
                <a:spcPts val="1000"/>
              </a:spcAft>
            </a:pPr>
            <a:r>
              <a:rPr sz="2000" b="1">
                <a:solidFill>
                  <a:srgbClr val="1F6FEB"/>
                </a:solidFill>
                <a:latin typeface="Arial"/>
              </a:rPr>
              <a:t>•  </a:t>
            </a:r>
            <a:r>
              <a:rPr sz="2000">
                <a:solidFill>
                  <a:srgbClr val="161B26"/>
                </a:solidFill>
                <a:latin typeface="Arial"/>
              </a:rPr>
              <a:t>No liquid paper / correction tape.</a:t>
            </a:r>
          </a:p>
          <a:p>
            <a:pPr>
              <a:spcBef>
                <a:spcPts val="0"/>
              </a:spcBef>
              <a:spcAft>
                <a:spcPts val="1000"/>
              </a:spcAft>
            </a:pPr>
            <a:r>
              <a:rPr sz="2000" b="1">
                <a:solidFill>
                  <a:srgbClr val="1F6FEB"/>
                </a:solidFill>
                <a:latin typeface="Arial"/>
              </a:rPr>
              <a:t>•  </a:t>
            </a:r>
            <a:r>
              <a:rPr sz="2000">
                <a:solidFill>
                  <a:srgbClr val="161B26"/>
                </a:solidFill>
                <a:latin typeface="Arial"/>
              </a:rPr>
              <a:t>Scripts are collected when time is up.</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Assessment</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a:t>
            </a:r>
          </a:p>
          <a:p>
            <a:pPr>
              <a:spcBef>
                <a:spcPts val="0"/>
              </a:spcBef>
              <a:spcAft>
                <a:spcPts val="1000"/>
              </a:spcAft>
            </a:pPr>
            <a:r>
              <a:rPr sz="2000" b="1">
                <a:solidFill>
                  <a:srgbClr val="1F6FEB"/>
                </a:solidFill>
                <a:latin typeface="Arial"/>
              </a:rPr>
              <a:t>•  </a:t>
            </a:r>
            <a:r>
              <a:rPr sz="2000">
                <a:solidFill>
                  <a:srgbClr val="161B26"/>
                </a:solidFill>
                <a:latin typeface="Arial"/>
              </a:rPr>
              <a:t>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Format: Open Book — slides, Learner Guide and approved materials only.</a:t>
            </a:r>
          </a:p>
          <a:p>
            <a:pPr>
              <a:spcBef>
                <a:spcPts val="0"/>
              </a:spcBef>
              <a:spcAft>
                <a:spcPts val="1000"/>
              </a:spcAft>
            </a:pPr>
            <a:r>
              <a:rPr sz="2000" b="1">
                <a:solidFill>
                  <a:srgbClr val="1F6FEB"/>
                </a:solidFill>
                <a:latin typeface="Arial"/>
              </a:rPr>
              <a:t>•  </a:t>
            </a:r>
            <a:r>
              <a:rPr sz="2000">
                <a:solidFill>
                  <a:srgbClr val="161B26"/>
                </a:solidFill>
                <a:latin typeface="Arial"/>
              </a:rPr>
              <a:t>A mini capstone project is presented on Day 3.</a:t>
            </a:r>
          </a:p>
          <a:p>
            <a:pPr>
              <a:spcBef>
                <a:spcPts val="0"/>
              </a:spcBef>
              <a:spcAft>
                <a:spcPts val="1000"/>
              </a:spcAft>
            </a:pPr>
            <a:r>
              <a:rPr sz="2000" b="1">
                <a:solidFill>
                  <a:srgbClr val="1F6FEB"/>
                </a:solidFill>
                <a:latin typeface="Arial"/>
              </a:rPr>
              <a:t>•  </a:t>
            </a:r>
            <a:r>
              <a:rPr sz="2000">
                <a:solidFill>
                  <a:srgbClr val="161B26"/>
                </a:solidFill>
                <a:latin typeface="Arial"/>
              </a:rPr>
              <a:t>An appeal process is available if required.</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ON ASSESSMENT DAY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Assessment Flow</a:t>
            </a:r>
          </a:p>
        </p:txBody>
      </p:sp>
      <p:sp>
        <p:nvSpPr>
          <p:cNvPr id="6" name="Rectangle 5"/>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1424"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1</a:t>
            </a:r>
          </a:p>
        </p:txBody>
      </p:sp>
      <p:sp>
        <p:nvSpPr>
          <p:cNvPr id="10" name="TextBox 9"/>
          <p:cNvSpPr txBox="1"/>
          <p:nvPr/>
        </p:nvSpPr>
        <p:spPr>
          <a:xfrm>
            <a:off x="923544"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2" name="Rectangle 11"/>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7"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2</a:t>
            </a:r>
          </a:p>
        </p:txBody>
      </p:sp>
      <p:sp>
        <p:nvSpPr>
          <p:cNvPr id="16" name="TextBox 15"/>
          <p:cNvSpPr txBox="1"/>
          <p:nvPr/>
        </p:nvSpPr>
        <p:spPr>
          <a:xfrm>
            <a:off x="3112617"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8" name="Rectangle 17"/>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9570"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3</a:t>
            </a:r>
          </a:p>
        </p:txBody>
      </p:sp>
      <p:sp>
        <p:nvSpPr>
          <p:cNvPr id="22" name="TextBox 21"/>
          <p:cNvSpPr txBox="1"/>
          <p:nvPr/>
        </p:nvSpPr>
        <p:spPr>
          <a:xfrm>
            <a:off x="5301690"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Sit WA (SAQ) then PP — open book</a:t>
            </a:r>
          </a:p>
        </p:txBody>
      </p:sp>
      <p:sp>
        <p:nvSpPr>
          <p:cNvPr id="23" name="TextBox 22"/>
          <p:cNvSpPr txBox="1"/>
          <p:nvPr/>
        </p:nvSpPr>
        <p:spPr>
          <a:xfrm>
            <a:off x="6996987"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24" name="Rectangle 23"/>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8643"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4</a:t>
            </a:r>
          </a:p>
        </p:txBody>
      </p:sp>
      <p:sp>
        <p:nvSpPr>
          <p:cNvPr id="28" name="TextBox 27"/>
          <p:cNvSpPr txBox="1"/>
          <p:nvPr/>
        </p:nvSpPr>
        <p:spPr>
          <a:xfrm>
            <a:off x="7490763"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30" name="Rectangle 29"/>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97716"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5</a:t>
            </a:r>
          </a:p>
        </p:txBody>
      </p:sp>
      <p:sp>
        <p:nvSpPr>
          <p:cNvPr id="34" name="TextBox 33"/>
          <p:cNvSpPr txBox="1"/>
          <p:nvPr/>
        </p:nvSpPr>
        <p:spPr>
          <a:xfrm>
            <a:off x="9679836"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Sign the Assessment Summary Record</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1F6FEB"/>
                </a:solidFill>
                <a:latin typeface="Arial"/>
              </a:rPr>
              <a:t>TOPIC 1</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Workflow Automation with n8n</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What n8n is · triggers · data-processing nodes · JSON and expressions · executions</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1F6FEB"/>
                </a:solidFill>
                <a:latin typeface="Arial"/>
              </a:rPr>
              <a:t>Applied in Activities 1, 2, 3a and 3b</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What Is n8n?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 workflow automation platform: connect apps, data and AI on one visual canvas — no-code to full-code.</a:t>
            </a:r>
          </a:p>
        </p:txBody>
      </p:sp>
      <p:sp>
        <p:nvSpPr>
          <p:cNvPr id="7" name="Rounded Rectangle 6"/>
          <p:cNvSpPr/>
          <p:nvPr/>
        </p:nvSpPr>
        <p:spPr>
          <a:xfrm>
            <a:off x="777240" y="2011680"/>
            <a:ext cx="3349752" cy="329184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21579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579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21671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Build visually</a:t>
            </a:r>
          </a:p>
        </p:txBody>
      </p:sp>
      <p:sp>
        <p:nvSpPr>
          <p:cNvPr id="11" name="TextBox 10"/>
          <p:cNvSpPr txBox="1"/>
          <p:nvPr/>
        </p:nvSpPr>
        <p:spPr>
          <a:xfrm>
            <a:off x="978408" y="2560320"/>
            <a:ext cx="2947416" cy="25968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Drag nodes onto a canvas and wire them together. 400+ app integrations, plus HTTP and Code nodes when no integration exists.</a:t>
            </a:r>
          </a:p>
        </p:txBody>
      </p:sp>
      <p:sp>
        <p:nvSpPr>
          <p:cNvPr id="12" name="Rounded Rectangle 11"/>
          <p:cNvSpPr/>
          <p:nvPr/>
        </p:nvSpPr>
        <p:spPr>
          <a:xfrm>
            <a:off x="4419600" y="2011680"/>
            <a:ext cx="3349752" cy="329184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2480" y="21579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2480" y="21579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5041392" y="21671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Run anywhere</a:t>
            </a:r>
          </a:p>
        </p:txBody>
      </p:sp>
      <p:sp>
        <p:nvSpPr>
          <p:cNvPr id="16" name="TextBox 15"/>
          <p:cNvSpPr txBox="1"/>
          <p:nvPr/>
        </p:nvSpPr>
        <p:spPr>
          <a:xfrm>
            <a:off x="4620768" y="2560320"/>
            <a:ext cx="2947416" cy="25968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Free cloud trial at n8n.io, or self-host with Docker. Webhooks, schedules and chat triggers work the same in both.</a:t>
            </a:r>
          </a:p>
        </p:txBody>
      </p:sp>
      <p:sp>
        <p:nvSpPr>
          <p:cNvPr id="17" name="Rounded Rectangle 16"/>
          <p:cNvSpPr/>
          <p:nvPr/>
        </p:nvSpPr>
        <p:spPr>
          <a:xfrm>
            <a:off x="8061960" y="2011680"/>
            <a:ext cx="3349752" cy="329184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1579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1579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8683752" y="21671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AI-native</a:t>
            </a:r>
          </a:p>
        </p:txBody>
      </p:sp>
      <p:sp>
        <p:nvSpPr>
          <p:cNvPr id="21" name="TextBox 20"/>
          <p:cNvSpPr txBox="1"/>
          <p:nvPr/>
        </p:nvSpPr>
        <p:spPr>
          <a:xfrm>
            <a:off x="8263128" y="2560320"/>
            <a:ext cx="2947416" cy="25968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AI Agent and LangChain nodes are built in — attach any LLM (OpenAI, Gemini, Claude), memory, tools and vector stores.</a:t>
            </a:r>
          </a:p>
        </p:txBody>
      </p:sp>
      <p:sp>
        <p:nvSpPr>
          <p:cNvPr id="22" name="Rounded Rectangle 21"/>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One canvas to connect apps, data and AI — automation and agents without gluing code by hand.</a:t>
            </a:r>
          </a:p>
        </p:txBody>
      </p:sp>
      <p:sp>
        <p:nvSpPr>
          <p:cNvPr id="24" name="TextBox 2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THE PLATFORM</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n8n.io</a:t>
            </a:r>
          </a:p>
        </p:txBody>
      </p:sp>
      <p:sp>
        <p:nvSpPr>
          <p:cNvPr id="6" name="TextBox 5"/>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n8n is an open, fair-code workflow automation platform.</a:t>
            </a:r>
          </a:p>
          <a:p>
            <a:pPr>
              <a:spcBef>
                <a:spcPts val="0"/>
              </a:spcBef>
              <a:spcAft>
                <a:spcPts val="1000"/>
              </a:spcAft>
            </a:pPr>
            <a:r>
              <a:rPr sz="1600" b="1">
                <a:solidFill>
                  <a:srgbClr val="1F6FEB"/>
                </a:solidFill>
                <a:latin typeface="Arial"/>
              </a:rPr>
              <a:t>•  </a:t>
            </a:r>
            <a:r>
              <a:rPr sz="1600">
                <a:solidFill>
                  <a:srgbClr val="161B26"/>
                </a:solidFill>
                <a:latin typeface="Arial"/>
              </a:rPr>
              <a:t>Free cloud trial at n8n.io, or self-host with Docker.</a:t>
            </a:r>
          </a:p>
          <a:p>
            <a:pPr>
              <a:spcBef>
                <a:spcPts val="0"/>
              </a:spcBef>
              <a:spcAft>
                <a:spcPts val="1000"/>
              </a:spcAft>
            </a:pPr>
            <a:r>
              <a:rPr sz="1600" b="1">
                <a:solidFill>
                  <a:srgbClr val="1F6FEB"/>
                </a:solidFill>
                <a:latin typeface="Arial"/>
              </a:rPr>
              <a:t>•  </a:t>
            </a:r>
            <a:r>
              <a:rPr sz="1600">
                <a:solidFill>
                  <a:srgbClr val="161B26"/>
                </a:solidFill>
                <a:latin typeface="Arial"/>
              </a:rPr>
              <a:t>Same visual editor in both.</a:t>
            </a:r>
          </a:p>
          <a:p>
            <a:pPr>
              <a:spcBef>
                <a:spcPts val="0"/>
              </a:spcBef>
              <a:spcAft>
                <a:spcPts val="1000"/>
              </a:spcAft>
            </a:pPr>
            <a:r>
              <a:rPr sz="1600" b="1">
                <a:solidFill>
                  <a:srgbClr val="1F6FEB"/>
                </a:solidFill>
                <a:latin typeface="Arial"/>
              </a:rPr>
              <a:t>•  </a:t>
            </a:r>
            <a:r>
              <a:rPr sz="1600">
                <a:solidFill>
                  <a:srgbClr val="161B26"/>
                </a:solidFill>
                <a:latin typeface="Arial"/>
              </a:rPr>
              <a:t>This course: start on the cloud trial, keep the Docker option for after.</a:t>
            </a:r>
          </a:p>
        </p:txBody>
      </p:sp>
      <p:pic>
        <p:nvPicPr>
          <p:cNvPr id="7" name="Picture 6" descr="site-n8n.png"/>
          <p:cNvPicPr>
            <a:picLocks noChangeAspect="1"/>
          </p:cNvPicPr>
          <p:nvPr/>
        </p:nvPicPr>
        <p:blipFill>
          <a:blip r:embed="rId2"/>
          <a:stretch>
            <a:fillRect/>
          </a:stretch>
        </p:blipFill>
        <p:spPr>
          <a:xfrm>
            <a:off x="5943600" y="1783080"/>
            <a:ext cx="5486400" cy="3429000"/>
          </a:xfrm>
          <a:prstGeom prst="rect">
            <a:avLst/>
          </a:prstGeom>
        </p:spPr>
      </p:pic>
      <p:sp>
        <p:nvSpPr>
          <p:cNvPr id="8" name="Rectangle 7"/>
          <p:cNvSpPr/>
          <p:nvPr/>
        </p:nvSpPr>
        <p:spPr>
          <a:xfrm>
            <a:off x="5930900" y="177038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What Automation Removes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Automation is not 'the same work faster' — it removes the hand-offs where a person re-types what another system already knows.</a:t>
            </a:r>
          </a:p>
        </p:txBody>
      </p:sp>
      <p:sp>
        <p:nvSpPr>
          <p:cNvPr id="7" name="TextBox 6"/>
          <p:cNvSpPr txBox="1"/>
          <p:nvPr/>
        </p:nvSpPr>
        <p:spPr>
          <a:xfrm>
            <a:off x="777240" y="1920240"/>
            <a:ext cx="1280160" cy="731520"/>
          </a:xfrm>
          <a:prstGeom prst="rect">
            <a:avLst/>
          </a:prstGeom>
          <a:noFill/>
        </p:spPr>
        <p:txBody>
          <a:bodyPr wrap="square" anchor="ctr" lIns="0" rIns="0" tIns="0" bIns="0">
            <a:spAutoFit/>
          </a:bodyPr>
          <a:lstStyle/>
          <a:p>
            <a:pPr algn="l">
              <a:spcBef>
                <a:spcPts val="0"/>
              </a:spcBef>
              <a:spcAft>
                <a:spcPts val="400"/>
              </a:spcAft>
            </a:pPr>
            <a:r>
              <a:rPr sz="1200" b="1">
                <a:solidFill>
                  <a:srgbClr val="C62F2F"/>
                </a:solidFill>
                <a:latin typeface="Arial"/>
              </a:rPr>
              <a:t>MANUAL</a:t>
            </a:r>
          </a:p>
        </p:txBody>
      </p:sp>
      <p:sp>
        <p:nvSpPr>
          <p:cNvPr id="8" name="Rounded Rectangle 7"/>
          <p:cNvSpPr/>
          <p:nvPr/>
        </p:nvSpPr>
        <p:spPr>
          <a:xfrm>
            <a:off x="2103120" y="1874519"/>
            <a:ext cx="2093976" cy="7315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0" y="1874519"/>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Form filled in</a:t>
            </a:r>
          </a:p>
        </p:txBody>
      </p:sp>
      <p:sp>
        <p:nvSpPr>
          <p:cNvPr id="10" name="TextBox 9"/>
          <p:cNvSpPr txBox="1"/>
          <p:nvPr/>
        </p:nvSpPr>
        <p:spPr>
          <a:xfrm>
            <a:off x="4169664" y="207568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1" name="Rounded Rectangle 10"/>
          <p:cNvSpPr/>
          <p:nvPr/>
        </p:nvSpPr>
        <p:spPr>
          <a:xfrm>
            <a:off x="4507992" y="1874519"/>
            <a:ext cx="2093976" cy="7315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1874519"/>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Someone reads it</a:t>
            </a:r>
          </a:p>
        </p:txBody>
      </p:sp>
      <p:sp>
        <p:nvSpPr>
          <p:cNvPr id="13" name="TextBox 12"/>
          <p:cNvSpPr txBox="1"/>
          <p:nvPr/>
        </p:nvSpPr>
        <p:spPr>
          <a:xfrm>
            <a:off x="6574536" y="207568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4" name="Rounded Rectangle 13"/>
          <p:cNvSpPr/>
          <p:nvPr/>
        </p:nvSpPr>
        <p:spPr>
          <a:xfrm>
            <a:off x="6912864" y="1874519"/>
            <a:ext cx="2093976" cy="7315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04304" y="1874519"/>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Re-typed into Excel</a:t>
            </a:r>
          </a:p>
        </p:txBody>
      </p:sp>
      <p:sp>
        <p:nvSpPr>
          <p:cNvPr id="16" name="TextBox 15"/>
          <p:cNvSpPr txBox="1"/>
          <p:nvPr/>
        </p:nvSpPr>
        <p:spPr>
          <a:xfrm>
            <a:off x="8979408" y="207568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7" name="Rounded Rectangle 16"/>
          <p:cNvSpPr/>
          <p:nvPr/>
        </p:nvSpPr>
        <p:spPr>
          <a:xfrm>
            <a:off x="9317736" y="1874519"/>
            <a:ext cx="2093976" cy="7315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09176" y="1874519"/>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Someone remembers to reply</a:t>
            </a:r>
          </a:p>
        </p:txBody>
      </p:sp>
      <p:sp>
        <p:nvSpPr>
          <p:cNvPr id="19" name="TextBox 18"/>
          <p:cNvSpPr txBox="1"/>
          <p:nvPr/>
        </p:nvSpPr>
        <p:spPr>
          <a:xfrm>
            <a:off x="777240" y="2971800"/>
            <a:ext cx="1280160" cy="731520"/>
          </a:xfrm>
          <a:prstGeom prst="rect">
            <a:avLst/>
          </a:prstGeom>
          <a:noFill/>
        </p:spPr>
        <p:txBody>
          <a:bodyPr wrap="square" anchor="ctr" lIns="0" rIns="0" tIns="0" bIns="0">
            <a:spAutoFit/>
          </a:bodyPr>
          <a:lstStyle/>
          <a:p>
            <a:pPr algn="l">
              <a:spcBef>
                <a:spcPts val="0"/>
              </a:spcBef>
              <a:spcAft>
                <a:spcPts val="400"/>
              </a:spcAft>
            </a:pPr>
            <a:r>
              <a:rPr sz="1200" b="1">
                <a:solidFill>
                  <a:srgbClr val="127A3E"/>
                </a:solidFill>
                <a:latin typeface="Arial"/>
              </a:rPr>
              <a:t>AUTOMATED</a:t>
            </a:r>
          </a:p>
        </p:txBody>
      </p:sp>
      <p:sp>
        <p:nvSpPr>
          <p:cNvPr id="20" name="Rounded Rectangle 19"/>
          <p:cNvSpPr/>
          <p:nvPr/>
        </p:nvSpPr>
        <p:spPr>
          <a:xfrm>
            <a:off x="2103120" y="2926080"/>
            <a:ext cx="2093976" cy="7315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94560" y="2926080"/>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Form submitted</a:t>
            </a:r>
          </a:p>
        </p:txBody>
      </p:sp>
      <p:sp>
        <p:nvSpPr>
          <p:cNvPr id="22" name="TextBox 21"/>
          <p:cNvSpPr txBox="1"/>
          <p:nvPr/>
        </p:nvSpPr>
        <p:spPr>
          <a:xfrm>
            <a:off x="4169664" y="31272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23" name="Rounded Rectangle 22"/>
          <p:cNvSpPr/>
          <p:nvPr/>
        </p:nvSpPr>
        <p:spPr>
          <a:xfrm>
            <a:off x="4507992" y="2926080"/>
            <a:ext cx="2093976" cy="7315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2926080"/>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Flow triggered</a:t>
            </a:r>
          </a:p>
        </p:txBody>
      </p:sp>
      <p:sp>
        <p:nvSpPr>
          <p:cNvPr id="25" name="TextBox 24"/>
          <p:cNvSpPr txBox="1"/>
          <p:nvPr/>
        </p:nvSpPr>
        <p:spPr>
          <a:xfrm>
            <a:off x="6574536" y="31272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26" name="Rounded Rectangle 25"/>
          <p:cNvSpPr/>
          <p:nvPr/>
        </p:nvSpPr>
        <p:spPr>
          <a:xfrm>
            <a:off x="6912864" y="2926080"/>
            <a:ext cx="2093976" cy="7315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04304" y="2926080"/>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Row written</a:t>
            </a:r>
          </a:p>
        </p:txBody>
      </p:sp>
      <p:sp>
        <p:nvSpPr>
          <p:cNvPr id="28" name="TextBox 27"/>
          <p:cNvSpPr txBox="1"/>
          <p:nvPr/>
        </p:nvSpPr>
        <p:spPr>
          <a:xfrm>
            <a:off x="8979408" y="31272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29" name="Rounded Rectangle 28"/>
          <p:cNvSpPr/>
          <p:nvPr/>
        </p:nvSpPr>
        <p:spPr>
          <a:xfrm>
            <a:off x="9317736" y="2926080"/>
            <a:ext cx="2093976" cy="7315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09176" y="2926080"/>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Reply sent</a:t>
            </a:r>
          </a:p>
        </p:txBody>
      </p:sp>
      <p:sp>
        <p:nvSpPr>
          <p:cNvPr id="31" name="Rounded Rectangle 30"/>
          <p:cNvSpPr/>
          <p:nvPr/>
        </p:nvSpPr>
        <p:spPr>
          <a:xfrm>
            <a:off x="777240" y="3977639"/>
            <a:ext cx="3349752" cy="160020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8408" y="4123943"/>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Consistency</a:t>
            </a:r>
          </a:p>
        </p:txBody>
      </p:sp>
      <p:sp>
        <p:nvSpPr>
          <p:cNvPr id="33" name="TextBox 32"/>
          <p:cNvSpPr txBox="1"/>
          <p:nvPr/>
        </p:nvSpPr>
        <p:spPr>
          <a:xfrm>
            <a:off x="978408" y="4526279"/>
            <a:ext cx="2947416" cy="9052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The same input produces the same output, every time, at 3am.</a:t>
            </a:r>
          </a:p>
        </p:txBody>
      </p:sp>
      <p:sp>
        <p:nvSpPr>
          <p:cNvPr id="34" name="Rounded Rectangle 33"/>
          <p:cNvSpPr/>
          <p:nvPr/>
        </p:nvSpPr>
        <p:spPr>
          <a:xfrm>
            <a:off x="4419600" y="3977639"/>
            <a:ext cx="3349752" cy="160020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20768" y="4123943"/>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Traceability</a:t>
            </a:r>
          </a:p>
        </p:txBody>
      </p:sp>
      <p:sp>
        <p:nvSpPr>
          <p:cNvPr id="36" name="TextBox 35"/>
          <p:cNvSpPr txBox="1"/>
          <p:nvPr/>
        </p:nvSpPr>
        <p:spPr>
          <a:xfrm>
            <a:off x="4620768" y="4526279"/>
            <a:ext cx="2947416" cy="9052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Every run leaves an execution history someone can read a year later.</a:t>
            </a:r>
          </a:p>
        </p:txBody>
      </p:sp>
      <p:sp>
        <p:nvSpPr>
          <p:cNvPr id="37" name="Rounded Rectangle 36"/>
          <p:cNvSpPr/>
          <p:nvPr/>
        </p:nvSpPr>
        <p:spPr>
          <a:xfrm>
            <a:off x="8061960" y="3977639"/>
            <a:ext cx="3349752" cy="16002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63128" y="4123943"/>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Capacity</a:t>
            </a:r>
          </a:p>
        </p:txBody>
      </p:sp>
      <p:sp>
        <p:nvSpPr>
          <p:cNvPr id="39" name="TextBox 38"/>
          <p:cNvSpPr txBox="1"/>
          <p:nvPr/>
        </p:nvSpPr>
        <p:spPr>
          <a:xfrm>
            <a:off x="8263128" y="4526279"/>
            <a:ext cx="2947416" cy="9052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People move up to judgement calls; the machine does the re-typing.</a:t>
            </a:r>
          </a:p>
        </p:txBody>
      </p:sp>
      <p:sp>
        <p:nvSpPr>
          <p:cNvPr id="40" name="Rounded Rectangle 39"/>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Automate the hand-offs first — that is where time and errors live.</a:t>
            </a:r>
          </a:p>
        </p:txBody>
      </p:sp>
      <p:sp>
        <p:nvSpPr>
          <p:cNvPr id="42" name="TextBox 4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3" name="TextBox 4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4" name="TextBox 4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Every Workflow Is the Same Shape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Trigger first, then actions in order, with data flowing left to right. Only the nodes change.</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TRIGGER</a:t>
            </a:r>
          </a:p>
          <a:p>
            <a:pPr algn="ctr">
              <a:spcBef>
                <a:spcPts val="0"/>
              </a:spcBef>
              <a:spcAft>
                <a:spcPts val="200"/>
              </a:spcAft>
            </a:pPr>
            <a:r>
              <a:rPr sz="900" b="0">
                <a:solidFill>
                  <a:srgbClr val="5B6372"/>
                </a:solidFill>
                <a:latin typeface="Arial"/>
              </a:rPr>
              <a:t>what starts it</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ACTION</a:t>
            </a:r>
          </a:p>
          <a:p>
            <a:pPr algn="ctr">
              <a:spcBef>
                <a:spcPts val="0"/>
              </a:spcBef>
              <a:spcAft>
                <a:spcPts val="200"/>
              </a:spcAft>
            </a:pPr>
            <a:r>
              <a:rPr sz="900" b="0">
                <a:solidFill>
                  <a:srgbClr val="5B6372"/>
                </a:solidFill>
                <a:latin typeface="Arial"/>
              </a:rPr>
              <a:t>do the work</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ACTION</a:t>
            </a:r>
          </a:p>
          <a:p>
            <a:pPr algn="ctr">
              <a:spcBef>
                <a:spcPts val="0"/>
              </a:spcBef>
              <a:spcAft>
                <a:spcPts val="200"/>
              </a:spcAft>
            </a:pPr>
            <a:r>
              <a:rPr sz="900" b="0">
                <a:solidFill>
                  <a:srgbClr val="5B6372"/>
                </a:solidFill>
                <a:latin typeface="Arial"/>
              </a:rPr>
              <a:t>do more work</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OUTPUT</a:t>
            </a:r>
          </a:p>
          <a:p>
            <a:pPr algn="ctr">
              <a:spcBef>
                <a:spcPts val="0"/>
              </a:spcBef>
              <a:spcAft>
                <a:spcPts val="200"/>
              </a:spcAft>
            </a:pPr>
            <a:r>
              <a:rPr sz="900" b="0">
                <a:solidFill>
                  <a:srgbClr val="5B6372"/>
                </a:solidFill>
                <a:latin typeface="Arial"/>
              </a:rPr>
              <a:t>reply, store or notify</a:t>
            </a:r>
          </a:p>
        </p:txBody>
      </p:sp>
      <p:sp>
        <p:nvSpPr>
          <p:cNvPr id="18" name="Rounded Rectangle 17"/>
          <p:cNvSpPr/>
          <p:nvPr/>
        </p:nvSpPr>
        <p:spPr>
          <a:xfrm>
            <a:off x="777240" y="3200400"/>
            <a:ext cx="3349752" cy="23317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34670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1" name="TextBox 20"/>
          <p:cNvSpPr txBox="1"/>
          <p:nvPr/>
        </p:nvSpPr>
        <p:spPr>
          <a:xfrm>
            <a:off x="139903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One trigger</a:t>
            </a:r>
          </a:p>
        </p:txBody>
      </p:sp>
      <p:sp>
        <p:nvSpPr>
          <p:cNvPr id="22" name="TextBox 21"/>
          <p:cNvSpPr txBox="1"/>
          <p:nvPr/>
        </p:nvSpPr>
        <p:spPr>
          <a:xfrm>
            <a:off x="97840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 workflow has exactly one entry point. Change the trigger and you have a different flow — the actions may not change at all.</a:t>
            </a:r>
          </a:p>
        </p:txBody>
      </p:sp>
      <p:sp>
        <p:nvSpPr>
          <p:cNvPr id="23" name="Rounded Rectangle 22"/>
          <p:cNvSpPr/>
          <p:nvPr/>
        </p:nvSpPr>
        <p:spPr>
          <a:xfrm>
            <a:off x="4419600" y="3200400"/>
            <a:ext cx="3349752" cy="23317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02480" y="334670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0248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26" name="TextBox 25"/>
          <p:cNvSpPr txBox="1"/>
          <p:nvPr/>
        </p:nvSpPr>
        <p:spPr>
          <a:xfrm>
            <a:off x="504139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Actions are ordered</a:t>
            </a:r>
          </a:p>
        </p:txBody>
      </p:sp>
      <p:sp>
        <p:nvSpPr>
          <p:cNvPr id="27" name="TextBox 26"/>
          <p:cNvSpPr txBox="1"/>
          <p:nvPr/>
        </p:nvSpPr>
        <p:spPr>
          <a:xfrm>
            <a:off x="462076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Each action runs after the one before it and can read the outputs of every node before it.</a:t>
            </a:r>
          </a:p>
        </p:txBody>
      </p:sp>
      <p:sp>
        <p:nvSpPr>
          <p:cNvPr id="28" name="Rounded Rectangle 27"/>
          <p:cNvSpPr/>
          <p:nvPr/>
        </p:nvSpPr>
        <p:spPr>
          <a:xfrm>
            <a:off x="8061960" y="3200400"/>
            <a:ext cx="3349752" cy="23317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44840" y="334670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484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31" name="TextBox 30"/>
          <p:cNvSpPr txBox="1"/>
          <p:nvPr/>
        </p:nvSpPr>
        <p:spPr>
          <a:xfrm>
            <a:off x="868375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Data flows as JSON</a:t>
            </a:r>
          </a:p>
        </p:txBody>
      </p:sp>
      <p:sp>
        <p:nvSpPr>
          <p:cNvPr id="32" name="TextBox 31"/>
          <p:cNvSpPr txBox="1"/>
          <p:nvPr/>
        </p:nvSpPr>
        <p:spPr>
          <a:xfrm>
            <a:off x="826312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Every node passes a list of JSON items to the next — the same structure in every lab.</a:t>
            </a:r>
          </a:p>
        </p:txBody>
      </p:sp>
      <p:sp>
        <p:nvSpPr>
          <p:cNvPr id="33" name="Rounded Rectangle 3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Trigger, actions, output. Learn this once in Activity 1 and every later lab is a variation.</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Trigger Nodes — What Is Allowed to Start a Workflow</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trigger you choose is a statement about who or what may start the process.</a:t>
            </a:r>
          </a:p>
        </p:txBody>
      </p:sp>
      <p:sp>
        <p:nvSpPr>
          <p:cNvPr id="7" name="Rounded Rectangle 6"/>
          <p:cNvSpPr/>
          <p:nvPr/>
        </p:nvSpPr>
        <p:spPr>
          <a:xfrm>
            <a:off x="777240" y="1783080"/>
            <a:ext cx="3349752" cy="18105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Manual Trigger</a:t>
            </a:r>
          </a:p>
        </p:txBody>
      </p:sp>
      <p:sp>
        <p:nvSpPr>
          <p:cNvPr id="11" name="TextBox 10"/>
          <p:cNvSpPr txBox="1"/>
          <p:nvPr/>
        </p:nvSpPr>
        <p:spPr>
          <a:xfrm>
            <a:off x="978408" y="2331720"/>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Click Execute Workflow — for building and testing, and for one-off jobs like the Activity 7b ingestion run.</a:t>
            </a:r>
          </a:p>
        </p:txBody>
      </p:sp>
      <p:sp>
        <p:nvSpPr>
          <p:cNvPr id="12" name="Rounded Rectangle 11"/>
          <p:cNvSpPr/>
          <p:nvPr/>
        </p:nvSpPr>
        <p:spPr>
          <a:xfrm>
            <a:off x="4419600" y="1783080"/>
            <a:ext cx="3349752" cy="18105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2480" y="19293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248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504139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Schedule Trigger</a:t>
            </a:r>
          </a:p>
        </p:txBody>
      </p:sp>
      <p:sp>
        <p:nvSpPr>
          <p:cNvPr id="16" name="TextBox 15"/>
          <p:cNvSpPr txBox="1"/>
          <p:nvPr/>
        </p:nvSpPr>
        <p:spPr>
          <a:xfrm>
            <a:off x="4620768" y="2331720"/>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 clock starts the flow — cron or interval. Reports, reminders, nightly syncs.</a:t>
            </a:r>
          </a:p>
        </p:txBody>
      </p:sp>
      <p:sp>
        <p:nvSpPr>
          <p:cNvPr id="17" name="Rounded Rectangle 16"/>
          <p:cNvSpPr/>
          <p:nvPr/>
        </p:nvSpPr>
        <p:spPr>
          <a:xfrm>
            <a:off x="8061960" y="1783080"/>
            <a:ext cx="3349752" cy="18105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19293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868375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Form Trigger</a:t>
            </a:r>
          </a:p>
        </p:txBody>
      </p:sp>
      <p:sp>
        <p:nvSpPr>
          <p:cNvPr id="21" name="TextBox 20"/>
          <p:cNvSpPr txBox="1"/>
          <p:nvPr/>
        </p:nvSpPr>
        <p:spPr>
          <a:xfrm>
            <a:off x="8263128" y="2331720"/>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n8n hosts a web form for you; each submission starts a run. Activities 1–3.</a:t>
            </a:r>
          </a:p>
        </p:txBody>
      </p:sp>
      <p:sp>
        <p:nvSpPr>
          <p:cNvPr id="22" name="Rounded Rectangle 21"/>
          <p:cNvSpPr/>
          <p:nvPr/>
        </p:nvSpPr>
        <p:spPr>
          <a:xfrm>
            <a:off x="777240" y="3813048"/>
            <a:ext cx="3349752" cy="18105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0120" y="395935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1399032" y="3968496"/>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Webhook</a:t>
            </a:r>
          </a:p>
        </p:txBody>
      </p:sp>
      <p:sp>
        <p:nvSpPr>
          <p:cNvPr id="26" name="TextBox 25"/>
          <p:cNvSpPr txBox="1"/>
          <p:nvPr/>
        </p:nvSpPr>
        <p:spPr>
          <a:xfrm>
            <a:off x="978408" y="4361688"/>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External systems call a URL you expose. Websites and apps — Activities 5, 7b, 8.</a:t>
            </a:r>
          </a:p>
        </p:txBody>
      </p:sp>
      <p:sp>
        <p:nvSpPr>
          <p:cNvPr id="27" name="Rounded Rectangle 26"/>
          <p:cNvSpPr/>
          <p:nvPr/>
        </p:nvSpPr>
        <p:spPr>
          <a:xfrm>
            <a:off x="4419600" y="3813048"/>
            <a:ext cx="3349752" cy="1810512"/>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02480" y="3959352"/>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0248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5</a:t>
            </a:r>
          </a:p>
        </p:txBody>
      </p:sp>
      <p:sp>
        <p:nvSpPr>
          <p:cNvPr id="30" name="TextBox 29"/>
          <p:cNvSpPr txBox="1"/>
          <p:nvPr/>
        </p:nvSpPr>
        <p:spPr>
          <a:xfrm>
            <a:off x="5041392" y="3968496"/>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Chat / Telegram Trigger</a:t>
            </a:r>
          </a:p>
        </p:txBody>
      </p:sp>
      <p:sp>
        <p:nvSpPr>
          <p:cNvPr id="31" name="TextBox 30"/>
          <p:cNvSpPr txBox="1"/>
          <p:nvPr/>
        </p:nvSpPr>
        <p:spPr>
          <a:xfrm>
            <a:off x="4620768" y="4361688"/>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Each chat message starts a run — n8n's chat UI or your Telegram bot. Activities 4, 6, 7a.</a:t>
            </a:r>
          </a:p>
        </p:txBody>
      </p:sp>
      <p:sp>
        <p:nvSpPr>
          <p:cNvPr id="32" name="Rounded Rectangle 31"/>
          <p:cNvSpPr/>
          <p:nvPr/>
        </p:nvSpPr>
        <p:spPr>
          <a:xfrm>
            <a:off x="8061960" y="3813048"/>
            <a:ext cx="3349752" cy="1810512"/>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44840" y="3959352"/>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484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6</a:t>
            </a:r>
          </a:p>
        </p:txBody>
      </p:sp>
      <p:sp>
        <p:nvSpPr>
          <p:cNvPr id="35" name="TextBox 34"/>
          <p:cNvSpPr txBox="1"/>
          <p:nvPr/>
        </p:nvSpPr>
        <p:spPr>
          <a:xfrm>
            <a:off x="8683752" y="3968496"/>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App &amp; Email Triggers</a:t>
            </a:r>
          </a:p>
        </p:txBody>
      </p:sp>
      <p:sp>
        <p:nvSpPr>
          <p:cNvPr id="36" name="TextBox 35"/>
          <p:cNvSpPr txBox="1"/>
          <p:nvPr/>
        </p:nvSpPr>
        <p:spPr>
          <a:xfrm>
            <a:off x="8263128" y="4361688"/>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On new Gmail, new Sheet row, new Drive file, new IMAP email — react to changes in apps you already use.</a:t>
            </a:r>
          </a:p>
        </p:txBody>
      </p:sp>
      <p:sp>
        <p:nvSpPr>
          <p:cNvPr id="37" name="Rounded Rectangle 3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Pick the trigger by asking: who or what should be allowed to start this process?</a:t>
            </a:r>
          </a:p>
        </p:txBody>
      </p:sp>
      <p:sp>
        <p:nvSpPr>
          <p:cNvPr id="39" name="TextBox 3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0" name="TextBox 3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1" name="TextBox 4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Triggers Used in This Course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Every lab's trigger, and why that trigger is the right front door.</a:t>
            </a:r>
          </a:p>
        </p:txBody>
      </p:sp>
      <p:sp>
        <p:nvSpPr>
          <p:cNvPr id="7" name="Rectangle 6"/>
          <p:cNvSpPr/>
          <p:nvPr/>
        </p:nvSpPr>
        <p:spPr>
          <a:xfrm>
            <a:off x="777240" y="1828800"/>
            <a:ext cx="274320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28800"/>
            <a:ext cx="2487168"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Trigger</a:t>
            </a:r>
          </a:p>
        </p:txBody>
      </p:sp>
      <p:sp>
        <p:nvSpPr>
          <p:cNvPr id="9" name="Rectangle 8"/>
          <p:cNvSpPr/>
          <p:nvPr/>
        </p:nvSpPr>
        <p:spPr>
          <a:xfrm>
            <a:off x="3520440" y="1828800"/>
            <a:ext cx="292608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1828800"/>
            <a:ext cx="2670048"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Where</a:t>
            </a:r>
          </a:p>
        </p:txBody>
      </p:sp>
      <p:sp>
        <p:nvSpPr>
          <p:cNvPr id="11" name="Rectangle 10"/>
          <p:cNvSpPr/>
          <p:nvPr/>
        </p:nvSpPr>
        <p:spPr>
          <a:xfrm>
            <a:off x="6446520" y="1828800"/>
            <a:ext cx="49651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4536" y="1828800"/>
            <a:ext cx="4709160"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Why it fits</a:t>
            </a:r>
          </a:p>
        </p:txBody>
      </p:sp>
      <p:sp>
        <p:nvSpPr>
          <p:cNvPr id="13" name="Rectangle 12"/>
          <p:cNvSpPr/>
          <p:nvPr/>
        </p:nvSpPr>
        <p:spPr>
          <a:xfrm>
            <a:off x="777240" y="22860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Form Trigger</a:t>
            </a:r>
          </a:p>
        </p:txBody>
      </p:sp>
      <p:sp>
        <p:nvSpPr>
          <p:cNvPr id="15" name="Rectangle 14"/>
          <p:cNvSpPr/>
          <p:nvPr/>
        </p:nvSpPr>
        <p:spPr>
          <a:xfrm>
            <a:off x="3520440" y="2286000"/>
            <a:ext cx="292608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48456" y="2286000"/>
            <a:ext cx="267004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Activities 1, 2, 3a, 3b</a:t>
            </a:r>
          </a:p>
        </p:txBody>
      </p:sp>
      <p:sp>
        <p:nvSpPr>
          <p:cNvPr id="17" name="Rectangle 16"/>
          <p:cNvSpPr/>
          <p:nvPr/>
        </p:nvSpPr>
        <p:spPr>
          <a:xfrm>
            <a:off x="6446520" y="2286000"/>
            <a:ext cx="496519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4536" y="2286000"/>
            <a:ext cx="470916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 visitor RSVP must start the flow</a:t>
            </a:r>
          </a:p>
        </p:txBody>
      </p:sp>
      <p:sp>
        <p:nvSpPr>
          <p:cNvPr id="19" name="Rectangle 18"/>
          <p:cNvSpPr/>
          <p:nvPr/>
        </p:nvSpPr>
        <p:spPr>
          <a:xfrm>
            <a:off x="777240" y="2743200"/>
            <a:ext cx="274320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32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Telegram Trigger</a:t>
            </a:r>
          </a:p>
        </p:txBody>
      </p:sp>
      <p:sp>
        <p:nvSpPr>
          <p:cNvPr id="21" name="Rectangle 20"/>
          <p:cNvSpPr/>
          <p:nvPr/>
        </p:nvSpPr>
        <p:spPr>
          <a:xfrm>
            <a:off x="3520440" y="2743200"/>
            <a:ext cx="292608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743200"/>
            <a:ext cx="267004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Activities 4a, 4b, 6, 7a</a:t>
            </a:r>
          </a:p>
        </p:txBody>
      </p:sp>
      <p:sp>
        <p:nvSpPr>
          <p:cNvPr id="23" name="Rectangle 22"/>
          <p:cNvSpPr/>
          <p:nvPr/>
        </p:nvSpPr>
        <p:spPr>
          <a:xfrm>
            <a:off x="6446520" y="2743200"/>
            <a:ext cx="4965192"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74536" y="2743200"/>
            <a:ext cx="470916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Each bot message is one conversation turn</a:t>
            </a:r>
          </a:p>
        </p:txBody>
      </p:sp>
      <p:sp>
        <p:nvSpPr>
          <p:cNvPr id="25" name="Rectangle 24"/>
          <p:cNvSpPr/>
          <p:nvPr/>
        </p:nvSpPr>
        <p:spPr>
          <a:xfrm>
            <a:off x="777240" y="32004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004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Webhook — POST</a:t>
            </a:r>
          </a:p>
        </p:txBody>
      </p:sp>
      <p:sp>
        <p:nvSpPr>
          <p:cNvPr id="27" name="Rectangle 26"/>
          <p:cNvSpPr/>
          <p:nvPr/>
        </p:nvSpPr>
        <p:spPr>
          <a:xfrm>
            <a:off x="3520440" y="3200400"/>
            <a:ext cx="292608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48456" y="3200400"/>
            <a:ext cx="267004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Activities 5, 7b, 8a, 8c</a:t>
            </a:r>
          </a:p>
        </p:txBody>
      </p:sp>
      <p:sp>
        <p:nvSpPr>
          <p:cNvPr id="29" name="Rectangle 28"/>
          <p:cNvSpPr/>
          <p:nvPr/>
        </p:nvSpPr>
        <p:spPr>
          <a:xfrm>
            <a:off x="6446520" y="3200400"/>
            <a:ext cx="496519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74536" y="3200400"/>
            <a:ext cx="470916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 website sends data and waits for a reply</a:t>
            </a:r>
          </a:p>
        </p:txBody>
      </p:sp>
      <p:sp>
        <p:nvSpPr>
          <p:cNvPr id="31" name="Rectangle 30"/>
          <p:cNvSpPr/>
          <p:nvPr/>
        </p:nvSpPr>
        <p:spPr>
          <a:xfrm>
            <a:off x="777240" y="3657600"/>
            <a:ext cx="274320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576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Webhook — GET</a:t>
            </a:r>
          </a:p>
        </p:txBody>
      </p:sp>
      <p:sp>
        <p:nvSpPr>
          <p:cNvPr id="33" name="Rectangle 32"/>
          <p:cNvSpPr/>
          <p:nvPr/>
        </p:nvSpPr>
        <p:spPr>
          <a:xfrm>
            <a:off x="3520440" y="3657600"/>
            <a:ext cx="292608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48456" y="3657600"/>
            <a:ext cx="267004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Activity 8b</a:t>
            </a:r>
          </a:p>
        </p:txBody>
      </p:sp>
      <p:sp>
        <p:nvSpPr>
          <p:cNvPr id="35" name="Rectangle 34"/>
          <p:cNvSpPr/>
          <p:nvPr/>
        </p:nvSpPr>
        <p:spPr>
          <a:xfrm>
            <a:off x="6446520" y="3657600"/>
            <a:ext cx="4965192"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74536" y="3657600"/>
            <a:ext cx="470916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The dashboard pulls JSON from a URL</a:t>
            </a:r>
          </a:p>
        </p:txBody>
      </p:sp>
      <p:sp>
        <p:nvSpPr>
          <p:cNvPr id="37" name="Rectangle 36"/>
          <p:cNvSpPr/>
          <p:nvPr/>
        </p:nvSpPr>
        <p:spPr>
          <a:xfrm>
            <a:off x="777240" y="41148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148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Manual Trigger</a:t>
            </a:r>
          </a:p>
        </p:txBody>
      </p:sp>
      <p:sp>
        <p:nvSpPr>
          <p:cNvPr id="39" name="Rectangle 38"/>
          <p:cNvSpPr/>
          <p:nvPr/>
        </p:nvSpPr>
        <p:spPr>
          <a:xfrm>
            <a:off x="3520440" y="4114800"/>
            <a:ext cx="292608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48456" y="4114800"/>
            <a:ext cx="267004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Activity 7b ingestion</a:t>
            </a:r>
          </a:p>
        </p:txBody>
      </p:sp>
      <p:sp>
        <p:nvSpPr>
          <p:cNvPr id="41" name="Rectangle 40"/>
          <p:cNvSpPr/>
          <p:nvPr/>
        </p:nvSpPr>
        <p:spPr>
          <a:xfrm>
            <a:off x="6446520" y="4114800"/>
            <a:ext cx="496519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74536" y="4114800"/>
            <a:ext cx="470916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 human runs the document load once</a:t>
            </a:r>
          </a:p>
        </p:txBody>
      </p:sp>
      <p:sp>
        <p:nvSpPr>
          <p:cNvPr id="43" name="Rounded Rectangle 4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Schedule and app triggers follow the same pattern — swap the front door, keep the flow.</a:t>
            </a:r>
          </a:p>
        </p:txBody>
      </p:sp>
      <p:sp>
        <p:nvSpPr>
          <p:cNvPr id="45" name="TextBox 4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6" name="TextBox 4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7" name="TextBox 4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Trigger Nodes on the n8n Canvas</a:t>
            </a:r>
          </a:p>
        </p:txBody>
      </p:sp>
      <p:pic>
        <p:nvPicPr>
          <p:cNvPr id="6" name="Picture 5" descr="n8n-triggers.png"/>
          <p:cNvPicPr>
            <a:picLocks noChangeAspect="1"/>
          </p:cNvPicPr>
          <p:nvPr/>
        </p:nvPicPr>
        <p:blipFill>
          <a:blip r:embed="rId2"/>
          <a:stretch>
            <a:fillRect/>
          </a:stretch>
        </p:blipFill>
        <p:spPr>
          <a:xfrm>
            <a:off x="914400" y="1737360"/>
            <a:ext cx="10332720" cy="3795042"/>
          </a:xfrm>
          <a:prstGeom prst="rect">
            <a:avLst/>
          </a:prstGeom>
        </p:spPr>
      </p:pic>
      <p:sp>
        <p:nvSpPr>
          <p:cNvPr id="7" name="Rectangle 6"/>
          <p:cNvSpPr/>
          <p:nvPr/>
        </p:nvSpPr>
        <p:spPr>
          <a:xfrm>
            <a:off x="901700" y="1724660"/>
            <a:ext cx="10358120" cy="382044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n8n trigger nodes: Manual · Schedule · WhatsApp · Telegram · Gmail · Chat · Form · Webhook</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Data-Processing Nodes — The Workhorses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Between the trigger and the output, these nodes shape, route and transform the data.</a:t>
            </a:r>
          </a:p>
        </p:txBody>
      </p:sp>
      <p:sp>
        <p:nvSpPr>
          <p:cNvPr id="7" name="Rounded Rectangle 6"/>
          <p:cNvSpPr/>
          <p:nvPr/>
        </p:nvSpPr>
        <p:spPr>
          <a:xfrm>
            <a:off x="777240" y="1783080"/>
            <a:ext cx="2439162" cy="18105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Edit Fields (Set)</a:t>
            </a:r>
          </a:p>
        </p:txBody>
      </p:sp>
      <p:sp>
        <p:nvSpPr>
          <p:cNvPr id="11" name="TextBox 10"/>
          <p:cNvSpPr txBox="1"/>
          <p:nvPr/>
        </p:nvSpPr>
        <p:spPr>
          <a:xfrm>
            <a:off x="978408" y="2331720"/>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Add, rename or reshape fields — the node you reach for first when data is the wrong shape.</a:t>
            </a:r>
          </a:p>
        </p:txBody>
      </p:sp>
      <p:sp>
        <p:nvSpPr>
          <p:cNvPr id="12" name="Rounded Rectangle 11"/>
          <p:cNvSpPr/>
          <p:nvPr/>
        </p:nvSpPr>
        <p:spPr>
          <a:xfrm>
            <a:off x="3509010" y="1783080"/>
            <a:ext cx="2439162" cy="18105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91890" y="19293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9189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4130802" y="193852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IF / Switch</a:t>
            </a:r>
          </a:p>
        </p:txBody>
      </p:sp>
      <p:sp>
        <p:nvSpPr>
          <p:cNvPr id="16" name="TextBox 15"/>
          <p:cNvSpPr txBox="1"/>
          <p:nvPr/>
        </p:nvSpPr>
        <p:spPr>
          <a:xfrm>
            <a:off x="3710178" y="2331720"/>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Branch the flow: IF gives true/false paths; Switch gives one path per case.</a:t>
            </a:r>
          </a:p>
        </p:txBody>
      </p:sp>
      <p:sp>
        <p:nvSpPr>
          <p:cNvPr id="17" name="Rounded Rectangle 16"/>
          <p:cNvSpPr/>
          <p:nvPr/>
        </p:nvSpPr>
        <p:spPr>
          <a:xfrm>
            <a:off x="6240780" y="1783080"/>
            <a:ext cx="2439162" cy="18105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23660" y="19293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6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6862572" y="193852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Filter</a:t>
            </a:r>
          </a:p>
        </p:txBody>
      </p:sp>
      <p:sp>
        <p:nvSpPr>
          <p:cNvPr id="21" name="TextBox 20"/>
          <p:cNvSpPr txBox="1"/>
          <p:nvPr/>
        </p:nvSpPr>
        <p:spPr>
          <a:xfrm>
            <a:off x="6441948" y="2331720"/>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Let only matching items continue — drop the rest of the list.</a:t>
            </a:r>
          </a:p>
        </p:txBody>
      </p:sp>
      <p:sp>
        <p:nvSpPr>
          <p:cNvPr id="22" name="Rounded Rectangle 21"/>
          <p:cNvSpPr/>
          <p:nvPr/>
        </p:nvSpPr>
        <p:spPr>
          <a:xfrm>
            <a:off x="8972550" y="1783080"/>
            <a:ext cx="2439162" cy="18105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55430" y="1929384"/>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5543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9594342" y="193852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Merge</a:t>
            </a:r>
          </a:p>
        </p:txBody>
      </p:sp>
      <p:sp>
        <p:nvSpPr>
          <p:cNvPr id="26" name="TextBox 25"/>
          <p:cNvSpPr txBox="1"/>
          <p:nvPr/>
        </p:nvSpPr>
        <p:spPr>
          <a:xfrm>
            <a:off x="9173718" y="2331720"/>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Combine two branches — append rows, match by key, or choose one side.</a:t>
            </a:r>
          </a:p>
        </p:txBody>
      </p:sp>
      <p:sp>
        <p:nvSpPr>
          <p:cNvPr id="27" name="Rounded Rectangle 26"/>
          <p:cNvSpPr/>
          <p:nvPr/>
        </p:nvSpPr>
        <p:spPr>
          <a:xfrm>
            <a:off x="777240" y="3813048"/>
            <a:ext cx="2439162" cy="1810512"/>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0120" y="3959352"/>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5</a:t>
            </a:r>
          </a:p>
        </p:txBody>
      </p:sp>
      <p:sp>
        <p:nvSpPr>
          <p:cNvPr id="30" name="TextBox 29"/>
          <p:cNvSpPr txBox="1"/>
          <p:nvPr/>
        </p:nvSpPr>
        <p:spPr>
          <a:xfrm>
            <a:off x="1399032" y="3968496"/>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Split Out / Aggregate</a:t>
            </a:r>
          </a:p>
        </p:txBody>
      </p:sp>
      <p:sp>
        <p:nvSpPr>
          <p:cNvPr id="31" name="TextBox 30"/>
          <p:cNvSpPr txBox="1"/>
          <p:nvPr/>
        </p:nvSpPr>
        <p:spPr>
          <a:xfrm>
            <a:off x="978408" y="4361688"/>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Turn one item holding a list into many items — and back again.</a:t>
            </a:r>
          </a:p>
        </p:txBody>
      </p:sp>
      <p:sp>
        <p:nvSpPr>
          <p:cNvPr id="32" name="Rounded Rectangle 31"/>
          <p:cNvSpPr/>
          <p:nvPr/>
        </p:nvSpPr>
        <p:spPr>
          <a:xfrm>
            <a:off x="3509010" y="3813048"/>
            <a:ext cx="2439162" cy="1810512"/>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91890" y="3959352"/>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9189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6</a:t>
            </a:r>
          </a:p>
        </p:txBody>
      </p:sp>
      <p:sp>
        <p:nvSpPr>
          <p:cNvPr id="35" name="TextBox 34"/>
          <p:cNvSpPr txBox="1"/>
          <p:nvPr/>
        </p:nvSpPr>
        <p:spPr>
          <a:xfrm>
            <a:off x="4130802" y="3968496"/>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Code</a:t>
            </a:r>
          </a:p>
        </p:txBody>
      </p:sp>
      <p:sp>
        <p:nvSpPr>
          <p:cNvPr id="36" name="TextBox 35"/>
          <p:cNvSpPr txBox="1"/>
          <p:nvPr/>
        </p:nvSpPr>
        <p:spPr>
          <a:xfrm>
            <a:off x="3710178" y="4361688"/>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JavaScript or Python for the 5% a built-in node cannot do.</a:t>
            </a:r>
          </a:p>
        </p:txBody>
      </p:sp>
      <p:sp>
        <p:nvSpPr>
          <p:cNvPr id="37" name="Rounded Rectangle 36"/>
          <p:cNvSpPr/>
          <p:nvPr/>
        </p:nvSpPr>
        <p:spPr>
          <a:xfrm>
            <a:off x="6240780" y="3813048"/>
            <a:ext cx="2439162" cy="18105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423660" y="395935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2366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7</a:t>
            </a:r>
          </a:p>
        </p:txBody>
      </p:sp>
      <p:sp>
        <p:nvSpPr>
          <p:cNvPr id="40" name="TextBox 39"/>
          <p:cNvSpPr txBox="1"/>
          <p:nvPr/>
        </p:nvSpPr>
        <p:spPr>
          <a:xfrm>
            <a:off x="6862572" y="3968496"/>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Loop / Wait</a:t>
            </a:r>
          </a:p>
        </p:txBody>
      </p:sp>
      <p:sp>
        <p:nvSpPr>
          <p:cNvPr id="41" name="TextBox 40"/>
          <p:cNvSpPr txBox="1"/>
          <p:nvPr/>
        </p:nvSpPr>
        <p:spPr>
          <a:xfrm>
            <a:off x="6441948" y="4361688"/>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Process items in batches; pause a flow for time or an event.</a:t>
            </a:r>
          </a:p>
        </p:txBody>
      </p:sp>
      <p:sp>
        <p:nvSpPr>
          <p:cNvPr id="42" name="Rounded Rectangle 41"/>
          <p:cNvSpPr/>
          <p:nvPr/>
        </p:nvSpPr>
        <p:spPr>
          <a:xfrm>
            <a:off x="8972550" y="3813048"/>
            <a:ext cx="2439162" cy="18105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155430" y="395935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5543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8</a:t>
            </a:r>
          </a:p>
        </p:txBody>
      </p:sp>
      <p:sp>
        <p:nvSpPr>
          <p:cNvPr id="45" name="TextBox 44"/>
          <p:cNvSpPr txBox="1"/>
          <p:nvPr/>
        </p:nvSpPr>
        <p:spPr>
          <a:xfrm>
            <a:off x="9594342" y="3968496"/>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HTTP Request</a:t>
            </a:r>
          </a:p>
        </p:txBody>
      </p:sp>
      <p:sp>
        <p:nvSpPr>
          <p:cNvPr id="46" name="TextBox 45"/>
          <p:cNvSpPr txBox="1"/>
          <p:nvPr/>
        </p:nvSpPr>
        <p:spPr>
          <a:xfrm>
            <a:off x="9173718" y="4361688"/>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Call any API on the internet — the universal escape hatch.</a:t>
            </a:r>
          </a:p>
        </p:txBody>
      </p:sp>
      <p:sp>
        <p:nvSpPr>
          <p:cNvPr id="47" name="Rounded Rectangle 4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Most flows are: trigger → reshape (Set) → decide (IF) → act (app node). Reach for Code last.</a:t>
            </a:r>
          </a:p>
        </p:txBody>
      </p:sp>
      <p:sp>
        <p:nvSpPr>
          <p:cNvPr id="49" name="TextBox 4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50" name="TextBox 4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51" name="TextBox 5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Data-Processing Nodes on the Canvas</a:t>
            </a:r>
          </a:p>
        </p:txBody>
      </p:sp>
      <p:pic>
        <p:nvPicPr>
          <p:cNvPr id="6" name="Picture 5" descr="n8n-key-nodes.png"/>
          <p:cNvPicPr>
            <a:picLocks noChangeAspect="1"/>
          </p:cNvPicPr>
          <p:nvPr/>
        </p:nvPicPr>
        <p:blipFill>
          <a:blip r:embed="rId2"/>
          <a:stretch>
            <a:fillRect/>
          </a:stretch>
        </p:blipFill>
        <p:spPr>
          <a:xfrm>
            <a:off x="914400" y="1737360"/>
            <a:ext cx="10332720" cy="2733421"/>
          </a:xfrm>
          <a:prstGeom prst="rect">
            <a:avLst/>
          </a:prstGeom>
        </p:spPr>
      </p:pic>
      <p:sp>
        <p:nvSpPr>
          <p:cNvPr id="7" name="Rectangle 6"/>
          <p:cNvSpPr/>
          <p:nvPr/>
        </p:nvSpPr>
        <p:spPr>
          <a:xfrm>
            <a:off x="901700" y="1724660"/>
            <a:ext cx="10358120" cy="2758821"/>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If · Switch · Filter · Edit Fields · Split Out · Aggregate · Merge · Loop · Date &amp; Time · Execute Workflow · Wait · Code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Where the Data Goes — Storage &amp; App Actions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Action nodes that write the result somewhere useful.</a:t>
            </a:r>
          </a:p>
        </p:txBody>
      </p:sp>
      <p:sp>
        <p:nvSpPr>
          <p:cNvPr id="7" name="Rounded Rectangle 6"/>
          <p:cNvSpPr/>
          <p:nvPr/>
        </p:nvSpPr>
        <p:spPr>
          <a:xfrm>
            <a:off x="777240" y="1828800"/>
            <a:ext cx="5170932" cy="1764791"/>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7510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751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8424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Data Table</a:t>
            </a:r>
          </a:p>
        </p:txBody>
      </p:sp>
      <p:sp>
        <p:nvSpPr>
          <p:cNvPr id="11" name="TextBox 10"/>
          <p:cNvSpPr txBox="1"/>
          <p:nvPr/>
        </p:nvSpPr>
        <p:spPr>
          <a:xfrm>
            <a:off x="978408" y="2377440"/>
            <a:ext cx="4768596" cy="1069847"/>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n8n's built-in spreadsheet — instant, no credential. Trial Data Tables are NOT permanent; use for class demos.</a:t>
            </a:r>
          </a:p>
        </p:txBody>
      </p:sp>
      <p:sp>
        <p:nvSpPr>
          <p:cNvPr id="12" name="Rounded Rectangle 11"/>
          <p:cNvSpPr/>
          <p:nvPr/>
        </p:nvSpPr>
        <p:spPr>
          <a:xfrm>
            <a:off x="6240780" y="1828800"/>
            <a:ext cx="5170932" cy="1764791"/>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7510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751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8424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Google Sheets / Excel</a:t>
            </a:r>
          </a:p>
        </p:txBody>
      </p:sp>
      <p:sp>
        <p:nvSpPr>
          <p:cNvPr id="16" name="TextBox 15"/>
          <p:cNvSpPr txBox="1"/>
          <p:nvPr/>
        </p:nvSpPr>
        <p:spPr>
          <a:xfrm>
            <a:off x="6441948" y="2377440"/>
            <a:ext cx="4768596" cy="1069847"/>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 real spreadsheet you keep — OAuth2 credential, Append Row. The persistent upgrade in Activity 3b.</a:t>
            </a:r>
          </a:p>
        </p:txBody>
      </p:sp>
      <p:sp>
        <p:nvSpPr>
          <p:cNvPr id="17" name="Rounded Rectangle 16"/>
          <p:cNvSpPr/>
          <p:nvPr/>
        </p:nvSpPr>
        <p:spPr>
          <a:xfrm>
            <a:off x="777240" y="3813047"/>
            <a:ext cx="5170932" cy="1764791"/>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959351"/>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59351"/>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968495"/>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Gmail / Outlook</a:t>
            </a:r>
          </a:p>
        </p:txBody>
      </p:sp>
      <p:sp>
        <p:nvSpPr>
          <p:cNvPr id="21" name="TextBox 20"/>
          <p:cNvSpPr txBox="1"/>
          <p:nvPr/>
        </p:nvSpPr>
        <p:spPr>
          <a:xfrm>
            <a:off x="978408" y="4361687"/>
            <a:ext cx="4768596" cy="1069847"/>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Send (and in Activity 8a, Send and Wait for Response) — email as an output and as an approval gate.</a:t>
            </a:r>
          </a:p>
        </p:txBody>
      </p:sp>
      <p:sp>
        <p:nvSpPr>
          <p:cNvPr id="22" name="Rounded Rectangle 21"/>
          <p:cNvSpPr/>
          <p:nvPr/>
        </p:nvSpPr>
        <p:spPr>
          <a:xfrm>
            <a:off x="6240780" y="3813047"/>
            <a:ext cx="5170932" cy="1764791"/>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959351"/>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959351"/>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968495"/>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Vector Store</a:t>
            </a:r>
          </a:p>
        </p:txBody>
      </p:sp>
      <p:sp>
        <p:nvSpPr>
          <p:cNvPr id="26" name="TextBox 25"/>
          <p:cNvSpPr txBox="1"/>
          <p:nvPr/>
        </p:nvSpPr>
        <p:spPr>
          <a:xfrm>
            <a:off x="6441948" y="4361687"/>
            <a:ext cx="4768596" cy="1069847"/>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Store embeddings for RAG — in-memory for demos, Pinecone / Supabase / Qdrant for production.</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Anything you must keep goes to external storage — trial Data Tables vanish with the trial.</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JSON — How Data Travels Between Nodes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Every node passes a list of items; each item is a JSON object of key/value pairs.</a:t>
            </a:r>
          </a:p>
        </p:txBody>
      </p:sp>
      <p:sp>
        <p:nvSpPr>
          <p:cNvPr id="7" name="TextBox 6"/>
          <p:cNvSpPr txBox="1"/>
          <p:nvPr/>
        </p:nvSpPr>
        <p:spPr>
          <a:xfrm>
            <a:off x="777240" y="1874519"/>
            <a:ext cx="5120640" cy="3291840"/>
          </a:xfrm>
          <a:prstGeom prst="rect">
            <a:avLst/>
          </a:prstGeom>
          <a:noFill/>
        </p:spPr>
        <p:txBody>
          <a:bodyPr wrap="square" lIns="0" rIns="0">
            <a:spAutoFit/>
          </a:bodyPr>
          <a:lstStyle/>
          <a:p>
            <a:pPr>
              <a:spcBef>
                <a:spcPts val="0"/>
              </a:spcBef>
              <a:spcAft>
                <a:spcPts val="1000"/>
              </a:spcAft>
            </a:pPr>
            <a:r>
              <a:rPr sz="1400" b="1">
                <a:solidFill>
                  <a:srgbClr val="1F6FEB"/>
                </a:solidFill>
                <a:latin typeface="Arial"/>
              </a:rPr>
              <a:t>•  </a:t>
            </a:r>
            <a:r>
              <a:rPr sz="1400">
                <a:solidFill>
                  <a:srgbClr val="161B26"/>
                </a:solidFill>
                <a:latin typeface="Arial"/>
              </a:rPr>
              <a:t>JSON (JavaScript Object Notation) is a simple text format for data.</a:t>
            </a:r>
          </a:p>
          <a:p>
            <a:pPr>
              <a:spcBef>
                <a:spcPts val="0"/>
              </a:spcBef>
              <a:spcAft>
                <a:spcPts val="1000"/>
              </a:spcAft>
            </a:pPr>
            <a:r>
              <a:rPr sz="1400" b="1">
                <a:solidFill>
                  <a:srgbClr val="1F6FEB"/>
                </a:solidFill>
                <a:latin typeface="Arial"/>
              </a:rPr>
              <a:t>•  </a:t>
            </a:r>
            <a:r>
              <a:rPr sz="1400">
                <a:solidFill>
                  <a:srgbClr val="161B26"/>
                </a:solidFill>
                <a:latin typeface="Arial"/>
              </a:rPr>
              <a:t>Values can be text, numbers, true/false, lists [ ] or nested objects { }.</a:t>
            </a:r>
          </a:p>
          <a:p>
            <a:pPr>
              <a:spcBef>
                <a:spcPts val="0"/>
              </a:spcBef>
              <a:spcAft>
                <a:spcPts val="1000"/>
              </a:spcAft>
            </a:pPr>
            <a:r>
              <a:rPr sz="1400" b="1">
                <a:solidFill>
                  <a:srgbClr val="1F6FEB"/>
                </a:solidFill>
                <a:latin typeface="Arial"/>
              </a:rPr>
              <a:t>•  </a:t>
            </a:r>
            <a:r>
              <a:rPr sz="1400">
                <a:solidFill>
                  <a:srgbClr val="161B26"/>
                </a:solidFill>
                <a:latin typeface="Arial"/>
              </a:rPr>
              <a:t>Most APIs send and receive JSON — so does every n8n node.</a:t>
            </a:r>
          </a:p>
          <a:p>
            <a:pPr>
              <a:spcBef>
                <a:spcPts val="0"/>
              </a:spcBef>
              <a:spcAft>
                <a:spcPts val="1000"/>
              </a:spcAft>
            </a:pPr>
            <a:r>
              <a:rPr sz="1400" b="1">
                <a:solidFill>
                  <a:srgbClr val="1F6FEB"/>
                </a:solidFill>
                <a:latin typeface="Arial"/>
              </a:rPr>
              <a:t>•  </a:t>
            </a:r>
            <a:r>
              <a:rPr sz="1400">
                <a:solidFill>
                  <a:srgbClr val="161B26"/>
                </a:solidFill>
                <a:latin typeface="Arial"/>
              </a:rPr>
              <a:t>Click any node to inspect its input and output JSON.</a:t>
            </a:r>
          </a:p>
        </p:txBody>
      </p:sp>
      <p:sp>
        <p:nvSpPr>
          <p:cNvPr id="8" name="Rounded Rectangle 7"/>
          <p:cNvSpPr/>
          <p:nvPr/>
        </p:nvSpPr>
        <p:spPr>
          <a:xfrm>
            <a:off x="6217920" y="1874519"/>
            <a:ext cx="5193792" cy="310896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57400"/>
            <a:ext cx="4663440" cy="274320"/>
          </a:xfrm>
          <a:prstGeom prst="rect">
            <a:avLst/>
          </a:prstGeom>
          <a:noFill/>
        </p:spPr>
        <p:txBody>
          <a:bodyPr wrap="square" anchor="t" lIns="0" rIns="0" tIns="0" bIns="0">
            <a:spAutoFit/>
          </a:bodyPr>
          <a:lstStyle/>
          <a:p>
            <a:pPr algn="l">
              <a:spcBef>
                <a:spcPts val="0"/>
              </a:spcBef>
              <a:spcAft>
                <a:spcPts val="400"/>
              </a:spcAft>
            </a:pPr>
            <a:r>
              <a:rPr sz="1100" b="1">
                <a:solidFill>
                  <a:srgbClr val="1F6FEB"/>
                </a:solidFill>
                <a:latin typeface="Arial"/>
              </a:rPr>
              <a:t>ONE FORM SUBMISSION AS JSON</a:t>
            </a:r>
          </a:p>
        </p:txBody>
      </p:sp>
      <p:sp>
        <p:nvSpPr>
          <p:cNvPr id="10" name="TextBox 9"/>
          <p:cNvSpPr txBox="1"/>
          <p:nvPr/>
        </p:nvSpPr>
        <p:spPr>
          <a:xfrm>
            <a:off x="6492240" y="2423160"/>
            <a:ext cx="4663440" cy="2377440"/>
          </a:xfrm>
          <a:prstGeom prst="rect">
            <a:avLst/>
          </a:prstGeom>
          <a:noFill/>
        </p:spPr>
        <p:txBody>
          <a:bodyPr wrap="square" anchor="t" lIns="0" rIns="0" tIns="0" bIns="0">
            <a:spAutoFit/>
          </a:bodyPr>
          <a:lstStyle/>
          <a:p>
            <a:pPr algn="l">
              <a:spcBef>
                <a:spcPts val="0"/>
              </a:spcBef>
              <a:spcAft>
                <a:spcPts val="300"/>
              </a:spcAft>
            </a:pPr>
            <a:r>
              <a:rPr sz="1300" b="0">
                <a:solidFill>
                  <a:srgbClr val="161B26"/>
                </a:solidFill>
                <a:latin typeface="Arial"/>
              </a:rPr>
              <a:t>{</a:t>
            </a:r>
          </a:p>
          <a:p>
            <a:pPr algn="l">
              <a:spcBef>
                <a:spcPts val="0"/>
              </a:spcBef>
              <a:spcAft>
                <a:spcPts val="300"/>
              </a:spcAft>
            </a:pPr>
            <a:r>
              <a:rPr sz="1300" b="0">
                <a:solidFill>
                  <a:srgbClr val="161B26"/>
                </a:solidFill>
                <a:latin typeface="Arial"/>
              </a:rPr>
              <a:t>  "Name": "Alice Tan",</a:t>
            </a:r>
          </a:p>
          <a:p>
            <a:pPr algn="l">
              <a:spcBef>
                <a:spcPts val="0"/>
              </a:spcBef>
              <a:spcAft>
                <a:spcPts val="300"/>
              </a:spcAft>
            </a:pPr>
            <a:r>
              <a:rPr sz="1300" b="0">
                <a:solidFill>
                  <a:srgbClr val="161B26"/>
                </a:solidFill>
                <a:latin typeface="Arial"/>
              </a:rPr>
              <a:t>  "Email": "alice@corp.com",</a:t>
            </a:r>
          </a:p>
          <a:p>
            <a:pPr algn="l">
              <a:spcBef>
                <a:spcPts val="0"/>
              </a:spcBef>
              <a:spcAft>
                <a:spcPts val="300"/>
              </a:spcAft>
            </a:pPr>
            <a:r>
              <a:rPr sz="1300" b="0">
                <a:solidFill>
                  <a:srgbClr val="161B26"/>
                </a:solidFill>
                <a:latin typeface="Arial"/>
              </a:rPr>
              <a:t>  "Attending": "Yes",</a:t>
            </a:r>
          </a:p>
          <a:p>
            <a:pPr algn="l">
              <a:spcBef>
                <a:spcPts val="0"/>
              </a:spcBef>
              <a:spcAft>
                <a:spcPts val="300"/>
              </a:spcAft>
            </a:pPr>
            <a:r>
              <a:rPr sz="1300" b="0">
                <a:solidFill>
                  <a:srgbClr val="161B26"/>
                </a:solidFill>
                <a:latin typeface="Arial"/>
              </a:rPr>
              <a:t>  "Pax": 2</a:t>
            </a:r>
          </a:p>
          <a:p>
            <a:pPr algn="l">
              <a:spcBef>
                <a:spcPts val="0"/>
              </a:spcBef>
              <a:spcAft>
                <a:spcPts val="300"/>
              </a:spcAft>
            </a:pPr>
            <a:r>
              <a:rPr sz="1300" b="0">
                <a:solidFill>
                  <a:srgbClr val="161B26"/>
                </a:solidFill>
                <a:latin typeface="Arial"/>
              </a:rPr>
              <a:t>}</a:t>
            </a:r>
          </a:p>
        </p:txBody>
      </p:sp>
      <p:sp>
        <p:nvSpPr>
          <p:cNvPr id="11" name="Rounded Rectangle 10"/>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Read any value later with an expression:  {{ $json.Name }}  →  "Alice Tan"</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Expressions — The Token, Not the Text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An expression references a value that will exist at run time — it is resolved fresh on every run.</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Trigger runs</a:t>
            </a:r>
          </a:p>
          <a:p>
            <a:pPr algn="ctr">
              <a:spcBef>
                <a:spcPts val="0"/>
              </a:spcBef>
              <a:spcAft>
                <a:spcPts val="200"/>
              </a:spcAft>
            </a:pPr>
            <a:r>
              <a:rPr sz="900" b="0">
                <a:solidFill>
                  <a:srgbClr val="5B6372"/>
                </a:solidFill>
                <a:latin typeface="Arial"/>
              </a:rPr>
              <a:t>a submission arrives</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Outputs exist</a:t>
            </a:r>
          </a:p>
          <a:p>
            <a:pPr algn="ctr">
              <a:spcBef>
                <a:spcPts val="0"/>
              </a:spcBef>
              <a:spcAft>
                <a:spcPts val="200"/>
              </a:spcAft>
            </a:pPr>
            <a:r>
              <a:rPr sz="900" b="0">
                <a:solidFill>
                  <a:srgbClr val="5B6372"/>
                </a:solidFill>
                <a:latin typeface="Arial"/>
              </a:rPr>
              <a:t>Name, Email, Attending…</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Later node references them</a:t>
            </a:r>
          </a:p>
          <a:p>
            <a:pPr algn="ctr">
              <a:spcBef>
                <a:spcPts val="0"/>
              </a:spcBef>
              <a:spcAft>
                <a:spcPts val="200"/>
              </a:spcAft>
            </a:pPr>
            <a:r>
              <a:rPr sz="900" b="0">
                <a:solidFill>
                  <a:srgbClr val="5B6372"/>
                </a:solidFill>
                <a:latin typeface="Arial"/>
              </a:rPr>
              <a:t>{{ $json.Name }}</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Value arrives at run time</a:t>
            </a:r>
          </a:p>
          <a:p>
            <a:pPr algn="ctr">
              <a:spcBef>
                <a:spcPts val="0"/>
              </a:spcBef>
              <a:spcAft>
                <a:spcPts val="200"/>
              </a:spcAft>
            </a:pPr>
            <a:r>
              <a:rPr sz="900" b="0">
                <a:solidFill>
                  <a:srgbClr val="5B6372"/>
                </a:solidFill>
                <a:latin typeface="Arial"/>
              </a:rPr>
              <a:t>different every run</a:t>
            </a:r>
          </a:p>
        </p:txBody>
      </p:sp>
      <p:sp>
        <p:nvSpPr>
          <p:cNvPr id="18" name="Rounded Rectangle 17"/>
          <p:cNvSpPr/>
          <p:nvPr/>
        </p:nvSpPr>
        <p:spPr>
          <a:xfrm>
            <a:off x="777240" y="3200400"/>
            <a:ext cx="5170932" cy="23317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 Mapped with the picker</a:t>
            </a:r>
          </a:p>
        </p:txBody>
      </p:sp>
      <p:sp>
        <p:nvSpPr>
          <p:cNvPr id="20" name="TextBox 19"/>
          <p:cNvSpPr txBox="1"/>
          <p:nvPr/>
        </p:nvSpPr>
        <p:spPr>
          <a:xfrm>
            <a:off x="978408" y="3749040"/>
            <a:ext cx="476859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Drag the field from the input panel — n8n writes the expression for you and shows a live preview of the resolved value.</a:t>
            </a:r>
          </a:p>
        </p:txBody>
      </p:sp>
      <p:sp>
        <p:nvSpPr>
          <p:cNvPr id="21" name="Rounded Rectangle 20"/>
          <p:cNvSpPr/>
          <p:nvPr/>
        </p:nvSpPr>
        <p:spPr>
          <a:xfrm>
            <a:off x="6240780" y="3200400"/>
            <a:ext cx="5170932" cy="23317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 Typed as plain text</a:t>
            </a:r>
          </a:p>
        </p:txBody>
      </p:sp>
      <p:sp>
        <p:nvSpPr>
          <p:cNvPr id="23" name="TextBox 22"/>
          <p:cNvSpPr txBox="1"/>
          <p:nvPr/>
        </p:nvSpPr>
        <p:spPr>
          <a:xfrm>
            <a:off x="6441948" y="3749040"/>
            <a:ext cx="476859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Type 'Name' as literal text and every email says 'Name'. If the path is wrong the value resolves to empty — not to an error.</a:t>
            </a:r>
          </a:p>
        </p:txBody>
      </p:sp>
      <p:sp>
        <p:nvSpPr>
          <p:cNvPr id="24" name="Rounded Rectangle 2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Use expressions in any field — subject lines, URLs, conditions. Drag, don't type.</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Test vs Production Executions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same workflow runs in two modes — know which one you are looking at.</a:t>
            </a:r>
          </a:p>
        </p:txBody>
      </p:sp>
      <p:sp>
        <p:nvSpPr>
          <p:cNvPr id="7" name="Rectangle 6"/>
          <p:cNvSpPr/>
          <p:nvPr/>
        </p:nvSpPr>
        <p:spPr>
          <a:xfrm>
            <a:off x="777240" y="1828800"/>
            <a:ext cx="51937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TEST — in the editor</a:t>
            </a:r>
          </a:p>
        </p:txBody>
      </p:sp>
      <p:sp>
        <p:nvSpPr>
          <p:cNvPr id="9" name="Rectangle 8"/>
          <p:cNvSpPr/>
          <p:nvPr/>
        </p:nvSpPr>
        <p:spPr>
          <a:xfrm>
            <a:off x="777240" y="2286000"/>
            <a:ext cx="5193792" cy="310896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514600"/>
            <a:ext cx="4663440" cy="2743200"/>
          </a:xfrm>
          <a:prstGeom prst="rect">
            <a:avLst/>
          </a:prstGeom>
          <a:noFill/>
        </p:spPr>
        <p:txBody>
          <a:bodyPr wrap="square" lIns="0" rIns="0">
            <a:spAutoFit/>
          </a:bodyPr>
          <a:lstStyle/>
          <a:p>
            <a:pPr>
              <a:spcBef>
                <a:spcPts val="0"/>
              </a:spcBef>
              <a:spcAft>
                <a:spcPts val="900"/>
              </a:spcAft>
            </a:pPr>
            <a:r>
              <a:rPr sz="1300" b="1">
                <a:solidFill>
                  <a:srgbClr val="1F6FEB"/>
                </a:solidFill>
                <a:latin typeface="Arial"/>
              </a:rPr>
              <a:t>•  </a:t>
            </a:r>
            <a:r>
              <a:rPr sz="1300">
                <a:solidFill>
                  <a:srgbClr val="161B26"/>
                </a:solidFill>
                <a:latin typeface="Arial"/>
              </a:rPr>
              <a:t>Click Execute Workflow to run once.</a:t>
            </a:r>
          </a:p>
          <a:p>
            <a:pPr>
              <a:spcBef>
                <a:spcPts val="0"/>
              </a:spcBef>
              <a:spcAft>
                <a:spcPts val="900"/>
              </a:spcAft>
            </a:pPr>
            <a:r>
              <a:rPr sz="1300" b="1">
                <a:solidFill>
                  <a:srgbClr val="1F6FEB"/>
                </a:solidFill>
                <a:latin typeface="Arial"/>
              </a:rPr>
              <a:t>•  </a:t>
            </a:r>
            <a:r>
              <a:rPr sz="1300">
                <a:solidFill>
                  <a:srgbClr val="161B26"/>
                </a:solidFill>
                <a:latin typeface="Arial"/>
              </a:rPr>
              <a:t>Data is shown live on the canvas, node by node.</a:t>
            </a:r>
          </a:p>
          <a:p>
            <a:pPr>
              <a:spcBef>
                <a:spcPts val="0"/>
              </a:spcBef>
              <a:spcAft>
                <a:spcPts val="900"/>
              </a:spcAft>
            </a:pPr>
            <a:r>
              <a:rPr sz="1300" b="1">
                <a:solidFill>
                  <a:srgbClr val="1F6FEB"/>
                </a:solidFill>
                <a:latin typeface="Arial"/>
              </a:rPr>
              <a:t>•  </a:t>
            </a:r>
            <a:r>
              <a:rPr sz="1300">
                <a:solidFill>
                  <a:srgbClr val="161B26"/>
                </a:solidFill>
                <a:latin typeface="Arial"/>
              </a:rPr>
              <a:t>Pin a node's output to freeze it while you build downstream.</a:t>
            </a:r>
          </a:p>
          <a:p>
            <a:pPr>
              <a:spcBef>
                <a:spcPts val="0"/>
              </a:spcBef>
              <a:spcAft>
                <a:spcPts val="900"/>
              </a:spcAft>
            </a:pPr>
            <a:r>
              <a:rPr sz="1300" b="1">
                <a:solidFill>
                  <a:srgbClr val="1F6FEB"/>
                </a:solidFill>
                <a:latin typeface="Arial"/>
              </a:rPr>
              <a:t>•  </a:t>
            </a:r>
            <a:r>
              <a:rPr sz="1300">
                <a:solidFill>
                  <a:srgbClr val="161B26"/>
                </a:solidFill>
                <a:latin typeface="Arial"/>
              </a:rPr>
              <a:t>Perfect for building — nothing needs to be Active.</a:t>
            </a:r>
          </a:p>
        </p:txBody>
      </p:sp>
      <p:sp>
        <p:nvSpPr>
          <p:cNvPr id="11" name="Rectangle 10"/>
          <p:cNvSpPr/>
          <p:nvPr/>
        </p:nvSpPr>
        <p:spPr>
          <a:xfrm>
            <a:off x="6217920" y="1828800"/>
            <a:ext cx="519379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PRODUCTION — Active toggle ON</a:t>
            </a:r>
          </a:p>
        </p:txBody>
      </p:sp>
      <p:sp>
        <p:nvSpPr>
          <p:cNvPr id="13" name="Rectangle 12"/>
          <p:cNvSpPr/>
          <p:nvPr/>
        </p:nvSpPr>
        <p:spPr>
          <a:xfrm>
            <a:off x="6217920" y="2286000"/>
            <a:ext cx="5193792" cy="310896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514600"/>
            <a:ext cx="4663440" cy="2743200"/>
          </a:xfrm>
          <a:prstGeom prst="rect">
            <a:avLst/>
          </a:prstGeom>
          <a:noFill/>
        </p:spPr>
        <p:txBody>
          <a:bodyPr wrap="square" lIns="0" rIns="0">
            <a:spAutoFit/>
          </a:bodyPr>
          <a:lstStyle/>
          <a:p>
            <a:pPr>
              <a:spcBef>
                <a:spcPts val="0"/>
              </a:spcBef>
              <a:spcAft>
                <a:spcPts val="900"/>
              </a:spcAft>
            </a:pPr>
            <a:r>
              <a:rPr sz="1300" b="1">
                <a:solidFill>
                  <a:srgbClr val="7C3AED"/>
                </a:solidFill>
                <a:latin typeface="Arial"/>
              </a:rPr>
              <a:t>•  </a:t>
            </a:r>
            <a:r>
              <a:rPr sz="1300">
                <a:solidFill>
                  <a:srgbClr val="161B26"/>
                </a:solidFill>
                <a:latin typeface="Arial"/>
              </a:rPr>
              <a:t>Runs automatically when the trigger fires.</a:t>
            </a:r>
          </a:p>
          <a:p>
            <a:pPr>
              <a:spcBef>
                <a:spcPts val="0"/>
              </a:spcBef>
              <a:spcAft>
                <a:spcPts val="900"/>
              </a:spcAft>
            </a:pPr>
            <a:r>
              <a:rPr sz="1300" b="1">
                <a:solidFill>
                  <a:srgbClr val="7C3AED"/>
                </a:solidFill>
                <a:latin typeface="Arial"/>
              </a:rPr>
              <a:t>•  </a:t>
            </a:r>
            <a:r>
              <a:rPr sz="1300">
                <a:solidFill>
                  <a:srgbClr val="161B26"/>
                </a:solidFill>
                <a:latin typeface="Arial"/>
              </a:rPr>
              <a:t>Nothing appears on the canvas — runs are logged in Executions.</a:t>
            </a:r>
          </a:p>
          <a:p>
            <a:pPr>
              <a:spcBef>
                <a:spcPts val="0"/>
              </a:spcBef>
              <a:spcAft>
                <a:spcPts val="900"/>
              </a:spcAft>
            </a:pPr>
            <a:r>
              <a:rPr sz="1300" b="1">
                <a:solidFill>
                  <a:srgbClr val="7C3AED"/>
                </a:solidFill>
                <a:latin typeface="Arial"/>
              </a:rPr>
              <a:t>•  </a:t>
            </a:r>
            <a:r>
              <a:rPr sz="1300">
                <a:solidFill>
                  <a:srgbClr val="161B26"/>
                </a:solidFill>
                <a:latin typeface="Arial"/>
              </a:rPr>
              <a:t>Every run records status, timing and full data per node.</a:t>
            </a:r>
          </a:p>
          <a:p>
            <a:pPr>
              <a:spcBef>
                <a:spcPts val="0"/>
              </a:spcBef>
              <a:spcAft>
                <a:spcPts val="900"/>
              </a:spcAft>
            </a:pPr>
            <a:r>
              <a:rPr sz="1300" b="1">
                <a:solidFill>
                  <a:srgbClr val="7C3AED"/>
                </a:solidFill>
                <a:latin typeface="Arial"/>
              </a:rPr>
              <a:t>•  </a:t>
            </a:r>
            <a:r>
              <a:rPr sz="1300">
                <a:solidFill>
                  <a:srgbClr val="161B26"/>
                </a:solidFill>
                <a:latin typeface="Arial"/>
              </a:rPr>
              <a:t>This is what your users experience.</a:t>
            </a:r>
          </a:p>
        </p:txBody>
      </p:sp>
      <p:sp>
        <p:nvSpPr>
          <p:cNvPr id="15" name="Rounded Rectangle 14"/>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The Executions list is the honest account of what happened — debug from there, not from memory.</a:t>
            </a:r>
          </a:p>
        </p:txBody>
      </p:sp>
      <p:sp>
        <p:nvSpPr>
          <p:cNvPr id="17" name="TextBox 1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Execution History</a:t>
            </a:r>
          </a:p>
        </p:txBody>
      </p:sp>
      <p:pic>
        <p:nvPicPr>
          <p:cNvPr id="6" name="Picture 5" descr="n8n-execution-history.png"/>
          <p:cNvPicPr>
            <a:picLocks noChangeAspect="1"/>
          </p:cNvPicPr>
          <p:nvPr/>
        </p:nvPicPr>
        <p:blipFill>
          <a:blip r:embed="rId2"/>
          <a:stretch>
            <a:fillRect/>
          </a:stretch>
        </p:blipFill>
        <p:spPr>
          <a:xfrm>
            <a:off x="914400" y="1737360"/>
            <a:ext cx="10332720" cy="3738777"/>
          </a:xfrm>
          <a:prstGeom prst="rect">
            <a:avLst/>
          </a:prstGeom>
        </p:spPr>
      </p:pic>
      <p:sp>
        <p:nvSpPr>
          <p:cNvPr id="7" name="Rectangle 6"/>
          <p:cNvSpPr/>
          <p:nvPr/>
        </p:nvSpPr>
        <p:spPr>
          <a:xfrm>
            <a:off x="901700" y="1724660"/>
            <a:ext cx="10358120" cy="3764177"/>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Executions tab — each run shows status, duration, ID and the full data at every node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The n8n Editor</a:t>
            </a:r>
          </a:p>
        </p:txBody>
      </p:sp>
      <p:pic>
        <p:nvPicPr>
          <p:cNvPr id="6" name="Picture 5" descr="n8n-editor.png"/>
          <p:cNvPicPr>
            <a:picLocks noChangeAspect="1"/>
          </p:cNvPicPr>
          <p:nvPr/>
        </p:nvPicPr>
        <p:blipFill>
          <a:blip r:embed="rId2"/>
          <a:stretch>
            <a:fillRect/>
          </a:stretch>
        </p:blipFill>
        <p:spPr>
          <a:xfrm>
            <a:off x="3810730" y="1737360"/>
            <a:ext cx="4540059" cy="4160520"/>
          </a:xfrm>
          <a:prstGeom prst="rect">
            <a:avLst/>
          </a:prstGeom>
        </p:spPr>
      </p:pic>
      <p:sp>
        <p:nvSpPr>
          <p:cNvPr id="7" name="Rectangle 6"/>
          <p:cNvSpPr/>
          <p:nvPr/>
        </p:nvSpPr>
        <p:spPr>
          <a:xfrm>
            <a:off x="3798030" y="1724660"/>
            <a:ext cx="4565459" cy="41859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n8n canvas: left sidebar navigation · centre canvas · node toolbar · Editor / Executions / Evaluations tabs</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YOUR LOGIN · CLOUD INSTANCE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Sign Up for n8n Cloud</a:t>
            </a:r>
          </a:p>
        </p:txBody>
      </p:sp>
      <p:sp>
        <p:nvSpPr>
          <p:cNvPr id="6" name="TextBox 5"/>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Go to app.n8n.cloud/register in your browser.</a:t>
            </a:r>
          </a:p>
          <a:p>
            <a:pPr>
              <a:spcBef>
                <a:spcPts val="0"/>
              </a:spcBef>
              <a:spcAft>
                <a:spcPts val="1000"/>
              </a:spcAft>
            </a:pPr>
            <a:r>
              <a:rPr sz="1600" b="1">
                <a:solidFill>
                  <a:srgbClr val="1F6FEB"/>
                </a:solidFill>
                <a:latin typeface="Arial"/>
              </a:rPr>
              <a:t>•  </a:t>
            </a:r>
            <a:r>
              <a:rPr sz="1600">
                <a:solidFill>
                  <a:srgbClr val="161B26"/>
                </a:solidFill>
                <a:latin typeface="Arial"/>
              </a:rPr>
              <a:t>Enter your company email and click Submit.</a:t>
            </a:r>
          </a:p>
          <a:p>
            <a:pPr>
              <a:spcBef>
                <a:spcPts val="0"/>
              </a:spcBef>
              <a:spcAft>
                <a:spcPts val="1000"/>
              </a:spcAft>
            </a:pPr>
            <a:r>
              <a:rPr sz="1600" b="1">
                <a:solidFill>
                  <a:srgbClr val="1F6FEB"/>
                </a:solidFill>
                <a:latin typeface="Arial"/>
              </a:rPr>
              <a:t>•  </a:t>
            </a:r>
            <a:r>
              <a:rPr sz="1600">
                <a:solidFill>
                  <a:srgbClr val="161B26"/>
                </a:solidFill>
                <a:latin typeface="Arial"/>
              </a:rPr>
              <a:t>Open the verification email from n8n and click the link to confirm.</a:t>
            </a:r>
          </a:p>
          <a:p>
            <a:pPr>
              <a:spcBef>
                <a:spcPts val="0"/>
              </a:spcBef>
              <a:spcAft>
                <a:spcPts val="1000"/>
              </a:spcAft>
            </a:pPr>
            <a:r>
              <a:rPr sz="1600" b="1">
                <a:solidFill>
                  <a:srgbClr val="1F6FEB"/>
                </a:solidFill>
                <a:latin typeface="Arial"/>
              </a:rPr>
              <a:t>•  </a:t>
            </a:r>
            <a:r>
              <a:rPr sz="1600">
                <a:solidFill>
                  <a:srgbClr val="161B26"/>
                </a:solidFill>
                <a:latin typeface="Arial"/>
              </a:rPr>
              <a:t>Set your password and complete the short profile questions.</a:t>
            </a:r>
          </a:p>
          <a:p>
            <a:pPr>
              <a:spcBef>
                <a:spcPts val="0"/>
              </a:spcBef>
              <a:spcAft>
                <a:spcPts val="1000"/>
              </a:spcAft>
            </a:pPr>
            <a:r>
              <a:rPr sz="1600" b="1">
                <a:solidFill>
                  <a:srgbClr val="1F6FEB"/>
                </a:solidFill>
                <a:latin typeface="Arial"/>
              </a:rPr>
              <a:t>•  </a:t>
            </a:r>
            <a:r>
              <a:rPr sz="1600">
                <a:solidFill>
                  <a:srgbClr val="161B26"/>
                </a:solidFill>
                <a:latin typeface="Arial"/>
              </a:rPr>
              <a:t>n8n creates your workspace at &lt;name&gt;.app.n8n.cloud and opens the editor.</a:t>
            </a:r>
          </a:p>
          <a:p>
            <a:pPr>
              <a:spcBef>
                <a:spcPts val="0"/>
              </a:spcBef>
              <a:spcAft>
                <a:spcPts val="1000"/>
              </a:spcAft>
            </a:pPr>
            <a:r>
              <a:rPr sz="1600" b="1">
                <a:solidFill>
                  <a:srgbClr val="1F6FEB"/>
                </a:solidFill>
                <a:latin typeface="Arial"/>
              </a:rPr>
              <a:t>•  </a:t>
            </a:r>
            <a:r>
              <a:rPr sz="1600">
                <a:solidFill>
                  <a:srgbClr val="161B26"/>
                </a:solidFill>
                <a:latin typeface="Arial"/>
              </a:rPr>
              <a:t>The free trial runs 14 days — no credit card needed.</a:t>
            </a:r>
          </a:p>
        </p:txBody>
      </p:sp>
      <p:pic>
        <p:nvPicPr>
          <p:cNvPr id="7" name="Picture 6" descr="n8n-register.png"/>
          <p:cNvPicPr>
            <a:picLocks noChangeAspect="1"/>
          </p:cNvPicPr>
          <p:nvPr/>
        </p:nvPicPr>
        <p:blipFill>
          <a:blip r:embed="rId2"/>
          <a:stretch>
            <a:fillRect/>
          </a:stretch>
        </p:blipFill>
        <p:spPr>
          <a:xfrm>
            <a:off x="5943600" y="1783080"/>
            <a:ext cx="5486400" cy="3480435"/>
          </a:xfrm>
          <a:prstGeom prst="rect">
            <a:avLst/>
          </a:prstGeom>
        </p:spPr>
      </p:pic>
      <p:sp>
        <p:nvSpPr>
          <p:cNvPr id="8" name="Rectangle 7"/>
          <p:cNvSpPr/>
          <p:nvPr/>
        </p:nvSpPr>
        <p:spPr>
          <a:xfrm>
            <a:off x="5930900" y="1770380"/>
            <a:ext cx="5511800" cy="350583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Credentials — Connect Your Accounts Once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Nodes reference credentials by name; set them up once under Credentials → Add credential.</a:t>
            </a:r>
          </a:p>
        </p:txBody>
      </p:sp>
      <p:sp>
        <p:nvSpPr>
          <p:cNvPr id="7" name="Rounded Rectangle 6"/>
          <p:cNvSpPr/>
          <p:nvPr/>
        </p:nvSpPr>
        <p:spPr>
          <a:xfrm>
            <a:off x="777240" y="1828800"/>
            <a:ext cx="5170932" cy="15819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7510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751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8424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Email</a:t>
            </a:r>
          </a:p>
        </p:txBody>
      </p:sp>
      <p:sp>
        <p:nvSpPr>
          <p:cNvPr id="11" name="TextBox 10"/>
          <p:cNvSpPr txBox="1"/>
          <p:nvPr/>
        </p:nvSpPr>
        <p:spPr>
          <a:xfrm>
            <a:off x="978408" y="237744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Gmail or Outlook via OAuth2 — used from Activity 1 onward.</a:t>
            </a:r>
          </a:p>
        </p:txBody>
      </p:sp>
      <p:sp>
        <p:nvSpPr>
          <p:cNvPr id="12" name="Rounded Rectangle 11"/>
          <p:cNvSpPr/>
          <p:nvPr/>
        </p:nvSpPr>
        <p:spPr>
          <a:xfrm>
            <a:off x="6240780" y="1828800"/>
            <a:ext cx="5170932" cy="15819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7510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751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8424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LLM</a:t>
            </a:r>
          </a:p>
        </p:txBody>
      </p:sp>
      <p:sp>
        <p:nvSpPr>
          <p:cNvPr id="16" name="TextBox 15"/>
          <p:cNvSpPr txBox="1"/>
          <p:nvPr/>
        </p:nvSpPr>
        <p:spPr>
          <a:xfrm>
            <a:off x="6441948" y="237744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OpenAI / Google Gemini API key — powers every AI agent from Activity 4.</a:t>
            </a:r>
          </a:p>
        </p:txBody>
      </p:sp>
      <p:sp>
        <p:nvSpPr>
          <p:cNvPr id="17" name="Rounded Rectangle 16"/>
          <p:cNvSpPr/>
          <p:nvPr/>
        </p:nvSpPr>
        <p:spPr>
          <a:xfrm>
            <a:off x="777240" y="3630168"/>
            <a:ext cx="5170932" cy="15819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77647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7647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78561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Telegram</a:t>
            </a:r>
          </a:p>
        </p:txBody>
      </p:sp>
      <p:sp>
        <p:nvSpPr>
          <p:cNvPr id="21" name="TextBox 20"/>
          <p:cNvSpPr txBox="1"/>
          <p:nvPr/>
        </p:nvSpPr>
        <p:spPr>
          <a:xfrm>
            <a:off x="978408" y="417880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Bot token from @BotFather — the chat front door for Activities 4, 6, 7a.</a:t>
            </a:r>
          </a:p>
        </p:txBody>
      </p:sp>
      <p:sp>
        <p:nvSpPr>
          <p:cNvPr id="22" name="Rounded Rectangle 21"/>
          <p:cNvSpPr/>
          <p:nvPr/>
        </p:nvSpPr>
        <p:spPr>
          <a:xfrm>
            <a:off x="6240780" y="3630168"/>
            <a:ext cx="5170932" cy="15819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77647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77647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78561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Google Sheets</a:t>
            </a:r>
          </a:p>
        </p:txBody>
      </p:sp>
      <p:sp>
        <p:nvSpPr>
          <p:cNvPr id="26" name="TextBox 25"/>
          <p:cNvSpPr txBox="1"/>
          <p:nvPr/>
        </p:nvSpPr>
        <p:spPr>
          <a:xfrm>
            <a:off x="6441948" y="417880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OAuth2 to your Google account — persistent storage in Activity 3b.</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Imported workflows keep credential NAMES only — always re-select your own after importing.</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1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1 — Flyer with QR Code (Form → Email)</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Collect a visitor's RSVP with a hosted n8n Form and email it to the admin — then put the form's QR code on a real event flyer.</a:t>
            </a:r>
          </a:p>
        </p:txBody>
      </p:sp>
      <p:sp>
        <p:nvSpPr>
          <p:cNvPr id="7" name="Rounded Rectangle 6"/>
          <p:cNvSpPr/>
          <p:nvPr/>
        </p:nvSpPr>
        <p:spPr>
          <a:xfrm>
            <a:off x="777240" y="1810512"/>
            <a:ext cx="5161788"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4978908"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Form Trigger</a:t>
            </a:r>
          </a:p>
          <a:p>
            <a:pPr algn="ctr">
              <a:spcBef>
                <a:spcPts val="0"/>
              </a:spcBef>
              <a:spcAft>
                <a:spcPts val="200"/>
              </a:spcAft>
            </a:pPr>
            <a:r>
              <a:rPr sz="850" b="0">
                <a:solidFill>
                  <a:srgbClr val="5B6372"/>
                </a:solidFill>
                <a:latin typeface="Arial"/>
              </a:rPr>
              <a:t>visitor submits the RSVP</a:t>
            </a:r>
          </a:p>
        </p:txBody>
      </p:sp>
      <p:sp>
        <p:nvSpPr>
          <p:cNvPr id="9" name="TextBox 8"/>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6249924" y="1810512"/>
            <a:ext cx="5161788"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1364" y="1810512"/>
            <a:ext cx="4978908"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 — Send</a:t>
            </a:r>
          </a:p>
          <a:p>
            <a:pPr algn="ctr">
              <a:spcBef>
                <a:spcPts val="0"/>
              </a:spcBef>
              <a:spcAft>
                <a:spcPts val="200"/>
              </a:spcAft>
            </a:pPr>
            <a:r>
              <a:rPr sz="850" b="0">
                <a:solidFill>
                  <a:srgbClr val="5B6372"/>
                </a:solidFill>
                <a:latin typeface="Arial"/>
              </a:rPr>
              <a:t>admin receives the details</a:t>
            </a:r>
          </a:p>
        </p:txBody>
      </p:sp>
      <p:pic>
        <p:nvPicPr>
          <p:cNvPr id="12" name="Picture 11" descr="Activity1-Flyer-Form.png"/>
          <p:cNvPicPr>
            <a:picLocks noChangeAspect="1"/>
          </p:cNvPicPr>
          <p:nvPr/>
        </p:nvPicPr>
        <p:blipFill>
          <a:blip r:embed="rId2"/>
          <a:stretch>
            <a:fillRect/>
          </a:stretch>
        </p:blipFill>
        <p:spPr>
          <a:xfrm>
            <a:off x="2727960" y="2761488"/>
            <a:ext cx="6705600" cy="2816352"/>
          </a:xfrm>
          <a:prstGeom prst="rect">
            <a:avLst/>
          </a:prstGeom>
        </p:spPr>
      </p:pic>
      <p:sp>
        <p:nvSpPr>
          <p:cNvPr id="13" name="Rectangle 12"/>
          <p:cNvSpPr/>
          <p:nvPr/>
        </p:nvSpPr>
        <p:spPr>
          <a:xfrm>
            <a:off x="2715260" y="2748788"/>
            <a:ext cx="6731000"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 y="5687568"/>
            <a:ext cx="10634472" cy="56692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5806440"/>
            <a:ext cx="9601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1</a:t>
            </a:r>
          </a:p>
        </p:txBody>
      </p:sp>
      <p:sp>
        <p:nvSpPr>
          <p:cNvPr id="17" name="TextBox 16"/>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Flyer with QR Code (Form → Email)</a:t>
            </a:r>
          </a:p>
        </p:txBody>
      </p:sp>
      <p:sp>
        <p:nvSpPr>
          <p:cNvPr id="18" name="TextBox 17"/>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Form Trigger → Gmail  ·  Gmail OAuth2 credential  ·  full steps in the Learner Guide</a:t>
            </a:r>
          </a:p>
        </p:txBody>
      </p:sp>
      <p:sp>
        <p:nvSpPr>
          <p:cNvPr id="19" name="TextBox 1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ACT 1 · GROUP ACTIVITY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Sample Flyers from Past Students</a:t>
            </a:r>
          </a:p>
        </p:txBody>
      </p:sp>
      <p:pic>
        <p:nvPicPr>
          <p:cNvPr id="6" name="Picture 5" descr="flyer-sample1-preview.png"/>
          <p:cNvPicPr>
            <a:picLocks noChangeAspect="1"/>
          </p:cNvPicPr>
          <p:nvPr/>
        </p:nvPicPr>
        <p:blipFill>
          <a:blip r:embed="rId2"/>
          <a:stretch>
            <a:fillRect/>
          </a:stretch>
        </p:blipFill>
        <p:spPr>
          <a:xfrm>
            <a:off x="868680" y="1828800"/>
            <a:ext cx="5029200" cy="2828925"/>
          </a:xfrm>
          <a:prstGeom prst="rect">
            <a:avLst/>
          </a:prstGeom>
        </p:spPr>
      </p:pic>
      <p:sp>
        <p:nvSpPr>
          <p:cNvPr id="7" name="Rectangle 6"/>
          <p:cNvSpPr/>
          <p:nvPr/>
        </p:nvSpPr>
        <p:spPr>
          <a:xfrm>
            <a:off x="855980" y="1816100"/>
            <a:ext cx="5054600" cy="285432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440680"/>
            <a:ext cx="5303520"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Network event</a:t>
            </a:r>
          </a:p>
        </p:txBody>
      </p:sp>
      <p:pic>
        <p:nvPicPr>
          <p:cNvPr id="9" name="Picture 8" descr="flyer-sample3.jpeg"/>
          <p:cNvPicPr>
            <a:picLocks noChangeAspect="1"/>
          </p:cNvPicPr>
          <p:nvPr/>
        </p:nvPicPr>
        <p:blipFill>
          <a:blip r:embed="rId3"/>
          <a:stretch>
            <a:fillRect/>
          </a:stretch>
        </p:blipFill>
        <p:spPr>
          <a:xfrm>
            <a:off x="7613459" y="1828800"/>
            <a:ext cx="2146681" cy="3383280"/>
          </a:xfrm>
          <a:prstGeom prst="rect">
            <a:avLst/>
          </a:prstGeom>
        </p:spPr>
      </p:pic>
      <p:sp>
        <p:nvSpPr>
          <p:cNvPr id="10" name="Rectangle 9"/>
          <p:cNvSpPr/>
          <p:nvPr/>
        </p:nvSpPr>
        <p:spPr>
          <a:xfrm>
            <a:off x="7600759" y="1816100"/>
            <a:ext cx="2172081" cy="340868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5440680"/>
            <a:ext cx="5303520"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Bowling party</a:t>
            </a:r>
          </a:p>
        </p:txBody>
      </p:sp>
      <p:sp>
        <p:nvSpPr>
          <p:cNvPr id="12" name="TextBox 1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1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2 — Capture Submissions in a Data Table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Extend Activity 1 so every submission is also saved — your first taste of storing data, not just forwarding it.</a:t>
            </a:r>
          </a:p>
        </p:txBody>
      </p:sp>
      <p:sp>
        <p:nvSpPr>
          <p:cNvPr id="7" name="Rounded Rectangle 6"/>
          <p:cNvSpPr/>
          <p:nvPr/>
        </p:nvSpPr>
        <p:spPr>
          <a:xfrm>
            <a:off x="777240" y="1810512"/>
            <a:ext cx="3337560"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Form Trigger</a:t>
            </a:r>
          </a:p>
          <a:p>
            <a:pPr algn="ctr">
              <a:spcBef>
                <a:spcPts val="0"/>
              </a:spcBef>
              <a:spcAft>
                <a:spcPts val="200"/>
              </a:spcAft>
            </a:pPr>
            <a:r>
              <a:rPr sz="850" b="0">
                <a:solidFill>
                  <a:srgbClr val="5B6372"/>
                </a:solidFill>
                <a:latin typeface="Arial"/>
              </a:rPr>
              <a:t>same RSVP form</a:t>
            </a:r>
          </a:p>
        </p:txBody>
      </p:sp>
      <p:sp>
        <p:nvSpPr>
          <p:cNvPr id="9" name="TextBox 8"/>
          <p:cNvSpPr txBox="1"/>
          <p:nvPr/>
        </p:nvSpPr>
        <p:spPr>
          <a:xfrm>
            <a:off x="408736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4425696" y="1810512"/>
            <a:ext cx="3337560"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Data Table — Insert Row</a:t>
            </a:r>
          </a:p>
          <a:p>
            <a:pPr algn="ctr">
              <a:spcBef>
                <a:spcPts val="0"/>
              </a:spcBef>
              <a:spcAft>
                <a:spcPts val="200"/>
              </a:spcAft>
            </a:pPr>
            <a:r>
              <a:rPr sz="850" b="0">
                <a:solidFill>
                  <a:srgbClr val="5B6372"/>
                </a:solidFill>
                <a:latin typeface="Arial"/>
              </a:rPr>
              <a:t>every submission saved</a:t>
            </a:r>
          </a:p>
        </p:txBody>
      </p:sp>
      <p:sp>
        <p:nvSpPr>
          <p:cNvPr id="12" name="TextBox 11"/>
          <p:cNvSpPr txBox="1"/>
          <p:nvPr/>
        </p:nvSpPr>
        <p:spPr>
          <a:xfrm>
            <a:off x="773582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8074152" y="1810512"/>
            <a:ext cx="3337560"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 — Send</a:t>
            </a:r>
          </a:p>
          <a:p>
            <a:pPr algn="ctr">
              <a:spcBef>
                <a:spcPts val="0"/>
              </a:spcBef>
              <a:spcAft>
                <a:spcPts val="200"/>
              </a:spcAft>
            </a:pPr>
            <a:r>
              <a:rPr sz="850" b="0">
                <a:solidFill>
                  <a:srgbClr val="5B6372"/>
                </a:solidFill>
                <a:latin typeface="Arial"/>
              </a:rPr>
              <a:t>admin still notified</a:t>
            </a:r>
          </a:p>
        </p:txBody>
      </p:sp>
      <p:pic>
        <p:nvPicPr>
          <p:cNvPr id="15" name="Picture 14" descr="Activity2-Data-Table.png"/>
          <p:cNvPicPr>
            <a:picLocks noChangeAspect="1"/>
          </p:cNvPicPr>
          <p:nvPr/>
        </p:nvPicPr>
        <p:blipFill>
          <a:blip r:embed="rId2"/>
          <a:stretch>
            <a:fillRect/>
          </a:stretch>
        </p:blipFill>
        <p:spPr>
          <a:xfrm>
            <a:off x="2144864" y="2761488"/>
            <a:ext cx="7871791" cy="2816352"/>
          </a:xfrm>
          <a:prstGeom prst="rect">
            <a:avLst/>
          </a:prstGeom>
        </p:spPr>
      </p:pic>
      <p:sp>
        <p:nvSpPr>
          <p:cNvPr id="16" name="Rectangle 15"/>
          <p:cNvSpPr/>
          <p:nvPr/>
        </p:nvSpPr>
        <p:spPr>
          <a:xfrm>
            <a:off x="2132164" y="2748788"/>
            <a:ext cx="7897191"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5687568"/>
            <a:ext cx="10634472" cy="56692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 y="5806440"/>
            <a:ext cx="9601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2</a:t>
            </a:r>
          </a:p>
        </p:txBody>
      </p:sp>
      <p:sp>
        <p:nvSpPr>
          <p:cNvPr id="20" name="TextBox 19"/>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Capture Submissions in a Data Table</a:t>
            </a:r>
          </a:p>
        </p:txBody>
      </p:sp>
      <p:sp>
        <p:nvSpPr>
          <p:cNvPr id="21" name="TextBox 20"/>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Form Trigger → Data Table + Gmail  ·  columns mapped with {{ $json.… }} expressions  ·  steps in the Learner Guide</a:t>
            </a:r>
          </a:p>
        </p:txBody>
      </p:sp>
      <p:sp>
        <p:nvSpPr>
          <p:cNvPr id="22" name="TextBox 2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3" name="TextBox 2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4" name="TextBox 2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1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3a — Conditional Response (Data Table)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Add decision-making: attending guests are saved; everyone else gets a polite thank-you email.</a:t>
            </a:r>
          </a:p>
        </p:txBody>
      </p:sp>
      <p:sp>
        <p:nvSpPr>
          <p:cNvPr id="7" name="Rounded Rectangle 6"/>
          <p:cNvSpPr/>
          <p:nvPr/>
        </p:nvSpPr>
        <p:spPr>
          <a:xfrm>
            <a:off x="777240"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Form Trigger</a:t>
            </a:r>
          </a:p>
          <a:p>
            <a:pPr algn="ctr">
              <a:spcBef>
                <a:spcPts val="0"/>
              </a:spcBef>
              <a:spcAft>
                <a:spcPts val="200"/>
              </a:spcAft>
            </a:pPr>
            <a:r>
              <a:rPr sz="850" b="0">
                <a:solidFill>
                  <a:srgbClr val="5B6372"/>
                </a:solidFill>
                <a:latin typeface="Arial"/>
              </a:rPr>
              <a:t>+ Attending? Yes/No field</a:t>
            </a:r>
          </a:p>
        </p:txBody>
      </p:sp>
      <p:sp>
        <p:nvSpPr>
          <p:cNvPr id="9" name="TextBox 8"/>
          <p:cNvSpPr txBox="1"/>
          <p:nvPr/>
        </p:nvSpPr>
        <p:spPr>
          <a:xfrm>
            <a:off x="317525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3513582"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IF</a:t>
            </a:r>
          </a:p>
          <a:p>
            <a:pPr algn="ctr">
              <a:spcBef>
                <a:spcPts val="0"/>
              </a:spcBef>
              <a:spcAft>
                <a:spcPts val="200"/>
              </a:spcAft>
            </a:pPr>
            <a:r>
              <a:rPr sz="850" b="0">
                <a:solidFill>
                  <a:srgbClr val="5B6372"/>
                </a:solidFill>
                <a:latin typeface="Arial"/>
              </a:rPr>
              <a:t>Attending = Yes ?</a:t>
            </a:r>
          </a:p>
        </p:txBody>
      </p:sp>
      <p:sp>
        <p:nvSpPr>
          <p:cNvPr id="12" name="TextBox 11"/>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6249924"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Data Table</a:t>
            </a:r>
          </a:p>
          <a:p>
            <a:pPr algn="ctr">
              <a:spcBef>
                <a:spcPts val="0"/>
              </a:spcBef>
              <a:spcAft>
                <a:spcPts val="200"/>
              </a:spcAft>
            </a:pPr>
            <a:r>
              <a:rPr sz="850" b="0">
                <a:solidFill>
                  <a:srgbClr val="5B6372"/>
                </a:solidFill>
                <a:latin typeface="Arial"/>
              </a:rPr>
              <a:t>YES → save the RSVP</a:t>
            </a:r>
          </a:p>
        </p:txBody>
      </p:sp>
      <p:sp>
        <p:nvSpPr>
          <p:cNvPr id="15" name="TextBox 14"/>
          <p:cNvSpPr txBox="1"/>
          <p:nvPr/>
        </p:nvSpPr>
        <p:spPr>
          <a:xfrm>
            <a:off x="864793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6" name="Rounded Rectangle 15"/>
          <p:cNvSpPr/>
          <p:nvPr/>
        </p:nvSpPr>
        <p:spPr>
          <a:xfrm>
            <a:off x="8986266"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a:t>
            </a:r>
          </a:p>
          <a:p>
            <a:pPr algn="ctr">
              <a:spcBef>
                <a:spcPts val="0"/>
              </a:spcBef>
              <a:spcAft>
                <a:spcPts val="200"/>
              </a:spcAft>
            </a:pPr>
            <a:r>
              <a:rPr sz="850" b="0">
                <a:solidFill>
                  <a:srgbClr val="5B6372"/>
                </a:solidFill>
                <a:latin typeface="Arial"/>
              </a:rPr>
              <a:t>NO → thank-you email</a:t>
            </a:r>
          </a:p>
        </p:txBody>
      </p:sp>
      <p:pic>
        <p:nvPicPr>
          <p:cNvPr id="18" name="Picture 17" descr="Activity3a-Conditional-Data-Table.png"/>
          <p:cNvPicPr>
            <a:picLocks noChangeAspect="1"/>
          </p:cNvPicPr>
          <p:nvPr/>
        </p:nvPicPr>
        <p:blipFill>
          <a:blip r:embed="rId2"/>
          <a:stretch>
            <a:fillRect/>
          </a:stretch>
        </p:blipFill>
        <p:spPr>
          <a:xfrm>
            <a:off x="3576099" y="2761488"/>
            <a:ext cx="5009322" cy="2816352"/>
          </a:xfrm>
          <a:prstGeom prst="rect">
            <a:avLst/>
          </a:prstGeom>
        </p:spPr>
      </p:pic>
      <p:sp>
        <p:nvSpPr>
          <p:cNvPr id="19" name="Rectangle 18"/>
          <p:cNvSpPr/>
          <p:nvPr/>
        </p:nvSpPr>
        <p:spPr>
          <a:xfrm>
            <a:off x="3563399" y="2748788"/>
            <a:ext cx="5034722"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5687568"/>
            <a:ext cx="10634472" cy="56692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 y="5806440"/>
            <a:ext cx="9601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3a</a:t>
            </a:r>
          </a:p>
        </p:txBody>
      </p:sp>
      <p:sp>
        <p:nvSpPr>
          <p:cNvPr id="23" name="TextBox 22"/>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Conditional Response (Data Table)</a:t>
            </a:r>
          </a:p>
        </p:txBody>
      </p:sp>
      <p:sp>
        <p:nvSpPr>
          <p:cNvPr id="24" name="TextBox 23"/>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Form → IF → Data Table / Gmail  ·  both branches must be built  ·  steps in the Learner Guide</a:t>
            </a:r>
          </a:p>
        </p:txBody>
      </p:sp>
      <p:sp>
        <p:nvSpPr>
          <p:cNvPr id="25" name="TextBox 2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6" name="TextBox 2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7" name="TextBox 2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1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3b — Conditional Response (Google Sheets)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Same logic, persistent storage: the YES branch appends to a real Google Sheet you keep after the trial.</a:t>
            </a:r>
          </a:p>
        </p:txBody>
      </p:sp>
      <p:sp>
        <p:nvSpPr>
          <p:cNvPr id="7" name="Rounded Rectangle 6"/>
          <p:cNvSpPr/>
          <p:nvPr/>
        </p:nvSpPr>
        <p:spPr>
          <a:xfrm>
            <a:off x="777240"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Form Trigger</a:t>
            </a:r>
          </a:p>
          <a:p>
            <a:pPr algn="ctr">
              <a:spcBef>
                <a:spcPts val="0"/>
              </a:spcBef>
              <a:spcAft>
                <a:spcPts val="200"/>
              </a:spcAft>
            </a:pPr>
            <a:r>
              <a:rPr sz="850" b="0">
                <a:solidFill>
                  <a:srgbClr val="5B6372"/>
                </a:solidFill>
                <a:latin typeface="Arial"/>
              </a:rPr>
              <a:t>same form</a:t>
            </a:r>
          </a:p>
        </p:txBody>
      </p:sp>
      <p:sp>
        <p:nvSpPr>
          <p:cNvPr id="9" name="TextBox 8"/>
          <p:cNvSpPr txBox="1"/>
          <p:nvPr/>
        </p:nvSpPr>
        <p:spPr>
          <a:xfrm>
            <a:off x="317525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3513582"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IF</a:t>
            </a:r>
          </a:p>
          <a:p>
            <a:pPr algn="ctr">
              <a:spcBef>
                <a:spcPts val="0"/>
              </a:spcBef>
              <a:spcAft>
                <a:spcPts val="200"/>
              </a:spcAft>
            </a:pPr>
            <a:r>
              <a:rPr sz="850" b="0">
                <a:solidFill>
                  <a:srgbClr val="5B6372"/>
                </a:solidFill>
                <a:latin typeface="Arial"/>
              </a:rPr>
              <a:t>Attending = Yes ?</a:t>
            </a:r>
          </a:p>
        </p:txBody>
      </p:sp>
      <p:sp>
        <p:nvSpPr>
          <p:cNvPr id="12" name="TextBox 11"/>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6249924"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Google Sheets — Append</a:t>
            </a:r>
          </a:p>
          <a:p>
            <a:pPr algn="ctr">
              <a:spcBef>
                <a:spcPts val="0"/>
              </a:spcBef>
              <a:spcAft>
                <a:spcPts val="200"/>
              </a:spcAft>
            </a:pPr>
            <a:r>
              <a:rPr sz="850" b="0">
                <a:solidFill>
                  <a:srgbClr val="5B6372"/>
                </a:solidFill>
                <a:latin typeface="Arial"/>
              </a:rPr>
              <a:t>YES → a spreadsheet you keep</a:t>
            </a:r>
          </a:p>
        </p:txBody>
      </p:sp>
      <p:sp>
        <p:nvSpPr>
          <p:cNvPr id="15" name="TextBox 14"/>
          <p:cNvSpPr txBox="1"/>
          <p:nvPr/>
        </p:nvSpPr>
        <p:spPr>
          <a:xfrm>
            <a:off x="864793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6" name="Rounded Rectangle 15"/>
          <p:cNvSpPr/>
          <p:nvPr/>
        </p:nvSpPr>
        <p:spPr>
          <a:xfrm>
            <a:off x="8986266"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a:t>
            </a:r>
          </a:p>
          <a:p>
            <a:pPr algn="ctr">
              <a:spcBef>
                <a:spcPts val="0"/>
              </a:spcBef>
              <a:spcAft>
                <a:spcPts val="200"/>
              </a:spcAft>
            </a:pPr>
            <a:r>
              <a:rPr sz="850" b="0">
                <a:solidFill>
                  <a:srgbClr val="5B6372"/>
                </a:solidFill>
                <a:latin typeface="Arial"/>
              </a:rPr>
              <a:t>NO → thank-you email</a:t>
            </a:r>
          </a:p>
        </p:txBody>
      </p:sp>
      <p:pic>
        <p:nvPicPr>
          <p:cNvPr id="18" name="Picture 17" descr="Activity3b-Conditional-Google-Sheets.png"/>
          <p:cNvPicPr>
            <a:picLocks noChangeAspect="1"/>
          </p:cNvPicPr>
          <p:nvPr/>
        </p:nvPicPr>
        <p:blipFill>
          <a:blip r:embed="rId2"/>
          <a:stretch>
            <a:fillRect/>
          </a:stretch>
        </p:blipFill>
        <p:spPr>
          <a:xfrm>
            <a:off x="2884141" y="2761488"/>
            <a:ext cx="6393238" cy="2816352"/>
          </a:xfrm>
          <a:prstGeom prst="rect">
            <a:avLst/>
          </a:prstGeom>
        </p:spPr>
      </p:pic>
      <p:sp>
        <p:nvSpPr>
          <p:cNvPr id="19" name="Rectangle 18"/>
          <p:cNvSpPr/>
          <p:nvPr/>
        </p:nvSpPr>
        <p:spPr>
          <a:xfrm>
            <a:off x="2871441" y="2748788"/>
            <a:ext cx="6418638"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5687568"/>
            <a:ext cx="10634472" cy="56692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 y="5806440"/>
            <a:ext cx="9601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3b</a:t>
            </a:r>
          </a:p>
        </p:txBody>
      </p:sp>
      <p:sp>
        <p:nvSpPr>
          <p:cNvPr id="23" name="TextBox 22"/>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Conditional Response (Google Sheets)</a:t>
            </a:r>
          </a:p>
        </p:txBody>
      </p:sp>
      <p:sp>
        <p:nvSpPr>
          <p:cNvPr id="24" name="TextBox 23"/>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Form → IF → Google Sheets / Gmail  ·  Google Sheets OAuth2  ·  steps in the Learner Guide</a:t>
            </a:r>
          </a:p>
        </p:txBody>
      </p:sp>
      <p:sp>
        <p:nvSpPr>
          <p:cNvPr id="25" name="TextBox 2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6" name="TextBox 2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7" name="TextBox 2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  ·  see you at 2:00 pm</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7C3AED"/>
                </a:solidFill>
                <a:latin typeface="Arial"/>
              </a:rPr>
              <a:t>TOPIC 2</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AI Agents</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Generative vs agentic AI · model, memory, tools, instructions · model parameters · MCP</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7C3AED"/>
                </a:solidFill>
                <a:latin typeface="Arial"/>
              </a:rPr>
              <a:t>Applied in Activities 4a and 4b</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Generative AI vs Agentic AI</a:t>
            </a:r>
          </a:p>
        </p:txBody>
      </p:sp>
      <p:sp>
        <p:nvSpPr>
          <p:cNvPr id="6" name="Rectangle 5"/>
          <p:cNvSpPr/>
          <p:nvPr/>
        </p:nvSpPr>
        <p:spPr>
          <a:xfrm>
            <a:off x="777240" y="1783080"/>
            <a:ext cx="51937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GENERATIVE AI — answers</a:t>
            </a:r>
          </a:p>
        </p:txBody>
      </p:sp>
      <p:sp>
        <p:nvSpPr>
          <p:cNvPr id="8" name="Rectangle 7"/>
          <p:cNvSpPr/>
          <p:nvPr/>
        </p:nvSpPr>
        <p:spPr>
          <a:xfrm>
            <a:off x="777240" y="2240280"/>
            <a:ext cx="5193792" cy="338328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68880"/>
            <a:ext cx="4645152" cy="3017520"/>
          </a:xfrm>
          <a:prstGeom prst="rect">
            <a:avLst/>
          </a:prstGeom>
          <a:noFill/>
        </p:spPr>
        <p:txBody>
          <a:bodyPr wrap="square" lIns="0" rIns="0">
            <a:spAutoFit/>
          </a:bodyPr>
          <a:lstStyle/>
          <a:p>
            <a:pPr>
              <a:spcBef>
                <a:spcPts val="0"/>
              </a:spcBef>
              <a:spcAft>
                <a:spcPts val="900"/>
              </a:spcAft>
            </a:pPr>
            <a:r>
              <a:rPr sz="1350" b="1">
                <a:solidFill>
                  <a:srgbClr val="1F6FEB"/>
                </a:solidFill>
                <a:latin typeface="Arial"/>
              </a:rPr>
              <a:t>•  </a:t>
            </a:r>
            <a:r>
              <a:rPr sz="1350">
                <a:solidFill>
                  <a:srgbClr val="161B26"/>
                </a:solidFill>
                <a:latin typeface="Arial"/>
              </a:rPr>
              <a:t>You ask; it writes one answer.</a:t>
            </a:r>
          </a:p>
          <a:p>
            <a:pPr>
              <a:spcBef>
                <a:spcPts val="0"/>
              </a:spcBef>
              <a:spcAft>
                <a:spcPts val="900"/>
              </a:spcAft>
            </a:pPr>
            <a:r>
              <a:rPr sz="1350" b="1">
                <a:solidFill>
                  <a:srgbClr val="1F6FEB"/>
                </a:solidFill>
                <a:latin typeface="Arial"/>
              </a:rPr>
              <a:t>•  </a:t>
            </a:r>
            <a:r>
              <a:rPr sz="1350">
                <a:solidFill>
                  <a:srgbClr val="161B26"/>
                </a:solidFill>
                <a:latin typeface="Arial"/>
              </a:rPr>
              <a:t>No memory of your systems, no actions.</a:t>
            </a:r>
          </a:p>
          <a:p>
            <a:pPr>
              <a:spcBef>
                <a:spcPts val="0"/>
              </a:spcBef>
              <a:spcAft>
                <a:spcPts val="900"/>
              </a:spcAft>
            </a:pPr>
            <a:r>
              <a:rPr sz="1350" b="1">
                <a:solidFill>
                  <a:srgbClr val="1F6FEB"/>
                </a:solidFill>
                <a:latin typeface="Arial"/>
              </a:rPr>
              <a:t>•  </a:t>
            </a:r>
            <a:r>
              <a:rPr sz="1350">
                <a:solidFill>
                  <a:srgbClr val="161B26"/>
                </a:solidFill>
                <a:latin typeface="Arial"/>
              </a:rPr>
              <a:t>Quality depends on what you paste into the prompt.</a:t>
            </a:r>
          </a:p>
          <a:p>
            <a:pPr>
              <a:spcBef>
                <a:spcPts val="0"/>
              </a:spcBef>
              <a:spcAft>
                <a:spcPts val="900"/>
              </a:spcAft>
            </a:pPr>
            <a:r>
              <a:rPr sz="1350" b="1">
                <a:solidFill>
                  <a:srgbClr val="1F6FEB"/>
                </a:solidFill>
                <a:latin typeface="Arial"/>
              </a:rPr>
              <a:t>•  </a:t>
            </a:r>
            <a:r>
              <a:rPr sz="1350">
                <a:solidFill>
                  <a:srgbClr val="161B26"/>
                </a:solidFill>
                <a:latin typeface="Arial"/>
              </a:rPr>
              <a:t>Example: ChatGPT summarising a document.</a:t>
            </a:r>
          </a:p>
        </p:txBody>
      </p:sp>
      <p:sp>
        <p:nvSpPr>
          <p:cNvPr id="10" name="Rectangle 9"/>
          <p:cNvSpPr/>
          <p:nvPr/>
        </p:nvSpPr>
        <p:spPr>
          <a:xfrm>
            <a:off x="6217920" y="1783080"/>
            <a:ext cx="519379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AGENTIC AI — acts</a:t>
            </a:r>
          </a:p>
        </p:txBody>
      </p:sp>
      <p:sp>
        <p:nvSpPr>
          <p:cNvPr id="12" name="Rectangle 11"/>
          <p:cNvSpPr/>
          <p:nvPr/>
        </p:nvSpPr>
        <p:spPr>
          <a:xfrm>
            <a:off x="6217920" y="2240280"/>
            <a:ext cx="5193792" cy="338328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468880"/>
            <a:ext cx="4645152" cy="3017520"/>
          </a:xfrm>
          <a:prstGeom prst="rect">
            <a:avLst/>
          </a:prstGeom>
          <a:noFill/>
        </p:spPr>
        <p:txBody>
          <a:bodyPr wrap="square" lIns="0" rIns="0">
            <a:spAutoFit/>
          </a:bodyPr>
          <a:lstStyle/>
          <a:p>
            <a:pPr>
              <a:spcBef>
                <a:spcPts val="0"/>
              </a:spcBef>
              <a:spcAft>
                <a:spcPts val="900"/>
              </a:spcAft>
            </a:pPr>
            <a:r>
              <a:rPr sz="1350" b="1">
                <a:solidFill>
                  <a:srgbClr val="7C3AED"/>
                </a:solidFill>
                <a:latin typeface="Arial"/>
              </a:rPr>
              <a:t>•  </a:t>
            </a:r>
            <a:r>
              <a:rPr sz="1350">
                <a:solidFill>
                  <a:srgbClr val="161B26"/>
                </a:solidFill>
                <a:latin typeface="Arial"/>
              </a:rPr>
              <a:t>Works toward a goal, not just one reply.</a:t>
            </a:r>
          </a:p>
          <a:p>
            <a:pPr>
              <a:spcBef>
                <a:spcPts val="0"/>
              </a:spcBef>
              <a:spcAft>
                <a:spcPts val="900"/>
              </a:spcAft>
            </a:pPr>
            <a:r>
              <a:rPr sz="1350" b="1">
                <a:solidFill>
                  <a:srgbClr val="7C3AED"/>
                </a:solidFill>
                <a:latin typeface="Arial"/>
              </a:rPr>
              <a:t>•  </a:t>
            </a:r>
            <a:r>
              <a:rPr sz="1350">
                <a:solidFill>
                  <a:srgbClr val="161B26"/>
                </a:solidFill>
                <a:latin typeface="Arial"/>
              </a:rPr>
              <a:t>Calls tools: looks up data, calls APIs, writes records.</a:t>
            </a:r>
          </a:p>
          <a:p>
            <a:pPr>
              <a:spcBef>
                <a:spcPts val="0"/>
              </a:spcBef>
              <a:spcAft>
                <a:spcPts val="900"/>
              </a:spcAft>
            </a:pPr>
            <a:r>
              <a:rPr sz="1350" b="1">
                <a:solidFill>
                  <a:srgbClr val="7C3AED"/>
                </a:solidFill>
                <a:latin typeface="Arial"/>
              </a:rPr>
              <a:t>•  </a:t>
            </a:r>
            <a:r>
              <a:rPr sz="1350">
                <a:solidFill>
                  <a:srgbClr val="161B26"/>
                </a:solidFill>
                <a:latin typeface="Arial"/>
              </a:rPr>
              <a:t>Holds a conversation with memory.</a:t>
            </a:r>
          </a:p>
          <a:p>
            <a:pPr>
              <a:spcBef>
                <a:spcPts val="0"/>
              </a:spcBef>
              <a:spcAft>
                <a:spcPts val="900"/>
              </a:spcAft>
            </a:pPr>
            <a:r>
              <a:rPr sz="1350" b="1">
                <a:solidFill>
                  <a:srgbClr val="7C3AED"/>
                </a:solidFill>
                <a:latin typeface="Arial"/>
              </a:rPr>
              <a:t>•  </a:t>
            </a:r>
            <a:r>
              <a:rPr sz="1350">
                <a:solidFill>
                  <a:srgbClr val="161B26"/>
                </a:solidFill>
                <a:latin typeface="Arial"/>
              </a:rPr>
              <a:t>Example: a bot that checks the Employees table and answers.</a:t>
            </a:r>
          </a:p>
        </p:txBody>
      </p:sp>
      <p:sp>
        <p:nvSpPr>
          <p:cNvPr id="14" name="Rounded Rectangle 1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Generative AI produces content. Agentic AI decides and does — which is why it needs governance.</a:t>
            </a:r>
          </a:p>
        </p:txBody>
      </p:sp>
      <p:sp>
        <p:nvSpPr>
          <p:cNvPr id="16" name="TextBox 1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Components of an AI Agent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Four parts, one hub: the agent node wires them together — and only some are under your direct control.</a:t>
            </a:r>
          </a:p>
        </p:txBody>
      </p:sp>
      <p:sp>
        <p:nvSpPr>
          <p:cNvPr id="7" name="Rounded Rectangle 6"/>
          <p:cNvSpPr/>
          <p:nvPr/>
        </p:nvSpPr>
        <p:spPr>
          <a:xfrm>
            <a:off x="4297680" y="3017520"/>
            <a:ext cx="3566160" cy="1051560"/>
          </a:xfrm>
          <a:prstGeom prst="roundRect">
            <a:avLst>
              <a:gd name="adj" fmla="val 5500"/>
            </a:avLst>
          </a:prstGeom>
          <a:solidFill>
            <a:srgbClr val="FFFFFF"/>
          </a:solidFill>
          <a:ln w="254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3017520"/>
            <a:ext cx="3566160" cy="1051560"/>
          </a:xfrm>
          <a:prstGeom prst="rect">
            <a:avLst/>
          </a:prstGeom>
          <a:noFill/>
        </p:spPr>
        <p:txBody>
          <a:bodyPr wrap="square" anchor="ctr" lIns="0" rIns="0" tIns="0" bIns="0">
            <a:spAutoFit/>
          </a:bodyPr>
          <a:lstStyle/>
          <a:p>
            <a:pPr algn="ctr">
              <a:spcBef>
                <a:spcPts val="0"/>
              </a:spcBef>
              <a:spcAft>
                <a:spcPts val="200"/>
              </a:spcAft>
            </a:pPr>
            <a:r>
              <a:rPr sz="1500" b="1">
                <a:solidFill>
                  <a:srgbClr val="7C3AED"/>
                </a:solidFill>
                <a:latin typeface="Arial"/>
              </a:rPr>
              <a:t>THE AI AGENT</a:t>
            </a:r>
          </a:p>
          <a:p>
            <a:pPr algn="ctr">
              <a:spcBef>
                <a:spcPts val="0"/>
              </a:spcBef>
              <a:spcAft>
                <a:spcPts val="200"/>
              </a:spcAft>
            </a:pPr>
            <a:r>
              <a:rPr sz="1050" b="0">
                <a:solidFill>
                  <a:srgbClr val="5B6372"/>
                </a:solidFill>
                <a:latin typeface="Arial"/>
              </a:rPr>
              <a:t>plans · decides · calls tools</a:t>
            </a:r>
          </a:p>
        </p:txBody>
      </p:sp>
      <p:sp>
        <p:nvSpPr>
          <p:cNvPr id="9" name="Rounded Rectangle 8"/>
          <p:cNvSpPr/>
          <p:nvPr/>
        </p:nvSpPr>
        <p:spPr>
          <a:xfrm>
            <a:off x="777240" y="1828800"/>
            <a:ext cx="3291840" cy="146304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956816"/>
            <a:ext cx="2926080" cy="292608"/>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MODEL</a:t>
            </a:r>
          </a:p>
        </p:txBody>
      </p:sp>
      <p:sp>
        <p:nvSpPr>
          <p:cNvPr id="11" name="TextBox 10"/>
          <p:cNvSpPr txBox="1"/>
          <p:nvPr/>
        </p:nvSpPr>
        <p:spPr>
          <a:xfrm>
            <a:off x="960120" y="2286000"/>
            <a:ext cx="2926080" cy="1005840"/>
          </a:xfrm>
          <a:prstGeom prst="rect">
            <a:avLst/>
          </a:prstGeom>
          <a:noFill/>
        </p:spPr>
        <p:txBody>
          <a:bodyPr wrap="square" anchor="t" lIns="0" rIns="0" tIns="0" bIns="0">
            <a:spAutoFit/>
          </a:bodyPr>
          <a:lstStyle/>
          <a:p>
            <a:pPr algn="l">
              <a:spcBef>
                <a:spcPts val="0"/>
              </a:spcBef>
              <a:spcAft>
                <a:spcPts val="400"/>
              </a:spcAft>
            </a:pPr>
            <a:r>
              <a:rPr sz="1050" b="0">
                <a:solidFill>
                  <a:srgbClr val="161B26"/>
                </a:solidFill>
                <a:latin typeface="Arial"/>
              </a:rPr>
              <a:t>The LLM 'brain' — interprets language, reasons, chooses the next step. gpt-4.1-mini in this course.</a:t>
            </a:r>
          </a:p>
        </p:txBody>
      </p:sp>
      <p:sp>
        <p:nvSpPr>
          <p:cNvPr id="12" name="Rounded Rectangle 11"/>
          <p:cNvSpPr/>
          <p:nvPr/>
        </p:nvSpPr>
        <p:spPr>
          <a:xfrm>
            <a:off x="8092440" y="1828800"/>
            <a:ext cx="3291840" cy="146304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956816"/>
            <a:ext cx="2926080" cy="292608"/>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MEMORY</a:t>
            </a:r>
          </a:p>
        </p:txBody>
      </p:sp>
      <p:sp>
        <p:nvSpPr>
          <p:cNvPr id="14" name="TextBox 13"/>
          <p:cNvSpPr txBox="1"/>
          <p:nvPr/>
        </p:nvSpPr>
        <p:spPr>
          <a:xfrm>
            <a:off x="8275320" y="2286000"/>
            <a:ext cx="2926080" cy="1005840"/>
          </a:xfrm>
          <a:prstGeom prst="rect">
            <a:avLst/>
          </a:prstGeom>
          <a:noFill/>
        </p:spPr>
        <p:txBody>
          <a:bodyPr wrap="square" anchor="t" lIns="0" rIns="0" tIns="0" bIns="0">
            <a:spAutoFit/>
          </a:bodyPr>
          <a:lstStyle/>
          <a:p>
            <a:pPr algn="l">
              <a:spcBef>
                <a:spcPts val="0"/>
              </a:spcBef>
              <a:spcAft>
                <a:spcPts val="400"/>
              </a:spcAft>
            </a:pPr>
            <a:r>
              <a:rPr sz="1050" b="0">
                <a:solidFill>
                  <a:srgbClr val="161B26"/>
                </a:solidFill>
                <a:latin typeface="Arial"/>
              </a:rPr>
              <a:t>Keeps the conversation — follow-up questions still make sense. Window buffer per chat/session.</a:t>
            </a:r>
          </a:p>
        </p:txBody>
      </p:sp>
      <p:sp>
        <p:nvSpPr>
          <p:cNvPr id="15" name="Rounded Rectangle 14"/>
          <p:cNvSpPr/>
          <p:nvPr/>
        </p:nvSpPr>
        <p:spPr>
          <a:xfrm>
            <a:off x="777240" y="4114800"/>
            <a:ext cx="3291840" cy="146304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242816"/>
            <a:ext cx="2926080" cy="292608"/>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TOOLS</a:t>
            </a:r>
          </a:p>
        </p:txBody>
      </p:sp>
      <p:sp>
        <p:nvSpPr>
          <p:cNvPr id="17" name="TextBox 16"/>
          <p:cNvSpPr txBox="1"/>
          <p:nvPr/>
        </p:nvSpPr>
        <p:spPr>
          <a:xfrm>
            <a:off x="960120" y="4572000"/>
            <a:ext cx="2926080" cy="1005840"/>
          </a:xfrm>
          <a:prstGeom prst="rect">
            <a:avLst/>
          </a:prstGeom>
          <a:noFill/>
        </p:spPr>
        <p:txBody>
          <a:bodyPr wrap="square" anchor="t" lIns="0" rIns="0" tIns="0" bIns="0">
            <a:spAutoFit/>
          </a:bodyPr>
          <a:lstStyle/>
          <a:p>
            <a:pPr algn="l">
              <a:spcBef>
                <a:spcPts val="0"/>
              </a:spcBef>
              <a:spcAft>
                <a:spcPts val="400"/>
              </a:spcAft>
            </a:pPr>
            <a:r>
              <a:rPr sz="1050" b="0">
                <a:solidFill>
                  <a:srgbClr val="161B26"/>
                </a:solidFill>
                <a:latin typeface="Arial"/>
              </a:rPr>
              <a:t>Abilities it may use: Data Table lookups, vector stores, HTTP calls, sub-workflows.</a:t>
            </a:r>
          </a:p>
        </p:txBody>
      </p:sp>
      <p:sp>
        <p:nvSpPr>
          <p:cNvPr id="18" name="Rounded Rectangle 17"/>
          <p:cNvSpPr/>
          <p:nvPr/>
        </p:nvSpPr>
        <p:spPr>
          <a:xfrm>
            <a:off x="8092440" y="4114800"/>
            <a:ext cx="3291840" cy="146304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4242816"/>
            <a:ext cx="2926080" cy="292608"/>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INSTRUCTIONS</a:t>
            </a:r>
          </a:p>
        </p:txBody>
      </p:sp>
      <p:sp>
        <p:nvSpPr>
          <p:cNvPr id="20" name="TextBox 19"/>
          <p:cNvSpPr txBox="1"/>
          <p:nvPr/>
        </p:nvSpPr>
        <p:spPr>
          <a:xfrm>
            <a:off x="8275320" y="4572000"/>
            <a:ext cx="2926080" cy="1005840"/>
          </a:xfrm>
          <a:prstGeom prst="rect">
            <a:avLst/>
          </a:prstGeom>
          <a:noFill/>
        </p:spPr>
        <p:txBody>
          <a:bodyPr wrap="square" anchor="t" lIns="0" rIns="0" tIns="0" bIns="0">
            <a:spAutoFit/>
          </a:bodyPr>
          <a:lstStyle/>
          <a:p>
            <a:pPr algn="l">
              <a:spcBef>
                <a:spcPts val="0"/>
              </a:spcBef>
              <a:spcAft>
                <a:spcPts val="400"/>
              </a:spcAft>
            </a:pPr>
            <a:r>
              <a:rPr sz="1050" b="0">
                <a:solidFill>
                  <a:srgbClr val="161B26"/>
                </a:solidFill>
                <a:latin typeface="Arial"/>
              </a:rPr>
              <a:t>The system message — identity, scope, rules and refusals. Always in force.</a:t>
            </a:r>
          </a:p>
        </p:txBody>
      </p:sp>
      <p:sp>
        <p:nvSpPr>
          <p:cNvPr id="21" name="Rounded Rectangle 20"/>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Model + Memory + Tools + Instructions — every agent in this course is exactly these four parts.</a:t>
            </a:r>
          </a:p>
        </p:txBody>
      </p:sp>
      <p:sp>
        <p:nvSpPr>
          <p:cNvPr id="23" name="TextBox 2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The Model — Popular LLM Providers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Any chat model plugs into the same AI Agent node — swap the brain, keep the agent.</a:t>
            </a:r>
          </a:p>
        </p:txBody>
      </p:sp>
      <p:sp>
        <p:nvSpPr>
          <p:cNvPr id="7" name="Rectangle 6"/>
          <p:cNvSpPr/>
          <p:nvPr/>
        </p:nvSpPr>
        <p:spPr>
          <a:xfrm>
            <a:off x="777240" y="1828800"/>
            <a:ext cx="274320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28800"/>
            <a:ext cx="2487168"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Provider</a:t>
            </a:r>
          </a:p>
        </p:txBody>
      </p:sp>
      <p:sp>
        <p:nvSpPr>
          <p:cNvPr id="9" name="Rectangle 8"/>
          <p:cNvSpPr/>
          <p:nvPr/>
        </p:nvSpPr>
        <p:spPr>
          <a:xfrm>
            <a:off x="3520440" y="1828800"/>
            <a:ext cx="402336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1828800"/>
            <a:ext cx="3767328"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Models</a:t>
            </a:r>
          </a:p>
        </p:txBody>
      </p:sp>
      <p:sp>
        <p:nvSpPr>
          <p:cNvPr id="11" name="Rectangle 10"/>
          <p:cNvSpPr/>
          <p:nvPr/>
        </p:nvSpPr>
        <p:spPr>
          <a:xfrm>
            <a:off x="7543800" y="1828800"/>
            <a:ext cx="386791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1828800"/>
            <a:ext cx="3611880"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Notes</a:t>
            </a:r>
          </a:p>
        </p:txBody>
      </p:sp>
      <p:sp>
        <p:nvSpPr>
          <p:cNvPr id="13" name="Rectangle 12"/>
          <p:cNvSpPr/>
          <p:nvPr/>
        </p:nvSpPr>
        <p:spPr>
          <a:xfrm>
            <a:off x="777240" y="22860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OpenAI</a:t>
            </a:r>
          </a:p>
        </p:txBody>
      </p:sp>
      <p:sp>
        <p:nvSpPr>
          <p:cNvPr id="15" name="Rectangle 14"/>
          <p:cNvSpPr/>
          <p:nvPr/>
        </p:nvSpPr>
        <p:spPr>
          <a:xfrm>
            <a:off x="3520440" y="2286000"/>
            <a:ext cx="402336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48456" y="2286000"/>
            <a:ext cx="376732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gpt-4.1, gpt-4.1-mini, gpt-4o</a:t>
            </a:r>
          </a:p>
        </p:txBody>
      </p:sp>
      <p:sp>
        <p:nvSpPr>
          <p:cNvPr id="17" name="Rectangle 16"/>
          <p:cNvSpPr/>
          <p:nvPr/>
        </p:nvSpPr>
        <p:spPr>
          <a:xfrm>
            <a:off x="7543800" y="2286000"/>
            <a:ext cx="386791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2286000"/>
            <a:ext cx="361188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Course default: gpt-4.1-mini</a:t>
            </a:r>
          </a:p>
        </p:txBody>
      </p:sp>
      <p:sp>
        <p:nvSpPr>
          <p:cNvPr id="19" name="Rectangle 18"/>
          <p:cNvSpPr/>
          <p:nvPr/>
        </p:nvSpPr>
        <p:spPr>
          <a:xfrm>
            <a:off x="777240" y="2743200"/>
            <a:ext cx="274320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32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Google</a:t>
            </a:r>
          </a:p>
        </p:txBody>
      </p:sp>
      <p:sp>
        <p:nvSpPr>
          <p:cNvPr id="21" name="Rectangle 20"/>
          <p:cNvSpPr/>
          <p:nvPr/>
        </p:nvSpPr>
        <p:spPr>
          <a:xfrm>
            <a:off x="3520440" y="2743200"/>
            <a:ext cx="402336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743200"/>
            <a:ext cx="376732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Gemini 2.x Flash / Pro</a:t>
            </a:r>
          </a:p>
        </p:txBody>
      </p:sp>
      <p:sp>
        <p:nvSpPr>
          <p:cNvPr id="23" name="Rectangle 22"/>
          <p:cNvSpPr/>
          <p:nvPr/>
        </p:nvSpPr>
        <p:spPr>
          <a:xfrm>
            <a:off x="7543800" y="2743200"/>
            <a:ext cx="3867912"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71816" y="2743200"/>
            <a:ext cx="361188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Used for embeddings in Activity 7</a:t>
            </a:r>
          </a:p>
        </p:txBody>
      </p:sp>
      <p:sp>
        <p:nvSpPr>
          <p:cNvPr id="25" name="Rectangle 24"/>
          <p:cNvSpPr/>
          <p:nvPr/>
        </p:nvSpPr>
        <p:spPr>
          <a:xfrm>
            <a:off x="777240" y="32004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004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Anthropic</a:t>
            </a:r>
          </a:p>
        </p:txBody>
      </p:sp>
      <p:sp>
        <p:nvSpPr>
          <p:cNvPr id="27" name="Rectangle 26"/>
          <p:cNvSpPr/>
          <p:nvPr/>
        </p:nvSpPr>
        <p:spPr>
          <a:xfrm>
            <a:off x="3520440" y="3200400"/>
            <a:ext cx="402336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48456" y="3200400"/>
            <a:ext cx="376732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Claude (Opus, Sonnet, Haiku)</a:t>
            </a:r>
          </a:p>
        </p:txBody>
      </p:sp>
      <p:sp>
        <p:nvSpPr>
          <p:cNvPr id="29" name="Rectangle 28"/>
          <p:cNvSpPr/>
          <p:nvPr/>
        </p:nvSpPr>
        <p:spPr>
          <a:xfrm>
            <a:off x="7543800" y="3200400"/>
            <a:ext cx="386791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71816" y="3200400"/>
            <a:ext cx="361188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Strong reasoning and safety</a:t>
            </a:r>
          </a:p>
        </p:txBody>
      </p:sp>
      <p:sp>
        <p:nvSpPr>
          <p:cNvPr id="31" name="Rectangle 30"/>
          <p:cNvSpPr/>
          <p:nvPr/>
        </p:nvSpPr>
        <p:spPr>
          <a:xfrm>
            <a:off x="777240" y="3657600"/>
            <a:ext cx="274320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576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Meta</a:t>
            </a:r>
          </a:p>
        </p:txBody>
      </p:sp>
      <p:sp>
        <p:nvSpPr>
          <p:cNvPr id="33" name="Rectangle 32"/>
          <p:cNvSpPr/>
          <p:nvPr/>
        </p:nvSpPr>
        <p:spPr>
          <a:xfrm>
            <a:off x="3520440" y="3657600"/>
            <a:ext cx="402336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48456" y="3657600"/>
            <a:ext cx="376732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Llama 3.x</a:t>
            </a:r>
          </a:p>
        </p:txBody>
      </p:sp>
      <p:sp>
        <p:nvSpPr>
          <p:cNvPr id="35" name="Rectangle 34"/>
          <p:cNvSpPr/>
          <p:nvPr/>
        </p:nvSpPr>
        <p:spPr>
          <a:xfrm>
            <a:off x="7543800" y="3657600"/>
            <a:ext cx="3867912"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71816" y="3657600"/>
            <a:ext cx="361188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Open weights — self-hostable</a:t>
            </a:r>
          </a:p>
        </p:txBody>
      </p:sp>
      <p:sp>
        <p:nvSpPr>
          <p:cNvPr id="37" name="Rectangle 36"/>
          <p:cNvSpPr/>
          <p:nvPr/>
        </p:nvSpPr>
        <p:spPr>
          <a:xfrm>
            <a:off x="777240" y="41148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148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Mistral</a:t>
            </a:r>
          </a:p>
        </p:txBody>
      </p:sp>
      <p:sp>
        <p:nvSpPr>
          <p:cNvPr id="39" name="Rectangle 38"/>
          <p:cNvSpPr/>
          <p:nvPr/>
        </p:nvSpPr>
        <p:spPr>
          <a:xfrm>
            <a:off x="3520440" y="4114800"/>
            <a:ext cx="402336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48456" y="4114800"/>
            <a:ext cx="376732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Mistral / Mixtral</a:t>
            </a:r>
          </a:p>
        </p:txBody>
      </p:sp>
      <p:sp>
        <p:nvSpPr>
          <p:cNvPr id="41" name="Rectangle 40"/>
          <p:cNvSpPr/>
          <p:nvPr/>
        </p:nvSpPr>
        <p:spPr>
          <a:xfrm>
            <a:off x="7543800" y="4114800"/>
            <a:ext cx="386791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71816" y="4114800"/>
            <a:ext cx="361188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Open weights — EU option</a:t>
            </a:r>
          </a:p>
        </p:txBody>
      </p:sp>
      <p:sp>
        <p:nvSpPr>
          <p:cNvPr id="43" name="Rounded Rectangle 4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Pick by task: small fast models for classification and guardrails, larger models for reasoning.</a:t>
            </a:r>
          </a:p>
        </p:txBody>
      </p:sp>
      <p:sp>
        <p:nvSpPr>
          <p:cNvPr id="45" name="TextBox 4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6" name="TextBox 4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7" name="TextBox 4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Model Parameters — Temperature and Friends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Settings on the chat-model node shape how the model answers — the most important is temperature.</a:t>
            </a:r>
          </a:p>
        </p:txBody>
      </p:sp>
      <p:sp>
        <p:nvSpPr>
          <p:cNvPr id="7" name="Rounded Rectangle 6"/>
          <p:cNvSpPr/>
          <p:nvPr/>
        </p:nvSpPr>
        <p:spPr>
          <a:xfrm>
            <a:off x="777240" y="1783080"/>
            <a:ext cx="3349752" cy="201168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Temperature 0 – 0.3</a:t>
            </a:r>
          </a:p>
        </p:txBody>
      </p:sp>
      <p:sp>
        <p:nvSpPr>
          <p:cNvPr id="11" name="TextBox 10"/>
          <p:cNvSpPr txBox="1"/>
          <p:nvPr/>
        </p:nvSpPr>
        <p:spPr>
          <a:xfrm>
            <a:off x="978408" y="2331720"/>
            <a:ext cx="2947416" cy="13167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Deterministic and repeatable. Use for classification, guardrails, data extraction — automation that must give the same decision twice.</a:t>
            </a:r>
          </a:p>
        </p:txBody>
      </p:sp>
      <p:sp>
        <p:nvSpPr>
          <p:cNvPr id="12" name="Rounded Rectangle 11"/>
          <p:cNvSpPr/>
          <p:nvPr/>
        </p:nvSpPr>
        <p:spPr>
          <a:xfrm>
            <a:off x="4419600" y="1783080"/>
            <a:ext cx="3349752" cy="201168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2480" y="19293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248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504139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Temperature ≈ 0.7</a:t>
            </a:r>
          </a:p>
        </p:txBody>
      </p:sp>
      <p:sp>
        <p:nvSpPr>
          <p:cNvPr id="16" name="TextBox 15"/>
          <p:cNvSpPr txBox="1"/>
          <p:nvPr/>
        </p:nvSpPr>
        <p:spPr>
          <a:xfrm>
            <a:off x="4620768" y="2331720"/>
            <a:ext cx="2947416" cy="13167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Balanced — natural-sounding chat with some variety. The default for customer-facing assistants.</a:t>
            </a:r>
          </a:p>
        </p:txBody>
      </p:sp>
      <p:sp>
        <p:nvSpPr>
          <p:cNvPr id="17" name="Rounded Rectangle 16"/>
          <p:cNvSpPr/>
          <p:nvPr/>
        </p:nvSpPr>
        <p:spPr>
          <a:xfrm>
            <a:off x="8061960" y="1783080"/>
            <a:ext cx="3349752" cy="20116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1929384"/>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868375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Temperature 1.0 +</a:t>
            </a:r>
          </a:p>
        </p:txBody>
      </p:sp>
      <p:sp>
        <p:nvSpPr>
          <p:cNvPr id="21" name="TextBox 20"/>
          <p:cNvSpPr txBox="1"/>
          <p:nvPr/>
        </p:nvSpPr>
        <p:spPr>
          <a:xfrm>
            <a:off x="8263128" y="2331720"/>
            <a:ext cx="2947416" cy="13167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Creative and surprising. Marketing copy and brainstorming — never for decisions.</a:t>
            </a:r>
          </a:p>
        </p:txBody>
      </p:sp>
      <p:sp>
        <p:nvSpPr>
          <p:cNvPr id="22" name="Rounded Rectangle 21"/>
          <p:cNvSpPr/>
          <p:nvPr/>
        </p:nvSpPr>
        <p:spPr>
          <a:xfrm>
            <a:off x="777240" y="3931920"/>
            <a:ext cx="3349752" cy="169164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0120" y="407822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0782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5" name="TextBox 24"/>
          <p:cNvSpPr txBox="1"/>
          <p:nvPr/>
        </p:nvSpPr>
        <p:spPr>
          <a:xfrm>
            <a:off x="1399032" y="40873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Top-p</a:t>
            </a:r>
          </a:p>
        </p:txBody>
      </p:sp>
      <p:sp>
        <p:nvSpPr>
          <p:cNvPr id="26" name="TextBox 25"/>
          <p:cNvSpPr txBox="1"/>
          <p:nvPr/>
        </p:nvSpPr>
        <p:spPr>
          <a:xfrm>
            <a:off x="978408" y="4480560"/>
            <a:ext cx="2947416" cy="9966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Alternative sampling control — limits choices to the most probable tokens. Tune temperature OR top-p, not both.</a:t>
            </a:r>
          </a:p>
        </p:txBody>
      </p:sp>
      <p:sp>
        <p:nvSpPr>
          <p:cNvPr id="27" name="Rounded Rectangle 26"/>
          <p:cNvSpPr/>
          <p:nvPr/>
        </p:nvSpPr>
        <p:spPr>
          <a:xfrm>
            <a:off x="4419600" y="3931920"/>
            <a:ext cx="3349752" cy="169164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02480" y="4078224"/>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02480" y="40782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30" name="TextBox 29"/>
          <p:cNvSpPr txBox="1"/>
          <p:nvPr/>
        </p:nvSpPr>
        <p:spPr>
          <a:xfrm>
            <a:off x="5041392" y="40873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Max tokens</a:t>
            </a:r>
          </a:p>
        </p:txBody>
      </p:sp>
      <p:sp>
        <p:nvSpPr>
          <p:cNvPr id="31" name="TextBox 30"/>
          <p:cNvSpPr txBox="1"/>
          <p:nvPr/>
        </p:nvSpPr>
        <p:spPr>
          <a:xfrm>
            <a:off x="4620768" y="4480560"/>
            <a:ext cx="2947416" cy="9966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Caps the length of the reply — protects cost and keeps chat answers short.</a:t>
            </a:r>
          </a:p>
        </p:txBody>
      </p:sp>
      <p:sp>
        <p:nvSpPr>
          <p:cNvPr id="32" name="Rounded Rectangle 31"/>
          <p:cNvSpPr/>
          <p:nvPr/>
        </p:nvSpPr>
        <p:spPr>
          <a:xfrm>
            <a:off x="8061960" y="3931920"/>
            <a:ext cx="3349752" cy="16916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44840" y="4078224"/>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4840" y="40782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35" name="TextBox 34"/>
          <p:cNvSpPr txBox="1"/>
          <p:nvPr/>
        </p:nvSpPr>
        <p:spPr>
          <a:xfrm>
            <a:off x="8683752" y="40873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Frequency / presence penalty</a:t>
            </a:r>
          </a:p>
        </p:txBody>
      </p:sp>
      <p:sp>
        <p:nvSpPr>
          <p:cNvPr id="36" name="TextBox 35"/>
          <p:cNvSpPr txBox="1"/>
          <p:nvPr/>
        </p:nvSpPr>
        <p:spPr>
          <a:xfrm>
            <a:off x="8263128" y="4480560"/>
            <a:ext cx="2947416" cy="9966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Discourage repetition and nudge new topics — useful for long generations.</a:t>
            </a:r>
          </a:p>
        </p:txBody>
      </p:sp>
      <p:sp>
        <p:nvSpPr>
          <p:cNvPr id="37" name="Rounded Rectangle 3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For business automation keep temperature LOW — the same input should produce the same decision.</a:t>
            </a:r>
          </a:p>
        </p:txBody>
      </p:sp>
      <p:sp>
        <p:nvSpPr>
          <p:cNvPr id="39" name="TextBox 3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0" name="TextBox 3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1" name="TextBox 4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Memory — Why the Agent Remembers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Without memory every message is a stranger; with it, 'what about tomorrow?' makes sense.</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Msg 1: 'Any leave left?'</a:t>
            </a:r>
          </a:p>
          <a:p>
            <a:pPr algn="ctr">
              <a:spcBef>
                <a:spcPts val="0"/>
              </a:spcBef>
              <a:spcAft>
                <a:spcPts val="200"/>
              </a:spcAft>
            </a:pPr>
            <a:r>
              <a:rPr sz="900" b="0">
                <a:solidFill>
                  <a:srgbClr val="5B6372"/>
                </a:solidFill>
                <a:latin typeface="Arial"/>
              </a:rPr>
              <a:t>agent answers: 12 days</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Stored in memory</a:t>
            </a:r>
          </a:p>
          <a:p>
            <a:pPr algn="ctr">
              <a:spcBef>
                <a:spcPts val="0"/>
              </a:spcBef>
              <a:spcAft>
                <a:spcPts val="200"/>
              </a:spcAft>
            </a:pPr>
            <a:r>
              <a:rPr sz="900" b="0">
                <a:solidFill>
                  <a:srgbClr val="5B6372"/>
                </a:solidFill>
                <a:latin typeface="Arial"/>
              </a:rPr>
              <a:t>keyed by chat / session ID</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Msg 2: 'What about Bob?'</a:t>
            </a:r>
          </a:p>
          <a:p>
            <a:pPr algn="ctr">
              <a:spcBef>
                <a:spcPts val="0"/>
              </a:spcBef>
              <a:spcAft>
                <a:spcPts val="200"/>
              </a:spcAft>
            </a:pPr>
            <a:r>
              <a:rPr sz="900" b="0">
                <a:solidFill>
                  <a:srgbClr val="5B6372"/>
                </a:solidFill>
                <a:latin typeface="Arial"/>
              </a:rPr>
              <a:t>agent knows the topic is leave</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Window slides</a:t>
            </a:r>
          </a:p>
          <a:p>
            <a:pPr algn="ctr">
              <a:spcBef>
                <a:spcPts val="0"/>
              </a:spcBef>
              <a:spcAft>
                <a:spcPts val="200"/>
              </a:spcAft>
            </a:pPr>
            <a:r>
              <a:rPr sz="900" b="0">
                <a:solidFill>
                  <a:srgbClr val="5B6372"/>
                </a:solidFill>
                <a:latin typeface="Arial"/>
              </a:rPr>
              <a:t>only the last N turns kept</a:t>
            </a:r>
          </a:p>
        </p:txBody>
      </p:sp>
      <p:sp>
        <p:nvSpPr>
          <p:cNvPr id="18" name="Rounded Rectangle 17"/>
          <p:cNvSpPr/>
          <p:nvPr/>
        </p:nvSpPr>
        <p:spPr>
          <a:xfrm>
            <a:off x="777240" y="3200400"/>
            <a:ext cx="5170932" cy="219456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Simple (buffer window) memory</a:t>
            </a:r>
          </a:p>
        </p:txBody>
      </p:sp>
      <p:sp>
        <p:nvSpPr>
          <p:cNvPr id="20" name="TextBox 19"/>
          <p:cNvSpPr txBox="1"/>
          <p:nvPr/>
        </p:nvSpPr>
        <p:spPr>
          <a:xfrm>
            <a:off x="978408" y="3749040"/>
            <a:ext cx="4768596" cy="149961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Keeps the last N exchanges of THIS conversation — n8n's default, used in all course agents.</a:t>
            </a:r>
          </a:p>
        </p:txBody>
      </p:sp>
      <p:sp>
        <p:nvSpPr>
          <p:cNvPr id="21" name="Rounded Rectangle 20"/>
          <p:cNvSpPr/>
          <p:nvPr/>
        </p:nvSpPr>
        <p:spPr>
          <a:xfrm>
            <a:off x="6240780" y="3200400"/>
            <a:ext cx="5170932" cy="219456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Session key</a:t>
            </a:r>
          </a:p>
        </p:txBody>
      </p:sp>
      <p:sp>
        <p:nvSpPr>
          <p:cNvPr id="23" name="TextBox 22"/>
          <p:cNvSpPr txBox="1"/>
          <p:nvPr/>
        </p:nvSpPr>
        <p:spPr>
          <a:xfrm>
            <a:off x="6441948" y="3749040"/>
            <a:ext cx="4768596" cy="149961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Memory is per chat ID — two Telegram users never see each other's context.</a:t>
            </a:r>
          </a:p>
        </p:txBody>
      </p:sp>
      <p:sp>
        <p:nvSpPr>
          <p:cNvPr id="24" name="Rounded Rectangle 2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Memory is conversation context — it is NOT long-term knowledge. Facts live in tools and documents (RAG).</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Tools — What the Agent May Do</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Attach tools to the agent's Tool input; the model decides when to call one, based on your description.</a:t>
            </a:r>
          </a:p>
        </p:txBody>
      </p:sp>
      <p:sp>
        <p:nvSpPr>
          <p:cNvPr id="7" name="Rounded Rectangle 6"/>
          <p:cNvSpPr/>
          <p:nvPr/>
        </p:nvSpPr>
        <p:spPr>
          <a:xfrm>
            <a:off x="777240" y="1783080"/>
            <a:ext cx="5170932" cy="15819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Data Table / Sheets tool</a:t>
            </a:r>
          </a:p>
        </p:txBody>
      </p:sp>
      <p:sp>
        <p:nvSpPr>
          <p:cNvPr id="11" name="TextBox 10"/>
          <p:cNvSpPr txBox="1"/>
          <p:nvPr/>
        </p:nvSpPr>
        <p:spPr>
          <a:xfrm>
            <a:off x="97840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Look up structured records — the Employees table in Activity 4b.</a:t>
            </a:r>
          </a:p>
        </p:txBody>
      </p:sp>
      <p:sp>
        <p:nvSpPr>
          <p:cNvPr id="12" name="Rounded Rectangle 11"/>
          <p:cNvSpPr/>
          <p:nvPr/>
        </p:nvSpPr>
        <p:spPr>
          <a:xfrm>
            <a:off x="6240780" y="1783080"/>
            <a:ext cx="5170932" cy="15819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293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Vector Store tool</a:t>
            </a:r>
          </a:p>
        </p:txBody>
      </p:sp>
      <p:sp>
        <p:nvSpPr>
          <p:cNvPr id="16" name="TextBox 15"/>
          <p:cNvSpPr txBox="1"/>
          <p:nvPr/>
        </p:nvSpPr>
        <p:spPr>
          <a:xfrm>
            <a:off x="644194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Retrieve document chunks for grounded answers — the knowledge_base in Activity 7.</a:t>
            </a:r>
          </a:p>
        </p:txBody>
      </p:sp>
      <p:sp>
        <p:nvSpPr>
          <p:cNvPr id="17" name="Rounded Rectangle 16"/>
          <p:cNvSpPr/>
          <p:nvPr/>
        </p:nvSpPr>
        <p:spPr>
          <a:xfrm>
            <a:off x="777240" y="3584448"/>
            <a:ext cx="5170932" cy="15819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73075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HTTP Request tool</a:t>
            </a:r>
          </a:p>
        </p:txBody>
      </p:sp>
      <p:sp>
        <p:nvSpPr>
          <p:cNvPr id="21" name="TextBox 20"/>
          <p:cNvSpPr txBox="1"/>
          <p:nvPr/>
        </p:nvSpPr>
        <p:spPr>
          <a:xfrm>
            <a:off x="97840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Call any external API mid-conversation — prices, weather, CRM.</a:t>
            </a:r>
          </a:p>
        </p:txBody>
      </p:sp>
      <p:sp>
        <p:nvSpPr>
          <p:cNvPr id="22" name="Rounded Rectangle 21"/>
          <p:cNvSpPr/>
          <p:nvPr/>
        </p:nvSpPr>
        <p:spPr>
          <a:xfrm>
            <a:off x="6240780" y="3584448"/>
            <a:ext cx="5170932" cy="15819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73075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Sub-workflow tool</a:t>
            </a:r>
          </a:p>
        </p:txBody>
      </p:sp>
      <p:sp>
        <p:nvSpPr>
          <p:cNvPr id="26" name="TextBox 25"/>
          <p:cNvSpPr txBox="1"/>
          <p:nvPr/>
        </p:nvSpPr>
        <p:spPr>
          <a:xfrm>
            <a:off x="644194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Wrap an entire n8n workflow as one callable tool — your own logic, on demand.</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The tool DESCRIPTION is how the agent knows when to call it — write it for the model, not for a developer.</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Instructions — The Four Parts That Constrain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system message is always in force. Every good agent instruction in this course states four things.</a:t>
            </a:r>
          </a:p>
        </p:txBody>
      </p:sp>
      <p:sp>
        <p:nvSpPr>
          <p:cNvPr id="7" name="Rounded Rectangle 6"/>
          <p:cNvSpPr/>
          <p:nvPr/>
        </p:nvSpPr>
        <p:spPr>
          <a:xfrm>
            <a:off x="777240" y="1783080"/>
            <a:ext cx="5170932" cy="18105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Identity</a:t>
            </a:r>
          </a:p>
        </p:txBody>
      </p:sp>
      <p:sp>
        <p:nvSpPr>
          <p:cNvPr id="11" name="TextBox 10"/>
          <p:cNvSpPr txBox="1"/>
          <p:nvPr/>
        </p:nvSpPr>
        <p:spPr>
          <a:xfrm>
            <a:off x="978408" y="2331720"/>
            <a:ext cx="476859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Who the agent is and what it must never do. 'You are HR Buddy, the HR assistant for staff of Acme Pte Ltd.'</a:t>
            </a:r>
          </a:p>
        </p:txBody>
      </p:sp>
      <p:sp>
        <p:nvSpPr>
          <p:cNvPr id="12" name="Rounded Rectangle 11"/>
          <p:cNvSpPr/>
          <p:nvPr/>
        </p:nvSpPr>
        <p:spPr>
          <a:xfrm>
            <a:off x="6240780" y="1783080"/>
            <a:ext cx="5170932" cy="1810512"/>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29384"/>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Source rules</a:t>
            </a:r>
          </a:p>
        </p:txBody>
      </p:sp>
      <p:sp>
        <p:nvSpPr>
          <p:cNvPr id="16" name="TextBox 15"/>
          <p:cNvSpPr txBox="1"/>
          <p:nvPr/>
        </p:nvSpPr>
        <p:spPr>
          <a:xfrm>
            <a:off x="6441948" y="2331720"/>
            <a:ext cx="476859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Where answers come from. 'Answer ONLY from the Employees tool / the uploaded documents.'</a:t>
            </a:r>
          </a:p>
        </p:txBody>
      </p:sp>
      <p:sp>
        <p:nvSpPr>
          <p:cNvPr id="17" name="Rounded Rectangle 16"/>
          <p:cNvSpPr/>
          <p:nvPr/>
        </p:nvSpPr>
        <p:spPr>
          <a:xfrm>
            <a:off x="777240" y="3813048"/>
            <a:ext cx="5170932" cy="1810512"/>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959352"/>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9684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Refusals</a:t>
            </a:r>
          </a:p>
        </p:txBody>
      </p:sp>
      <p:sp>
        <p:nvSpPr>
          <p:cNvPr id="21" name="TextBox 20"/>
          <p:cNvSpPr txBox="1"/>
          <p:nvPr/>
        </p:nvSpPr>
        <p:spPr>
          <a:xfrm>
            <a:off x="978408" y="4361688"/>
            <a:ext cx="476859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What is out of bounds, stated positively. 'Do not reveal salaries or another person's records.'</a:t>
            </a:r>
          </a:p>
        </p:txBody>
      </p:sp>
      <p:sp>
        <p:nvSpPr>
          <p:cNvPr id="22" name="Rounded Rectangle 21"/>
          <p:cNvSpPr/>
          <p:nvPr/>
        </p:nvSpPr>
        <p:spPr>
          <a:xfrm>
            <a:off x="6240780" y="3813048"/>
            <a:ext cx="5170932" cy="18105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95935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9684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Escalation</a:t>
            </a:r>
          </a:p>
        </p:txBody>
      </p:sp>
      <p:sp>
        <p:nvSpPr>
          <p:cNvPr id="26" name="TextBox 25"/>
          <p:cNvSpPr txBox="1"/>
          <p:nvPr/>
        </p:nvSpPr>
        <p:spPr>
          <a:xfrm>
            <a:off x="6441948" y="4361688"/>
            <a:ext cx="476859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What to do at the boundary. 'If unsure, say so and direct the user to hr@acme.com.'</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Vague instructions produce confident wrong answers — every rule you skip, the model improvises.</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Good vs Bad Instructions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same bot, two system messages — one is testable, one is a hope.</a:t>
            </a:r>
          </a:p>
        </p:txBody>
      </p:sp>
      <p:sp>
        <p:nvSpPr>
          <p:cNvPr id="7" name="Rounded Rectangle 6"/>
          <p:cNvSpPr/>
          <p:nvPr/>
        </p:nvSpPr>
        <p:spPr>
          <a:xfrm>
            <a:off x="777240" y="1828800"/>
            <a:ext cx="5193792" cy="356616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11680"/>
            <a:ext cx="4663440" cy="274320"/>
          </a:xfrm>
          <a:prstGeom prst="rect">
            <a:avLst/>
          </a:prstGeom>
          <a:noFill/>
        </p:spPr>
        <p:txBody>
          <a:bodyPr wrap="square" anchor="t" lIns="0" rIns="0" tIns="0" bIns="0">
            <a:spAutoFit/>
          </a:bodyPr>
          <a:lstStyle/>
          <a:p>
            <a:pPr algn="l">
              <a:spcBef>
                <a:spcPts val="0"/>
              </a:spcBef>
              <a:spcAft>
                <a:spcPts val="400"/>
              </a:spcAft>
            </a:pPr>
            <a:r>
              <a:rPr sz="1250" b="1">
                <a:solidFill>
                  <a:srgbClr val="C62F2F"/>
                </a:solidFill>
                <a:latin typeface="Arial"/>
              </a:rPr>
              <a:t>✗  TOO VAGUE</a:t>
            </a:r>
          </a:p>
        </p:txBody>
      </p:sp>
      <p:sp>
        <p:nvSpPr>
          <p:cNvPr id="9" name="TextBox 8"/>
          <p:cNvSpPr txBox="1"/>
          <p:nvPr/>
        </p:nvSpPr>
        <p:spPr>
          <a:xfrm>
            <a:off x="1051560" y="2377440"/>
            <a:ext cx="4663440" cy="914400"/>
          </a:xfrm>
          <a:prstGeom prst="rect">
            <a:avLst/>
          </a:prstGeom>
          <a:noFill/>
        </p:spPr>
        <p:txBody>
          <a:bodyPr wrap="square" anchor="t" lIns="0" rIns="0" tIns="0" bIns="0">
            <a:spAutoFit/>
          </a:bodyPr>
          <a:lstStyle/>
          <a:p>
            <a:pPr algn="l">
              <a:spcBef>
                <a:spcPts val="0"/>
              </a:spcBef>
              <a:spcAft>
                <a:spcPts val="400"/>
              </a:spcAft>
            </a:pPr>
            <a:r>
              <a:rPr sz="1300" b="0">
                <a:solidFill>
                  <a:srgbClr val="161B26"/>
                </a:solidFill>
                <a:latin typeface="Arial"/>
              </a:rPr>
              <a:t>"You are a helpful assistant. Answer the user's questions politely."</a:t>
            </a:r>
          </a:p>
        </p:txBody>
      </p:sp>
      <p:sp>
        <p:nvSpPr>
          <p:cNvPr id="10" name="TextBox 9"/>
          <p:cNvSpPr txBox="1"/>
          <p:nvPr/>
        </p:nvSpPr>
        <p:spPr>
          <a:xfrm>
            <a:off x="1051560" y="3383280"/>
            <a:ext cx="4663440" cy="1828800"/>
          </a:xfrm>
          <a:prstGeom prst="rect">
            <a:avLst/>
          </a:prstGeom>
          <a:noFill/>
        </p:spPr>
        <p:txBody>
          <a:bodyPr wrap="square" anchor="t" lIns="0" rIns="0" tIns="0" bIns="0">
            <a:spAutoFit/>
          </a:bodyPr>
          <a:lstStyle/>
          <a:p>
            <a:pPr algn="l">
              <a:spcBef>
                <a:spcPts val="0"/>
              </a:spcBef>
              <a:spcAft>
                <a:spcPts val="600"/>
              </a:spcAft>
            </a:pPr>
            <a:r>
              <a:rPr sz="1100" b="0">
                <a:solidFill>
                  <a:srgbClr val="5B6372"/>
                </a:solidFill>
                <a:latin typeface="Arial"/>
              </a:rPr>
              <a:t>No identity · no sources · no refusals · no escalation.</a:t>
            </a:r>
          </a:p>
          <a:p>
            <a:pPr algn="l">
              <a:spcBef>
                <a:spcPts val="0"/>
              </a:spcBef>
              <a:spcAft>
                <a:spcPts val="600"/>
              </a:spcAft>
            </a:pPr>
            <a:r>
              <a:rPr sz="1100" b="0">
                <a:solidFill>
                  <a:srgbClr val="5B6372"/>
                </a:solidFill>
                <a:latin typeface="Arial"/>
              </a:rPr>
              <a:t>It will happily invent leave balances and reveal other people's data — politely.</a:t>
            </a:r>
          </a:p>
        </p:txBody>
      </p:sp>
      <p:sp>
        <p:nvSpPr>
          <p:cNvPr id="11" name="Rounded Rectangle 10"/>
          <p:cNvSpPr/>
          <p:nvPr/>
        </p:nvSpPr>
        <p:spPr>
          <a:xfrm>
            <a:off x="6217920" y="1828800"/>
            <a:ext cx="5193792" cy="356616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011680"/>
            <a:ext cx="4663440" cy="274320"/>
          </a:xfrm>
          <a:prstGeom prst="rect">
            <a:avLst/>
          </a:prstGeom>
          <a:noFill/>
        </p:spPr>
        <p:txBody>
          <a:bodyPr wrap="square" anchor="t" lIns="0" rIns="0" tIns="0" bIns="0">
            <a:spAutoFit/>
          </a:bodyPr>
          <a:lstStyle/>
          <a:p>
            <a:pPr algn="l">
              <a:spcBef>
                <a:spcPts val="0"/>
              </a:spcBef>
              <a:spcAft>
                <a:spcPts val="400"/>
              </a:spcAft>
            </a:pPr>
            <a:r>
              <a:rPr sz="1250" b="1">
                <a:solidFill>
                  <a:srgbClr val="127A3E"/>
                </a:solidFill>
                <a:latin typeface="Arial"/>
              </a:rPr>
              <a:t>✓  CONSTRAINED</a:t>
            </a:r>
          </a:p>
        </p:txBody>
      </p:sp>
      <p:sp>
        <p:nvSpPr>
          <p:cNvPr id="13" name="TextBox 12"/>
          <p:cNvSpPr txBox="1"/>
          <p:nvPr/>
        </p:nvSpPr>
        <p:spPr>
          <a:xfrm>
            <a:off x="6492240" y="2377440"/>
            <a:ext cx="4709160" cy="2926080"/>
          </a:xfrm>
          <a:prstGeom prst="rect">
            <a:avLst/>
          </a:prstGeom>
          <a:noFill/>
        </p:spPr>
        <p:txBody>
          <a:bodyPr wrap="square" anchor="t" lIns="0" rIns="0" tIns="0" bIns="0">
            <a:spAutoFit/>
          </a:bodyPr>
          <a:lstStyle/>
          <a:p>
            <a:pPr algn="l">
              <a:spcBef>
                <a:spcPts val="0"/>
              </a:spcBef>
              <a:spcAft>
                <a:spcPts val="500"/>
              </a:spcAft>
            </a:pPr>
            <a:r>
              <a:rPr sz="1200" b="0">
                <a:solidFill>
                  <a:srgbClr val="161B26"/>
                </a:solidFill>
                <a:latin typeface="Arial"/>
              </a:rPr>
              <a:t>"You are HR Buddy, the HR assistant for Acme staff.</a:t>
            </a:r>
          </a:p>
          <a:p>
            <a:pPr algn="l">
              <a:spcBef>
                <a:spcPts val="0"/>
              </a:spcBef>
              <a:spcAft>
                <a:spcPts val="500"/>
              </a:spcAft>
            </a:pPr>
            <a:r>
              <a:rPr sz="1200" b="0">
                <a:solidFill>
                  <a:srgbClr val="161B26"/>
                </a:solidFill>
                <a:latin typeface="Arial"/>
              </a:rPr>
              <a:t>Answer only questions on leave policy, payroll dates and claims.</a:t>
            </a:r>
          </a:p>
          <a:p>
            <a:pPr algn="l">
              <a:spcBef>
                <a:spcPts val="0"/>
              </a:spcBef>
              <a:spcAft>
                <a:spcPts val="500"/>
              </a:spcAft>
            </a:pPr>
            <a:r>
              <a:rPr sz="1200" b="0">
                <a:solidFill>
                  <a:srgbClr val="161B26"/>
                </a:solidFill>
                <a:latin typeface="Arial"/>
              </a:rPr>
              <a:t>Use the Employees tool for any staff lookup — never answer from general knowledge.</a:t>
            </a:r>
          </a:p>
          <a:p>
            <a:pPr algn="l">
              <a:spcBef>
                <a:spcPts val="0"/>
              </a:spcBef>
              <a:spcAft>
                <a:spcPts val="500"/>
              </a:spcAft>
            </a:pPr>
            <a:r>
              <a:rPr sz="1200" b="0">
                <a:solidFill>
                  <a:srgbClr val="161B26"/>
                </a:solidFill>
                <a:latin typeface="Arial"/>
              </a:rPr>
              <a:t>Never reveal salaries or another employee's personal data.</a:t>
            </a:r>
          </a:p>
          <a:p>
            <a:pPr algn="l">
              <a:spcBef>
                <a:spcPts val="0"/>
              </a:spcBef>
              <a:spcAft>
                <a:spcPts val="500"/>
              </a:spcAft>
            </a:pPr>
            <a:r>
              <a:rPr sz="1200" b="0">
                <a:solidFill>
                  <a:srgbClr val="161B26"/>
                </a:solidFill>
                <a:latin typeface="Arial"/>
              </a:rPr>
              <a:t>If you are not sure, say so and direct the user to hr@acme.com."</a:t>
            </a:r>
          </a:p>
        </p:txBody>
      </p:sp>
      <p:sp>
        <p:nvSpPr>
          <p:cNvPr id="14" name="Rounded Rectangle 1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Identity · source rules · refusals · escalation — you can test each line by trying to break it.</a:t>
            </a:r>
          </a:p>
        </p:txBody>
      </p:sp>
      <p:sp>
        <p:nvSpPr>
          <p:cNvPr id="16" name="TextBox 1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MCP — Model Context Protocol</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An open standard that gives agents a common plug for tools and data — instead of one custom integration per pair.</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AI Agent</a:t>
            </a:r>
          </a:p>
          <a:p>
            <a:pPr algn="ctr">
              <a:spcBef>
                <a:spcPts val="0"/>
              </a:spcBef>
              <a:spcAft>
                <a:spcPts val="200"/>
              </a:spcAft>
            </a:pPr>
            <a:r>
              <a:rPr sz="900" b="0">
                <a:solidFill>
                  <a:srgbClr val="5B6372"/>
                </a:solidFill>
                <a:latin typeface="Arial"/>
              </a:rPr>
              <a:t>any MCP-capable client</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MCP Client</a:t>
            </a:r>
          </a:p>
          <a:p>
            <a:pPr algn="ctr">
              <a:spcBef>
                <a:spcPts val="0"/>
              </a:spcBef>
              <a:spcAft>
                <a:spcPts val="200"/>
              </a:spcAft>
            </a:pPr>
            <a:r>
              <a:rPr sz="900" b="0">
                <a:solidFill>
                  <a:srgbClr val="5B6372"/>
                </a:solidFill>
                <a:latin typeface="Arial"/>
              </a:rPr>
              <a:t>speaks the protocol</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MCP Server</a:t>
            </a:r>
          </a:p>
          <a:p>
            <a:pPr algn="ctr">
              <a:spcBef>
                <a:spcPts val="0"/>
              </a:spcBef>
              <a:spcAft>
                <a:spcPts val="200"/>
              </a:spcAft>
            </a:pPr>
            <a:r>
              <a:rPr sz="900" b="0">
                <a:solidFill>
                  <a:srgbClr val="5B6372"/>
                </a:solidFill>
                <a:latin typeface="Arial"/>
              </a:rPr>
              <a:t>exposes tools + data</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Your Systems</a:t>
            </a:r>
          </a:p>
          <a:p>
            <a:pPr algn="ctr">
              <a:spcBef>
                <a:spcPts val="0"/>
              </a:spcBef>
              <a:spcAft>
                <a:spcPts val="200"/>
              </a:spcAft>
            </a:pPr>
            <a:r>
              <a:rPr sz="900" b="0">
                <a:solidFill>
                  <a:srgbClr val="5B6372"/>
                </a:solidFill>
                <a:latin typeface="Arial"/>
              </a:rPr>
              <a:t>databases, APIs, files</a:t>
            </a:r>
          </a:p>
        </p:txBody>
      </p:sp>
      <p:sp>
        <p:nvSpPr>
          <p:cNvPr id="18" name="Rounded Rectangle 17"/>
          <p:cNvSpPr/>
          <p:nvPr/>
        </p:nvSpPr>
        <p:spPr>
          <a:xfrm>
            <a:off x="777240" y="3200400"/>
            <a:ext cx="5170932" cy="23317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Without MCP</a:t>
            </a:r>
          </a:p>
        </p:txBody>
      </p:sp>
      <p:sp>
        <p:nvSpPr>
          <p:cNvPr id="20" name="TextBox 19"/>
          <p:cNvSpPr txBox="1"/>
          <p:nvPr/>
        </p:nvSpPr>
        <p:spPr>
          <a:xfrm>
            <a:off x="978408" y="3749040"/>
            <a:ext cx="476859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Every agent × every tool needs its own custom integration — N agents and M tools means N × M connectors to build and maintain.</a:t>
            </a:r>
          </a:p>
        </p:txBody>
      </p:sp>
      <p:sp>
        <p:nvSpPr>
          <p:cNvPr id="21" name="Rounded Rectangle 20"/>
          <p:cNvSpPr/>
          <p:nvPr/>
        </p:nvSpPr>
        <p:spPr>
          <a:xfrm>
            <a:off x="6240780" y="3200400"/>
            <a:ext cx="5170932" cy="23317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With MCP</a:t>
            </a:r>
          </a:p>
        </p:txBody>
      </p:sp>
      <p:sp>
        <p:nvSpPr>
          <p:cNvPr id="23" name="TextBox 22"/>
          <p:cNvSpPr txBox="1"/>
          <p:nvPr/>
        </p:nvSpPr>
        <p:spPr>
          <a:xfrm>
            <a:off x="6441948" y="3749040"/>
            <a:ext cx="476859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Build ONE MCP server per system; any MCP-capable agent can use it. N + M pieces, and tools become reusable across agents.</a:t>
            </a:r>
          </a:p>
        </p:txBody>
      </p:sp>
      <p:sp>
        <p:nvSpPr>
          <p:cNvPr id="24" name="Rounded Rectangle 2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MCP is like USB-C for AI tools — one connector, many devices.</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MCP in n8n</a:t>
            </a:r>
          </a:p>
        </p:txBody>
      </p:sp>
      <p:sp>
        <p:nvSpPr>
          <p:cNvPr id="6" name="Rectangle 5"/>
          <p:cNvSpPr/>
          <p:nvPr/>
        </p:nvSpPr>
        <p:spPr>
          <a:xfrm>
            <a:off x="777240" y="1783080"/>
            <a:ext cx="519379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MCP SERVER TRIGGER — n8n serves tools</a:t>
            </a:r>
          </a:p>
        </p:txBody>
      </p:sp>
      <p:sp>
        <p:nvSpPr>
          <p:cNvPr id="8" name="Rectangle 7"/>
          <p:cNvSpPr/>
          <p:nvPr/>
        </p:nvSpPr>
        <p:spPr>
          <a:xfrm>
            <a:off x="777240" y="2240280"/>
            <a:ext cx="5193792" cy="338328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68880"/>
            <a:ext cx="4645152" cy="3017520"/>
          </a:xfrm>
          <a:prstGeom prst="rect">
            <a:avLst/>
          </a:prstGeom>
          <a:noFill/>
        </p:spPr>
        <p:txBody>
          <a:bodyPr wrap="square" lIns="0" rIns="0">
            <a:spAutoFit/>
          </a:bodyPr>
          <a:lstStyle/>
          <a:p>
            <a:pPr>
              <a:spcBef>
                <a:spcPts val="0"/>
              </a:spcBef>
              <a:spcAft>
                <a:spcPts val="900"/>
              </a:spcAft>
            </a:pPr>
            <a:r>
              <a:rPr sz="1350" b="1">
                <a:solidFill>
                  <a:srgbClr val="7C3AED"/>
                </a:solidFill>
                <a:latin typeface="Arial"/>
              </a:rPr>
              <a:t>•  </a:t>
            </a:r>
            <a:r>
              <a:rPr sz="1350">
                <a:solidFill>
                  <a:srgbClr val="161B26"/>
                </a:solidFill>
                <a:latin typeface="Arial"/>
              </a:rPr>
              <a:t>Expose your n8n workflows AS tools over MCP.</a:t>
            </a:r>
          </a:p>
          <a:p>
            <a:pPr>
              <a:spcBef>
                <a:spcPts val="0"/>
              </a:spcBef>
              <a:spcAft>
                <a:spcPts val="900"/>
              </a:spcAft>
            </a:pPr>
            <a:r>
              <a:rPr sz="1350" b="1">
                <a:solidFill>
                  <a:srgbClr val="7C3AED"/>
                </a:solidFill>
                <a:latin typeface="Arial"/>
              </a:rPr>
              <a:t>•  </a:t>
            </a:r>
            <a:r>
              <a:rPr sz="1350">
                <a:solidFill>
                  <a:srgbClr val="161B26"/>
                </a:solidFill>
                <a:latin typeface="Arial"/>
              </a:rPr>
              <a:t>Claude, IDEs or other agents call your flows directly.</a:t>
            </a:r>
          </a:p>
          <a:p>
            <a:pPr>
              <a:spcBef>
                <a:spcPts val="0"/>
              </a:spcBef>
              <a:spcAft>
                <a:spcPts val="900"/>
              </a:spcAft>
            </a:pPr>
            <a:r>
              <a:rPr sz="1350" b="1">
                <a:solidFill>
                  <a:srgbClr val="7C3AED"/>
                </a:solidFill>
                <a:latin typeface="Arial"/>
              </a:rPr>
              <a:t>•  </a:t>
            </a:r>
            <a:r>
              <a:rPr sz="1350">
                <a:solidFill>
                  <a:srgbClr val="161B26"/>
                </a:solidFill>
                <a:latin typeface="Arial"/>
              </a:rPr>
              <a:t>n8n becomes the tool layer for any MCP client.</a:t>
            </a:r>
          </a:p>
          <a:p>
            <a:pPr>
              <a:spcBef>
                <a:spcPts val="0"/>
              </a:spcBef>
              <a:spcAft>
                <a:spcPts val="900"/>
              </a:spcAft>
            </a:pPr>
            <a:r>
              <a:rPr sz="1350" b="1">
                <a:solidFill>
                  <a:srgbClr val="7C3AED"/>
                </a:solidFill>
                <a:latin typeface="Arial"/>
              </a:rPr>
              <a:t>•  </a:t>
            </a:r>
            <a:r>
              <a:rPr sz="1350">
                <a:solidFill>
                  <a:srgbClr val="161B26"/>
                </a:solidFill>
                <a:latin typeface="Arial"/>
              </a:rPr>
              <a:t>Auth via bearer token on the server URL.</a:t>
            </a:r>
          </a:p>
        </p:txBody>
      </p:sp>
      <p:sp>
        <p:nvSpPr>
          <p:cNvPr id="10" name="Rectangle 9"/>
          <p:cNvSpPr/>
          <p:nvPr/>
        </p:nvSpPr>
        <p:spPr>
          <a:xfrm>
            <a:off x="6217920" y="1783080"/>
            <a:ext cx="51937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MCP CLIENT TOOL — n8n consumes tools</a:t>
            </a:r>
          </a:p>
        </p:txBody>
      </p:sp>
      <p:sp>
        <p:nvSpPr>
          <p:cNvPr id="12" name="Rectangle 11"/>
          <p:cNvSpPr/>
          <p:nvPr/>
        </p:nvSpPr>
        <p:spPr>
          <a:xfrm>
            <a:off x="6217920" y="2240280"/>
            <a:ext cx="5193792" cy="338328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468880"/>
            <a:ext cx="4645152" cy="3017520"/>
          </a:xfrm>
          <a:prstGeom prst="rect">
            <a:avLst/>
          </a:prstGeom>
          <a:noFill/>
        </p:spPr>
        <p:txBody>
          <a:bodyPr wrap="square" lIns="0" rIns="0">
            <a:spAutoFit/>
          </a:bodyPr>
          <a:lstStyle/>
          <a:p>
            <a:pPr>
              <a:spcBef>
                <a:spcPts val="0"/>
              </a:spcBef>
              <a:spcAft>
                <a:spcPts val="900"/>
              </a:spcAft>
            </a:pPr>
            <a:r>
              <a:rPr sz="1350" b="1">
                <a:solidFill>
                  <a:srgbClr val="1F6FEB"/>
                </a:solidFill>
                <a:latin typeface="Arial"/>
              </a:rPr>
              <a:t>•  </a:t>
            </a:r>
            <a:r>
              <a:rPr sz="1350">
                <a:solidFill>
                  <a:srgbClr val="161B26"/>
                </a:solidFill>
                <a:latin typeface="Arial"/>
              </a:rPr>
              <a:t>Attach external MCP servers to your n8n AI Agent.</a:t>
            </a:r>
          </a:p>
          <a:p>
            <a:pPr>
              <a:spcBef>
                <a:spcPts val="0"/>
              </a:spcBef>
              <a:spcAft>
                <a:spcPts val="900"/>
              </a:spcAft>
            </a:pPr>
            <a:r>
              <a:rPr sz="1350" b="1">
                <a:solidFill>
                  <a:srgbClr val="1F6FEB"/>
                </a:solidFill>
                <a:latin typeface="Arial"/>
              </a:rPr>
              <a:t>•  </a:t>
            </a:r>
            <a:r>
              <a:rPr sz="1350">
                <a:solidFill>
                  <a:srgbClr val="161B26"/>
                </a:solidFill>
                <a:latin typeface="Arial"/>
              </a:rPr>
              <a:t>The agent gains their tools without custom nodes.</a:t>
            </a:r>
          </a:p>
          <a:p>
            <a:pPr>
              <a:spcBef>
                <a:spcPts val="0"/>
              </a:spcBef>
              <a:spcAft>
                <a:spcPts val="900"/>
              </a:spcAft>
            </a:pPr>
            <a:r>
              <a:rPr sz="1350" b="1">
                <a:solidFill>
                  <a:srgbClr val="1F6FEB"/>
                </a:solidFill>
                <a:latin typeface="Arial"/>
              </a:rPr>
              <a:t>•  </a:t>
            </a:r>
            <a:r>
              <a:rPr sz="1350">
                <a:solidFill>
                  <a:srgbClr val="161B26"/>
                </a:solidFill>
                <a:latin typeface="Arial"/>
              </a:rPr>
              <a:t>Mix MCP tools with native n8n tools freely.</a:t>
            </a:r>
          </a:p>
          <a:p>
            <a:pPr>
              <a:spcBef>
                <a:spcPts val="0"/>
              </a:spcBef>
              <a:spcAft>
                <a:spcPts val="900"/>
              </a:spcAft>
            </a:pPr>
            <a:r>
              <a:rPr sz="1350" b="1">
                <a:solidFill>
                  <a:srgbClr val="1F6FEB"/>
                </a:solidFill>
                <a:latin typeface="Arial"/>
              </a:rPr>
              <a:t>•  </a:t>
            </a:r>
            <a:r>
              <a:rPr sz="1350">
                <a:solidFill>
                  <a:srgbClr val="161B26"/>
                </a:solidFill>
                <a:latin typeface="Arial"/>
              </a:rPr>
              <a:t>Same agent loop — more reach.</a:t>
            </a:r>
          </a:p>
        </p:txBody>
      </p:sp>
      <p:sp>
        <p:nvSpPr>
          <p:cNvPr id="14" name="Rounded Rectangle 1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Two directions, one protocol: n8n can serve tools to other agents, and borrow tools for its own.</a:t>
            </a:r>
          </a:p>
        </p:txBody>
      </p:sp>
      <p:sp>
        <p:nvSpPr>
          <p:cNvPr id="16" name="TextBox 1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TOPIC 2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4a — Telegram AI Agent (Customer Service)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Your first agent: a customer-service bot on Telegram — model + memory + a system instruction.</a:t>
            </a:r>
          </a:p>
        </p:txBody>
      </p:sp>
      <p:sp>
        <p:nvSpPr>
          <p:cNvPr id="7" name="Rounded Rectangle 6"/>
          <p:cNvSpPr/>
          <p:nvPr/>
        </p:nvSpPr>
        <p:spPr>
          <a:xfrm>
            <a:off x="777240" y="1810512"/>
            <a:ext cx="3337560" cy="74980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Trigger</a:t>
            </a:r>
          </a:p>
          <a:p>
            <a:pPr algn="ctr">
              <a:spcBef>
                <a:spcPts val="0"/>
              </a:spcBef>
              <a:spcAft>
                <a:spcPts val="200"/>
              </a:spcAft>
            </a:pPr>
            <a:r>
              <a:rPr sz="850" b="0">
                <a:solidFill>
                  <a:srgbClr val="5B6372"/>
                </a:solidFill>
                <a:latin typeface="Arial"/>
              </a:rPr>
              <a:t>each message to your bot</a:t>
            </a:r>
          </a:p>
        </p:txBody>
      </p:sp>
      <p:sp>
        <p:nvSpPr>
          <p:cNvPr id="9" name="TextBox 8"/>
          <p:cNvSpPr txBox="1"/>
          <p:nvPr/>
        </p:nvSpPr>
        <p:spPr>
          <a:xfrm>
            <a:off x="408736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0" name="Rounded Rectangle 9"/>
          <p:cNvSpPr/>
          <p:nvPr/>
        </p:nvSpPr>
        <p:spPr>
          <a:xfrm>
            <a:off x="4425696" y="1810512"/>
            <a:ext cx="3337560" cy="74980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Agent</a:t>
            </a:r>
          </a:p>
          <a:p>
            <a:pPr algn="ctr">
              <a:spcBef>
                <a:spcPts val="0"/>
              </a:spcBef>
              <a:spcAft>
                <a:spcPts val="200"/>
              </a:spcAft>
            </a:pPr>
            <a:r>
              <a:rPr sz="850" b="0">
                <a:solidFill>
                  <a:srgbClr val="5B6372"/>
                </a:solidFill>
                <a:latin typeface="Arial"/>
              </a:rPr>
              <a:t>gpt-4.1-mini + window memory + instruction</a:t>
            </a:r>
          </a:p>
        </p:txBody>
      </p:sp>
      <p:sp>
        <p:nvSpPr>
          <p:cNvPr id="12" name="TextBox 11"/>
          <p:cNvSpPr txBox="1"/>
          <p:nvPr/>
        </p:nvSpPr>
        <p:spPr>
          <a:xfrm>
            <a:off x="773582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3" name="Rounded Rectangle 12"/>
          <p:cNvSpPr/>
          <p:nvPr/>
        </p:nvSpPr>
        <p:spPr>
          <a:xfrm>
            <a:off x="8074152" y="1810512"/>
            <a:ext cx="3337560" cy="74980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 Send</a:t>
            </a:r>
          </a:p>
          <a:p>
            <a:pPr algn="ctr">
              <a:spcBef>
                <a:spcPts val="0"/>
              </a:spcBef>
              <a:spcAft>
                <a:spcPts val="200"/>
              </a:spcAft>
            </a:pPr>
            <a:r>
              <a:rPr sz="850" b="0">
                <a:solidFill>
                  <a:srgbClr val="5B6372"/>
                </a:solidFill>
                <a:latin typeface="Arial"/>
              </a:rPr>
              <a:t>reply lands in the chat</a:t>
            </a:r>
          </a:p>
        </p:txBody>
      </p:sp>
      <p:pic>
        <p:nvPicPr>
          <p:cNvPr id="15" name="Picture 14" descr="Activity4a-Telegram-Agent.png"/>
          <p:cNvPicPr>
            <a:picLocks noChangeAspect="1"/>
          </p:cNvPicPr>
          <p:nvPr/>
        </p:nvPicPr>
        <p:blipFill>
          <a:blip r:embed="rId2"/>
          <a:stretch>
            <a:fillRect/>
          </a:stretch>
        </p:blipFill>
        <p:spPr>
          <a:xfrm>
            <a:off x="2645105" y="2761488"/>
            <a:ext cx="6871309" cy="2816352"/>
          </a:xfrm>
          <a:prstGeom prst="rect">
            <a:avLst/>
          </a:prstGeom>
        </p:spPr>
      </p:pic>
      <p:sp>
        <p:nvSpPr>
          <p:cNvPr id="16" name="Rectangle 15"/>
          <p:cNvSpPr/>
          <p:nvPr/>
        </p:nvSpPr>
        <p:spPr>
          <a:xfrm>
            <a:off x="2632405" y="2748788"/>
            <a:ext cx="6896709"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5687568"/>
            <a:ext cx="10634472" cy="56692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 y="5806440"/>
            <a:ext cx="960120" cy="3291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4a</a:t>
            </a:r>
          </a:p>
        </p:txBody>
      </p:sp>
      <p:sp>
        <p:nvSpPr>
          <p:cNvPr id="20" name="TextBox 19"/>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Telegram AI Agent (Customer Service)</a:t>
            </a:r>
          </a:p>
        </p:txBody>
      </p:sp>
      <p:sp>
        <p:nvSpPr>
          <p:cNvPr id="21" name="TextBox 20"/>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Telegram bot via @BotFather  ·  OpenAI + Telegram credentials  ·  steps in the Learner Guide</a:t>
            </a:r>
          </a:p>
        </p:txBody>
      </p:sp>
      <p:sp>
        <p:nvSpPr>
          <p:cNvPr id="22" name="TextBox 2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3" name="TextBox 2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4" name="TextBox 2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TOPIC 2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4b — Agent + Data Table Tool (HR Admin)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Give the same agent a tool: an Employees Data Table (100 records) it can query — answers now come from real data.</a:t>
            </a:r>
          </a:p>
        </p:txBody>
      </p:sp>
      <p:sp>
        <p:nvSpPr>
          <p:cNvPr id="7" name="Rounded Rectangle 6"/>
          <p:cNvSpPr/>
          <p:nvPr/>
        </p:nvSpPr>
        <p:spPr>
          <a:xfrm>
            <a:off x="777240" y="1810512"/>
            <a:ext cx="3337560" cy="74980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Trigger</a:t>
            </a:r>
          </a:p>
          <a:p>
            <a:pPr algn="ctr">
              <a:spcBef>
                <a:spcPts val="0"/>
              </a:spcBef>
              <a:spcAft>
                <a:spcPts val="200"/>
              </a:spcAft>
            </a:pPr>
            <a:r>
              <a:rPr sz="850" b="0">
                <a:solidFill>
                  <a:srgbClr val="5B6372"/>
                </a:solidFill>
                <a:latin typeface="Arial"/>
              </a:rPr>
              <a:t>same bot</a:t>
            </a:r>
          </a:p>
        </p:txBody>
      </p:sp>
      <p:sp>
        <p:nvSpPr>
          <p:cNvPr id="9" name="TextBox 8"/>
          <p:cNvSpPr txBox="1"/>
          <p:nvPr/>
        </p:nvSpPr>
        <p:spPr>
          <a:xfrm>
            <a:off x="408736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0" name="Rounded Rectangle 9"/>
          <p:cNvSpPr/>
          <p:nvPr/>
        </p:nvSpPr>
        <p:spPr>
          <a:xfrm>
            <a:off x="4425696" y="1810512"/>
            <a:ext cx="3337560" cy="74980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Agent</a:t>
            </a:r>
          </a:p>
          <a:p>
            <a:pPr algn="ctr">
              <a:spcBef>
                <a:spcPts val="0"/>
              </a:spcBef>
              <a:spcAft>
                <a:spcPts val="200"/>
              </a:spcAft>
            </a:pPr>
            <a:r>
              <a:rPr sz="850" b="0">
                <a:solidFill>
                  <a:srgbClr val="5B6372"/>
                </a:solidFill>
                <a:latin typeface="Arial"/>
              </a:rPr>
              <a:t>+ Employees Data Table tool</a:t>
            </a:r>
          </a:p>
        </p:txBody>
      </p:sp>
      <p:sp>
        <p:nvSpPr>
          <p:cNvPr id="12" name="TextBox 11"/>
          <p:cNvSpPr txBox="1"/>
          <p:nvPr/>
        </p:nvSpPr>
        <p:spPr>
          <a:xfrm>
            <a:off x="773582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3" name="Rounded Rectangle 12"/>
          <p:cNvSpPr/>
          <p:nvPr/>
        </p:nvSpPr>
        <p:spPr>
          <a:xfrm>
            <a:off x="8074152" y="1810512"/>
            <a:ext cx="3337560" cy="74980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 Send</a:t>
            </a:r>
          </a:p>
          <a:p>
            <a:pPr algn="ctr">
              <a:spcBef>
                <a:spcPts val="0"/>
              </a:spcBef>
              <a:spcAft>
                <a:spcPts val="200"/>
              </a:spcAft>
            </a:pPr>
            <a:r>
              <a:rPr sz="850" b="0">
                <a:solidFill>
                  <a:srgbClr val="5B6372"/>
                </a:solidFill>
                <a:latin typeface="Arial"/>
              </a:rPr>
              <a:t>answers grounded in the table</a:t>
            </a:r>
          </a:p>
        </p:txBody>
      </p:sp>
      <p:pic>
        <p:nvPicPr>
          <p:cNvPr id="15" name="Picture 14" descr="Activity4b-Telegram-Data-Table.png"/>
          <p:cNvPicPr>
            <a:picLocks noChangeAspect="1"/>
          </p:cNvPicPr>
          <p:nvPr/>
        </p:nvPicPr>
        <p:blipFill>
          <a:blip r:embed="rId2"/>
          <a:stretch>
            <a:fillRect/>
          </a:stretch>
        </p:blipFill>
        <p:spPr>
          <a:xfrm>
            <a:off x="2783222" y="2761488"/>
            <a:ext cx="6595076" cy="2816352"/>
          </a:xfrm>
          <a:prstGeom prst="rect">
            <a:avLst/>
          </a:prstGeom>
        </p:spPr>
      </p:pic>
      <p:sp>
        <p:nvSpPr>
          <p:cNvPr id="16" name="Rectangle 15"/>
          <p:cNvSpPr/>
          <p:nvPr/>
        </p:nvSpPr>
        <p:spPr>
          <a:xfrm>
            <a:off x="2770522" y="2748788"/>
            <a:ext cx="6620476"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5687568"/>
            <a:ext cx="10634472" cy="56692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 y="5806440"/>
            <a:ext cx="960120" cy="3291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4b</a:t>
            </a:r>
          </a:p>
        </p:txBody>
      </p:sp>
      <p:sp>
        <p:nvSpPr>
          <p:cNvPr id="20" name="TextBox 19"/>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Agent + Data Table Tool (HR Admin)</a:t>
            </a:r>
          </a:p>
        </p:txBody>
      </p:sp>
      <p:sp>
        <p:nvSpPr>
          <p:cNvPr id="21" name="TextBox 20"/>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Tool description tells the agent WHEN to use it  ·  instruction updated to route staff questions  ·  steps in the Learner Guide</a:t>
            </a:r>
          </a:p>
        </p:txBody>
      </p:sp>
      <p:sp>
        <p:nvSpPr>
          <p:cNvPr id="22" name="TextBox 2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3" name="TextBox 2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4" name="TextBox 2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End of Day 1 — Recap</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built form automations, conditional logic and storage (Data Table → Google Sheets).</a:t>
            </a:r>
          </a:p>
          <a:p>
            <a:pPr>
              <a:spcBef>
                <a:spcPts val="0"/>
              </a:spcBef>
              <a:spcAft>
                <a:spcPts val="1000"/>
              </a:spcAft>
            </a:pPr>
            <a:r>
              <a:rPr sz="2000" b="1">
                <a:solidFill>
                  <a:srgbClr val="1F6FEB"/>
                </a:solidFill>
                <a:latin typeface="Arial"/>
              </a:rPr>
              <a:t>•  </a:t>
            </a:r>
            <a:r>
              <a:rPr sz="2000">
                <a:solidFill>
                  <a:srgbClr val="161B26"/>
                </a:solidFill>
                <a:latin typeface="Arial"/>
              </a:rPr>
              <a:t>You met the agent's four parts — model, memory, tools, instructions — and MCP.</a:t>
            </a:r>
          </a:p>
          <a:p>
            <a:pPr>
              <a:spcBef>
                <a:spcPts val="0"/>
              </a:spcBef>
              <a:spcAft>
                <a:spcPts val="1000"/>
              </a:spcAft>
            </a:pPr>
            <a:r>
              <a:rPr sz="2000" b="1">
                <a:solidFill>
                  <a:srgbClr val="1F6FEB"/>
                </a:solidFill>
                <a:latin typeface="Arial"/>
              </a:rPr>
              <a:t>•  </a:t>
            </a:r>
            <a:r>
              <a:rPr sz="2000">
                <a:solidFill>
                  <a:srgbClr val="161B26"/>
                </a:solidFill>
                <a:latin typeface="Arial"/>
              </a:rPr>
              <a:t>You shipped a Telegram AI agent, then grounded it in an Employees table.</a:t>
            </a:r>
          </a:p>
          <a:p>
            <a:pPr>
              <a:spcBef>
                <a:spcPts val="0"/>
              </a:spcBef>
              <a:spcAft>
                <a:spcPts val="1000"/>
              </a:spcAft>
            </a:pPr>
            <a:r>
              <a:rPr sz="2000" b="1">
                <a:solidFill>
                  <a:srgbClr val="1F6FEB"/>
                </a:solidFill>
                <a:latin typeface="Arial"/>
              </a:rPr>
              <a:t>•  </a:t>
            </a:r>
            <a:r>
              <a:rPr sz="2000">
                <a:solidFill>
                  <a:srgbClr val="161B26"/>
                </a:solidFill>
                <a:latin typeface="Arial"/>
              </a:rPr>
              <a:t>Tomorrow: webhooks, external APIs, and RAG.</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10B981"/>
                </a:solidFill>
                <a:latin typeface="Arial"/>
              </a:rPr>
              <a:t>TOPIC 3</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Webhooks</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The inbound URL · GET vs POST · Test vs Production URL · responding to the caller</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10B981"/>
                </a:solidFill>
                <a:latin typeface="Arial"/>
              </a:rPr>
              <a:t>Applied in Activity 5</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03</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What Is a Webhook?</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 URL your workflow listens on. When the outside world calls it, your workflow runs — the reverse of you calling an API.</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Event happens</a:t>
            </a:r>
          </a:p>
          <a:p>
            <a:pPr algn="ctr">
              <a:spcBef>
                <a:spcPts val="0"/>
              </a:spcBef>
              <a:spcAft>
                <a:spcPts val="200"/>
              </a:spcAft>
            </a:pPr>
            <a:r>
              <a:rPr sz="900" b="0">
                <a:solidFill>
                  <a:srgbClr val="5B6372"/>
                </a:solidFill>
                <a:latin typeface="Arial"/>
              </a:rPr>
              <a:t>visitor sends a chat message</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HTTP request to your URL</a:t>
            </a:r>
          </a:p>
          <a:p>
            <a:pPr algn="ctr">
              <a:spcBef>
                <a:spcPts val="0"/>
              </a:spcBef>
              <a:spcAft>
                <a:spcPts val="200"/>
              </a:spcAft>
            </a:pPr>
            <a:r>
              <a:rPr sz="900" b="0">
                <a:solidFill>
                  <a:srgbClr val="5B6372"/>
                </a:solidFill>
                <a:latin typeface="Arial"/>
              </a:rPr>
              <a:t>the website POSTs JSON</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Workflow runs</a:t>
            </a:r>
          </a:p>
          <a:p>
            <a:pPr algn="ctr">
              <a:spcBef>
                <a:spcPts val="0"/>
              </a:spcBef>
              <a:spcAft>
                <a:spcPts val="200"/>
              </a:spcAft>
            </a:pPr>
            <a:r>
              <a:rPr sz="900" b="0">
                <a:solidFill>
                  <a:srgbClr val="5B6372"/>
                </a:solidFill>
                <a:latin typeface="Arial"/>
              </a:rPr>
              <a:t>n8n receives the data as input</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Respond to Webhook</a:t>
            </a:r>
          </a:p>
          <a:p>
            <a:pPr algn="ctr">
              <a:spcBef>
                <a:spcPts val="0"/>
              </a:spcBef>
              <a:spcAft>
                <a:spcPts val="200"/>
              </a:spcAft>
            </a:pPr>
            <a:r>
              <a:rPr sz="900" b="0">
                <a:solidFill>
                  <a:srgbClr val="5B6372"/>
                </a:solidFill>
                <a:latin typeface="Arial"/>
              </a:rPr>
              <a:t>your reply returns to the caller</a:t>
            </a:r>
          </a:p>
        </p:txBody>
      </p:sp>
      <p:sp>
        <p:nvSpPr>
          <p:cNvPr id="18" name="Rounded Rectangle 17"/>
          <p:cNvSpPr/>
          <p:nvPr/>
        </p:nvSpPr>
        <p:spPr>
          <a:xfrm>
            <a:off x="777240" y="3200400"/>
            <a:ext cx="3349752" cy="23317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34670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1" name="TextBox 20"/>
          <p:cNvSpPr txBox="1"/>
          <p:nvPr/>
        </p:nvSpPr>
        <p:spPr>
          <a:xfrm>
            <a:off x="139903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Push, not pull</a:t>
            </a:r>
          </a:p>
        </p:txBody>
      </p:sp>
      <p:sp>
        <p:nvSpPr>
          <p:cNvPr id="22" name="TextBox 21"/>
          <p:cNvSpPr txBox="1"/>
          <p:nvPr/>
        </p:nvSpPr>
        <p:spPr>
          <a:xfrm>
            <a:off x="97840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No polling, no schedule — the caller notifies you the moment something happens.</a:t>
            </a:r>
          </a:p>
        </p:txBody>
      </p:sp>
      <p:sp>
        <p:nvSpPr>
          <p:cNvPr id="23" name="Rounded Rectangle 22"/>
          <p:cNvSpPr/>
          <p:nvPr/>
        </p:nvSpPr>
        <p:spPr>
          <a:xfrm>
            <a:off x="4419600" y="3200400"/>
            <a:ext cx="3349752" cy="23317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02480" y="334670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0248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26" name="TextBox 25"/>
          <p:cNvSpPr txBox="1"/>
          <p:nvPr/>
        </p:nvSpPr>
        <p:spPr>
          <a:xfrm>
            <a:off x="504139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Any caller</a:t>
            </a:r>
          </a:p>
        </p:txBody>
      </p:sp>
      <p:sp>
        <p:nvSpPr>
          <p:cNvPr id="27" name="TextBox 26"/>
          <p:cNvSpPr txBox="1"/>
          <p:nvPr/>
        </p:nvSpPr>
        <p:spPr>
          <a:xfrm>
            <a:off x="462076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Websites, payment providers, forms, apps — anything that can send an HTTP request.</a:t>
            </a:r>
          </a:p>
        </p:txBody>
      </p:sp>
      <p:sp>
        <p:nvSpPr>
          <p:cNvPr id="28" name="Rounded Rectangle 27"/>
          <p:cNvSpPr/>
          <p:nvPr/>
        </p:nvSpPr>
        <p:spPr>
          <a:xfrm>
            <a:off x="8061960" y="3200400"/>
            <a:ext cx="3349752" cy="23317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44840" y="334670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484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31" name="TextBox 30"/>
          <p:cNvSpPr txBox="1"/>
          <p:nvPr/>
        </p:nvSpPr>
        <p:spPr>
          <a:xfrm>
            <a:off x="868375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Paired node</a:t>
            </a:r>
          </a:p>
        </p:txBody>
      </p:sp>
      <p:sp>
        <p:nvSpPr>
          <p:cNvPr id="32" name="TextBox 31"/>
          <p:cNvSpPr txBox="1"/>
          <p:nvPr/>
        </p:nvSpPr>
        <p:spPr>
          <a:xfrm>
            <a:off x="826312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Webhook starts the flow; Respond to Webhook sends the answer back on the same connection.</a:t>
            </a:r>
          </a:p>
        </p:txBody>
      </p:sp>
      <p:sp>
        <p:nvSpPr>
          <p:cNvPr id="33" name="Rounded Rectangle 3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 webhook is the reverse of an API call — the outside world calls YOU when an event happens.</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Webhook Nodes in n8n</a:t>
            </a:r>
          </a:p>
        </p:txBody>
      </p:sp>
      <p:pic>
        <p:nvPicPr>
          <p:cNvPr id="6" name="Picture 5" descr="n8n-webhook.png"/>
          <p:cNvPicPr>
            <a:picLocks noChangeAspect="1"/>
          </p:cNvPicPr>
          <p:nvPr/>
        </p:nvPicPr>
        <p:blipFill>
          <a:blip r:embed="rId2"/>
          <a:stretch>
            <a:fillRect/>
          </a:stretch>
        </p:blipFill>
        <p:spPr>
          <a:xfrm>
            <a:off x="1620103" y="1737360"/>
            <a:ext cx="8921314" cy="4160520"/>
          </a:xfrm>
          <a:prstGeom prst="rect">
            <a:avLst/>
          </a:prstGeom>
        </p:spPr>
      </p:pic>
      <p:sp>
        <p:nvSpPr>
          <p:cNvPr id="7" name="Rectangle 6"/>
          <p:cNvSpPr/>
          <p:nvPr/>
        </p:nvSpPr>
        <p:spPr>
          <a:xfrm>
            <a:off x="1607403" y="1724660"/>
            <a:ext cx="8946714" cy="41859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Webhook node starts the workflow when called · Respond to Webhook node returns data to the caller</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Webhook vs HTTP Request — Direction of the Call</a:t>
            </a:r>
          </a:p>
        </p:txBody>
      </p:sp>
      <p:sp>
        <p:nvSpPr>
          <p:cNvPr id="6" name="Rectangle 5"/>
          <p:cNvSpPr/>
          <p:nvPr/>
        </p:nvSpPr>
        <p:spPr>
          <a:xfrm>
            <a:off x="777240" y="1783080"/>
            <a:ext cx="519379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WEBHOOK — inbound</a:t>
            </a:r>
          </a:p>
        </p:txBody>
      </p:sp>
      <p:sp>
        <p:nvSpPr>
          <p:cNvPr id="8" name="Rectangle 7"/>
          <p:cNvSpPr/>
          <p:nvPr/>
        </p:nvSpPr>
        <p:spPr>
          <a:xfrm>
            <a:off x="777240" y="2240280"/>
            <a:ext cx="5193792" cy="3383280"/>
          </a:xfrm>
          <a:prstGeom prst="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68880"/>
            <a:ext cx="4645152" cy="3017520"/>
          </a:xfrm>
          <a:prstGeom prst="rect">
            <a:avLst/>
          </a:prstGeom>
          <a:noFill/>
        </p:spPr>
        <p:txBody>
          <a:bodyPr wrap="square" lIns="0" rIns="0">
            <a:spAutoFit/>
          </a:bodyPr>
          <a:lstStyle/>
          <a:p>
            <a:pPr>
              <a:spcBef>
                <a:spcPts val="0"/>
              </a:spcBef>
              <a:spcAft>
                <a:spcPts val="900"/>
              </a:spcAft>
            </a:pPr>
            <a:r>
              <a:rPr sz="1350" b="1">
                <a:solidFill>
                  <a:srgbClr val="10B981"/>
                </a:solidFill>
                <a:latin typeface="Arial"/>
              </a:rPr>
              <a:t>•  </a:t>
            </a:r>
            <a:r>
              <a:rPr sz="1350">
                <a:solidFill>
                  <a:srgbClr val="161B26"/>
                </a:solidFill>
                <a:latin typeface="Arial"/>
              </a:rPr>
              <a:t>An external service calls YOUR workflow.</a:t>
            </a:r>
          </a:p>
          <a:p>
            <a:pPr>
              <a:spcBef>
                <a:spcPts val="0"/>
              </a:spcBef>
              <a:spcAft>
                <a:spcPts val="900"/>
              </a:spcAft>
            </a:pPr>
            <a:r>
              <a:rPr sz="1350" b="1">
                <a:solidFill>
                  <a:srgbClr val="10B981"/>
                </a:solidFill>
                <a:latin typeface="Arial"/>
              </a:rPr>
              <a:t>•  </a:t>
            </a:r>
            <a:r>
              <a:rPr sz="1350">
                <a:solidFill>
                  <a:srgbClr val="161B26"/>
                </a:solidFill>
                <a:latin typeface="Arial"/>
              </a:rPr>
              <a:t>You react the moment an event happens.</a:t>
            </a:r>
          </a:p>
          <a:p>
            <a:pPr>
              <a:spcBef>
                <a:spcPts val="0"/>
              </a:spcBef>
              <a:spcAft>
                <a:spcPts val="900"/>
              </a:spcAft>
            </a:pPr>
            <a:r>
              <a:rPr sz="1350" b="1">
                <a:solidFill>
                  <a:srgbClr val="10B981"/>
                </a:solidFill>
                <a:latin typeface="Arial"/>
              </a:rPr>
              <a:t>•  </a:t>
            </a:r>
            <a:r>
              <a:rPr sz="1350">
                <a:solidFill>
                  <a:srgbClr val="161B26"/>
                </a:solidFill>
                <a:latin typeface="Arial"/>
              </a:rPr>
              <a:t>The trigger of the flow.</a:t>
            </a:r>
          </a:p>
          <a:p>
            <a:pPr>
              <a:spcBef>
                <a:spcPts val="0"/>
              </a:spcBef>
              <a:spcAft>
                <a:spcPts val="900"/>
              </a:spcAft>
            </a:pPr>
            <a:r>
              <a:rPr sz="1350" b="1">
                <a:solidFill>
                  <a:srgbClr val="10B981"/>
                </a:solidFill>
                <a:latin typeface="Arial"/>
              </a:rPr>
              <a:t>•  </a:t>
            </a:r>
            <a:r>
              <a:rPr sz="1350">
                <a:solidFill>
                  <a:srgbClr val="161B26"/>
                </a:solidFill>
                <a:latin typeface="Arial"/>
              </a:rPr>
              <a:t>Activity 5: the website calls your agent.</a:t>
            </a:r>
          </a:p>
        </p:txBody>
      </p:sp>
      <p:sp>
        <p:nvSpPr>
          <p:cNvPr id="10" name="Rectangle 9"/>
          <p:cNvSpPr/>
          <p:nvPr/>
        </p:nvSpPr>
        <p:spPr>
          <a:xfrm>
            <a:off x="6217920" y="1783080"/>
            <a:ext cx="51937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HTTP REQUEST — outbound</a:t>
            </a:r>
          </a:p>
        </p:txBody>
      </p:sp>
      <p:sp>
        <p:nvSpPr>
          <p:cNvPr id="12" name="Rectangle 11"/>
          <p:cNvSpPr/>
          <p:nvPr/>
        </p:nvSpPr>
        <p:spPr>
          <a:xfrm>
            <a:off x="6217920" y="2240280"/>
            <a:ext cx="5193792" cy="338328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468880"/>
            <a:ext cx="4645152" cy="3017520"/>
          </a:xfrm>
          <a:prstGeom prst="rect">
            <a:avLst/>
          </a:prstGeom>
          <a:noFill/>
        </p:spPr>
        <p:txBody>
          <a:bodyPr wrap="square" lIns="0" rIns="0">
            <a:spAutoFit/>
          </a:bodyPr>
          <a:lstStyle/>
          <a:p>
            <a:pPr>
              <a:spcBef>
                <a:spcPts val="0"/>
              </a:spcBef>
              <a:spcAft>
                <a:spcPts val="900"/>
              </a:spcAft>
            </a:pPr>
            <a:r>
              <a:rPr sz="1350" b="1">
                <a:solidFill>
                  <a:srgbClr val="1F6FEB"/>
                </a:solidFill>
                <a:latin typeface="Arial"/>
              </a:rPr>
              <a:t>•  </a:t>
            </a:r>
            <a:r>
              <a:rPr sz="1350">
                <a:solidFill>
                  <a:srgbClr val="161B26"/>
                </a:solidFill>
                <a:latin typeface="Arial"/>
              </a:rPr>
              <a:t>YOUR workflow calls an external service.</a:t>
            </a:r>
          </a:p>
          <a:p>
            <a:pPr>
              <a:spcBef>
                <a:spcPts val="0"/>
              </a:spcBef>
              <a:spcAft>
                <a:spcPts val="900"/>
              </a:spcAft>
            </a:pPr>
            <a:r>
              <a:rPr sz="1350" b="1">
                <a:solidFill>
                  <a:srgbClr val="1F6FEB"/>
                </a:solidFill>
                <a:latin typeface="Arial"/>
              </a:rPr>
              <a:t>•  </a:t>
            </a:r>
            <a:r>
              <a:rPr sz="1350">
                <a:solidFill>
                  <a:srgbClr val="161B26"/>
                </a:solidFill>
                <a:latin typeface="Arial"/>
              </a:rPr>
              <a:t>You pull data when you choose.</a:t>
            </a:r>
          </a:p>
          <a:p>
            <a:pPr>
              <a:spcBef>
                <a:spcPts val="0"/>
              </a:spcBef>
              <a:spcAft>
                <a:spcPts val="900"/>
              </a:spcAft>
            </a:pPr>
            <a:r>
              <a:rPr sz="1350" b="1">
                <a:solidFill>
                  <a:srgbClr val="1F6FEB"/>
                </a:solidFill>
                <a:latin typeface="Arial"/>
              </a:rPr>
              <a:t>•  </a:t>
            </a:r>
            <a:r>
              <a:rPr sz="1350">
                <a:solidFill>
                  <a:srgbClr val="161B26"/>
                </a:solidFill>
                <a:latin typeface="Arial"/>
              </a:rPr>
              <a:t>An action inside the flow.</a:t>
            </a:r>
          </a:p>
          <a:p>
            <a:pPr>
              <a:spcBef>
                <a:spcPts val="0"/>
              </a:spcBef>
              <a:spcAft>
                <a:spcPts val="900"/>
              </a:spcAft>
            </a:pPr>
            <a:r>
              <a:rPr sz="1350" b="1">
                <a:solidFill>
                  <a:srgbClr val="1F6FEB"/>
                </a:solidFill>
                <a:latin typeface="Arial"/>
              </a:rPr>
              <a:t>•  </a:t>
            </a:r>
            <a:r>
              <a:rPr sz="1350">
                <a:solidFill>
                  <a:srgbClr val="161B26"/>
                </a:solidFill>
                <a:latin typeface="Arial"/>
              </a:rPr>
              <a:t>Activity 6: your flow calls Twelve Data.</a:t>
            </a:r>
          </a:p>
        </p:txBody>
      </p:sp>
      <p:sp>
        <p:nvSpPr>
          <p:cNvPr id="14" name="Rounded Rectangle 1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Same HTTP underneath — the only difference is who dials.</a:t>
            </a:r>
          </a:p>
        </p:txBody>
      </p:sp>
      <p:sp>
        <p:nvSpPr>
          <p:cNvPr id="16" name="TextBox 1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HTTP Methods on a Webhook — GET vs POST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method is part of the contract with the caller: where the data rides, and what the call means.</a:t>
            </a:r>
          </a:p>
        </p:txBody>
      </p:sp>
      <p:sp>
        <p:nvSpPr>
          <p:cNvPr id="7" name="Rectangle 6"/>
          <p:cNvSpPr/>
          <p:nvPr/>
        </p:nvSpPr>
        <p:spPr>
          <a:xfrm>
            <a:off x="777240" y="1828800"/>
            <a:ext cx="51937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GET — read</a:t>
            </a:r>
          </a:p>
        </p:txBody>
      </p:sp>
      <p:sp>
        <p:nvSpPr>
          <p:cNvPr id="9" name="Rectangle 8"/>
          <p:cNvSpPr/>
          <p:nvPr/>
        </p:nvSpPr>
        <p:spPr>
          <a:xfrm>
            <a:off x="777240" y="2286000"/>
            <a:ext cx="5193792" cy="324612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487168"/>
            <a:ext cx="4663440" cy="2926080"/>
          </a:xfrm>
          <a:prstGeom prst="rect">
            <a:avLst/>
          </a:prstGeom>
          <a:noFill/>
        </p:spPr>
        <p:txBody>
          <a:bodyPr wrap="square" lIns="0" rIns="0">
            <a:spAutoFit/>
          </a:bodyPr>
          <a:lstStyle/>
          <a:p>
            <a:pPr>
              <a:spcBef>
                <a:spcPts val="0"/>
              </a:spcBef>
              <a:spcAft>
                <a:spcPts val="800"/>
              </a:spcAft>
            </a:pPr>
            <a:r>
              <a:rPr sz="1250" b="1">
                <a:solidFill>
                  <a:srgbClr val="1F6FEB"/>
                </a:solidFill>
                <a:latin typeface="Arial"/>
              </a:rPr>
              <a:t>•  </a:t>
            </a:r>
            <a:r>
              <a:rPr sz="1250">
                <a:solidFill>
                  <a:srgbClr val="161B26"/>
                </a:solidFill>
                <a:latin typeface="Arial"/>
              </a:rPr>
              <a:t>Data rides in the URL query string:</a:t>
            </a:r>
          </a:p>
          <a:p>
            <a:pPr>
              <a:spcBef>
                <a:spcPts val="0"/>
              </a:spcBef>
              <a:spcAft>
                <a:spcPts val="800"/>
              </a:spcAft>
            </a:pPr>
            <a:r>
              <a:rPr sz="1250" b="1">
                <a:solidFill>
                  <a:srgbClr val="5B6372"/>
                </a:solidFill>
                <a:latin typeface="Arial"/>
              </a:rPr>
              <a:t>   –  </a:t>
            </a:r>
            <a:r>
              <a:rPr sz="1150">
                <a:solidFill>
                  <a:srgbClr val="161B26"/>
                </a:solidFill>
                <a:latin typeface="Arial"/>
              </a:rPr>
              <a:t>   ?email=alice@corp.com</a:t>
            </a:r>
          </a:p>
          <a:p>
            <a:pPr>
              <a:spcBef>
                <a:spcPts val="0"/>
              </a:spcBef>
              <a:spcAft>
                <a:spcPts val="800"/>
              </a:spcAft>
            </a:pPr>
            <a:r>
              <a:rPr sz="1250" b="1">
                <a:solidFill>
                  <a:srgbClr val="1F6FEB"/>
                </a:solidFill>
                <a:latin typeface="Arial"/>
              </a:rPr>
              <a:t>•  </a:t>
            </a:r>
            <a:r>
              <a:rPr sz="1250">
                <a:solidFill>
                  <a:srgbClr val="161B26"/>
                </a:solidFill>
                <a:latin typeface="Arial"/>
              </a:rPr>
              <a:t>A browser can call it by just visiting the URL.</a:t>
            </a:r>
          </a:p>
          <a:p>
            <a:pPr>
              <a:spcBef>
                <a:spcPts val="0"/>
              </a:spcBef>
              <a:spcAft>
                <a:spcPts val="800"/>
              </a:spcAft>
            </a:pPr>
            <a:r>
              <a:rPr sz="1250" b="1">
                <a:solidFill>
                  <a:srgbClr val="1F6FEB"/>
                </a:solidFill>
                <a:latin typeface="Arial"/>
              </a:rPr>
              <a:t>•  </a:t>
            </a:r>
            <a:r>
              <a:rPr sz="1250">
                <a:solidFill>
                  <a:srgbClr val="161B26"/>
                </a:solidFill>
                <a:latin typeface="Arial"/>
              </a:rPr>
              <a:t>Read in n8n as {{ $json.query.email }}.</a:t>
            </a:r>
          </a:p>
          <a:p>
            <a:pPr>
              <a:spcBef>
                <a:spcPts val="0"/>
              </a:spcBef>
              <a:spcAft>
                <a:spcPts val="800"/>
              </a:spcAft>
            </a:pPr>
            <a:r>
              <a:rPr sz="1250" b="1">
                <a:solidFill>
                  <a:srgbClr val="1F6FEB"/>
                </a:solidFill>
                <a:latin typeface="Arial"/>
              </a:rPr>
              <a:t>•  </a:t>
            </a:r>
            <a:r>
              <a:rPr sz="1250">
                <a:solidFill>
                  <a:srgbClr val="161B26"/>
                </a:solidFill>
                <a:latin typeface="Arial"/>
              </a:rPr>
              <a:t>Activity 8b: the dashboard GETs its leave data.</a:t>
            </a:r>
          </a:p>
        </p:txBody>
      </p:sp>
      <p:sp>
        <p:nvSpPr>
          <p:cNvPr id="11" name="Rectangle 10"/>
          <p:cNvSpPr/>
          <p:nvPr/>
        </p:nvSpPr>
        <p:spPr>
          <a:xfrm>
            <a:off x="6217920" y="1828800"/>
            <a:ext cx="519379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POST — send</a:t>
            </a:r>
          </a:p>
        </p:txBody>
      </p:sp>
      <p:sp>
        <p:nvSpPr>
          <p:cNvPr id="13" name="Rectangle 12"/>
          <p:cNvSpPr/>
          <p:nvPr/>
        </p:nvSpPr>
        <p:spPr>
          <a:xfrm>
            <a:off x="6217920" y="2286000"/>
            <a:ext cx="5193792" cy="324612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487168"/>
            <a:ext cx="4663440" cy="2926080"/>
          </a:xfrm>
          <a:prstGeom prst="rect">
            <a:avLst/>
          </a:prstGeom>
          <a:noFill/>
        </p:spPr>
        <p:txBody>
          <a:bodyPr wrap="square" lIns="0" rIns="0">
            <a:spAutoFit/>
          </a:bodyPr>
          <a:lstStyle/>
          <a:p>
            <a:pPr>
              <a:spcBef>
                <a:spcPts val="0"/>
              </a:spcBef>
              <a:spcAft>
                <a:spcPts val="800"/>
              </a:spcAft>
            </a:pPr>
            <a:r>
              <a:rPr sz="1250" b="1">
                <a:solidFill>
                  <a:srgbClr val="7C3AED"/>
                </a:solidFill>
                <a:latin typeface="Arial"/>
              </a:rPr>
              <a:t>•  </a:t>
            </a:r>
            <a:r>
              <a:rPr sz="1250">
                <a:solidFill>
                  <a:srgbClr val="161B26"/>
                </a:solidFill>
                <a:latin typeface="Arial"/>
              </a:rPr>
              <a:t>Data rides in the request body as JSON:</a:t>
            </a:r>
          </a:p>
          <a:p>
            <a:pPr>
              <a:spcBef>
                <a:spcPts val="0"/>
              </a:spcBef>
              <a:spcAft>
                <a:spcPts val="800"/>
              </a:spcAft>
            </a:pPr>
            <a:r>
              <a:rPr sz="1250" b="1">
                <a:solidFill>
                  <a:srgbClr val="5B6372"/>
                </a:solidFill>
                <a:latin typeface="Arial"/>
              </a:rPr>
              <a:t>   –  </a:t>
            </a:r>
            <a:r>
              <a:rPr sz="1150">
                <a:solidFill>
                  <a:srgbClr val="161B26"/>
                </a:solidFill>
                <a:latin typeface="Arial"/>
              </a:rPr>
              <a:t>   { "message": "How much is the course?" }</a:t>
            </a:r>
          </a:p>
          <a:p>
            <a:pPr>
              <a:spcBef>
                <a:spcPts val="0"/>
              </a:spcBef>
              <a:spcAft>
                <a:spcPts val="800"/>
              </a:spcAft>
            </a:pPr>
            <a:r>
              <a:rPr sz="1250" b="1">
                <a:solidFill>
                  <a:srgbClr val="7C3AED"/>
                </a:solidFill>
                <a:latin typeface="Arial"/>
              </a:rPr>
              <a:t>•  </a:t>
            </a:r>
            <a:r>
              <a:rPr sz="1250">
                <a:solidFill>
                  <a:srgbClr val="161B26"/>
                </a:solidFill>
                <a:latin typeface="Arial"/>
              </a:rPr>
              <a:t>Used by website chat, forms and app callbacks.</a:t>
            </a:r>
          </a:p>
          <a:p>
            <a:pPr>
              <a:spcBef>
                <a:spcPts val="0"/>
              </a:spcBef>
              <a:spcAft>
                <a:spcPts val="800"/>
              </a:spcAft>
            </a:pPr>
            <a:r>
              <a:rPr sz="1250" b="1">
                <a:solidFill>
                  <a:srgbClr val="7C3AED"/>
                </a:solidFill>
                <a:latin typeface="Arial"/>
              </a:rPr>
              <a:t>•  </a:t>
            </a:r>
            <a:r>
              <a:rPr sz="1250">
                <a:solidFill>
                  <a:srgbClr val="161B26"/>
                </a:solidFill>
                <a:latin typeface="Arial"/>
              </a:rPr>
              <a:t>Read in n8n as {{ $json.body.message }}.</a:t>
            </a:r>
          </a:p>
          <a:p>
            <a:pPr>
              <a:spcBef>
                <a:spcPts val="0"/>
              </a:spcBef>
              <a:spcAft>
                <a:spcPts val="800"/>
              </a:spcAft>
            </a:pPr>
            <a:r>
              <a:rPr sz="1250" b="1">
                <a:solidFill>
                  <a:srgbClr val="7C3AED"/>
                </a:solidFill>
                <a:latin typeface="Arial"/>
              </a:rPr>
              <a:t>•  </a:t>
            </a:r>
            <a:r>
              <a:rPr sz="1250">
                <a:solidFill>
                  <a:srgbClr val="161B26"/>
                </a:solidFill>
                <a:latin typeface="Arial"/>
              </a:rPr>
              <a:t>Activities 5, 7b, 8a, 8c: the site POSTs to the flow.</a:t>
            </a:r>
          </a:p>
        </p:txBody>
      </p:sp>
      <p:sp>
        <p:nvSpPr>
          <p:cNvPr id="15" name="Rounded Rectangle 14"/>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GET reads, POST sends. Set the method on the Webhook node — the caller must match it.</a:t>
            </a:r>
          </a:p>
        </p:txBody>
      </p:sp>
      <p:sp>
        <p:nvSpPr>
          <p:cNvPr id="17" name="TextBox 1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Test URL vs Production URL</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Every Webhook node gives you TWO URLs — they behave differently, and mixing them up is the #1 webhook bug.</a:t>
            </a:r>
          </a:p>
        </p:txBody>
      </p:sp>
      <p:sp>
        <p:nvSpPr>
          <p:cNvPr id="7" name="Rectangle 6"/>
          <p:cNvSpPr/>
          <p:nvPr/>
        </p:nvSpPr>
        <p:spPr>
          <a:xfrm>
            <a:off x="777240" y="1828800"/>
            <a:ext cx="5193792"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TEST URL — /webhook-test/…</a:t>
            </a:r>
          </a:p>
        </p:txBody>
      </p:sp>
      <p:sp>
        <p:nvSpPr>
          <p:cNvPr id="9" name="Rectangle 8"/>
          <p:cNvSpPr/>
          <p:nvPr/>
        </p:nvSpPr>
        <p:spPr>
          <a:xfrm>
            <a:off x="777240" y="2286000"/>
            <a:ext cx="5193792" cy="3108960"/>
          </a:xfrm>
          <a:prstGeom prst="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514600"/>
            <a:ext cx="4663440" cy="2743200"/>
          </a:xfrm>
          <a:prstGeom prst="rect">
            <a:avLst/>
          </a:prstGeom>
          <a:noFill/>
        </p:spPr>
        <p:txBody>
          <a:bodyPr wrap="square" lIns="0" rIns="0">
            <a:spAutoFit/>
          </a:bodyPr>
          <a:lstStyle/>
          <a:p>
            <a:pPr>
              <a:spcBef>
                <a:spcPts val="0"/>
              </a:spcBef>
              <a:spcAft>
                <a:spcPts val="900"/>
              </a:spcAft>
            </a:pPr>
            <a:r>
              <a:rPr sz="1300" b="1">
                <a:solidFill>
                  <a:srgbClr val="F59E0B"/>
                </a:solidFill>
                <a:latin typeface="Arial"/>
              </a:rPr>
              <a:t>•  </a:t>
            </a:r>
            <a:r>
              <a:rPr sz="1300">
                <a:solidFill>
                  <a:srgbClr val="161B26"/>
                </a:solidFill>
                <a:latin typeface="Arial"/>
              </a:rPr>
              <a:t>Works only while you click 'Listen for test event'.</a:t>
            </a:r>
          </a:p>
          <a:p>
            <a:pPr>
              <a:spcBef>
                <a:spcPts val="0"/>
              </a:spcBef>
              <a:spcAft>
                <a:spcPts val="900"/>
              </a:spcAft>
            </a:pPr>
            <a:r>
              <a:rPr sz="1300" b="1">
                <a:solidFill>
                  <a:srgbClr val="F59E0B"/>
                </a:solidFill>
                <a:latin typeface="Arial"/>
              </a:rPr>
              <a:t>•  </a:t>
            </a:r>
            <a:r>
              <a:rPr sz="1300">
                <a:solidFill>
                  <a:srgbClr val="161B26"/>
                </a:solidFill>
                <a:latin typeface="Arial"/>
              </a:rPr>
              <a:t>Handles ONE call, then stops listening.</a:t>
            </a:r>
          </a:p>
          <a:p>
            <a:pPr>
              <a:spcBef>
                <a:spcPts val="0"/>
              </a:spcBef>
              <a:spcAft>
                <a:spcPts val="900"/>
              </a:spcAft>
            </a:pPr>
            <a:r>
              <a:rPr sz="1300" b="1">
                <a:solidFill>
                  <a:srgbClr val="F59E0B"/>
                </a:solidFill>
                <a:latin typeface="Arial"/>
              </a:rPr>
              <a:t>•  </a:t>
            </a:r>
            <a:r>
              <a:rPr sz="1300">
                <a:solidFill>
                  <a:srgbClr val="161B26"/>
                </a:solidFill>
                <a:latin typeface="Arial"/>
              </a:rPr>
              <a:t>The run appears live on the canvas — great for debugging.</a:t>
            </a:r>
          </a:p>
          <a:p>
            <a:pPr>
              <a:spcBef>
                <a:spcPts val="0"/>
              </a:spcBef>
              <a:spcAft>
                <a:spcPts val="900"/>
              </a:spcAft>
            </a:pPr>
            <a:r>
              <a:rPr sz="1300" b="1">
                <a:solidFill>
                  <a:srgbClr val="F59E0B"/>
                </a:solidFill>
                <a:latin typeface="Arial"/>
              </a:rPr>
              <a:t>•  </a:t>
            </a:r>
            <a:r>
              <a:rPr sz="1300">
                <a:solidFill>
                  <a:srgbClr val="161B26"/>
                </a:solidFill>
                <a:latin typeface="Arial"/>
              </a:rPr>
              <a:t>Dies the moment you leave the editor.</a:t>
            </a:r>
          </a:p>
        </p:txBody>
      </p:sp>
      <p:sp>
        <p:nvSpPr>
          <p:cNvPr id="11" name="Rectangle 10"/>
          <p:cNvSpPr/>
          <p:nvPr/>
        </p:nvSpPr>
        <p:spPr>
          <a:xfrm>
            <a:off x="6217920" y="1828800"/>
            <a:ext cx="5193792" cy="4572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PRODUCTION URL — /webhook/…</a:t>
            </a:r>
          </a:p>
        </p:txBody>
      </p:sp>
      <p:sp>
        <p:nvSpPr>
          <p:cNvPr id="13" name="Rectangle 12"/>
          <p:cNvSpPr/>
          <p:nvPr/>
        </p:nvSpPr>
        <p:spPr>
          <a:xfrm>
            <a:off x="6217920" y="2286000"/>
            <a:ext cx="5193792" cy="3108960"/>
          </a:xfrm>
          <a:prstGeom prst="rect">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514600"/>
            <a:ext cx="4663440" cy="2743200"/>
          </a:xfrm>
          <a:prstGeom prst="rect">
            <a:avLst/>
          </a:prstGeom>
          <a:noFill/>
        </p:spPr>
        <p:txBody>
          <a:bodyPr wrap="square" lIns="0" rIns="0">
            <a:spAutoFit/>
          </a:bodyPr>
          <a:lstStyle/>
          <a:p>
            <a:pPr>
              <a:spcBef>
                <a:spcPts val="0"/>
              </a:spcBef>
              <a:spcAft>
                <a:spcPts val="900"/>
              </a:spcAft>
            </a:pPr>
            <a:r>
              <a:rPr sz="1300" b="1">
                <a:solidFill>
                  <a:srgbClr val="127A3E"/>
                </a:solidFill>
                <a:latin typeface="Arial"/>
              </a:rPr>
              <a:t>•  </a:t>
            </a:r>
            <a:r>
              <a:rPr sz="1300">
                <a:solidFill>
                  <a:srgbClr val="161B26"/>
                </a:solidFill>
                <a:latin typeface="Arial"/>
              </a:rPr>
              <a:t>Requires the workflow toggled Active.</a:t>
            </a:r>
          </a:p>
          <a:p>
            <a:pPr>
              <a:spcBef>
                <a:spcPts val="0"/>
              </a:spcBef>
              <a:spcAft>
                <a:spcPts val="900"/>
              </a:spcAft>
            </a:pPr>
            <a:r>
              <a:rPr sz="1300" b="1">
                <a:solidFill>
                  <a:srgbClr val="127A3E"/>
                </a:solidFill>
                <a:latin typeface="Arial"/>
              </a:rPr>
              <a:t>•  </a:t>
            </a:r>
            <a:r>
              <a:rPr sz="1300">
                <a:solidFill>
                  <a:srgbClr val="161B26"/>
                </a:solidFill>
                <a:latin typeface="Arial"/>
              </a:rPr>
              <a:t>Always on — every call starts a run.</a:t>
            </a:r>
          </a:p>
          <a:p>
            <a:pPr>
              <a:spcBef>
                <a:spcPts val="0"/>
              </a:spcBef>
              <a:spcAft>
                <a:spcPts val="900"/>
              </a:spcAft>
            </a:pPr>
            <a:r>
              <a:rPr sz="1300" b="1">
                <a:solidFill>
                  <a:srgbClr val="127A3E"/>
                </a:solidFill>
                <a:latin typeface="Arial"/>
              </a:rPr>
              <a:t>•  </a:t>
            </a:r>
            <a:r>
              <a:rPr sz="1300">
                <a:solidFill>
                  <a:srgbClr val="161B26"/>
                </a:solidFill>
                <a:latin typeface="Arial"/>
              </a:rPr>
              <a:t>Runs are logged in the Executions list, not on the canvas.</a:t>
            </a:r>
          </a:p>
          <a:p>
            <a:pPr>
              <a:spcBef>
                <a:spcPts val="0"/>
              </a:spcBef>
              <a:spcAft>
                <a:spcPts val="900"/>
              </a:spcAft>
            </a:pPr>
            <a:r>
              <a:rPr sz="1300" b="1">
                <a:solidFill>
                  <a:srgbClr val="127A3E"/>
                </a:solidFill>
                <a:latin typeface="Arial"/>
              </a:rPr>
              <a:t>•  </a:t>
            </a:r>
            <a:r>
              <a:rPr sz="1300">
                <a:solidFill>
                  <a:srgbClr val="161B26"/>
                </a:solidFill>
                <a:latin typeface="Arial"/>
              </a:rPr>
              <a:t>This is the URL you give to websites and apps.</a:t>
            </a:r>
          </a:p>
        </p:txBody>
      </p:sp>
      <p:sp>
        <p:nvSpPr>
          <p:cNvPr id="15" name="Rounded Rectangle 14"/>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Websites must call the PRODUCTION URL of an ACTIVE workflow — the Test URL stops when you leave the editor.</a:t>
            </a:r>
          </a:p>
        </p:txBody>
      </p:sp>
      <p:sp>
        <p:nvSpPr>
          <p:cNvPr id="17" name="TextBox 1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Configuring the Webhook Node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Four settings decide whether the browser's call succeeds.</a:t>
            </a:r>
          </a:p>
        </p:txBody>
      </p:sp>
      <p:sp>
        <p:nvSpPr>
          <p:cNvPr id="7" name="Rounded Rectangle 6"/>
          <p:cNvSpPr/>
          <p:nvPr/>
        </p:nvSpPr>
        <p:spPr>
          <a:xfrm>
            <a:off x="777240" y="1783080"/>
            <a:ext cx="5170932" cy="15819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Method + Path</a:t>
            </a:r>
          </a:p>
        </p:txBody>
      </p:sp>
      <p:sp>
        <p:nvSpPr>
          <p:cNvPr id="11" name="TextBox 10"/>
          <p:cNvSpPr txBox="1"/>
          <p:nvPr/>
        </p:nvSpPr>
        <p:spPr>
          <a:xfrm>
            <a:off x="97840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GET or POST, and the path that ends your URL — e.g. POST /webhook/hr-chat.</a:t>
            </a:r>
          </a:p>
        </p:txBody>
      </p:sp>
      <p:sp>
        <p:nvSpPr>
          <p:cNvPr id="12" name="Rounded Rectangle 11"/>
          <p:cNvSpPr/>
          <p:nvPr/>
        </p:nvSpPr>
        <p:spPr>
          <a:xfrm>
            <a:off x="6240780" y="1783080"/>
            <a:ext cx="5170932" cy="15819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293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Allowed Origins (CORS)</a:t>
            </a:r>
          </a:p>
        </p:txBody>
      </p:sp>
      <p:sp>
        <p:nvSpPr>
          <p:cNvPr id="16" name="TextBox 15"/>
          <p:cNvSpPr txBox="1"/>
          <p:nvPr/>
        </p:nvSpPr>
        <p:spPr>
          <a:xfrm>
            <a:off x="644194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Browsers block cross-site calls unless allowed — set * in class so a local HTML page can call n8n.</a:t>
            </a:r>
          </a:p>
        </p:txBody>
      </p:sp>
      <p:sp>
        <p:nvSpPr>
          <p:cNvPr id="17" name="Rounded Rectangle 16"/>
          <p:cNvSpPr/>
          <p:nvPr/>
        </p:nvSpPr>
        <p:spPr>
          <a:xfrm>
            <a:off x="777240" y="3584448"/>
            <a:ext cx="5170932" cy="15819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73075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Response mode</a:t>
            </a:r>
          </a:p>
        </p:txBody>
      </p:sp>
      <p:sp>
        <p:nvSpPr>
          <p:cNvPr id="21" name="TextBox 20"/>
          <p:cNvSpPr txBox="1"/>
          <p:nvPr/>
        </p:nvSpPr>
        <p:spPr>
          <a:xfrm>
            <a:off x="97840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Immediately (ack), when the flow finishes, or via a Respond to Webhook node — the course flows use Respond to Webhook.</a:t>
            </a:r>
          </a:p>
        </p:txBody>
      </p:sp>
      <p:sp>
        <p:nvSpPr>
          <p:cNvPr id="22" name="Rounded Rectangle 21"/>
          <p:cNvSpPr/>
          <p:nvPr/>
        </p:nvSpPr>
        <p:spPr>
          <a:xfrm>
            <a:off x="6240780" y="3584448"/>
            <a:ext cx="5170932" cy="15819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73075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Authentication</a:t>
            </a:r>
          </a:p>
        </p:txBody>
      </p:sp>
      <p:sp>
        <p:nvSpPr>
          <p:cNvPr id="26" name="TextBox 25"/>
          <p:cNvSpPr txBox="1"/>
          <p:nvPr/>
        </p:nvSpPr>
        <p:spPr>
          <a:xfrm>
            <a:off x="644194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None for demos; Basic / Header / JWT for anything real — a public URL is a public door.</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'Failed to fetch' in the browser is usually CORS or a dead Test URL — check both first.</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3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5 — Website Chatbot via Webhook (Investment Advisor)</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Put your agent behind a public web page: the enquiry form and the floating chatbot both POST to one n8n webhook.</a:t>
            </a:r>
          </a:p>
        </p:txBody>
      </p:sp>
      <p:sp>
        <p:nvSpPr>
          <p:cNvPr id="7" name="Rounded Rectangle 6"/>
          <p:cNvSpPr/>
          <p:nvPr/>
        </p:nvSpPr>
        <p:spPr>
          <a:xfrm>
            <a:off x="777240"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Webhook — POST</a:t>
            </a:r>
          </a:p>
          <a:p>
            <a:pPr algn="ctr">
              <a:spcBef>
                <a:spcPts val="0"/>
              </a:spcBef>
              <a:spcAft>
                <a:spcPts val="200"/>
              </a:spcAft>
            </a:pPr>
            <a:r>
              <a:rPr sz="850" b="0">
                <a:solidFill>
                  <a:srgbClr val="5B6372"/>
                </a:solidFill>
                <a:latin typeface="Arial"/>
              </a:rPr>
              <a:t>chat + enquiry form call it</a:t>
            </a:r>
          </a:p>
        </p:txBody>
      </p:sp>
      <p:sp>
        <p:nvSpPr>
          <p:cNvPr id="9" name="TextBox 8"/>
          <p:cNvSpPr txBox="1"/>
          <p:nvPr/>
        </p:nvSpPr>
        <p:spPr>
          <a:xfrm>
            <a:off x="317525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3513582"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Agent</a:t>
            </a:r>
          </a:p>
          <a:p>
            <a:pPr algn="ctr">
              <a:spcBef>
                <a:spcPts val="0"/>
              </a:spcBef>
              <a:spcAft>
                <a:spcPts val="200"/>
              </a:spcAft>
            </a:pPr>
            <a:r>
              <a:rPr sz="850" b="0">
                <a:solidFill>
                  <a:srgbClr val="5B6372"/>
                </a:solidFill>
                <a:latin typeface="Arial"/>
              </a:rPr>
              <a:t>compliance instruction — no advice</a:t>
            </a:r>
          </a:p>
        </p:txBody>
      </p:sp>
      <p:sp>
        <p:nvSpPr>
          <p:cNvPr id="12" name="TextBox 11"/>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6249924"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Respond to Webhook</a:t>
            </a:r>
          </a:p>
          <a:p>
            <a:pPr algn="ctr">
              <a:spcBef>
                <a:spcPts val="0"/>
              </a:spcBef>
              <a:spcAft>
                <a:spcPts val="200"/>
              </a:spcAft>
            </a:pPr>
            <a:r>
              <a:rPr sz="850" b="0">
                <a:solidFill>
                  <a:srgbClr val="5B6372"/>
                </a:solidFill>
                <a:latin typeface="Arial"/>
              </a:rPr>
              <a:t>reply returns to the page</a:t>
            </a:r>
          </a:p>
        </p:txBody>
      </p:sp>
      <p:sp>
        <p:nvSpPr>
          <p:cNvPr id="15" name="TextBox 14"/>
          <p:cNvSpPr txBox="1"/>
          <p:nvPr/>
        </p:nvSpPr>
        <p:spPr>
          <a:xfrm>
            <a:off x="864793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6" name="Rounded Rectangle 15"/>
          <p:cNvSpPr/>
          <p:nvPr/>
        </p:nvSpPr>
        <p:spPr>
          <a:xfrm>
            <a:off x="8986266"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a:t>
            </a:r>
          </a:p>
          <a:p>
            <a:pPr algn="ctr">
              <a:spcBef>
                <a:spcPts val="0"/>
              </a:spcBef>
              <a:spcAft>
                <a:spcPts val="200"/>
              </a:spcAft>
            </a:pPr>
            <a:r>
              <a:rPr sz="850" b="0">
                <a:solidFill>
                  <a:srgbClr val="5B6372"/>
                </a:solidFill>
                <a:latin typeface="Arial"/>
              </a:rPr>
              <a:t>enquiry → advisor inbox</a:t>
            </a:r>
          </a:p>
        </p:txBody>
      </p:sp>
      <p:pic>
        <p:nvPicPr>
          <p:cNvPr id="18" name="Picture 17" descr="Activity5-Investment-Advisor.png"/>
          <p:cNvPicPr>
            <a:picLocks noChangeAspect="1"/>
          </p:cNvPicPr>
          <p:nvPr/>
        </p:nvPicPr>
        <p:blipFill>
          <a:blip r:embed="rId2"/>
          <a:stretch>
            <a:fillRect/>
          </a:stretch>
        </p:blipFill>
        <p:spPr>
          <a:xfrm>
            <a:off x="3712656" y="2761488"/>
            <a:ext cx="4736208" cy="2816352"/>
          </a:xfrm>
          <a:prstGeom prst="rect">
            <a:avLst/>
          </a:prstGeom>
        </p:spPr>
      </p:pic>
      <p:sp>
        <p:nvSpPr>
          <p:cNvPr id="19" name="Rectangle 18"/>
          <p:cNvSpPr/>
          <p:nvPr/>
        </p:nvSpPr>
        <p:spPr>
          <a:xfrm>
            <a:off x="3699956" y="2748788"/>
            <a:ext cx="4761608"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5687568"/>
            <a:ext cx="10634472" cy="56692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 y="5806440"/>
            <a:ext cx="9601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5</a:t>
            </a:r>
          </a:p>
        </p:txBody>
      </p:sp>
      <p:sp>
        <p:nvSpPr>
          <p:cNvPr id="23" name="TextBox 22"/>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Website Chatbot via Webhook (Investment Advisor)</a:t>
            </a:r>
          </a:p>
        </p:txBody>
      </p:sp>
      <p:sp>
        <p:nvSpPr>
          <p:cNvPr id="24" name="TextBox 23"/>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Production URL pasted into script.js  ·  CORS = *  ·  workflow Active  ·  steps in the Learner Guide</a:t>
            </a:r>
          </a:p>
        </p:txBody>
      </p:sp>
      <p:sp>
        <p:nvSpPr>
          <p:cNvPr id="25" name="TextBox 2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6" name="TextBox 2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7" name="TextBox 2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5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5 — The Investment Advisor Website</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A public landing page with an enquiry form and a floating 'Ask Advisor' chatbot.</a:t>
            </a:r>
          </a:p>
          <a:p>
            <a:pPr>
              <a:spcBef>
                <a:spcPts val="0"/>
              </a:spcBef>
              <a:spcAft>
                <a:spcPts val="900"/>
              </a:spcAft>
            </a:pPr>
            <a:r>
              <a:rPr sz="1500" b="1">
                <a:solidFill>
                  <a:srgbClr val="1F6FEB"/>
                </a:solidFill>
                <a:latin typeface="Arial"/>
              </a:rPr>
              <a:t>•  </a:t>
            </a:r>
            <a:r>
              <a:rPr sz="1500">
                <a:solidFill>
                  <a:srgbClr val="161B26"/>
                </a:solidFill>
                <a:latin typeface="Arial"/>
              </a:rPr>
              <a:t>Both the form and the chat POST to one n8n Webhook.</a:t>
            </a:r>
          </a:p>
          <a:p>
            <a:pPr>
              <a:spcBef>
                <a:spcPts val="0"/>
              </a:spcBef>
              <a:spcAft>
                <a:spcPts val="900"/>
              </a:spcAft>
            </a:pPr>
            <a:r>
              <a:rPr sz="1500" b="1">
                <a:solidFill>
                  <a:srgbClr val="1F6FEB"/>
                </a:solidFill>
                <a:latin typeface="Arial"/>
              </a:rPr>
              <a:t>•  </a:t>
            </a:r>
            <a:r>
              <a:rPr sz="1500">
                <a:solidFill>
                  <a:srgbClr val="161B26"/>
                </a:solidFill>
                <a:latin typeface="Arial"/>
              </a:rPr>
              <a:t>The AI Agent replies in the chat; the advisor is emailed the enquiry.</a:t>
            </a:r>
          </a:p>
          <a:p>
            <a:pPr>
              <a:spcBef>
                <a:spcPts val="0"/>
              </a:spcBef>
              <a:spcAft>
                <a:spcPts val="900"/>
              </a:spcAft>
            </a:pPr>
            <a:r>
              <a:rPr sz="1500" b="1">
                <a:solidFill>
                  <a:srgbClr val="1F6FEB"/>
                </a:solidFill>
                <a:latin typeface="Arial"/>
              </a:rPr>
              <a:t>•  </a:t>
            </a:r>
            <a:r>
              <a:rPr sz="1500">
                <a:solidFill>
                  <a:srgbClr val="161B26"/>
                </a:solidFill>
                <a:latin typeface="Arial"/>
              </a:rPr>
              <a:t>Set the webhook Production URL in script.js, then open index.html.</a:t>
            </a:r>
          </a:p>
        </p:txBody>
      </p:sp>
      <p:pic>
        <p:nvPicPr>
          <p:cNvPr id="7" name="Picture 6" descr="Activity5-website.png"/>
          <p:cNvPicPr>
            <a:picLocks noChangeAspect="1"/>
          </p:cNvPicPr>
          <p:nvPr/>
        </p:nvPicPr>
        <p:blipFill>
          <a:blip r:embed="rId2"/>
          <a:stretch>
            <a:fillRect/>
          </a:stretch>
        </p:blipFill>
        <p:spPr>
          <a:xfrm>
            <a:off x="5943600" y="1828800"/>
            <a:ext cx="5486400" cy="3429000"/>
          </a:xfrm>
          <a:prstGeom prst="rect">
            <a:avLst/>
          </a:prstGeom>
        </p:spPr>
      </p:pic>
      <p:sp>
        <p:nvSpPr>
          <p:cNvPr id="8" name="Rectangle 7"/>
          <p:cNvSpPr/>
          <p:nvPr/>
        </p:nvSpPr>
        <p:spPr>
          <a:xfrm>
            <a:off x="5930900" y="181610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1F6FEB"/>
                </a:solidFill>
                <a:latin typeface="Arial"/>
              </a:rPr>
              <a:t>TOPIC 4</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APIs and the HTTP Request Node</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Calling external services · request anatomy · status codes · API keys</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1F6FEB"/>
                </a:solidFill>
                <a:latin typeface="Arial"/>
              </a:rPr>
              <a:t>Applied in Activity 6</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04</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What Is an API?</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 service's front desk: you send a structured request over HTTP, it returns structured data — usually JSON.</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Your workflow</a:t>
            </a:r>
          </a:p>
          <a:p>
            <a:pPr algn="ctr">
              <a:spcBef>
                <a:spcPts val="0"/>
              </a:spcBef>
              <a:spcAft>
                <a:spcPts val="200"/>
              </a:spcAft>
            </a:pPr>
            <a:r>
              <a:rPr sz="900" b="0">
                <a:solidFill>
                  <a:srgbClr val="5B6372"/>
                </a:solidFill>
                <a:latin typeface="Arial"/>
              </a:rPr>
              <a:t>the client</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HTTP request</a:t>
            </a:r>
          </a:p>
          <a:p>
            <a:pPr algn="ctr">
              <a:spcBef>
                <a:spcPts val="0"/>
              </a:spcBef>
              <a:spcAft>
                <a:spcPts val="200"/>
              </a:spcAft>
            </a:pPr>
            <a:r>
              <a:rPr sz="900" b="0">
                <a:solidFill>
                  <a:srgbClr val="5B6372"/>
                </a:solidFill>
                <a:latin typeface="Arial"/>
              </a:rPr>
              <a:t>method + URL + key + params</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API server</a:t>
            </a:r>
          </a:p>
          <a:p>
            <a:pPr algn="ctr">
              <a:spcBef>
                <a:spcPts val="0"/>
              </a:spcBef>
              <a:spcAft>
                <a:spcPts val="200"/>
              </a:spcAft>
            </a:pPr>
            <a:r>
              <a:rPr sz="900" b="0">
                <a:solidFill>
                  <a:srgbClr val="5B6372"/>
                </a:solidFill>
                <a:latin typeface="Arial"/>
              </a:rPr>
              <a:t>processes the request</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JSON response</a:t>
            </a:r>
          </a:p>
          <a:p>
            <a:pPr algn="ctr">
              <a:spcBef>
                <a:spcPts val="0"/>
              </a:spcBef>
              <a:spcAft>
                <a:spcPts val="200"/>
              </a:spcAft>
            </a:pPr>
            <a:r>
              <a:rPr sz="900" b="0">
                <a:solidFill>
                  <a:srgbClr val="5B6372"/>
                </a:solidFill>
                <a:latin typeface="Arial"/>
              </a:rPr>
              <a:t>fields your next node can read</a:t>
            </a:r>
          </a:p>
        </p:txBody>
      </p:sp>
      <p:sp>
        <p:nvSpPr>
          <p:cNvPr id="18" name="Rounded Rectangle 17"/>
          <p:cNvSpPr/>
          <p:nvPr/>
        </p:nvSpPr>
        <p:spPr>
          <a:xfrm>
            <a:off x="777240" y="3200400"/>
            <a:ext cx="3349752" cy="23317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34670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1" name="TextBox 20"/>
          <p:cNvSpPr txBox="1"/>
          <p:nvPr/>
        </p:nvSpPr>
        <p:spPr>
          <a:xfrm>
            <a:off x="139903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Live data on demand</a:t>
            </a:r>
          </a:p>
        </p:txBody>
      </p:sp>
      <p:sp>
        <p:nvSpPr>
          <p:cNvPr id="22" name="TextBox 21"/>
          <p:cNvSpPr txBox="1"/>
          <p:nvPr/>
        </p:nvSpPr>
        <p:spPr>
          <a:xfrm>
            <a:off x="97840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Prices, weather, news, CRM records — data your workflow pulls the moment it needs it.</a:t>
            </a:r>
          </a:p>
        </p:txBody>
      </p:sp>
      <p:sp>
        <p:nvSpPr>
          <p:cNvPr id="23" name="Rounded Rectangle 22"/>
          <p:cNvSpPr/>
          <p:nvPr/>
        </p:nvSpPr>
        <p:spPr>
          <a:xfrm>
            <a:off x="4419600" y="3200400"/>
            <a:ext cx="3349752" cy="23317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02480" y="334670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0248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26" name="TextBox 25"/>
          <p:cNvSpPr txBox="1"/>
          <p:nvPr/>
        </p:nvSpPr>
        <p:spPr>
          <a:xfrm>
            <a:off x="504139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You dial out</a:t>
            </a:r>
          </a:p>
        </p:txBody>
      </p:sp>
      <p:sp>
        <p:nvSpPr>
          <p:cNvPr id="27" name="TextBox 26"/>
          <p:cNvSpPr txBox="1"/>
          <p:nvPr/>
        </p:nvSpPr>
        <p:spPr>
          <a:xfrm>
            <a:off x="462076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The opposite of a webhook: YOUR flow calls THEIR server, on your schedule.</a:t>
            </a:r>
          </a:p>
        </p:txBody>
      </p:sp>
      <p:sp>
        <p:nvSpPr>
          <p:cNvPr id="28" name="Rounded Rectangle 27"/>
          <p:cNvSpPr/>
          <p:nvPr/>
        </p:nvSpPr>
        <p:spPr>
          <a:xfrm>
            <a:off x="8061960" y="3200400"/>
            <a:ext cx="3349752" cy="23317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44840" y="334670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484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31" name="TextBox 30"/>
          <p:cNvSpPr txBox="1"/>
          <p:nvPr/>
        </p:nvSpPr>
        <p:spPr>
          <a:xfrm>
            <a:off x="868375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One node fits all</a:t>
            </a:r>
          </a:p>
        </p:txBody>
      </p:sp>
      <p:sp>
        <p:nvSpPr>
          <p:cNvPr id="32" name="TextBox 31"/>
          <p:cNvSpPr txBox="1"/>
          <p:nvPr/>
        </p:nvSpPr>
        <p:spPr>
          <a:xfrm>
            <a:off x="826312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The HTTP Request node calls any API on the internet — even ones n8n has no integration for.</a:t>
            </a:r>
          </a:p>
        </p:txBody>
      </p:sp>
      <p:sp>
        <p:nvSpPr>
          <p:cNvPr id="33" name="Rounded Rectangle 3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If a service has an API, n8n can use it — the HTTP Request node is the universal connector.</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Anatomy of an HTTP Request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Four parts you configure on the HTTP Request node.</a:t>
            </a:r>
          </a:p>
        </p:txBody>
      </p:sp>
      <p:sp>
        <p:nvSpPr>
          <p:cNvPr id="7" name="Rectangle 6"/>
          <p:cNvSpPr/>
          <p:nvPr/>
        </p:nvSpPr>
        <p:spPr>
          <a:xfrm>
            <a:off x="777240" y="1828800"/>
            <a:ext cx="2377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28800"/>
            <a:ext cx="212140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Part</a:t>
            </a:r>
          </a:p>
        </p:txBody>
      </p:sp>
      <p:sp>
        <p:nvSpPr>
          <p:cNvPr id="9" name="Rectangle 8"/>
          <p:cNvSpPr/>
          <p:nvPr/>
        </p:nvSpPr>
        <p:spPr>
          <a:xfrm>
            <a:off x="3154680" y="1828800"/>
            <a:ext cx="42062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82696" y="1828800"/>
            <a:ext cx="395020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What it is</a:t>
            </a:r>
          </a:p>
        </p:txBody>
      </p:sp>
      <p:sp>
        <p:nvSpPr>
          <p:cNvPr id="11" name="Rectangle 10"/>
          <p:cNvSpPr/>
          <p:nvPr/>
        </p:nvSpPr>
        <p:spPr>
          <a:xfrm>
            <a:off x="7360920" y="1828800"/>
            <a:ext cx="405079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8936" y="1828800"/>
            <a:ext cx="3794759"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Activity 6 example</a:t>
            </a:r>
          </a:p>
        </p:txBody>
      </p:sp>
      <p:sp>
        <p:nvSpPr>
          <p:cNvPr id="13" name="Rectangle 12"/>
          <p:cNvSpPr/>
          <p:nvPr/>
        </p:nvSpPr>
        <p:spPr>
          <a:xfrm>
            <a:off x="777240" y="2304288"/>
            <a:ext cx="23774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304288"/>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Method</a:t>
            </a:r>
          </a:p>
        </p:txBody>
      </p:sp>
      <p:sp>
        <p:nvSpPr>
          <p:cNvPr id="15" name="Rectangle 14"/>
          <p:cNvSpPr/>
          <p:nvPr/>
        </p:nvSpPr>
        <p:spPr>
          <a:xfrm>
            <a:off x="3154680" y="2304288"/>
            <a:ext cx="42062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82696" y="2304288"/>
            <a:ext cx="395020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GET (read) · POST (send) · PUT · DELETE</a:t>
            </a:r>
          </a:p>
        </p:txBody>
      </p:sp>
      <p:sp>
        <p:nvSpPr>
          <p:cNvPr id="17" name="Rectangle 16"/>
          <p:cNvSpPr/>
          <p:nvPr/>
        </p:nvSpPr>
        <p:spPr>
          <a:xfrm>
            <a:off x="7360920" y="2304288"/>
            <a:ext cx="405079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8936" y="2304288"/>
            <a:ext cx="3794759"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GET — read market candles</a:t>
            </a:r>
          </a:p>
        </p:txBody>
      </p:sp>
      <p:sp>
        <p:nvSpPr>
          <p:cNvPr id="19" name="Rectangle 18"/>
          <p:cNvSpPr/>
          <p:nvPr/>
        </p:nvSpPr>
        <p:spPr>
          <a:xfrm>
            <a:off x="777240" y="2779776"/>
            <a:ext cx="23774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79776"/>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URL / endpoint</a:t>
            </a:r>
          </a:p>
        </p:txBody>
      </p:sp>
      <p:sp>
        <p:nvSpPr>
          <p:cNvPr id="21" name="Rectangle 20"/>
          <p:cNvSpPr/>
          <p:nvPr/>
        </p:nvSpPr>
        <p:spPr>
          <a:xfrm>
            <a:off x="3154680" y="2779776"/>
            <a:ext cx="42062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82696" y="2779776"/>
            <a:ext cx="395020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The address of the resource</a:t>
            </a:r>
          </a:p>
        </p:txBody>
      </p:sp>
      <p:sp>
        <p:nvSpPr>
          <p:cNvPr id="23" name="Rectangle 22"/>
          <p:cNvSpPr/>
          <p:nvPr/>
        </p:nvSpPr>
        <p:spPr>
          <a:xfrm>
            <a:off x="7360920" y="2779776"/>
            <a:ext cx="405079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8936" y="2779776"/>
            <a:ext cx="3794759"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api.twelvedata.com/time_series</a:t>
            </a:r>
          </a:p>
        </p:txBody>
      </p:sp>
      <p:sp>
        <p:nvSpPr>
          <p:cNvPr id="25" name="Rectangle 24"/>
          <p:cNvSpPr/>
          <p:nvPr/>
        </p:nvSpPr>
        <p:spPr>
          <a:xfrm>
            <a:off x="777240" y="3255264"/>
            <a:ext cx="23774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55264"/>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Headers</a:t>
            </a:r>
          </a:p>
        </p:txBody>
      </p:sp>
      <p:sp>
        <p:nvSpPr>
          <p:cNvPr id="27" name="Rectangle 26"/>
          <p:cNvSpPr/>
          <p:nvPr/>
        </p:nvSpPr>
        <p:spPr>
          <a:xfrm>
            <a:off x="3154680" y="3255264"/>
            <a:ext cx="42062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82696" y="3255264"/>
            <a:ext cx="395020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Metadata, incl. authentication</a:t>
            </a:r>
          </a:p>
        </p:txBody>
      </p:sp>
      <p:sp>
        <p:nvSpPr>
          <p:cNvPr id="29" name="Rectangle 28"/>
          <p:cNvSpPr/>
          <p:nvPr/>
        </p:nvSpPr>
        <p:spPr>
          <a:xfrm>
            <a:off x="7360920" y="3255264"/>
            <a:ext cx="405079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8936" y="3255264"/>
            <a:ext cx="3794759"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(Twelve Data uses a query key instead)</a:t>
            </a:r>
          </a:p>
        </p:txBody>
      </p:sp>
      <p:sp>
        <p:nvSpPr>
          <p:cNvPr id="31" name="Rectangle 30"/>
          <p:cNvSpPr/>
          <p:nvPr/>
        </p:nvSpPr>
        <p:spPr>
          <a:xfrm>
            <a:off x="777240" y="3730752"/>
            <a:ext cx="23774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30752"/>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Query params / body</a:t>
            </a:r>
          </a:p>
        </p:txBody>
      </p:sp>
      <p:sp>
        <p:nvSpPr>
          <p:cNvPr id="33" name="Rectangle 32"/>
          <p:cNvSpPr/>
          <p:nvPr/>
        </p:nvSpPr>
        <p:spPr>
          <a:xfrm>
            <a:off x="3154680" y="3730752"/>
            <a:ext cx="42062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82696" y="3730752"/>
            <a:ext cx="395020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The inputs you send</a:t>
            </a:r>
          </a:p>
        </p:txBody>
      </p:sp>
      <p:sp>
        <p:nvSpPr>
          <p:cNvPr id="35" name="Rectangle 34"/>
          <p:cNvSpPr/>
          <p:nvPr/>
        </p:nvSpPr>
        <p:spPr>
          <a:xfrm>
            <a:off x="7360920" y="3730752"/>
            <a:ext cx="405079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8936" y="3730752"/>
            <a:ext cx="3794759"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symbol=AAPL &amp; interval=1min &amp; apikey=…</a:t>
            </a:r>
          </a:p>
        </p:txBody>
      </p:sp>
      <p:sp>
        <p:nvSpPr>
          <p:cNvPr id="37" name="Rounded Rectangle 3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Store API keys in Credentials — never hard-code them into the URL you share.</a:t>
            </a:r>
          </a:p>
        </p:txBody>
      </p:sp>
      <p:sp>
        <p:nvSpPr>
          <p:cNvPr id="39" name="TextBox 3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0" name="TextBox 3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1" name="TextBox 4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Reading the Response — Status Codes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status code tells you whose problem it is before you read a single byte of the body.</a:t>
            </a:r>
          </a:p>
        </p:txBody>
      </p:sp>
      <p:sp>
        <p:nvSpPr>
          <p:cNvPr id="7" name="Rounded Rectangle 6"/>
          <p:cNvSpPr/>
          <p:nvPr/>
        </p:nvSpPr>
        <p:spPr>
          <a:xfrm>
            <a:off x="777240" y="1783080"/>
            <a:ext cx="5170932" cy="1581912"/>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2xx — success</a:t>
            </a:r>
          </a:p>
        </p:txBody>
      </p:sp>
      <p:sp>
        <p:nvSpPr>
          <p:cNvPr id="11" name="TextBox 10"/>
          <p:cNvSpPr txBox="1"/>
          <p:nvPr/>
        </p:nvSpPr>
        <p:spPr>
          <a:xfrm>
            <a:off x="97840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200 OK, 201 Created. The JSON body holds your data — map it to the next node.</a:t>
            </a:r>
          </a:p>
        </p:txBody>
      </p:sp>
      <p:sp>
        <p:nvSpPr>
          <p:cNvPr id="12" name="Rounded Rectangle 11"/>
          <p:cNvSpPr/>
          <p:nvPr/>
        </p:nvSpPr>
        <p:spPr>
          <a:xfrm>
            <a:off x="6240780" y="1783080"/>
            <a:ext cx="5170932" cy="15819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29384"/>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401 / 403 — auth</a:t>
            </a:r>
          </a:p>
        </p:txBody>
      </p:sp>
      <p:sp>
        <p:nvSpPr>
          <p:cNvPr id="16" name="TextBox 15"/>
          <p:cNvSpPr txBox="1"/>
          <p:nvPr/>
        </p:nvSpPr>
        <p:spPr>
          <a:xfrm>
            <a:off x="644194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Bad or missing API key. Check the credential, not the flow.</a:t>
            </a:r>
          </a:p>
        </p:txBody>
      </p:sp>
      <p:sp>
        <p:nvSpPr>
          <p:cNvPr id="17" name="Rounded Rectangle 16"/>
          <p:cNvSpPr/>
          <p:nvPr/>
        </p:nvSpPr>
        <p:spPr>
          <a:xfrm>
            <a:off x="777240" y="3584448"/>
            <a:ext cx="5170932" cy="1581912"/>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730752"/>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429 — rate limited</a:t>
            </a:r>
          </a:p>
        </p:txBody>
      </p:sp>
      <p:sp>
        <p:nvSpPr>
          <p:cNvPr id="21" name="TextBox 20"/>
          <p:cNvSpPr txBox="1"/>
          <p:nvPr/>
        </p:nvSpPr>
        <p:spPr>
          <a:xfrm>
            <a:off x="97840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Too many calls for your plan — slow down or upgrade. Free tiers hit this fast.</a:t>
            </a:r>
          </a:p>
        </p:txBody>
      </p:sp>
      <p:sp>
        <p:nvSpPr>
          <p:cNvPr id="22" name="Rounded Rectangle 21"/>
          <p:cNvSpPr/>
          <p:nvPr/>
        </p:nvSpPr>
        <p:spPr>
          <a:xfrm>
            <a:off x="6240780" y="3584448"/>
            <a:ext cx="5170932" cy="15819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73075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4xx vs 5xx</a:t>
            </a:r>
          </a:p>
        </p:txBody>
      </p:sp>
      <p:sp>
        <p:nvSpPr>
          <p:cNvPr id="26" name="TextBox 25"/>
          <p:cNvSpPr txBox="1"/>
          <p:nvPr/>
        </p:nvSpPr>
        <p:spPr>
          <a:xfrm>
            <a:off x="644194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4xx: your request is wrong. 5xx: their server is broken. Retry helps only with 5xx.</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4xx = fix your request · 5xx = wait and retry — never guess from the body alone.</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The HTTP Request Node</a:t>
            </a:r>
          </a:p>
        </p:txBody>
      </p:sp>
      <p:pic>
        <p:nvPicPr>
          <p:cNvPr id="6" name="Picture 5" descr="n8n-http-request.png"/>
          <p:cNvPicPr>
            <a:picLocks noChangeAspect="1"/>
          </p:cNvPicPr>
          <p:nvPr/>
        </p:nvPicPr>
        <p:blipFill>
          <a:blip r:embed="rId2"/>
          <a:stretch>
            <a:fillRect/>
          </a:stretch>
        </p:blipFill>
        <p:spPr>
          <a:xfrm>
            <a:off x="943057" y="1737360"/>
            <a:ext cx="10275405" cy="4160520"/>
          </a:xfrm>
          <a:prstGeom prst="rect">
            <a:avLst/>
          </a:prstGeom>
        </p:spPr>
      </p:pic>
      <p:sp>
        <p:nvSpPr>
          <p:cNvPr id="7" name="Rectangle 6"/>
          <p:cNvSpPr/>
          <p:nvPr/>
        </p:nvSpPr>
        <p:spPr>
          <a:xfrm>
            <a:off x="930357" y="1724660"/>
            <a:ext cx="10300805" cy="41859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HTTP Request node — configure method, URL, auth, query parameters; the JSON response flows to the next node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6 · MARKET DATA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Twelve Data — Market Data API</a:t>
            </a:r>
          </a:p>
        </p:txBody>
      </p:sp>
      <p:sp>
        <p:nvSpPr>
          <p:cNvPr id="6" name="TextBox 5"/>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Live stock / forex / crypto data over a simple REST API.</a:t>
            </a:r>
          </a:p>
          <a:p>
            <a:pPr>
              <a:spcBef>
                <a:spcPts val="0"/>
              </a:spcBef>
              <a:spcAft>
                <a:spcPts val="1000"/>
              </a:spcAft>
            </a:pPr>
            <a:r>
              <a:rPr sz="1600" b="1">
                <a:solidFill>
                  <a:srgbClr val="1F6FEB"/>
                </a:solidFill>
                <a:latin typeface="Arial"/>
              </a:rPr>
              <a:t>•  </a:t>
            </a:r>
            <a:r>
              <a:rPr sz="1600">
                <a:solidFill>
                  <a:srgbClr val="161B26"/>
                </a:solidFill>
                <a:latin typeface="Arial"/>
              </a:rPr>
              <a:t>Sign up (free Basic plan), then Account → API Keys.</a:t>
            </a:r>
          </a:p>
          <a:p>
            <a:pPr>
              <a:spcBef>
                <a:spcPts val="0"/>
              </a:spcBef>
              <a:spcAft>
                <a:spcPts val="1000"/>
              </a:spcAft>
            </a:pPr>
            <a:r>
              <a:rPr sz="1600" b="1">
                <a:solidFill>
                  <a:srgbClr val="1F6FEB"/>
                </a:solidFill>
                <a:latin typeface="Arial"/>
              </a:rPr>
              <a:t>•  </a:t>
            </a:r>
            <a:r>
              <a:rPr sz="1600">
                <a:solidFill>
                  <a:srgbClr val="161B26"/>
                </a:solidFill>
                <a:latin typeface="Arial"/>
              </a:rPr>
              <a:t>Paste the apikey into the three 'candles' HTTP nodes.</a:t>
            </a:r>
          </a:p>
          <a:p>
            <a:pPr>
              <a:spcBef>
                <a:spcPts val="0"/>
              </a:spcBef>
              <a:spcAft>
                <a:spcPts val="1000"/>
              </a:spcAft>
            </a:pPr>
            <a:r>
              <a:rPr sz="1600" b="1">
                <a:solidFill>
                  <a:srgbClr val="1F6FEB"/>
                </a:solidFill>
                <a:latin typeface="Arial"/>
              </a:rPr>
              <a:t>•  </a:t>
            </a:r>
            <a:r>
              <a:rPr sz="1600">
                <a:solidFill>
                  <a:srgbClr val="161B26"/>
                </a:solidFill>
                <a:latin typeface="Arial"/>
              </a:rPr>
              <a:t>Free tier: 8 calls/min — enough for the lab.</a:t>
            </a:r>
          </a:p>
        </p:txBody>
      </p:sp>
      <p:pic>
        <p:nvPicPr>
          <p:cNvPr id="7" name="Picture 6" descr="site-twelvedata.png"/>
          <p:cNvPicPr>
            <a:picLocks noChangeAspect="1"/>
          </p:cNvPicPr>
          <p:nvPr/>
        </p:nvPicPr>
        <p:blipFill>
          <a:blip r:embed="rId2"/>
          <a:stretch>
            <a:fillRect/>
          </a:stretch>
        </p:blipFill>
        <p:spPr>
          <a:xfrm>
            <a:off x="5943600" y="1783080"/>
            <a:ext cx="5486400" cy="3429000"/>
          </a:xfrm>
          <a:prstGeom prst="rect">
            <a:avLst/>
          </a:prstGeom>
        </p:spPr>
      </p:pic>
      <p:sp>
        <p:nvSpPr>
          <p:cNvPr id="8" name="Rectangle 7"/>
          <p:cNvSpPr/>
          <p:nvPr/>
        </p:nvSpPr>
        <p:spPr>
          <a:xfrm>
            <a:off x="5930900" y="177038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6 · NEWS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NewsAPI — Headlines API</a:t>
            </a:r>
          </a:p>
        </p:txBody>
      </p:sp>
      <p:sp>
        <p:nvSpPr>
          <p:cNvPr id="6" name="TextBox 5"/>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Recent news articles for any search query.</a:t>
            </a:r>
          </a:p>
          <a:p>
            <a:pPr>
              <a:spcBef>
                <a:spcPts val="0"/>
              </a:spcBef>
              <a:spcAft>
                <a:spcPts val="1000"/>
              </a:spcAft>
            </a:pPr>
            <a:r>
              <a:rPr sz="1600" b="1">
                <a:solidFill>
                  <a:srgbClr val="1F6FEB"/>
                </a:solidFill>
                <a:latin typeface="Arial"/>
              </a:rPr>
              <a:t>•  </a:t>
            </a:r>
            <a:r>
              <a:rPr sz="1600">
                <a:solidFill>
                  <a:srgbClr val="161B26"/>
                </a:solidFill>
                <a:latin typeface="Arial"/>
              </a:rPr>
              <a:t>Register (free Developer plan) and copy your API key.</a:t>
            </a:r>
          </a:p>
          <a:p>
            <a:pPr>
              <a:spcBef>
                <a:spcPts val="0"/>
              </a:spcBef>
              <a:spcAft>
                <a:spcPts val="1000"/>
              </a:spcAft>
            </a:pPr>
            <a:r>
              <a:rPr sz="1600" b="1">
                <a:solidFill>
                  <a:srgbClr val="1F6FEB"/>
                </a:solidFill>
                <a:latin typeface="Arial"/>
              </a:rPr>
              <a:t>•  </a:t>
            </a:r>
            <a:r>
              <a:rPr sz="1600">
                <a:solidFill>
                  <a:srgbClr val="161B26"/>
                </a:solidFill>
                <a:latin typeface="Arial"/>
              </a:rPr>
              <a:t>Store it as a Query Auth credential (name = apiKey) on the news node.</a:t>
            </a:r>
          </a:p>
          <a:p>
            <a:pPr>
              <a:spcBef>
                <a:spcPts val="0"/>
              </a:spcBef>
              <a:spcAft>
                <a:spcPts val="1000"/>
              </a:spcAft>
            </a:pPr>
            <a:r>
              <a:rPr sz="1600" b="1">
                <a:solidFill>
                  <a:srgbClr val="1F6FEB"/>
                </a:solidFill>
                <a:latin typeface="Arial"/>
              </a:rPr>
              <a:t>•  </a:t>
            </a:r>
            <a:r>
              <a:rPr sz="1600">
                <a:solidFill>
                  <a:srgbClr val="161B26"/>
                </a:solidFill>
                <a:latin typeface="Arial"/>
              </a:rPr>
              <a:t>The agent reads sentiment from the headlines.</a:t>
            </a:r>
          </a:p>
        </p:txBody>
      </p:sp>
      <p:pic>
        <p:nvPicPr>
          <p:cNvPr id="7" name="Picture 6" descr="site-newsapi.png"/>
          <p:cNvPicPr>
            <a:picLocks noChangeAspect="1"/>
          </p:cNvPicPr>
          <p:nvPr/>
        </p:nvPicPr>
        <p:blipFill>
          <a:blip r:embed="rId2"/>
          <a:stretch>
            <a:fillRect/>
          </a:stretch>
        </p:blipFill>
        <p:spPr>
          <a:xfrm>
            <a:off x="5943600" y="1783080"/>
            <a:ext cx="5486400" cy="3429000"/>
          </a:xfrm>
          <a:prstGeom prst="rect">
            <a:avLst/>
          </a:prstGeom>
        </p:spPr>
      </p:pic>
      <p:sp>
        <p:nvSpPr>
          <p:cNvPr id="8" name="Rectangle 7"/>
          <p:cNvSpPr/>
          <p:nvPr/>
        </p:nvSpPr>
        <p:spPr>
          <a:xfrm>
            <a:off x="5930900" y="177038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4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6 — Finance APIs → Telegram (AI Day-Trading Agent)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Ask the bot about a stock: it pulls candles on three timeframes plus news, and the agent argues a Buy / Sell / Hold call.</a:t>
            </a:r>
          </a:p>
        </p:txBody>
      </p:sp>
      <p:sp>
        <p:nvSpPr>
          <p:cNvPr id="7" name="Rounded Rectangle 6"/>
          <p:cNvSpPr/>
          <p:nvPr/>
        </p:nvSpPr>
        <p:spPr>
          <a:xfrm>
            <a:off x="777240" y="1810512"/>
            <a:ext cx="1878177" cy="74980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Trigger</a:t>
            </a:r>
          </a:p>
          <a:p>
            <a:pPr algn="ctr">
              <a:spcBef>
                <a:spcPts val="0"/>
              </a:spcBef>
              <a:spcAft>
                <a:spcPts val="200"/>
              </a:spcAft>
            </a:pPr>
            <a:r>
              <a:rPr sz="850" b="0">
                <a:solidFill>
                  <a:srgbClr val="5B6372"/>
                </a:solidFill>
                <a:latin typeface="Arial"/>
              </a:rPr>
              <a:t>'Should I buy AAPL?'</a:t>
            </a:r>
          </a:p>
        </p:txBody>
      </p:sp>
      <p:sp>
        <p:nvSpPr>
          <p:cNvPr id="9" name="TextBox 8"/>
          <p:cNvSpPr txBox="1"/>
          <p:nvPr/>
        </p:nvSpPr>
        <p:spPr>
          <a:xfrm>
            <a:off x="2627985"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0" name="Rounded Rectangle 9"/>
          <p:cNvSpPr/>
          <p:nvPr/>
        </p:nvSpPr>
        <p:spPr>
          <a:xfrm>
            <a:off x="2966313" y="1810512"/>
            <a:ext cx="1878177" cy="74980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Code — Extract Ticker</a:t>
            </a:r>
          </a:p>
          <a:p>
            <a:pPr algn="ctr">
              <a:spcBef>
                <a:spcPts val="0"/>
              </a:spcBef>
              <a:spcAft>
                <a:spcPts val="200"/>
              </a:spcAft>
            </a:pPr>
            <a:r>
              <a:rPr sz="850" b="0">
                <a:solidFill>
                  <a:srgbClr val="5B6372"/>
                </a:solidFill>
                <a:latin typeface="Arial"/>
              </a:rPr>
              <a:t>AAPL</a:t>
            </a:r>
          </a:p>
        </p:txBody>
      </p:sp>
      <p:sp>
        <p:nvSpPr>
          <p:cNvPr id="12" name="TextBox 11"/>
          <p:cNvSpPr txBox="1"/>
          <p:nvPr/>
        </p:nvSpPr>
        <p:spPr>
          <a:xfrm>
            <a:off x="481705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3" name="Rounded Rectangle 12"/>
          <p:cNvSpPr/>
          <p:nvPr/>
        </p:nvSpPr>
        <p:spPr>
          <a:xfrm>
            <a:off x="5155386" y="1810512"/>
            <a:ext cx="1878177" cy="74980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HTTP ×4</a:t>
            </a:r>
          </a:p>
          <a:p>
            <a:pPr algn="ctr">
              <a:spcBef>
                <a:spcPts val="0"/>
              </a:spcBef>
              <a:spcAft>
                <a:spcPts val="200"/>
              </a:spcAft>
            </a:pPr>
            <a:r>
              <a:rPr sz="850" b="0">
                <a:solidFill>
                  <a:srgbClr val="5B6372"/>
                </a:solidFill>
                <a:latin typeface="Arial"/>
              </a:rPr>
              <a:t>candles 1m / 15m / 1h + news</a:t>
            </a:r>
          </a:p>
        </p:txBody>
      </p:sp>
      <p:sp>
        <p:nvSpPr>
          <p:cNvPr id="15" name="TextBox 14"/>
          <p:cNvSpPr txBox="1"/>
          <p:nvPr/>
        </p:nvSpPr>
        <p:spPr>
          <a:xfrm>
            <a:off x="7006131"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6" name="Rounded Rectangle 15"/>
          <p:cNvSpPr/>
          <p:nvPr/>
        </p:nvSpPr>
        <p:spPr>
          <a:xfrm>
            <a:off x="7344459" y="1810512"/>
            <a:ext cx="1878177" cy="74980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Agent</a:t>
            </a:r>
          </a:p>
          <a:p>
            <a:pPr algn="ctr">
              <a:spcBef>
                <a:spcPts val="0"/>
              </a:spcBef>
              <a:spcAft>
                <a:spcPts val="200"/>
              </a:spcAft>
            </a:pPr>
            <a:r>
              <a:rPr sz="850" b="0">
                <a:solidFill>
                  <a:srgbClr val="5B6372"/>
                </a:solidFill>
                <a:latin typeface="Arial"/>
              </a:rPr>
              <a:t>technicals + sentiment → call</a:t>
            </a:r>
          </a:p>
        </p:txBody>
      </p:sp>
      <p:sp>
        <p:nvSpPr>
          <p:cNvPr id="18" name="TextBox 17"/>
          <p:cNvSpPr txBox="1"/>
          <p:nvPr/>
        </p:nvSpPr>
        <p:spPr>
          <a:xfrm>
            <a:off x="919520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9" name="Rounded Rectangle 18"/>
          <p:cNvSpPr/>
          <p:nvPr/>
        </p:nvSpPr>
        <p:spPr>
          <a:xfrm>
            <a:off x="9533532" y="1810512"/>
            <a:ext cx="1878177" cy="74980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 Send</a:t>
            </a:r>
          </a:p>
          <a:p>
            <a:pPr algn="ctr">
              <a:spcBef>
                <a:spcPts val="0"/>
              </a:spcBef>
              <a:spcAft>
                <a:spcPts val="200"/>
              </a:spcAft>
            </a:pPr>
            <a:r>
              <a:rPr sz="850" b="0">
                <a:solidFill>
                  <a:srgbClr val="5B6372"/>
                </a:solidFill>
                <a:latin typeface="Arial"/>
              </a:rPr>
              <a:t>recommendation + reasoning</a:t>
            </a:r>
          </a:p>
        </p:txBody>
      </p:sp>
      <p:pic>
        <p:nvPicPr>
          <p:cNvPr id="21" name="Picture 20" descr="Activity6-Finance-Advisor.png"/>
          <p:cNvPicPr>
            <a:picLocks noChangeAspect="1"/>
          </p:cNvPicPr>
          <p:nvPr/>
        </p:nvPicPr>
        <p:blipFill>
          <a:blip r:embed="rId2"/>
          <a:stretch>
            <a:fillRect/>
          </a:stretch>
        </p:blipFill>
        <p:spPr>
          <a:xfrm>
            <a:off x="3712656" y="2761488"/>
            <a:ext cx="4736208" cy="2816352"/>
          </a:xfrm>
          <a:prstGeom prst="rect">
            <a:avLst/>
          </a:prstGeom>
        </p:spPr>
      </p:pic>
      <p:sp>
        <p:nvSpPr>
          <p:cNvPr id="22" name="Rectangle 21"/>
          <p:cNvSpPr/>
          <p:nvPr/>
        </p:nvSpPr>
        <p:spPr>
          <a:xfrm>
            <a:off x="3699956" y="2748788"/>
            <a:ext cx="4761608"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5687568"/>
            <a:ext cx="10634472" cy="56692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5806440"/>
            <a:ext cx="960120" cy="3291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6</a:t>
            </a:r>
          </a:p>
        </p:txBody>
      </p:sp>
      <p:sp>
        <p:nvSpPr>
          <p:cNvPr id="26" name="TextBox 25"/>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Finance APIs → Telegram (AI Day-Trading Agent)</a:t>
            </a:r>
          </a:p>
        </p:txBody>
      </p:sp>
      <p:sp>
        <p:nvSpPr>
          <p:cNvPr id="27" name="TextBox 26"/>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Twelve Data + NewsAPI keys  ·  imported flow, re-select credentials  ·  steps in the Learner Guide</a:t>
            </a:r>
          </a:p>
        </p:txBody>
      </p:sp>
      <p:sp>
        <p:nvSpPr>
          <p:cNvPr id="28" name="TextBox 2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6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6 — The Stock Analysis Dashboard</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A real-time dashboard with a live TradingView candlestick chart.</a:t>
            </a:r>
          </a:p>
          <a:p>
            <a:pPr>
              <a:spcBef>
                <a:spcPts val="0"/>
              </a:spcBef>
              <a:spcAft>
                <a:spcPts val="900"/>
              </a:spcAft>
            </a:pPr>
            <a:r>
              <a:rPr sz="1500" b="1">
                <a:solidFill>
                  <a:srgbClr val="1F6FEB"/>
                </a:solidFill>
                <a:latin typeface="Arial"/>
              </a:rPr>
              <a:t>•  </a:t>
            </a:r>
            <a:r>
              <a:rPr sz="1500">
                <a:solidFill>
                  <a:srgbClr val="161B26"/>
                </a:solidFill>
                <a:latin typeface="Arial"/>
              </a:rPr>
              <a:t>Quote stats (price, change, OHLC, volume, 52-week range) from Twelve Data.</a:t>
            </a:r>
          </a:p>
          <a:p>
            <a:pPr>
              <a:spcBef>
                <a:spcPts val="0"/>
              </a:spcBef>
              <a:spcAft>
                <a:spcPts val="900"/>
              </a:spcAft>
            </a:pPr>
            <a:r>
              <a:rPr sz="1500" b="1">
                <a:solidFill>
                  <a:srgbClr val="1F6FEB"/>
                </a:solidFill>
                <a:latin typeface="Arial"/>
              </a:rPr>
              <a:t>•  </a:t>
            </a:r>
            <a:r>
              <a:rPr sz="1500">
                <a:solidFill>
                  <a:srgbClr val="161B26"/>
                </a:solidFill>
                <a:latin typeface="Arial"/>
              </a:rPr>
              <a:t>A floating Telegram chat widget opens the AI day-trading agent.</a:t>
            </a:r>
          </a:p>
          <a:p>
            <a:pPr>
              <a:spcBef>
                <a:spcPts val="0"/>
              </a:spcBef>
              <a:spcAft>
                <a:spcPts val="900"/>
              </a:spcAft>
            </a:pPr>
            <a:r>
              <a:rPr sz="1500" b="1">
                <a:solidFill>
                  <a:srgbClr val="1F6FEB"/>
                </a:solidFill>
                <a:latin typeface="Arial"/>
              </a:rPr>
              <a:t>•  </a:t>
            </a:r>
            <a:r>
              <a:rPr sz="1500">
                <a:solidFill>
                  <a:srgbClr val="161B26"/>
                </a:solidFill>
                <a:latin typeface="Arial"/>
              </a:rPr>
              <a:t>Save your Twelve Data key + bot username in the Settings panel.</a:t>
            </a:r>
          </a:p>
        </p:txBody>
      </p:sp>
      <p:pic>
        <p:nvPicPr>
          <p:cNvPr id="7" name="Picture 6" descr="Activity6-website.png"/>
          <p:cNvPicPr>
            <a:picLocks noChangeAspect="1"/>
          </p:cNvPicPr>
          <p:nvPr/>
        </p:nvPicPr>
        <p:blipFill>
          <a:blip r:embed="rId2"/>
          <a:stretch>
            <a:fillRect/>
          </a:stretch>
        </p:blipFill>
        <p:spPr>
          <a:xfrm>
            <a:off x="5943600" y="1828800"/>
            <a:ext cx="5486400" cy="3191256"/>
          </a:xfrm>
          <a:prstGeom prst="rect">
            <a:avLst/>
          </a:prstGeom>
        </p:spPr>
      </p:pic>
      <p:sp>
        <p:nvSpPr>
          <p:cNvPr id="8" name="Rectangle 7"/>
          <p:cNvSpPr/>
          <p:nvPr/>
        </p:nvSpPr>
        <p:spPr>
          <a:xfrm>
            <a:off x="5930900" y="1816100"/>
            <a:ext cx="5511800" cy="3216656"/>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End of Day 2 — Recap</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exposed an AI agent to a public website via a webhook (Production URL + CORS).</a:t>
            </a:r>
          </a:p>
          <a:p>
            <a:pPr>
              <a:spcBef>
                <a:spcPts val="0"/>
              </a:spcBef>
              <a:spcAft>
                <a:spcPts val="1000"/>
              </a:spcAft>
            </a:pPr>
            <a:r>
              <a:rPr sz="2000" b="1">
                <a:solidFill>
                  <a:srgbClr val="1F6FEB"/>
                </a:solidFill>
                <a:latin typeface="Arial"/>
              </a:rPr>
              <a:t>•  </a:t>
            </a:r>
            <a:r>
              <a:rPr sz="2000">
                <a:solidFill>
                  <a:srgbClr val="161B26"/>
                </a:solidFill>
                <a:latin typeface="Arial"/>
              </a:rPr>
              <a:t>You pulled live market and news data through APIs into a Telegram agent.</a:t>
            </a:r>
          </a:p>
          <a:p>
            <a:pPr>
              <a:spcBef>
                <a:spcPts val="0"/>
              </a:spcBef>
              <a:spcAft>
                <a:spcPts val="1000"/>
              </a:spcAft>
            </a:pPr>
            <a:r>
              <a:rPr sz="2000" b="1">
                <a:solidFill>
                  <a:srgbClr val="1F6FEB"/>
                </a:solidFill>
                <a:latin typeface="Arial"/>
              </a:rPr>
              <a:t>•  </a:t>
            </a:r>
            <a:r>
              <a:rPr sz="2000">
                <a:solidFill>
                  <a:srgbClr val="161B26"/>
                </a:solidFill>
                <a:latin typeface="Arial"/>
              </a:rPr>
              <a:t>Tomorrow: RAG at production scale, human-in-the-loop, guardrails, and the capstone.</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F59E0B"/>
                </a:solidFill>
                <a:latin typeface="Arial"/>
              </a:rPr>
              <a:t>TOPIC 5</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Retrieval-Augmented Generation</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Why retrieval · embeddings and vector stores · chunking and top_k · production vector DBs</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F59E0B"/>
                </a:solidFill>
                <a:latin typeface="Arial"/>
              </a:rPr>
              <a:t>Applied in Activities 7a and 7b</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05</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Why Retrieval, Rather Than a Bigger Prompt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You could paste all your documents into the instruction — until you can't.</a:t>
            </a:r>
          </a:p>
        </p:txBody>
      </p:sp>
      <p:sp>
        <p:nvSpPr>
          <p:cNvPr id="7" name="Rounded Rectangle 6"/>
          <p:cNvSpPr/>
          <p:nvPr/>
        </p:nvSpPr>
        <p:spPr>
          <a:xfrm>
            <a:off x="777240" y="1828800"/>
            <a:ext cx="5170932" cy="228600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19751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Everything in the prompt</a:t>
            </a:r>
          </a:p>
        </p:txBody>
      </p:sp>
      <p:sp>
        <p:nvSpPr>
          <p:cNvPr id="9" name="TextBox 8"/>
          <p:cNvSpPr txBox="1"/>
          <p:nvPr/>
        </p:nvSpPr>
        <p:spPr>
          <a:xfrm>
            <a:off x="978408" y="2377440"/>
            <a:ext cx="4768596" cy="15910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Beyond a point the model ignores the middle. Every question pays tokens for ALL documents. Add document #41 and quality quietly drops.</a:t>
            </a:r>
          </a:p>
        </p:txBody>
      </p:sp>
      <p:sp>
        <p:nvSpPr>
          <p:cNvPr id="10" name="Rounded Rectangle 9"/>
          <p:cNvSpPr/>
          <p:nvPr/>
        </p:nvSpPr>
        <p:spPr>
          <a:xfrm>
            <a:off x="6240780" y="1828800"/>
            <a:ext cx="5170932" cy="228600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1948" y="19751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Retrieve, then generate</a:t>
            </a:r>
          </a:p>
        </p:txBody>
      </p:sp>
      <p:sp>
        <p:nvSpPr>
          <p:cNvPr id="12" name="TextBox 11"/>
          <p:cNvSpPr txBox="1"/>
          <p:nvPr/>
        </p:nvSpPr>
        <p:spPr>
          <a:xfrm>
            <a:off x="6441948" y="2377440"/>
            <a:ext cx="4768596" cy="15910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Find the two or three chunks that resemble the question and give the model ONLY those. Cost stays flat as the library grows.</a:t>
            </a:r>
          </a:p>
        </p:txBody>
      </p:sp>
      <p:sp>
        <p:nvSpPr>
          <p:cNvPr id="13" name="Rounded Rectangle 12"/>
          <p:cNvSpPr/>
          <p:nvPr/>
        </p:nvSpPr>
        <p:spPr>
          <a:xfrm>
            <a:off x="777240" y="4343400"/>
            <a:ext cx="2425446" cy="8686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343400"/>
            <a:ext cx="2242566"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Question</a:t>
            </a:r>
          </a:p>
          <a:p>
            <a:pPr algn="ctr">
              <a:spcBef>
                <a:spcPts val="0"/>
              </a:spcBef>
              <a:spcAft>
                <a:spcPts val="200"/>
              </a:spcAft>
            </a:pPr>
            <a:r>
              <a:rPr sz="900" b="0">
                <a:solidFill>
                  <a:srgbClr val="5B6372"/>
                </a:solidFill>
                <a:latin typeface="Arial"/>
              </a:rPr>
              <a:t>embed it</a:t>
            </a:r>
          </a:p>
        </p:txBody>
      </p:sp>
      <p:sp>
        <p:nvSpPr>
          <p:cNvPr id="15" name="TextBox 14"/>
          <p:cNvSpPr txBox="1"/>
          <p:nvPr/>
        </p:nvSpPr>
        <p:spPr>
          <a:xfrm>
            <a:off x="3175254" y="46131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6" name="Rounded Rectangle 15"/>
          <p:cNvSpPr/>
          <p:nvPr/>
        </p:nvSpPr>
        <p:spPr>
          <a:xfrm>
            <a:off x="3513582" y="4343400"/>
            <a:ext cx="2425446" cy="8686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5022" y="4343400"/>
            <a:ext cx="2242566"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Search the store</a:t>
            </a:r>
          </a:p>
          <a:p>
            <a:pPr algn="ctr">
              <a:spcBef>
                <a:spcPts val="0"/>
              </a:spcBef>
              <a:spcAft>
                <a:spcPts val="200"/>
              </a:spcAft>
            </a:pPr>
            <a:r>
              <a:rPr sz="900" b="0">
                <a:solidFill>
                  <a:srgbClr val="5B6372"/>
                </a:solidFill>
                <a:latin typeface="Arial"/>
              </a:rPr>
              <a:t>nearest chunks</a:t>
            </a:r>
          </a:p>
        </p:txBody>
      </p:sp>
      <p:sp>
        <p:nvSpPr>
          <p:cNvPr id="18" name="TextBox 17"/>
          <p:cNvSpPr txBox="1"/>
          <p:nvPr/>
        </p:nvSpPr>
        <p:spPr>
          <a:xfrm>
            <a:off x="5911596" y="46131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9" name="Rounded Rectangle 18"/>
          <p:cNvSpPr/>
          <p:nvPr/>
        </p:nvSpPr>
        <p:spPr>
          <a:xfrm>
            <a:off x="6249924" y="4343400"/>
            <a:ext cx="2425446" cy="8686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1364" y="4343400"/>
            <a:ext cx="2242566"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Paste into the prompt</a:t>
            </a:r>
          </a:p>
          <a:p>
            <a:pPr algn="ctr">
              <a:spcBef>
                <a:spcPts val="0"/>
              </a:spcBef>
              <a:spcAft>
                <a:spcPts val="200"/>
              </a:spcAft>
            </a:pPr>
            <a:r>
              <a:rPr sz="900" b="0">
                <a:solidFill>
                  <a:srgbClr val="5B6372"/>
                </a:solidFill>
                <a:latin typeface="Arial"/>
              </a:rPr>
              <a:t>only what matched</a:t>
            </a:r>
          </a:p>
        </p:txBody>
      </p:sp>
      <p:sp>
        <p:nvSpPr>
          <p:cNvPr id="21" name="TextBox 20"/>
          <p:cNvSpPr txBox="1"/>
          <p:nvPr/>
        </p:nvSpPr>
        <p:spPr>
          <a:xfrm>
            <a:off x="8647938" y="46131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2" name="Rounded Rectangle 21"/>
          <p:cNvSpPr/>
          <p:nvPr/>
        </p:nvSpPr>
        <p:spPr>
          <a:xfrm>
            <a:off x="8986266" y="4343400"/>
            <a:ext cx="2425446" cy="8686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77706" y="4343400"/>
            <a:ext cx="2242566"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Grounded answer</a:t>
            </a:r>
          </a:p>
          <a:p>
            <a:pPr algn="ctr">
              <a:spcBef>
                <a:spcPts val="0"/>
              </a:spcBef>
              <a:spcAft>
                <a:spcPts val="200"/>
              </a:spcAft>
            </a:pPr>
            <a:r>
              <a:rPr sz="900" b="0">
                <a:solidFill>
                  <a:srgbClr val="5B6372"/>
                </a:solidFill>
                <a:latin typeface="Arial"/>
              </a:rPr>
              <a:t>cites what it saw</a:t>
            </a:r>
          </a:p>
        </p:txBody>
      </p:sp>
      <p:sp>
        <p:nvSpPr>
          <p:cNvPr id="24" name="Rounded Rectangle 2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RAG = retrieval + generation. The retrieval decides whether the generation can possibly be right.</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The RAG Pipeline — Ingest Once, Retrieve Every Question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Two phases: ingestion happens once per document; retrieval happens on every question.</a:t>
            </a:r>
          </a:p>
        </p:txBody>
      </p:sp>
      <p:sp>
        <p:nvSpPr>
          <p:cNvPr id="7" name="TextBox 6"/>
          <p:cNvSpPr txBox="1"/>
          <p:nvPr/>
        </p:nvSpPr>
        <p:spPr>
          <a:xfrm>
            <a:off x="777240" y="1828800"/>
            <a:ext cx="1828800" cy="365760"/>
          </a:xfrm>
          <a:prstGeom prst="rect">
            <a:avLst/>
          </a:prstGeom>
          <a:noFill/>
        </p:spPr>
        <p:txBody>
          <a:bodyPr wrap="square" anchor="t" lIns="0" rIns="0" tIns="0" bIns="0">
            <a:spAutoFit/>
          </a:bodyPr>
          <a:lstStyle/>
          <a:p>
            <a:pPr algn="l">
              <a:spcBef>
                <a:spcPts val="0"/>
              </a:spcBef>
              <a:spcAft>
                <a:spcPts val="400"/>
              </a:spcAft>
            </a:pPr>
            <a:r>
              <a:rPr sz="1100" b="1">
                <a:solidFill>
                  <a:srgbClr val="7C3AED"/>
                </a:solidFill>
                <a:latin typeface="Arial"/>
              </a:rPr>
              <a:t>INGESTION — once</a:t>
            </a:r>
          </a:p>
        </p:txBody>
      </p:sp>
      <p:sp>
        <p:nvSpPr>
          <p:cNvPr id="8" name="Rounded Rectangle 7"/>
          <p:cNvSpPr/>
          <p:nvPr/>
        </p:nvSpPr>
        <p:spPr>
          <a:xfrm>
            <a:off x="777240" y="2194560"/>
            <a:ext cx="2425446" cy="6858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94560"/>
            <a:ext cx="2242566"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Documents</a:t>
            </a:r>
          </a:p>
        </p:txBody>
      </p:sp>
      <p:sp>
        <p:nvSpPr>
          <p:cNvPr id="10" name="TextBox 9"/>
          <p:cNvSpPr txBox="1"/>
          <p:nvPr/>
        </p:nvSpPr>
        <p:spPr>
          <a:xfrm>
            <a:off x="3175254" y="23728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1" name="Rounded Rectangle 10"/>
          <p:cNvSpPr/>
          <p:nvPr/>
        </p:nvSpPr>
        <p:spPr>
          <a:xfrm>
            <a:off x="3513582" y="2194560"/>
            <a:ext cx="2425446" cy="6858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5022" y="2194560"/>
            <a:ext cx="2242566"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Chunk</a:t>
            </a:r>
          </a:p>
        </p:txBody>
      </p:sp>
      <p:sp>
        <p:nvSpPr>
          <p:cNvPr id="13" name="TextBox 12"/>
          <p:cNvSpPr txBox="1"/>
          <p:nvPr/>
        </p:nvSpPr>
        <p:spPr>
          <a:xfrm>
            <a:off x="5911596" y="23728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4" name="Rounded Rectangle 13"/>
          <p:cNvSpPr/>
          <p:nvPr/>
        </p:nvSpPr>
        <p:spPr>
          <a:xfrm>
            <a:off x="6249924" y="2194560"/>
            <a:ext cx="2425446" cy="6858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1364" y="2194560"/>
            <a:ext cx="2242566"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Embed</a:t>
            </a:r>
          </a:p>
        </p:txBody>
      </p:sp>
      <p:sp>
        <p:nvSpPr>
          <p:cNvPr id="16" name="TextBox 15"/>
          <p:cNvSpPr txBox="1"/>
          <p:nvPr/>
        </p:nvSpPr>
        <p:spPr>
          <a:xfrm>
            <a:off x="8647938" y="23728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7" name="Rounded Rectangle 16"/>
          <p:cNvSpPr/>
          <p:nvPr/>
        </p:nvSpPr>
        <p:spPr>
          <a:xfrm>
            <a:off x="8986266" y="2194560"/>
            <a:ext cx="2425446" cy="6858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7706" y="2194560"/>
            <a:ext cx="2242566"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Store as vectors</a:t>
            </a:r>
          </a:p>
        </p:txBody>
      </p:sp>
      <p:sp>
        <p:nvSpPr>
          <p:cNvPr id="19" name="TextBox 18"/>
          <p:cNvSpPr txBox="1"/>
          <p:nvPr/>
        </p:nvSpPr>
        <p:spPr>
          <a:xfrm>
            <a:off x="777240" y="3063240"/>
            <a:ext cx="2743200" cy="365760"/>
          </a:xfrm>
          <a:prstGeom prst="rect">
            <a:avLst/>
          </a:prstGeom>
          <a:noFill/>
        </p:spPr>
        <p:txBody>
          <a:bodyPr wrap="square" anchor="t" lIns="0" rIns="0" tIns="0" bIns="0">
            <a:spAutoFit/>
          </a:bodyPr>
          <a:lstStyle/>
          <a:p>
            <a:pPr algn="l">
              <a:spcBef>
                <a:spcPts val="0"/>
              </a:spcBef>
              <a:spcAft>
                <a:spcPts val="400"/>
              </a:spcAft>
            </a:pPr>
            <a:r>
              <a:rPr sz="1100" b="1">
                <a:solidFill>
                  <a:srgbClr val="F59E0B"/>
                </a:solidFill>
                <a:latin typeface="Arial"/>
              </a:rPr>
              <a:t>RETRIEVAL — every question</a:t>
            </a:r>
          </a:p>
        </p:txBody>
      </p:sp>
      <p:sp>
        <p:nvSpPr>
          <p:cNvPr id="20" name="Rounded Rectangle 19"/>
          <p:cNvSpPr/>
          <p:nvPr/>
        </p:nvSpPr>
        <p:spPr>
          <a:xfrm>
            <a:off x="777240" y="3429000"/>
            <a:ext cx="1878177" cy="6858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429000"/>
            <a:ext cx="1695297"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Question</a:t>
            </a:r>
          </a:p>
        </p:txBody>
      </p:sp>
      <p:sp>
        <p:nvSpPr>
          <p:cNvPr id="22" name="TextBox 21"/>
          <p:cNvSpPr txBox="1"/>
          <p:nvPr/>
        </p:nvSpPr>
        <p:spPr>
          <a:xfrm>
            <a:off x="2627985" y="36073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3" name="Rounded Rectangle 22"/>
          <p:cNvSpPr/>
          <p:nvPr/>
        </p:nvSpPr>
        <p:spPr>
          <a:xfrm>
            <a:off x="2966313" y="3429000"/>
            <a:ext cx="1878177" cy="6858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7753" y="3429000"/>
            <a:ext cx="1695297"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Embed</a:t>
            </a:r>
          </a:p>
        </p:txBody>
      </p:sp>
      <p:sp>
        <p:nvSpPr>
          <p:cNvPr id="25" name="TextBox 24"/>
          <p:cNvSpPr txBox="1"/>
          <p:nvPr/>
        </p:nvSpPr>
        <p:spPr>
          <a:xfrm>
            <a:off x="4817058" y="36073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6" name="Rounded Rectangle 25"/>
          <p:cNvSpPr/>
          <p:nvPr/>
        </p:nvSpPr>
        <p:spPr>
          <a:xfrm>
            <a:off x="5155386" y="3429000"/>
            <a:ext cx="1878177" cy="6858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46826" y="3429000"/>
            <a:ext cx="1695297"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Nearest top_k</a:t>
            </a:r>
          </a:p>
        </p:txBody>
      </p:sp>
      <p:sp>
        <p:nvSpPr>
          <p:cNvPr id="28" name="TextBox 27"/>
          <p:cNvSpPr txBox="1"/>
          <p:nvPr/>
        </p:nvSpPr>
        <p:spPr>
          <a:xfrm>
            <a:off x="7006131" y="36073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9" name="Rounded Rectangle 28"/>
          <p:cNvSpPr/>
          <p:nvPr/>
        </p:nvSpPr>
        <p:spPr>
          <a:xfrm>
            <a:off x="7344459" y="3429000"/>
            <a:ext cx="1878177" cy="6858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35899" y="3429000"/>
            <a:ext cx="1695297"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Into the prompt</a:t>
            </a:r>
          </a:p>
        </p:txBody>
      </p:sp>
      <p:sp>
        <p:nvSpPr>
          <p:cNvPr id="31" name="TextBox 30"/>
          <p:cNvSpPr txBox="1"/>
          <p:nvPr/>
        </p:nvSpPr>
        <p:spPr>
          <a:xfrm>
            <a:off x="9195204" y="36073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32" name="Rounded Rectangle 31"/>
          <p:cNvSpPr/>
          <p:nvPr/>
        </p:nvSpPr>
        <p:spPr>
          <a:xfrm>
            <a:off x="9533532" y="3429000"/>
            <a:ext cx="1878177" cy="6858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24972" y="3429000"/>
            <a:ext cx="1695297"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Answer</a:t>
            </a:r>
          </a:p>
        </p:txBody>
      </p:sp>
      <p:sp>
        <p:nvSpPr>
          <p:cNvPr id="34" name="Rounded Rectangle 33"/>
          <p:cNvSpPr/>
          <p:nvPr/>
        </p:nvSpPr>
        <p:spPr>
          <a:xfrm>
            <a:off x="777240" y="4343400"/>
            <a:ext cx="2439162" cy="123444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 y="448970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Chunk</a:t>
            </a:r>
          </a:p>
        </p:txBody>
      </p:sp>
      <p:sp>
        <p:nvSpPr>
          <p:cNvPr id="36" name="TextBox 35"/>
          <p:cNvSpPr txBox="1"/>
          <p:nvPr/>
        </p:nvSpPr>
        <p:spPr>
          <a:xfrm>
            <a:off x="978408" y="4892040"/>
            <a:ext cx="2036826" cy="5394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How a document is split — here one brochure = one chunk.</a:t>
            </a:r>
          </a:p>
        </p:txBody>
      </p:sp>
      <p:sp>
        <p:nvSpPr>
          <p:cNvPr id="37" name="Rounded Rectangle 36"/>
          <p:cNvSpPr/>
          <p:nvPr/>
        </p:nvSpPr>
        <p:spPr>
          <a:xfrm>
            <a:off x="3509010" y="4343400"/>
            <a:ext cx="2439162" cy="123444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10178" y="448970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Embedding</a:t>
            </a:r>
          </a:p>
        </p:txBody>
      </p:sp>
      <p:sp>
        <p:nvSpPr>
          <p:cNvPr id="39" name="TextBox 38"/>
          <p:cNvSpPr txBox="1"/>
          <p:nvPr/>
        </p:nvSpPr>
        <p:spPr>
          <a:xfrm>
            <a:off x="3710178" y="4892040"/>
            <a:ext cx="2036826" cy="5394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Text as a list of numbers; similar meaning → nearby vectors.</a:t>
            </a:r>
          </a:p>
        </p:txBody>
      </p:sp>
      <p:sp>
        <p:nvSpPr>
          <p:cNvPr id="40" name="Rounded Rectangle 39"/>
          <p:cNvSpPr/>
          <p:nvPr/>
        </p:nvSpPr>
        <p:spPr>
          <a:xfrm>
            <a:off x="6240780" y="4343400"/>
            <a:ext cx="2439162" cy="123444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41948" y="448970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Similarity</a:t>
            </a:r>
          </a:p>
        </p:txBody>
      </p:sp>
      <p:sp>
        <p:nvSpPr>
          <p:cNvPr id="42" name="TextBox 41"/>
          <p:cNvSpPr txBox="1"/>
          <p:nvPr/>
        </p:nvSpPr>
        <p:spPr>
          <a:xfrm>
            <a:off x="6441948" y="4892040"/>
            <a:ext cx="2036826" cy="5394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Nearness of two vectors — how 'related' two texts are.</a:t>
            </a:r>
          </a:p>
        </p:txBody>
      </p:sp>
      <p:sp>
        <p:nvSpPr>
          <p:cNvPr id="43" name="Rounded Rectangle 42"/>
          <p:cNvSpPr/>
          <p:nvPr/>
        </p:nvSpPr>
        <p:spPr>
          <a:xfrm>
            <a:off x="8972550" y="4343400"/>
            <a:ext cx="2439162" cy="123444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73718" y="448970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top_k</a:t>
            </a:r>
          </a:p>
        </p:txBody>
      </p:sp>
      <p:sp>
        <p:nvSpPr>
          <p:cNvPr id="45" name="TextBox 44"/>
          <p:cNvSpPr txBox="1"/>
          <p:nvPr/>
        </p:nvSpPr>
        <p:spPr>
          <a:xfrm>
            <a:off x="9173718" y="4892040"/>
            <a:ext cx="2036826" cy="5394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How many chunks come back per question — 3 here.</a:t>
            </a:r>
          </a:p>
        </p:txBody>
      </p:sp>
      <p:sp>
        <p:nvSpPr>
          <p:cNvPr id="46" name="Rounded Rectangle 45"/>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Four words — chunk, embedding, similarity, top_k — explain every RAG behaviour you will see.</a:t>
            </a:r>
          </a:p>
        </p:txBody>
      </p:sp>
      <p:sp>
        <p:nvSpPr>
          <p:cNvPr id="48" name="TextBox 4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9" name="TextBox 4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50" name="TextBox 4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How RAG Works</a:t>
            </a:r>
          </a:p>
        </p:txBody>
      </p:sp>
      <p:pic>
        <p:nvPicPr>
          <p:cNvPr id="6" name="Picture 5" descr="rag-flow.png"/>
          <p:cNvPicPr>
            <a:picLocks noChangeAspect="1"/>
          </p:cNvPicPr>
          <p:nvPr/>
        </p:nvPicPr>
        <p:blipFill>
          <a:blip r:embed="rId2"/>
          <a:stretch>
            <a:fillRect/>
          </a:stretch>
        </p:blipFill>
        <p:spPr>
          <a:xfrm>
            <a:off x="1949298" y="1737360"/>
            <a:ext cx="8262923" cy="4160520"/>
          </a:xfrm>
          <a:prstGeom prst="rect">
            <a:avLst/>
          </a:prstGeom>
        </p:spPr>
      </p:pic>
      <p:sp>
        <p:nvSpPr>
          <p:cNvPr id="7" name="Rectangle 6"/>
          <p:cNvSpPr/>
          <p:nvPr/>
        </p:nvSpPr>
        <p:spPr>
          <a:xfrm>
            <a:off x="1936598" y="1724660"/>
            <a:ext cx="8288323" cy="41859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User → Prompt → Data Retrieval (search/retrieve over your data sources) → Generator → Response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Vector Databases — Where the Embeddings Live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In-memory for demos; a hosted store for anything that must survive a restart.</a:t>
            </a:r>
          </a:p>
        </p:txBody>
      </p:sp>
      <p:sp>
        <p:nvSpPr>
          <p:cNvPr id="7" name="Rectangle 6"/>
          <p:cNvSpPr/>
          <p:nvPr/>
        </p:nvSpPr>
        <p:spPr>
          <a:xfrm>
            <a:off x="777240" y="1828800"/>
            <a:ext cx="2377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28800"/>
            <a:ext cx="212140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
            </a:r>
          </a:p>
        </p:txBody>
      </p:sp>
      <p:sp>
        <p:nvSpPr>
          <p:cNvPr id="9" name="Rectangle 8"/>
          <p:cNvSpPr/>
          <p:nvPr/>
        </p:nvSpPr>
        <p:spPr>
          <a:xfrm>
            <a:off x="3154680" y="1828800"/>
            <a:ext cx="274320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82696" y="1828800"/>
            <a:ext cx="248716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Supabase (pgvector)</a:t>
            </a:r>
          </a:p>
        </p:txBody>
      </p:sp>
      <p:sp>
        <p:nvSpPr>
          <p:cNvPr id="11" name="Rectangle 10"/>
          <p:cNvSpPr/>
          <p:nvPr/>
        </p:nvSpPr>
        <p:spPr>
          <a:xfrm>
            <a:off x="5897880" y="1828800"/>
            <a:ext cx="274320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25896" y="1828800"/>
            <a:ext cx="248716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Pinecone</a:t>
            </a:r>
          </a:p>
        </p:txBody>
      </p:sp>
      <p:sp>
        <p:nvSpPr>
          <p:cNvPr id="13" name="Rectangle 12"/>
          <p:cNvSpPr/>
          <p:nvPr/>
        </p:nvSpPr>
        <p:spPr>
          <a:xfrm>
            <a:off x="8641080" y="1828800"/>
            <a:ext cx="277063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69096" y="1828800"/>
            <a:ext cx="2514600"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Qdrant</a:t>
            </a:r>
          </a:p>
        </p:txBody>
      </p:sp>
      <p:sp>
        <p:nvSpPr>
          <p:cNvPr id="15" name="Rectangle 14"/>
          <p:cNvSpPr/>
          <p:nvPr/>
        </p:nvSpPr>
        <p:spPr>
          <a:xfrm>
            <a:off x="777240" y="2304288"/>
            <a:ext cx="23774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304288"/>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What it is</a:t>
            </a:r>
          </a:p>
        </p:txBody>
      </p:sp>
      <p:sp>
        <p:nvSpPr>
          <p:cNvPr id="17" name="Rectangle 16"/>
          <p:cNvSpPr/>
          <p:nvPr/>
        </p:nvSpPr>
        <p:spPr>
          <a:xfrm>
            <a:off x="3154680" y="2304288"/>
            <a:ext cx="27432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82696" y="2304288"/>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Postgres + extension</a:t>
            </a:r>
          </a:p>
        </p:txBody>
      </p:sp>
      <p:sp>
        <p:nvSpPr>
          <p:cNvPr id="19" name="Rectangle 18"/>
          <p:cNvSpPr/>
          <p:nvPr/>
        </p:nvSpPr>
        <p:spPr>
          <a:xfrm>
            <a:off x="5897880" y="2304288"/>
            <a:ext cx="27432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25896" y="2304288"/>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Managed SaaS index</a:t>
            </a:r>
          </a:p>
        </p:txBody>
      </p:sp>
      <p:sp>
        <p:nvSpPr>
          <p:cNvPr id="21" name="Rectangle 20"/>
          <p:cNvSpPr/>
          <p:nvPr/>
        </p:nvSpPr>
        <p:spPr>
          <a:xfrm>
            <a:off x="8641080" y="2304288"/>
            <a:ext cx="277063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69096" y="2304288"/>
            <a:ext cx="2514600"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Open-source vector DB</a:t>
            </a:r>
          </a:p>
        </p:txBody>
      </p:sp>
      <p:sp>
        <p:nvSpPr>
          <p:cNvPr id="23" name="Rectangle 22"/>
          <p:cNvSpPr/>
          <p:nvPr/>
        </p:nvSpPr>
        <p:spPr>
          <a:xfrm>
            <a:off x="777240" y="2779776"/>
            <a:ext cx="23774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79776"/>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Setup</a:t>
            </a:r>
          </a:p>
        </p:txBody>
      </p:sp>
      <p:sp>
        <p:nvSpPr>
          <p:cNvPr id="25" name="Rectangle 24"/>
          <p:cNvSpPr/>
          <p:nvPr/>
        </p:nvSpPr>
        <p:spPr>
          <a:xfrm>
            <a:off x="3154680" y="2779776"/>
            <a:ext cx="274320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82696" y="2779776"/>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SQL table + function</a:t>
            </a:r>
          </a:p>
        </p:txBody>
      </p:sp>
      <p:sp>
        <p:nvSpPr>
          <p:cNvPr id="27" name="Rectangle 26"/>
          <p:cNvSpPr/>
          <p:nvPr/>
        </p:nvSpPr>
        <p:spPr>
          <a:xfrm>
            <a:off x="5897880" y="2779776"/>
            <a:ext cx="274320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25896" y="2779776"/>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Create an index — no schema</a:t>
            </a:r>
          </a:p>
        </p:txBody>
      </p:sp>
      <p:sp>
        <p:nvSpPr>
          <p:cNvPr id="29" name="Rectangle 28"/>
          <p:cNvSpPr/>
          <p:nvPr/>
        </p:nvSpPr>
        <p:spPr>
          <a:xfrm>
            <a:off x="8641080" y="2779776"/>
            <a:ext cx="277063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69096" y="2779776"/>
            <a:ext cx="2514600"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Docker or Qdrant Cloud</a:t>
            </a:r>
          </a:p>
        </p:txBody>
      </p:sp>
      <p:sp>
        <p:nvSpPr>
          <p:cNvPr id="31" name="Rectangle 30"/>
          <p:cNvSpPr/>
          <p:nvPr/>
        </p:nvSpPr>
        <p:spPr>
          <a:xfrm>
            <a:off x="777240" y="3255264"/>
            <a:ext cx="23774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55264"/>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Best for</a:t>
            </a:r>
          </a:p>
        </p:txBody>
      </p:sp>
      <p:sp>
        <p:nvSpPr>
          <p:cNvPr id="33" name="Rectangle 32"/>
          <p:cNvSpPr/>
          <p:nvPr/>
        </p:nvSpPr>
        <p:spPr>
          <a:xfrm>
            <a:off x="3154680" y="3255264"/>
            <a:ext cx="27432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82696" y="3255264"/>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Teams already on Postgres</a:t>
            </a:r>
          </a:p>
        </p:txBody>
      </p:sp>
      <p:sp>
        <p:nvSpPr>
          <p:cNvPr id="35" name="Rectangle 34"/>
          <p:cNvSpPr/>
          <p:nvPr/>
        </p:nvSpPr>
        <p:spPr>
          <a:xfrm>
            <a:off x="5897880" y="3255264"/>
            <a:ext cx="27432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25896" y="3255264"/>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Zero-ops, scales fast</a:t>
            </a:r>
          </a:p>
        </p:txBody>
      </p:sp>
      <p:sp>
        <p:nvSpPr>
          <p:cNvPr id="37" name="Rectangle 36"/>
          <p:cNvSpPr/>
          <p:nvPr/>
        </p:nvSpPr>
        <p:spPr>
          <a:xfrm>
            <a:off x="8641080" y="3255264"/>
            <a:ext cx="277063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69096" y="3255264"/>
            <a:ext cx="2514600"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Full control, self-hosted</a:t>
            </a:r>
          </a:p>
        </p:txBody>
      </p:sp>
      <p:sp>
        <p:nvSpPr>
          <p:cNvPr id="39" name="Rectangle 38"/>
          <p:cNvSpPr/>
          <p:nvPr/>
        </p:nvSpPr>
        <p:spPr>
          <a:xfrm>
            <a:off x="777240" y="3730752"/>
            <a:ext cx="23774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30752"/>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Course embedding</a:t>
            </a:r>
          </a:p>
        </p:txBody>
      </p:sp>
      <p:sp>
        <p:nvSpPr>
          <p:cNvPr id="41" name="Rectangle 40"/>
          <p:cNvSpPr/>
          <p:nvPr/>
        </p:nvSpPr>
        <p:spPr>
          <a:xfrm>
            <a:off x="3154680" y="3730752"/>
            <a:ext cx="274320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82696" y="3730752"/>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OpenAI 1536-dim</a:t>
            </a:r>
          </a:p>
        </p:txBody>
      </p:sp>
      <p:sp>
        <p:nvSpPr>
          <p:cNvPr id="43" name="Rectangle 42"/>
          <p:cNvSpPr/>
          <p:nvPr/>
        </p:nvSpPr>
        <p:spPr>
          <a:xfrm>
            <a:off x="5897880" y="3730752"/>
            <a:ext cx="274320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25896" y="3730752"/>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Gemini 3072-dim</a:t>
            </a:r>
          </a:p>
        </p:txBody>
      </p:sp>
      <p:sp>
        <p:nvSpPr>
          <p:cNvPr id="45" name="Rectangle 44"/>
          <p:cNvSpPr/>
          <p:nvPr/>
        </p:nvSpPr>
        <p:spPr>
          <a:xfrm>
            <a:off x="8641080" y="3730752"/>
            <a:ext cx="277063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769096" y="3730752"/>
            <a:ext cx="2514600"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OpenAI 1536-dim</a:t>
            </a:r>
          </a:p>
        </p:txBody>
      </p:sp>
      <p:sp>
        <p:nvSpPr>
          <p:cNvPr id="47" name="Rounded Rectangle 46"/>
          <p:cNvSpPr/>
          <p:nvPr/>
        </p:nvSpPr>
        <p:spPr>
          <a:xfrm>
            <a:off x="777240" y="4343400"/>
            <a:ext cx="10634472" cy="11887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51560" y="4507992"/>
            <a:ext cx="10058400" cy="292608"/>
          </a:xfrm>
          <a:prstGeom prst="rect">
            <a:avLst/>
          </a:prstGeom>
          <a:noFill/>
        </p:spPr>
        <p:txBody>
          <a:bodyPr wrap="square" anchor="t" lIns="0" rIns="0" tIns="0" bIns="0">
            <a:spAutoFit/>
          </a:bodyPr>
          <a:lstStyle/>
          <a:p>
            <a:pPr algn="l">
              <a:spcBef>
                <a:spcPts val="0"/>
              </a:spcBef>
              <a:spcAft>
                <a:spcPts val="400"/>
              </a:spcAft>
            </a:pPr>
            <a:r>
              <a:rPr sz="1200" b="1">
                <a:solidFill>
                  <a:srgbClr val="C62F2F"/>
                </a:solidFill>
                <a:latin typeface="Arial"/>
              </a:rPr>
              <a:t>THE DIMENSION RULE</a:t>
            </a:r>
          </a:p>
        </p:txBody>
      </p:sp>
      <p:sp>
        <p:nvSpPr>
          <p:cNvPr id="49" name="TextBox 48"/>
          <p:cNvSpPr txBox="1"/>
          <p:nvPr/>
        </p:nvSpPr>
        <p:spPr>
          <a:xfrm>
            <a:off x="1051560" y="4828032"/>
            <a:ext cx="10058400" cy="594360"/>
          </a:xfrm>
          <a:prstGeom prst="rect">
            <a:avLst/>
          </a:prstGeom>
          <a:noFill/>
        </p:spPr>
        <p:txBody>
          <a:bodyPr wrap="square" anchor="t" lIns="0" rIns="0" tIns="0" bIns="0">
            <a:spAutoFit/>
          </a:bodyPr>
          <a:lstStyle/>
          <a:p>
            <a:pPr algn="l">
              <a:spcBef>
                <a:spcPts val="0"/>
              </a:spcBef>
              <a:spcAft>
                <a:spcPts val="400"/>
              </a:spcAft>
            </a:pPr>
            <a:r>
              <a:rPr sz="1150" b="0">
                <a:solidFill>
                  <a:srgbClr val="161B26"/>
                </a:solidFill>
                <a:latin typeface="Arial"/>
              </a:rPr>
              <a:t>The store's dimension MUST equal the embedding model's output — OpenAI text-embedding-3-small = 1536, Gemini gemini-embedding-001 = 3072. Mismatched dimensions are the #1 cause of failed inserts.</a:t>
            </a:r>
          </a:p>
        </p:txBody>
      </p:sp>
      <p:sp>
        <p:nvSpPr>
          <p:cNvPr id="50" name="Rounded Rectangle 49"/>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Swap the store, keep the RAG flow — but ingestion and retrieval must use the SAME embedding model.</a:t>
            </a:r>
          </a:p>
        </p:txBody>
      </p:sp>
      <p:sp>
        <p:nvSpPr>
          <p:cNvPr id="52" name="TextBox 5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53" name="TextBox 5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54" name="TextBox 5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7b · VECTOR DATABASE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Pinecone — Example Managed Store</a:t>
            </a:r>
          </a:p>
        </p:txBody>
      </p:sp>
      <p:sp>
        <p:nvSpPr>
          <p:cNvPr id="6" name="TextBox 5"/>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Pinecone is a managed (cloud) vector database for RAG.</a:t>
            </a:r>
          </a:p>
          <a:p>
            <a:pPr>
              <a:spcBef>
                <a:spcPts val="0"/>
              </a:spcBef>
              <a:spcAft>
                <a:spcPts val="1000"/>
              </a:spcAft>
            </a:pPr>
            <a:r>
              <a:rPr sz="1600" b="1">
                <a:solidFill>
                  <a:srgbClr val="1F6FEB"/>
                </a:solidFill>
                <a:latin typeface="Arial"/>
              </a:rPr>
              <a:t>•  </a:t>
            </a:r>
            <a:r>
              <a:rPr sz="1600">
                <a:solidFill>
                  <a:srgbClr val="161B26"/>
                </a:solidFill>
                <a:latin typeface="Arial"/>
              </a:rPr>
              <a:t>Free 'Starter' tier is enough for this lab.</a:t>
            </a:r>
          </a:p>
          <a:p>
            <a:pPr>
              <a:spcBef>
                <a:spcPts val="0"/>
              </a:spcBef>
              <a:spcAft>
                <a:spcPts val="1000"/>
              </a:spcAft>
            </a:pPr>
            <a:r>
              <a:rPr sz="1600" b="1">
                <a:solidFill>
                  <a:srgbClr val="1F6FEB"/>
                </a:solidFill>
                <a:latin typeface="Arial"/>
              </a:rPr>
              <a:t>•  </a:t>
            </a:r>
            <a:r>
              <a:rPr sz="1600">
                <a:solidFill>
                  <a:srgbClr val="161B26"/>
                </a:solidFill>
                <a:latin typeface="Arial"/>
              </a:rPr>
              <a:t>Create an index: Dimensions = 3072 (Gemini), Metric = cosine.</a:t>
            </a:r>
          </a:p>
          <a:p>
            <a:pPr>
              <a:spcBef>
                <a:spcPts val="0"/>
              </a:spcBef>
              <a:spcAft>
                <a:spcPts val="1000"/>
              </a:spcAft>
            </a:pPr>
            <a:r>
              <a:rPr sz="1600" b="1">
                <a:solidFill>
                  <a:srgbClr val="1F6FEB"/>
                </a:solidFill>
                <a:latin typeface="Arial"/>
              </a:rPr>
              <a:t>•  </a:t>
            </a:r>
            <a:r>
              <a:rPr sz="1600">
                <a:solidFill>
                  <a:srgbClr val="161B26"/>
                </a:solidFill>
                <a:latin typeface="Arial"/>
              </a:rPr>
              <a:t>Upload and retrieval must use the same namespace.</a:t>
            </a:r>
          </a:p>
        </p:txBody>
      </p:sp>
      <p:pic>
        <p:nvPicPr>
          <p:cNvPr id="7" name="Picture 6" descr="site-pinecone.png"/>
          <p:cNvPicPr>
            <a:picLocks noChangeAspect="1"/>
          </p:cNvPicPr>
          <p:nvPr/>
        </p:nvPicPr>
        <p:blipFill>
          <a:blip r:embed="rId2"/>
          <a:stretch>
            <a:fillRect/>
          </a:stretch>
        </p:blipFill>
        <p:spPr>
          <a:xfrm>
            <a:off x="5943600" y="1783080"/>
            <a:ext cx="5486400" cy="3429000"/>
          </a:xfrm>
          <a:prstGeom prst="rect">
            <a:avLst/>
          </a:prstGeom>
        </p:spPr>
      </p:pic>
      <p:sp>
        <p:nvSpPr>
          <p:cNvPr id="8" name="Rectangle 7"/>
          <p:cNvSpPr/>
          <p:nvPr/>
        </p:nvSpPr>
        <p:spPr>
          <a:xfrm>
            <a:off x="5930900" y="177038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TOPIC 5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7a — RAG Chatbot: Upload a PDF, Ask in Telegram</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full RAG loop, no code: a web page ingests your IT-Support FAQ; a Telegram bot answers only from that document.</a:t>
            </a:r>
          </a:p>
        </p:txBody>
      </p:sp>
      <p:sp>
        <p:nvSpPr>
          <p:cNvPr id="7" name="Rounded Rectangle 6"/>
          <p:cNvSpPr/>
          <p:nvPr/>
        </p:nvSpPr>
        <p:spPr>
          <a:xfrm>
            <a:off x="777240"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 Uploader</a:t>
            </a:r>
          </a:p>
          <a:p>
            <a:pPr algn="ctr">
              <a:spcBef>
                <a:spcPts val="0"/>
              </a:spcBef>
              <a:spcAft>
                <a:spcPts val="200"/>
              </a:spcAft>
            </a:pPr>
            <a:r>
              <a:rPr sz="850" b="0">
                <a:solidFill>
                  <a:srgbClr val="5B6372"/>
                </a:solidFill>
                <a:latin typeface="Arial"/>
              </a:rPr>
              <a:t>PDF text extracted in browser</a:t>
            </a:r>
          </a:p>
        </p:txBody>
      </p:sp>
      <p:sp>
        <p:nvSpPr>
          <p:cNvPr id="9" name="TextBox 8"/>
          <p:cNvSpPr txBox="1"/>
          <p:nvPr/>
        </p:nvSpPr>
        <p:spPr>
          <a:xfrm>
            <a:off x="317525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0" name="Rounded Rectangle 9"/>
          <p:cNvSpPr/>
          <p:nvPr/>
        </p:nvSpPr>
        <p:spPr>
          <a:xfrm>
            <a:off x="3513582"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Upload Webhook</a:t>
            </a:r>
          </a:p>
          <a:p>
            <a:pPr algn="ctr">
              <a:spcBef>
                <a:spcPts val="0"/>
              </a:spcBef>
              <a:spcAft>
                <a:spcPts val="200"/>
              </a:spcAft>
            </a:pPr>
            <a:r>
              <a:rPr sz="850" b="0">
                <a:solidFill>
                  <a:srgbClr val="5B6372"/>
                </a:solidFill>
                <a:latin typeface="Arial"/>
              </a:rPr>
              <a:t>POST to n8n</a:t>
            </a:r>
          </a:p>
        </p:txBody>
      </p:sp>
      <p:sp>
        <p:nvSpPr>
          <p:cNvPr id="12" name="TextBox 11"/>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3" name="Rounded Rectangle 12"/>
          <p:cNvSpPr/>
          <p:nvPr/>
        </p:nvSpPr>
        <p:spPr>
          <a:xfrm>
            <a:off x="6249924"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Gemini Embeddings</a:t>
            </a:r>
          </a:p>
          <a:p>
            <a:pPr algn="ctr">
              <a:spcBef>
                <a:spcPts val="0"/>
              </a:spcBef>
              <a:spcAft>
                <a:spcPts val="200"/>
              </a:spcAft>
            </a:pPr>
            <a:r>
              <a:rPr sz="850" b="0">
                <a:solidFill>
                  <a:srgbClr val="5B6372"/>
                </a:solidFill>
                <a:latin typeface="Arial"/>
              </a:rPr>
              <a:t>chunk + embed</a:t>
            </a:r>
          </a:p>
        </p:txBody>
      </p:sp>
      <p:sp>
        <p:nvSpPr>
          <p:cNvPr id="15" name="TextBox 14"/>
          <p:cNvSpPr txBox="1"/>
          <p:nvPr/>
        </p:nvSpPr>
        <p:spPr>
          <a:xfrm>
            <a:off x="864793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6" name="Rounded Rectangle 15"/>
          <p:cNvSpPr/>
          <p:nvPr/>
        </p:nvSpPr>
        <p:spPr>
          <a:xfrm>
            <a:off x="8986266"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Vector Store</a:t>
            </a:r>
          </a:p>
          <a:p>
            <a:pPr algn="ctr">
              <a:spcBef>
                <a:spcPts val="0"/>
              </a:spcBef>
              <a:spcAft>
                <a:spcPts val="200"/>
              </a:spcAft>
            </a:pPr>
            <a:r>
              <a:rPr sz="850" b="0">
                <a:solidFill>
                  <a:srgbClr val="5B6372"/>
                </a:solidFill>
                <a:latin typeface="Arial"/>
              </a:rPr>
              <a:t>in-memory; replaced per upload</a:t>
            </a:r>
          </a:p>
        </p:txBody>
      </p:sp>
      <p:sp>
        <p:nvSpPr>
          <p:cNvPr id="18" name="Rounded Rectangle 17"/>
          <p:cNvSpPr/>
          <p:nvPr/>
        </p:nvSpPr>
        <p:spPr>
          <a:xfrm>
            <a:off x="777240" y="2706624"/>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2706624"/>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Trigger</a:t>
            </a:r>
          </a:p>
          <a:p>
            <a:pPr algn="ctr">
              <a:spcBef>
                <a:spcPts val="0"/>
              </a:spcBef>
              <a:spcAft>
                <a:spcPts val="200"/>
              </a:spcAft>
            </a:pPr>
            <a:r>
              <a:rPr sz="850" b="0">
                <a:solidFill>
                  <a:srgbClr val="5B6372"/>
                </a:solidFill>
                <a:latin typeface="Arial"/>
              </a:rPr>
              <a:t>'How do I reset my password?'</a:t>
            </a:r>
          </a:p>
        </p:txBody>
      </p:sp>
      <p:sp>
        <p:nvSpPr>
          <p:cNvPr id="20" name="TextBox 19"/>
          <p:cNvSpPr txBox="1"/>
          <p:nvPr/>
        </p:nvSpPr>
        <p:spPr>
          <a:xfrm>
            <a:off x="4087368" y="2916936"/>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1" name="Rounded Rectangle 20"/>
          <p:cNvSpPr/>
          <p:nvPr/>
        </p:nvSpPr>
        <p:spPr>
          <a:xfrm>
            <a:off x="4425696" y="2706624"/>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17136" y="2706624"/>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Agent</a:t>
            </a:r>
          </a:p>
          <a:p>
            <a:pPr algn="ctr">
              <a:spcBef>
                <a:spcPts val="0"/>
              </a:spcBef>
              <a:spcAft>
                <a:spcPts val="200"/>
              </a:spcAft>
            </a:pPr>
            <a:r>
              <a:rPr sz="850" b="0">
                <a:solidFill>
                  <a:srgbClr val="5B6372"/>
                </a:solidFill>
                <a:latin typeface="Arial"/>
              </a:rPr>
              <a:t>knowledge_base retriever tool</a:t>
            </a:r>
          </a:p>
        </p:txBody>
      </p:sp>
      <p:sp>
        <p:nvSpPr>
          <p:cNvPr id="23" name="TextBox 22"/>
          <p:cNvSpPr txBox="1"/>
          <p:nvPr/>
        </p:nvSpPr>
        <p:spPr>
          <a:xfrm>
            <a:off x="7735824" y="2916936"/>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4" name="Rounded Rectangle 23"/>
          <p:cNvSpPr/>
          <p:nvPr/>
        </p:nvSpPr>
        <p:spPr>
          <a:xfrm>
            <a:off x="8074152" y="2706624"/>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65592" y="2706624"/>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 Send</a:t>
            </a:r>
          </a:p>
          <a:p>
            <a:pPr algn="ctr">
              <a:spcBef>
                <a:spcPts val="0"/>
              </a:spcBef>
              <a:spcAft>
                <a:spcPts val="200"/>
              </a:spcAft>
            </a:pPr>
            <a:r>
              <a:rPr sz="850" b="0">
                <a:solidFill>
                  <a:srgbClr val="5B6372"/>
                </a:solidFill>
                <a:latin typeface="Arial"/>
              </a:rPr>
              <a:t>answers only from the document</a:t>
            </a:r>
          </a:p>
        </p:txBody>
      </p:sp>
      <p:pic>
        <p:nvPicPr>
          <p:cNvPr id="26" name="Picture 25" descr="Activity7a-RAG-Telegram.png"/>
          <p:cNvPicPr>
            <a:picLocks noChangeAspect="1"/>
          </p:cNvPicPr>
          <p:nvPr/>
        </p:nvPicPr>
        <p:blipFill>
          <a:blip r:embed="rId2"/>
          <a:stretch>
            <a:fillRect/>
          </a:stretch>
        </p:blipFill>
        <p:spPr>
          <a:xfrm>
            <a:off x="4430124" y="3657600"/>
            <a:ext cx="3301272" cy="1920240"/>
          </a:xfrm>
          <a:prstGeom prst="rect">
            <a:avLst/>
          </a:prstGeom>
        </p:spPr>
      </p:pic>
      <p:sp>
        <p:nvSpPr>
          <p:cNvPr id="27" name="Rectangle 26"/>
          <p:cNvSpPr/>
          <p:nvPr/>
        </p:nvSpPr>
        <p:spPr>
          <a:xfrm>
            <a:off x="4417424" y="3644900"/>
            <a:ext cx="3326672" cy="194564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5687568"/>
            <a:ext cx="10634472" cy="56692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0120" y="5806440"/>
            <a:ext cx="96012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7a</a:t>
            </a:r>
          </a:p>
        </p:txBody>
      </p:sp>
      <p:sp>
        <p:nvSpPr>
          <p:cNvPr id="31" name="TextBox 30"/>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RAG Chatbot: Upload a PDF, Ask in Telegram</a:t>
            </a:r>
          </a:p>
        </p:txBody>
      </p:sp>
      <p:sp>
        <p:nvSpPr>
          <p:cNvPr id="32" name="TextBox 31"/>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Gemini credential on 3 nodes  ·  off-topic questions are refused  ·  steps in the Learner Guide</a:t>
            </a:r>
          </a:p>
        </p:txBody>
      </p:sp>
      <p:sp>
        <p:nvSpPr>
          <p:cNvPr id="33" name="TextBox 3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4" name="TextBox 3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5" name="TextBox 3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7a · INGESTION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7a — The Upload Page</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A single-page uploader extracts PDF text in the browser with PDF.js.</a:t>
            </a:r>
          </a:p>
          <a:p>
            <a:pPr>
              <a:spcBef>
                <a:spcPts val="0"/>
              </a:spcBef>
              <a:spcAft>
                <a:spcPts val="900"/>
              </a:spcAft>
            </a:pPr>
            <a:r>
              <a:rPr sz="1500" b="1">
                <a:solidFill>
                  <a:srgbClr val="1F6FEB"/>
                </a:solidFill>
                <a:latin typeface="Arial"/>
              </a:rPr>
              <a:t>•  </a:t>
            </a:r>
            <a:r>
              <a:rPr sz="1500">
                <a:solidFill>
                  <a:srgbClr val="161B26"/>
                </a:solidFill>
                <a:latin typeface="Arial"/>
              </a:rPr>
              <a:t>Paste your n8n rag-upload webhook URL and click Test.</a:t>
            </a:r>
          </a:p>
          <a:p>
            <a:pPr>
              <a:spcBef>
                <a:spcPts val="0"/>
              </a:spcBef>
              <a:spcAft>
                <a:spcPts val="900"/>
              </a:spcAft>
            </a:pPr>
            <a:r>
              <a:rPr sz="1500" b="1">
                <a:solidFill>
                  <a:srgbClr val="1F6FEB"/>
                </a:solidFill>
                <a:latin typeface="Arial"/>
              </a:rPr>
              <a:t>•  </a:t>
            </a:r>
            <a:r>
              <a:rPr sz="1500">
                <a:solidFill>
                  <a:srgbClr val="161B26"/>
                </a:solidFill>
                <a:latin typeface="Arial"/>
              </a:rPr>
              <a:t>Drop the IT-Support FAQ PDF and Send to Vector Store to ingest it.</a:t>
            </a:r>
          </a:p>
          <a:p>
            <a:pPr>
              <a:spcBef>
                <a:spcPts val="0"/>
              </a:spcBef>
              <a:spcAft>
                <a:spcPts val="900"/>
              </a:spcAft>
            </a:pPr>
            <a:r>
              <a:rPr sz="1500" b="1">
                <a:solidFill>
                  <a:srgbClr val="1F6FEB"/>
                </a:solidFill>
                <a:latin typeface="Arial"/>
              </a:rPr>
              <a:t>•  </a:t>
            </a:r>
            <a:r>
              <a:rPr sz="1500">
                <a:solidFill>
                  <a:srgbClr val="161B26"/>
                </a:solidFill>
                <a:latin typeface="Arial"/>
              </a:rPr>
              <a:t>No build step — just open the HTML file.</a:t>
            </a:r>
          </a:p>
        </p:txBody>
      </p:sp>
      <p:pic>
        <p:nvPicPr>
          <p:cNvPr id="7" name="Picture 6" descr="Activity7a-website.png"/>
          <p:cNvPicPr>
            <a:picLocks noChangeAspect="1"/>
          </p:cNvPicPr>
          <p:nvPr/>
        </p:nvPicPr>
        <p:blipFill>
          <a:blip r:embed="rId2"/>
          <a:stretch>
            <a:fillRect/>
          </a:stretch>
        </p:blipFill>
        <p:spPr>
          <a:xfrm>
            <a:off x="6955262" y="1828800"/>
            <a:ext cx="3463076" cy="3611880"/>
          </a:xfrm>
          <a:prstGeom prst="rect">
            <a:avLst/>
          </a:prstGeom>
        </p:spPr>
      </p:pic>
      <p:sp>
        <p:nvSpPr>
          <p:cNvPr id="8" name="Rectangle 7"/>
          <p:cNvSpPr/>
          <p:nvPr/>
        </p:nvSpPr>
        <p:spPr>
          <a:xfrm>
            <a:off x="6942562" y="1816100"/>
            <a:ext cx="3488476" cy="363728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TOPIC 5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7b — Ingestion: 20 Brochures into a Vector DB</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Cook &amp; Bake Academy: load 20 course brochures from Google Drive into your chosen vector database — run once.</a:t>
            </a:r>
          </a:p>
        </p:txBody>
      </p:sp>
      <p:sp>
        <p:nvSpPr>
          <p:cNvPr id="7" name="Rounded Rectangle 6"/>
          <p:cNvSpPr/>
          <p:nvPr/>
        </p:nvSpPr>
        <p:spPr>
          <a:xfrm>
            <a:off x="777240"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Manual Trigger</a:t>
            </a:r>
          </a:p>
          <a:p>
            <a:pPr algn="ctr">
              <a:spcBef>
                <a:spcPts val="0"/>
              </a:spcBef>
              <a:spcAft>
                <a:spcPts val="200"/>
              </a:spcAft>
            </a:pPr>
            <a:r>
              <a:rPr sz="850" b="0">
                <a:solidFill>
                  <a:srgbClr val="5B6372"/>
                </a:solidFill>
                <a:latin typeface="Arial"/>
              </a:rPr>
              <a:t>run once</a:t>
            </a:r>
          </a:p>
        </p:txBody>
      </p:sp>
      <p:sp>
        <p:nvSpPr>
          <p:cNvPr id="9" name="TextBox 8"/>
          <p:cNvSpPr txBox="1"/>
          <p:nvPr/>
        </p:nvSpPr>
        <p:spPr>
          <a:xfrm>
            <a:off x="317525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0" name="Rounded Rectangle 9"/>
          <p:cNvSpPr/>
          <p:nvPr/>
        </p:nvSpPr>
        <p:spPr>
          <a:xfrm>
            <a:off x="3513582"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Google Drive</a:t>
            </a:r>
          </a:p>
          <a:p>
            <a:pPr algn="ctr">
              <a:spcBef>
                <a:spcPts val="0"/>
              </a:spcBef>
              <a:spcAft>
                <a:spcPts val="200"/>
              </a:spcAft>
            </a:pPr>
            <a:r>
              <a:rPr sz="850" b="0">
                <a:solidFill>
                  <a:srgbClr val="5B6372"/>
                </a:solidFill>
                <a:latin typeface="Arial"/>
              </a:rPr>
              <a:t>list + download 20 brochures</a:t>
            </a:r>
          </a:p>
        </p:txBody>
      </p:sp>
      <p:sp>
        <p:nvSpPr>
          <p:cNvPr id="12" name="TextBox 11"/>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3" name="Rounded Rectangle 12"/>
          <p:cNvSpPr/>
          <p:nvPr/>
        </p:nvSpPr>
        <p:spPr>
          <a:xfrm>
            <a:off x="6249924"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Split + Embed</a:t>
            </a:r>
          </a:p>
          <a:p>
            <a:pPr algn="ctr">
              <a:spcBef>
                <a:spcPts val="0"/>
              </a:spcBef>
              <a:spcAft>
                <a:spcPts val="200"/>
              </a:spcAft>
            </a:pPr>
            <a:r>
              <a:rPr sz="850" b="0">
                <a:solidFill>
                  <a:srgbClr val="5B6372"/>
                </a:solidFill>
                <a:latin typeface="Arial"/>
              </a:rPr>
              <a:t>1 brochure = 1 chunk · Gemini 3072-d</a:t>
            </a:r>
          </a:p>
        </p:txBody>
      </p:sp>
      <p:sp>
        <p:nvSpPr>
          <p:cNvPr id="15" name="TextBox 14"/>
          <p:cNvSpPr txBox="1"/>
          <p:nvPr/>
        </p:nvSpPr>
        <p:spPr>
          <a:xfrm>
            <a:off x="864793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6" name="Rounded Rectangle 15"/>
          <p:cNvSpPr/>
          <p:nvPr/>
        </p:nvSpPr>
        <p:spPr>
          <a:xfrm>
            <a:off x="8986266"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Vector Store — Insert</a:t>
            </a:r>
          </a:p>
          <a:p>
            <a:pPr algn="ctr">
              <a:spcBef>
                <a:spcPts val="0"/>
              </a:spcBef>
              <a:spcAft>
                <a:spcPts val="200"/>
              </a:spcAft>
            </a:pPr>
            <a:r>
              <a:rPr sz="850" b="0">
                <a:solidFill>
                  <a:srgbClr val="5B6372"/>
                </a:solidFill>
                <a:latin typeface="Arial"/>
              </a:rPr>
              <a:t>index: course-brochures</a:t>
            </a:r>
          </a:p>
        </p:txBody>
      </p:sp>
      <p:pic>
        <p:nvPicPr>
          <p:cNvPr id="18" name="Picture 17" descr="Activity7b-Pinecone-Upload.png"/>
          <p:cNvPicPr>
            <a:picLocks noChangeAspect="1"/>
          </p:cNvPicPr>
          <p:nvPr/>
        </p:nvPicPr>
        <p:blipFill>
          <a:blip r:embed="rId2"/>
          <a:stretch>
            <a:fillRect/>
          </a:stretch>
        </p:blipFill>
        <p:spPr>
          <a:xfrm>
            <a:off x="3804920" y="2761488"/>
            <a:ext cx="4551680" cy="2560320"/>
          </a:xfrm>
          <a:prstGeom prst="rect">
            <a:avLst/>
          </a:prstGeom>
        </p:spPr>
      </p:pic>
      <p:sp>
        <p:nvSpPr>
          <p:cNvPr id="19" name="Rectangle 18"/>
          <p:cNvSpPr/>
          <p:nvPr/>
        </p:nvSpPr>
        <p:spPr>
          <a:xfrm>
            <a:off x="3792220" y="2748788"/>
            <a:ext cx="4577080" cy="25857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394960"/>
            <a:ext cx="10607040" cy="219456"/>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Shown: Pinecone ingestion. Supabase &amp; Qdrant flows are identical except the store node + OpenAI 1536-d embeddings.</a:t>
            </a:r>
          </a:p>
        </p:txBody>
      </p:sp>
      <p:sp>
        <p:nvSpPr>
          <p:cNvPr id="21" name="Rounded Rectangle 20"/>
          <p:cNvSpPr/>
          <p:nvPr/>
        </p:nvSpPr>
        <p:spPr>
          <a:xfrm>
            <a:off x="777240" y="5687568"/>
            <a:ext cx="10634472" cy="56692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0120" y="5806440"/>
            <a:ext cx="96012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7b</a:t>
            </a:r>
          </a:p>
        </p:txBody>
      </p:sp>
      <p:sp>
        <p:nvSpPr>
          <p:cNvPr id="24" name="TextBox 23"/>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Ingestion: 20 Brochures into a Vector DB</a:t>
            </a:r>
          </a:p>
        </p:txBody>
      </p:sp>
      <p:sp>
        <p:nvSpPr>
          <p:cNvPr id="25" name="TextBox 24"/>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Choose Supabase / Pinecone / Qdrant  ·  20 vectors after the run  ·  steps in the Learner Guide</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TOPIC 5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7b — CX Agent: Grounded Support Chatbot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answering half: the website chat widget POSTs each question; the agent retrieves matching brochures and answers grounded.</a:t>
            </a:r>
          </a:p>
        </p:txBody>
      </p:sp>
      <p:sp>
        <p:nvSpPr>
          <p:cNvPr id="7" name="Rounded Rectangle 6"/>
          <p:cNvSpPr/>
          <p:nvPr/>
        </p:nvSpPr>
        <p:spPr>
          <a:xfrm>
            <a:off x="777240" y="1810512"/>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Webhook — POST</a:t>
            </a:r>
          </a:p>
          <a:p>
            <a:pPr algn="ctr">
              <a:spcBef>
                <a:spcPts val="0"/>
              </a:spcBef>
              <a:spcAft>
                <a:spcPts val="200"/>
              </a:spcAft>
            </a:pPr>
            <a:r>
              <a:rPr sz="850" b="0">
                <a:solidFill>
                  <a:srgbClr val="5B6372"/>
                </a:solidFill>
                <a:latin typeface="Arial"/>
              </a:rPr>
              <a:t>website chat widget</a:t>
            </a:r>
          </a:p>
        </p:txBody>
      </p:sp>
      <p:sp>
        <p:nvSpPr>
          <p:cNvPr id="9" name="TextBox 8"/>
          <p:cNvSpPr txBox="1"/>
          <p:nvPr/>
        </p:nvSpPr>
        <p:spPr>
          <a:xfrm>
            <a:off x="408736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0" name="Rounded Rectangle 9"/>
          <p:cNvSpPr/>
          <p:nvPr/>
        </p:nvSpPr>
        <p:spPr>
          <a:xfrm>
            <a:off x="4425696" y="1810512"/>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Agent</a:t>
            </a:r>
          </a:p>
          <a:p>
            <a:pPr algn="ctr">
              <a:spcBef>
                <a:spcPts val="0"/>
              </a:spcBef>
              <a:spcAft>
                <a:spcPts val="200"/>
              </a:spcAft>
            </a:pPr>
            <a:r>
              <a:rPr sz="850" b="0">
                <a:solidFill>
                  <a:srgbClr val="5B6372"/>
                </a:solidFill>
                <a:latin typeface="Arial"/>
              </a:rPr>
              <a:t>Pinecone retriever tool + Gemini</a:t>
            </a:r>
          </a:p>
        </p:txBody>
      </p:sp>
      <p:sp>
        <p:nvSpPr>
          <p:cNvPr id="12" name="TextBox 11"/>
          <p:cNvSpPr txBox="1"/>
          <p:nvPr/>
        </p:nvSpPr>
        <p:spPr>
          <a:xfrm>
            <a:off x="773582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3" name="Rounded Rectangle 12"/>
          <p:cNvSpPr/>
          <p:nvPr/>
        </p:nvSpPr>
        <p:spPr>
          <a:xfrm>
            <a:off x="8074152" y="1810512"/>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Respond to Webhook</a:t>
            </a:r>
          </a:p>
          <a:p>
            <a:pPr algn="ctr">
              <a:spcBef>
                <a:spcPts val="0"/>
              </a:spcBef>
              <a:spcAft>
                <a:spcPts val="200"/>
              </a:spcAft>
            </a:pPr>
            <a:r>
              <a:rPr sz="850" b="0">
                <a:solidFill>
                  <a:srgbClr val="5B6372"/>
                </a:solidFill>
                <a:latin typeface="Arial"/>
              </a:rPr>
              <a:t>grounded answer to the widget</a:t>
            </a:r>
          </a:p>
        </p:txBody>
      </p:sp>
      <p:pic>
        <p:nvPicPr>
          <p:cNvPr id="15" name="Picture 14" descr="Activity7b-CX-Agent.png"/>
          <p:cNvPicPr>
            <a:picLocks noChangeAspect="1"/>
          </p:cNvPicPr>
          <p:nvPr/>
        </p:nvPicPr>
        <p:blipFill>
          <a:blip r:embed="rId2"/>
          <a:stretch>
            <a:fillRect/>
          </a:stretch>
        </p:blipFill>
        <p:spPr>
          <a:xfrm>
            <a:off x="3577336" y="2761488"/>
            <a:ext cx="5006848" cy="2816352"/>
          </a:xfrm>
          <a:prstGeom prst="rect">
            <a:avLst/>
          </a:prstGeom>
        </p:spPr>
      </p:pic>
      <p:sp>
        <p:nvSpPr>
          <p:cNvPr id="16" name="Rectangle 15"/>
          <p:cNvSpPr/>
          <p:nvPr/>
        </p:nvSpPr>
        <p:spPr>
          <a:xfrm>
            <a:off x="3564636" y="2748788"/>
            <a:ext cx="5032248"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5687568"/>
            <a:ext cx="10634472" cy="56692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 y="5806440"/>
            <a:ext cx="96012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7b</a:t>
            </a:r>
          </a:p>
        </p:txBody>
      </p:sp>
      <p:sp>
        <p:nvSpPr>
          <p:cNvPr id="20" name="TextBox 19"/>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CX Agent: Grounded Support Chatbot</a:t>
            </a:r>
          </a:p>
        </p:txBody>
      </p:sp>
      <p:sp>
        <p:nvSpPr>
          <p:cNvPr id="21" name="TextBox 20"/>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Same index, same embeddings, same namespace as ingestion  ·  steps in the Learner Guide</a:t>
            </a:r>
          </a:p>
        </p:txBody>
      </p:sp>
      <p:sp>
        <p:nvSpPr>
          <p:cNvPr id="22" name="TextBox 2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3" name="TextBox 2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4" name="TextBox 2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7b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Cook &amp; Bake Academy — Support Chatbot</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A one-page training-center site with a floating chat widget.</a:t>
            </a:r>
          </a:p>
          <a:p>
            <a:pPr>
              <a:spcBef>
                <a:spcPts val="0"/>
              </a:spcBef>
              <a:spcAft>
                <a:spcPts val="900"/>
              </a:spcAft>
            </a:pPr>
            <a:r>
              <a:rPr sz="1500" b="1">
                <a:solidFill>
                  <a:srgbClr val="1F6FEB"/>
                </a:solidFill>
                <a:latin typeface="Arial"/>
              </a:rPr>
              <a:t>•  </a:t>
            </a:r>
            <a:r>
              <a:rPr sz="1500">
                <a:solidFill>
                  <a:srgbClr val="161B26"/>
                </a:solidFill>
                <a:latin typeface="Arial"/>
              </a:rPr>
              <a:t>Visitors ask about any course — duration, fee, location, schedule.</a:t>
            </a:r>
          </a:p>
          <a:p>
            <a:pPr>
              <a:spcBef>
                <a:spcPts val="0"/>
              </a:spcBef>
              <a:spcAft>
                <a:spcPts val="900"/>
              </a:spcAft>
            </a:pPr>
            <a:r>
              <a:rPr sz="1500" b="1">
                <a:solidFill>
                  <a:srgbClr val="1F6FEB"/>
                </a:solidFill>
                <a:latin typeface="Arial"/>
              </a:rPr>
              <a:t>•  </a:t>
            </a:r>
            <a:r>
              <a:rPr sz="1500">
                <a:solidFill>
                  <a:srgbClr val="161B26"/>
                </a:solidFill>
                <a:latin typeface="Arial"/>
              </a:rPr>
              <a:t>Answers are grounded in the 20 ingested brochures.</a:t>
            </a:r>
          </a:p>
          <a:p>
            <a:pPr>
              <a:spcBef>
                <a:spcPts val="0"/>
              </a:spcBef>
              <a:spcAft>
                <a:spcPts val="900"/>
              </a:spcAft>
            </a:pPr>
            <a:r>
              <a:rPr sz="1500" b="1">
                <a:solidFill>
                  <a:srgbClr val="1F6FEB"/>
                </a:solidFill>
                <a:latin typeface="Arial"/>
              </a:rPr>
              <a:t>•  </a:t>
            </a:r>
            <a:r>
              <a:rPr sz="1500">
                <a:solidFill>
                  <a:srgbClr val="161B26"/>
                </a:solidFill>
                <a:latin typeface="Arial"/>
              </a:rPr>
              <a:t>Set WEBHOOK_URL in script.js to your n8n CX Agent Production URL.</a:t>
            </a:r>
          </a:p>
        </p:txBody>
      </p:sp>
      <p:pic>
        <p:nvPicPr>
          <p:cNvPr id="7" name="Picture 6" descr="Activity7b-website.png"/>
          <p:cNvPicPr>
            <a:picLocks noChangeAspect="1"/>
          </p:cNvPicPr>
          <p:nvPr/>
        </p:nvPicPr>
        <p:blipFill>
          <a:blip r:embed="rId2"/>
          <a:stretch>
            <a:fillRect/>
          </a:stretch>
        </p:blipFill>
        <p:spPr>
          <a:xfrm>
            <a:off x="5943600" y="1828800"/>
            <a:ext cx="5486400" cy="3429000"/>
          </a:xfrm>
          <a:prstGeom prst="rect">
            <a:avLst/>
          </a:prstGeom>
        </p:spPr>
      </p:pic>
      <p:sp>
        <p:nvSpPr>
          <p:cNvPr id="8" name="Rectangle 7"/>
          <p:cNvSpPr/>
          <p:nvPr/>
        </p:nvSpPr>
        <p:spPr>
          <a:xfrm>
            <a:off x="5930900" y="181610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C62F2F"/>
                </a:solidFill>
                <a:latin typeface="Arial"/>
              </a:rPr>
              <a:t>TOPIC 6</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Security, Human-in-the-Loop &amp; Guardrails</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Where the human belongs · approval gates · input and output guardrails</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C62F2F"/>
                </a:solidFill>
                <a:latin typeface="Arial"/>
              </a:rPr>
              <a:t>Applied in Activities 8a, 8b and 8c</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06</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6 · SECURITY &amp; GOVERNANCE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Human In, On, and Out of the Loop</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Three arrangements people use interchangeably — and they are not the same thing.</a:t>
            </a:r>
          </a:p>
        </p:txBody>
      </p:sp>
      <p:sp>
        <p:nvSpPr>
          <p:cNvPr id="7" name="Rectangle 6"/>
          <p:cNvSpPr/>
          <p:nvPr/>
        </p:nvSpPr>
        <p:spPr>
          <a:xfrm>
            <a:off x="777240" y="1828800"/>
            <a:ext cx="310896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28800"/>
            <a:ext cx="2852928" cy="512064"/>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Pattern</a:t>
            </a:r>
          </a:p>
        </p:txBody>
      </p:sp>
      <p:sp>
        <p:nvSpPr>
          <p:cNvPr id="9" name="Rectangle 8"/>
          <p:cNvSpPr/>
          <p:nvPr/>
        </p:nvSpPr>
        <p:spPr>
          <a:xfrm>
            <a:off x="3886200" y="1828800"/>
            <a:ext cx="283464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14216" y="1828800"/>
            <a:ext cx="2578608" cy="512064"/>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Who decides</a:t>
            </a:r>
          </a:p>
        </p:txBody>
      </p:sp>
      <p:sp>
        <p:nvSpPr>
          <p:cNvPr id="11" name="Rectangle 10"/>
          <p:cNvSpPr/>
          <p:nvPr/>
        </p:nvSpPr>
        <p:spPr>
          <a:xfrm>
            <a:off x="6720840" y="1828800"/>
            <a:ext cx="237744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8856" y="1828800"/>
            <a:ext cx="2121408" cy="512064"/>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Who acts</a:t>
            </a:r>
          </a:p>
        </p:txBody>
      </p:sp>
      <p:sp>
        <p:nvSpPr>
          <p:cNvPr id="13" name="Rectangle 12"/>
          <p:cNvSpPr/>
          <p:nvPr/>
        </p:nvSpPr>
        <p:spPr>
          <a:xfrm>
            <a:off x="9098280" y="1828800"/>
            <a:ext cx="2313432"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26296" y="1828800"/>
            <a:ext cx="2057400" cy="512064"/>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Can AI proceed alone?</a:t>
            </a:r>
          </a:p>
        </p:txBody>
      </p:sp>
      <p:sp>
        <p:nvSpPr>
          <p:cNvPr id="15" name="Rectangle 14"/>
          <p:cNvSpPr/>
          <p:nvPr/>
        </p:nvSpPr>
        <p:spPr>
          <a:xfrm>
            <a:off x="777240" y="2340864"/>
            <a:ext cx="310896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340864"/>
            <a:ext cx="2852928" cy="512064"/>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Human IN the loop</a:t>
            </a:r>
          </a:p>
        </p:txBody>
      </p:sp>
      <p:sp>
        <p:nvSpPr>
          <p:cNvPr id="17" name="Rectangle 16"/>
          <p:cNvSpPr/>
          <p:nvPr/>
        </p:nvSpPr>
        <p:spPr>
          <a:xfrm>
            <a:off x="3886200" y="2340864"/>
            <a:ext cx="283464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14216" y="2340864"/>
            <a:ext cx="25786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AI proposes, human decides</a:t>
            </a:r>
          </a:p>
        </p:txBody>
      </p:sp>
      <p:sp>
        <p:nvSpPr>
          <p:cNvPr id="19" name="Rectangle 18"/>
          <p:cNvSpPr/>
          <p:nvPr/>
        </p:nvSpPr>
        <p:spPr>
          <a:xfrm>
            <a:off x="6720840" y="2340864"/>
            <a:ext cx="237744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48856" y="2340864"/>
            <a:ext cx="21214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Human approves, system acts</a:t>
            </a:r>
          </a:p>
        </p:txBody>
      </p:sp>
      <p:sp>
        <p:nvSpPr>
          <p:cNvPr id="21" name="Rectangle 20"/>
          <p:cNvSpPr/>
          <p:nvPr/>
        </p:nvSpPr>
        <p:spPr>
          <a:xfrm>
            <a:off x="9098280" y="2340864"/>
            <a:ext cx="2313432"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26296" y="2340864"/>
            <a:ext cx="2057400"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NO — it blocks</a:t>
            </a:r>
          </a:p>
        </p:txBody>
      </p:sp>
      <p:sp>
        <p:nvSpPr>
          <p:cNvPr id="23" name="Rectangle 22"/>
          <p:cNvSpPr/>
          <p:nvPr/>
        </p:nvSpPr>
        <p:spPr>
          <a:xfrm>
            <a:off x="777240" y="2852928"/>
            <a:ext cx="3108960"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52928"/>
            <a:ext cx="2852928" cy="512064"/>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Human ON the loop</a:t>
            </a:r>
          </a:p>
        </p:txBody>
      </p:sp>
      <p:sp>
        <p:nvSpPr>
          <p:cNvPr id="25" name="Rectangle 24"/>
          <p:cNvSpPr/>
          <p:nvPr/>
        </p:nvSpPr>
        <p:spPr>
          <a:xfrm>
            <a:off x="3886200" y="2852928"/>
            <a:ext cx="2834640"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14216" y="2852928"/>
            <a:ext cx="25786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AI decides and acts</a:t>
            </a:r>
          </a:p>
        </p:txBody>
      </p:sp>
      <p:sp>
        <p:nvSpPr>
          <p:cNvPr id="27" name="Rectangle 26"/>
          <p:cNvSpPr/>
          <p:nvPr/>
        </p:nvSpPr>
        <p:spPr>
          <a:xfrm>
            <a:off x="6720840" y="2852928"/>
            <a:ext cx="2377440"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48856" y="2852928"/>
            <a:ext cx="21214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Human monitors, can intervene</a:t>
            </a:r>
          </a:p>
        </p:txBody>
      </p:sp>
      <p:sp>
        <p:nvSpPr>
          <p:cNvPr id="29" name="Rectangle 28"/>
          <p:cNvSpPr/>
          <p:nvPr/>
        </p:nvSpPr>
        <p:spPr>
          <a:xfrm>
            <a:off x="9098280" y="2852928"/>
            <a:ext cx="2313432"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26296" y="2852928"/>
            <a:ext cx="2057400"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Yes — reviewed after</a:t>
            </a:r>
          </a:p>
        </p:txBody>
      </p:sp>
      <p:sp>
        <p:nvSpPr>
          <p:cNvPr id="31" name="Rectangle 30"/>
          <p:cNvSpPr/>
          <p:nvPr/>
        </p:nvSpPr>
        <p:spPr>
          <a:xfrm>
            <a:off x="777240" y="3364992"/>
            <a:ext cx="310896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364992"/>
            <a:ext cx="2852928" cy="512064"/>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Human OUT of the loop</a:t>
            </a:r>
          </a:p>
        </p:txBody>
      </p:sp>
      <p:sp>
        <p:nvSpPr>
          <p:cNvPr id="33" name="Rectangle 32"/>
          <p:cNvSpPr/>
          <p:nvPr/>
        </p:nvSpPr>
        <p:spPr>
          <a:xfrm>
            <a:off x="3886200" y="3364992"/>
            <a:ext cx="283464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14216" y="3364992"/>
            <a:ext cx="25786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AI decides and acts</a:t>
            </a:r>
          </a:p>
        </p:txBody>
      </p:sp>
      <p:sp>
        <p:nvSpPr>
          <p:cNvPr id="35" name="Rectangle 34"/>
          <p:cNvSpPr/>
          <p:nvPr/>
        </p:nvSpPr>
        <p:spPr>
          <a:xfrm>
            <a:off x="6720840" y="3364992"/>
            <a:ext cx="237744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48856" y="3364992"/>
            <a:ext cx="21214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AI acts</a:t>
            </a:r>
          </a:p>
        </p:txBody>
      </p:sp>
      <p:sp>
        <p:nvSpPr>
          <p:cNvPr id="37" name="Rectangle 36"/>
          <p:cNvSpPr/>
          <p:nvPr/>
        </p:nvSpPr>
        <p:spPr>
          <a:xfrm>
            <a:off x="9098280" y="3364992"/>
            <a:ext cx="2313432"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26296" y="3364992"/>
            <a:ext cx="2057400"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Yes — nobody checks</a:t>
            </a:r>
          </a:p>
        </p:txBody>
      </p:sp>
      <p:sp>
        <p:nvSpPr>
          <p:cNvPr id="39" name="Rounded Rectangle 38"/>
          <p:cNvSpPr/>
          <p:nvPr/>
        </p:nvSpPr>
        <p:spPr>
          <a:xfrm>
            <a:off x="777240" y="4206240"/>
            <a:ext cx="10634472" cy="128016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1560" y="4370832"/>
            <a:ext cx="10058400" cy="292608"/>
          </a:xfrm>
          <a:prstGeom prst="rect">
            <a:avLst/>
          </a:prstGeom>
          <a:noFill/>
        </p:spPr>
        <p:txBody>
          <a:bodyPr wrap="square" anchor="t" lIns="0" rIns="0" tIns="0" bIns="0">
            <a:spAutoFit/>
          </a:bodyPr>
          <a:lstStyle/>
          <a:p>
            <a:pPr algn="l">
              <a:spcBef>
                <a:spcPts val="0"/>
              </a:spcBef>
              <a:spcAft>
                <a:spcPts val="400"/>
              </a:spcAft>
            </a:pPr>
            <a:r>
              <a:rPr sz="1200" b="1">
                <a:solidFill>
                  <a:srgbClr val="1F6FEB"/>
                </a:solidFill>
                <a:latin typeface="Arial"/>
              </a:rPr>
              <a:t>WHERE THIS COURSE PUTS THE HUMAN</a:t>
            </a:r>
          </a:p>
        </p:txBody>
      </p:sp>
      <p:sp>
        <p:nvSpPr>
          <p:cNvPr id="41" name="TextBox 40"/>
          <p:cNvSpPr txBox="1"/>
          <p:nvPr/>
        </p:nvSpPr>
        <p:spPr>
          <a:xfrm>
            <a:off x="1051560" y="4700016"/>
            <a:ext cx="10058400" cy="731520"/>
          </a:xfrm>
          <a:prstGeom prst="rect">
            <a:avLst/>
          </a:prstGeom>
          <a:noFill/>
        </p:spPr>
        <p:txBody>
          <a:bodyPr wrap="square" anchor="t" lIns="0" rIns="0" tIns="0" bIns="0">
            <a:spAutoFit/>
          </a:bodyPr>
          <a:lstStyle/>
          <a:p>
            <a:pPr algn="l">
              <a:spcBef>
                <a:spcPts val="0"/>
              </a:spcBef>
              <a:spcAft>
                <a:spcPts val="400"/>
              </a:spcAft>
            </a:pPr>
            <a:r>
              <a:rPr sz="1150" b="0">
                <a:solidFill>
                  <a:srgbClr val="161B26"/>
                </a:solidFill>
                <a:latin typeface="Arial"/>
              </a:rPr>
              <a:t>Activity 8a — the manager approves leave before any email goes to the employee (IN the loop). The dashboard (8b) and chatbot (8c) run alone, but the chatbot is fenced by guardrails on both sides.</a:t>
            </a:r>
          </a:p>
        </p:txBody>
      </p:sp>
      <p:sp>
        <p:nvSpPr>
          <p:cNvPr id="42" name="Rounded Rectangle 41"/>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Ask who pays for the mistake — that answer sizes the agent's authority and places the human.</a:t>
            </a:r>
          </a:p>
        </p:txBody>
      </p:sp>
      <p:sp>
        <p:nvSpPr>
          <p:cNvPr id="44" name="TextBox 4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5" name="TextBox 4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6" name="TextBox 4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6 · SECURITY &amp; GOVERNANCE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How an Approval Suspends a Running Flow</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n8n's Send and Wait for Response physically pauses the workflow until a person clicks.</a:t>
            </a:r>
          </a:p>
        </p:txBody>
      </p:sp>
      <p:sp>
        <p:nvSpPr>
          <p:cNvPr id="7" name="Rounded Rectangle 6"/>
          <p:cNvSpPr/>
          <p:nvPr/>
        </p:nvSpPr>
        <p:spPr>
          <a:xfrm>
            <a:off x="777240"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Request submitted</a:t>
            </a:r>
          </a:p>
          <a:p>
            <a:pPr algn="ctr">
              <a:spcBef>
                <a:spcPts val="0"/>
              </a:spcBef>
              <a:spcAft>
                <a:spcPts val="200"/>
              </a:spcAft>
            </a:pPr>
            <a:r>
              <a:rPr sz="900" b="0">
                <a:solidFill>
                  <a:srgbClr val="5B6372"/>
                </a:solidFill>
                <a:latin typeface="Arial"/>
              </a:rPr>
              <a:t>employee applies for leave</a:t>
            </a:r>
          </a:p>
        </p:txBody>
      </p:sp>
      <p:sp>
        <p:nvSpPr>
          <p:cNvPr id="9" name="TextBox 8"/>
          <p:cNvSpPr txBox="1"/>
          <p:nvPr/>
        </p:nvSpPr>
        <p:spPr>
          <a:xfrm>
            <a:off x="2627985"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0" name="Rounded Rectangle 9"/>
          <p:cNvSpPr/>
          <p:nvPr/>
        </p:nvSpPr>
        <p:spPr>
          <a:xfrm>
            <a:off x="2966313"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Send &amp; Wait</a:t>
            </a:r>
          </a:p>
          <a:p>
            <a:pPr algn="ctr">
              <a:spcBef>
                <a:spcPts val="0"/>
              </a:spcBef>
              <a:spcAft>
                <a:spcPts val="200"/>
              </a:spcAft>
            </a:pPr>
            <a:r>
              <a:rPr sz="900" b="0">
                <a:solidFill>
                  <a:srgbClr val="5B6372"/>
                </a:solidFill>
                <a:latin typeface="Arial"/>
              </a:rPr>
              <a:t>manager gets Approve / Decline email</a:t>
            </a:r>
          </a:p>
        </p:txBody>
      </p:sp>
      <p:sp>
        <p:nvSpPr>
          <p:cNvPr id="12" name="TextBox 11"/>
          <p:cNvSpPr txBox="1"/>
          <p:nvPr/>
        </p:nvSpPr>
        <p:spPr>
          <a:xfrm>
            <a:off x="4817058"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3" name="Rounded Rectangle 12"/>
          <p:cNvSpPr/>
          <p:nvPr/>
        </p:nvSpPr>
        <p:spPr>
          <a:xfrm>
            <a:off x="5155386"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The run SUSPENDS</a:t>
            </a:r>
          </a:p>
          <a:p>
            <a:pPr algn="ctr">
              <a:spcBef>
                <a:spcPts val="0"/>
              </a:spcBef>
              <a:spcAft>
                <a:spcPts val="200"/>
              </a:spcAft>
            </a:pPr>
            <a:r>
              <a:rPr sz="900" b="0">
                <a:solidFill>
                  <a:srgbClr val="5B6372"/>
                </a:solidFill>
                <a:latin typeface="Arial"/>
              </a:rPr>
              <a:t>minutes or days — it waits</a:t>
            </a:r>
          </a:p>
        </p:txBody>
      </p:sp>
      <p:sp>
        <p:nvSpPr>
          <p:cNvPr id="15" name="TextBox 14"/>
          <p:cNvSpPr txBox="1"/>
          <p:nvPr/>
        </p:nvSpPr>
        <p:spPr>
          <a:xfrm>
            <a:off x="7006131"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6" name="Rounded Rectangle 15"/>
          <p:cNvSpPr/>
          <p:nvPr/>
        </p:nvSpPr>
        <p:spPr>
          <a:xfrm>
            <a:off x="7344459"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A person responds</a:t>
            </a:r>
          </a:p>
          <a:p>
            <a:pPr algn="ctr">
              <a:spcBef>
                <a:spcPts val="0"/>
              </a:spcBef>
              <a:spcAft>
                <a:spcPts val="200"/>
              </a:spcAft>
            </a:pPr>
            <a:r>
              <a:rPr sz="900" b="0">
                <a:solidFill>
                  <a:srgbClr val="5B6372"/>
                </a:solidFill>
                <a:latin typeface="Arial"/>
              </a:rPr>
              <a:t>one click in the email</a:t>
            </a:r>
          </a:p>
        </p:txBody>
      </p:sp>
      <p:sp>
        <p:nvSpPr>
          <p:cNvPr id="18" name="TextBox 17"/>
          <p:cNvSpPr txBox="1"/>
          <p:nvPr/>
        </p:nvSpPr>
        <p:spPr>
          <a:xfrm>
            <a:off x="9195204"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9" name="Rounded Rectangle 18"/>
          <p:cNvSpPr/>
          <p:nvPr/>
        </p:nvSpPr>
        <p:spPr>
          <a:xfrm>
            <a:off x="9533532"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IF reads the outcome</a:t>
            </a:r>
          </a:p>
          <a:p>
            <a:pPr algn="ctr">
              <a:spcBef>
                <a:spcPts val="0"/>
              </a:spcBef>
              <a:spcAft>
                <a:spcPts val="200"/>
              </a:spcAft>
            </a:pPr>
            <a:r>
              <a:rPr sz="900" b="0">
                <a:solidFill>
                  <a:srgbClr val="5B6372"/>
                </a:solidFill>
                <a:latin typeface="Arial"/>
              </a:rPr>
              <a:t>approved → notify · declined → notify</a:t>
            </a:r>
          </a:p>
        </p:txBody>
      </p:sp>
      <p:sp>
        <p:nvSpPr>
          <p:cNvPr id="21" name="Rounded Rectangle 20"/>
          <p:cNvSpPr/>
          <p:nvPr/>
        </p:nvSpPr>
        <p:spPr>
          <a:xfrm>
            <a:off x="777240" y="3291840"/>
            <a:ext cx="3349752" cy="224028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438144"/>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Outcome = Approve</a:t>
            </a:r>
          </a:p>
        </p:txBody>
      </p:sp>
      <p:sp>
        <p:nvSpPr>
          <p:cNvPr id="23" name="TextBox 22"/>
          <p:cNvSpPr txBox="1"/>
          <p:nvPr/>
        </p:nvSpPr>
        <p:spPr>
          <a:xfrm>
            <a:off x="978408" y="3840480"/>
            <a:ext cx="2947416" cy="15453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Send the approval email, update the record, continue the business process.</a:t>
            </a:r>
          </a:p>
        </p:txBody>
      </p:sp>
      <p:sp>
        <p:nvSpPr>
          <p:cNvPr id="24" name="Rounded Rectangle 23"/>
          <p:cNvSpPr/>
          <p:nvPr/>
        </p:nvSpPr>
        <p:spPr>
          <a:xfrm>
            <a:off x="4419600" y="3291840"/>
            <a:ext cx="3349752" cy="224028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20768" y="3438144"/>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Outcome = Decline</a:t>
            </a:r>
          </a:p>
        </p:txBody>
      </p:sp>
      <p:sp>
        <p:nvSpPr>
          <p:cNvPr id="26" name="TextBox 25"/>
          <p:cNvSpPr txBox="1"/>
          <p:nvPr/>
        </p:nvSpPr>
        <p:spPr>
          <a:xfrm>
            <a:off x="4620768" y="3840480"/>
            <a:ext cx="2947416" cy="15453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Send the rejection with the manager's comments — never silence.</a:t>
            </a:r>
          </a:p>
        </p:txBody>
      </p:sp>
      <p:sp>
        <p:nvSpPr>
          <p:cNvPr id="27" name="Rounded Rectangle 26"/>
          <p:cNvSpPr/>
          <p:nvPr/>
        </p:nvSpPr>
        <p:spPr>
          <a:xfrm>
            <a:off x="8061960" y="3291840"/>
            <a:ext cx="3349752" cy="22402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3128" y="3438144"/>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Ack first</a:t>
            </a:r>
          </a:p>
        </p:txBody>
      </p:sp>
      <p:sp>
        <p:nvSpPr>
          <p:cNvPr id="29" name="TextBox 28"/>
          <p:cNvSpPr txBox="1"/>
          <p:nvPr/>
        </p:nvSpPr>
        <p:spPr>
          <a:xfrm>
            <a:off x="8263128" y="3840480"/>
            <a:ext cx="2947416" cy="15453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The portal gets an instant 'received' response BEFORE the wait — the browser never hangs on a manager.</a:t>
            </a:r>
          </a:p>
        </p:txBody>
      </p:sp>
      <p:sp>
        <p:nvSpPr>
          <p:cNvPr id="30" name="Rounded Rectangle 29"/>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 pause that is still paused tomorrow is a real gate — that is the deliverable of Activity 8a.</a:t>
            </a:r>
          </a:p>
        </p:txBody>
      </p:sp>
      <p:sp>
        <p:nvSpPr>
          <p:cNvPr id="32" name="TextBox 3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3" name="TextBox 3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4" name="TextBox 3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6 · SECURITY &amp; GOVERNANCE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Guardrails — Two Gates Around the Agent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An LLM checks every message in, and every reply out — the agent only sees and says what passes.</a:t>
            </a:r>
          </a:p>
        </p:txBody>
      </p:sp>
      <p:sp>
        <p:nvSpPr>
          <p:cNvPr id="7" name="Rounded Rectangle 6"/>
          <p:cNvSpPr/>
          <p:nvPr/>
        </p:nvSpPr>
        <p:spPr>
          <a:xfrm>
            <a:off x="777240"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User message</a:t>
            </a:r>
          </a:p>
          <a:p>
            <a:pPr algn="ctr">
              <a:spcBef>
                <a:spcPts val="0"/>
              </a:spcBef>
              <a:spcAft>
                <a:spcPts val="200"/>
              </a:spcAft>
            </a:pPr>
            <a:r>
              <a:rPr sz="900" b="0">
                <a:solidFill>
                  <a:srgbClr val="5B6372"/>
                </a:solidFill>
                <a:latin typeface="Arial"/>
              </a:rPr>
              <a:t>from the HR portal</a:t>
            </a:r>
          </a:p>
        </p:txBody>
      </p:sp>
      <p:sp>
        <p:nvSpPr>
          <p:cNvPr id="9" name="TextBox 8"/>
          <p:cNvSpPr txBox="1"/>
          <p:nvPr/>
        </p:nvSpPr>
        <p:spPr>
          <a:xfrm>
            <a:off x="2627985"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0" name="Rounded Rectangle 9"/>
          <p:cNvSpPr/>
          <p:nvPr/>
        </p:nvSpPr>
        <p:spPr>
          <a:xfrm>
            <a:off x="2966313"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INPUT guardrail</a:t>
            </a:r>
          </a:p>
          <a:p>
            <a:pPr algn="ctr">
              <a:spcBef>
                <a:spcPts val="0"/>
              </a:spcBef>
              <a:spcAft>
                <a:spcPts val="200"/>
              </a:spcAft>
            </a:pPr>
            <a:r>
              <a:rPr sz="900" b="0">
                <a:solidFill>
                  <a:srgbClr val="5B6372"/>
                </a:solidFill>
                <a:latin typeface="Arial"/>
              </a:rPr>
              <a:t>LLM: ALLOW / BLOCK</a:t>
            </a:r>
          </a:p>
        </p:txBody>
      </p:sp>
      <p:sp>
        <p:nvSpPr>
          <p:cNvPr id="12" name="TextBox 11"/>
          <p:cNvSpPr txBox="1"/>
          <p:nvPr/>
        </p:nvSpPr>
        <p:spPr>
          <a:xfrm>
            <a:off x="4817058"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3" name="Rounded Rectangle 12"/>
          <p:cNvSpPr/>
          <p:nvPr/>
        </p:nvSpPr>
        <p:spPr>
          <a:xfrm>
            <a:off x="5155386"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HR AI Agent</a:t>
            </a:r>
          </a:p>
          <a:p>
            <a:pPr algn="ctr">
              <a:spcBef>
                <a:spcPts val="0"/>
              </a:spcBef>
              <a:spcAft>
                <a:spcPts val="200"/>
              </a:spcAft>
            </a:pPr>
            <a:r>
              <a:rPr sz="900" b="0">
                <a:solidFill>
                  <a:srgbClr val="5B6372"/>
                </a:solidFill>
                <a:latin typeface="Arial"/>
              </a:rPr>
              <a:t>answers in-scope questions</a:t>
            </a:r>
          </a:p>
        </p:txBody>
      </p:sp>
      <p:sp>
        <p:nvSpPr>
          <p:cNvPr id="15" name="TextBox 14"/>
          <p:cNvSpPr txBox="1"/>
          <p:nvPr/>
        </p:nvSpPr>
        <p:spPr>
          <a:xfrm>
            <a:off x="7006131"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6" name="Rounded Rectangle 15"/>
          <p:cNvSpPr/>
          <p:nvPr/>
        </p:nvSpPr>
        <p:spPr>
          <a:xfrm>
            <a:off x="7344459"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OUTPUT guardrail</a:t>
            </a:r>
          </a:p>
          <a:p>
            <a:pPr algn="ctr">
              <a:spcBef>
                <a:spcPts val="0"/>
              </a:spcBef>
              <a:spcAft>
                <a:spcPts val="200"/>
              </a:spcAft>
            </a:pPr>
            <a:r>
              <a:rPr sz="900" b="0">
                <a:solidFill>
                  <a:srgbClr val="5B6372"/>
                </a:solidFill>
                <a:latin typeface="Arial"/>
              </a:rPr>
              <a:t>LLM: SAFE / LEAK</a:t>
            </a:r>
          </a:p>
        </p:txBody>
      </p:sp>
      <p:sp>
        <p:nvSpPr>
          <p:cNvPr id="18" name="TextBox 17"/>
          <p:cNvSpPr txBox="1"/>
          <p:nvPr/>
        </p:nvSpPr>
        <p:spPr>
          <a:xfrm>
            <a:off x="9195204"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9" name="Rounded Rectangle 18"/>
          <p:cNvSpPr/>
          <p:nvPr/>
        </p:nvSpPr>
        <p:spPr>
          <a:xfrm>
            <a:off x="9533532"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Reply or blocked</a:t>
            </a:r>
          </a:p>
          <a:p>
            <a:pPr algn="ctr">
              <a:spcBef>
                <a:spcPts val="0"/>
              </a:spcBef>
              <a:spcAft>
                <a:spcPts val="200"/>
              </a:spcAft>
            </a:pPr>
            <a:r>
              <a:rPr sz="900" b="0">
                <a:solidFill>
                  <a:srgbClr val="5B6372"/>
                </a:solidFill>
                <a:latin typeface="Arial"/>
              </a:rPr>
              <a:t>user sees the safe path</a:t>
            </a:r>
          </a:p>
        </p:txBody>
      </p:sp>
      <p:sp>
        <p:nvSpPr>
          <p:cNvPr id="21" name="Rounded Rectangle 20"/>
          <p:cNvSpPr/>
          <p:nvPr/>
        </p:nvSpPr>
        <p:spPr>
          <a:xfrm>
            <a:off x="777240" y="3291840"/>
            <a:ext cx="5170932" cy="224028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60120" y="343814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343814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4" name="TextBox 23"/>
          <p:cNvSpPr txBox="1"/>
          <p:nvPr/>
        </p:nvSpPr>
        <p:spPr>
          <a:xfrm>
            <a:off x="1399032" y="344728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Input (pre) guardrail blocks</a:t>
            </a:r>
          </a:p>
        </p:txBody>
      </p:sp>
      <p:sp>
        <p:nvSpPr>
          <p:cNvPr id="25" name="TextBox 24"/>
          <p:cNvSpPr txBox="1"/>
          <p:nvPr/>
        </p:nvSpPr>
        <p:spPr>
          <a:xfrm>
            <a:off x="978408" y="3840480"/>
            <a:ext cx="4768596" cy="15453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Prompt injection ('ignore previous instructions'), jailbreaks, requests for another person's salary or private data.</a:t>
            </a:r>
          </a:p>
        </p:txBody>
      </p:sp>
      <p:sp>
        <p:nvSpPr>
          <p:cNvPr id="26" name="Rounded Rectangle 25"/>
          <p:cNvSpPr/>
          <p:nvPr/>
        </p:nvSpPr>
        <p:spPr>
          <a:xfrm>
            <a:off x="6240780" y="3291840"/>
            <a:ext cx="5170932" cy="224028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23660" y="343814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3660" y="343814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29" name="TextBox 28"/>
          <p:cNvSpPr txBox="1"/>
          <p:nvPr/>
        </p:nvSpPr>
        <p:spPr>
          <a:xfrm>
            <a:off x="6862572" y="344728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Output (post) guardrail blocks</a:t>
            </a:r>
          </a:p>
        </p:txBody>
      </p:sp>
      <p:sp>
        <p:nvSpPr>
          <p:cNvPr id="30" name="TextBox 29"/>
          <p:cNvSpPr txBox="1"/>
          <p:nvPr/>
        </p:nvSpPr>
        <p:spPr>
          <a:xfrm>
            <a:off x="6441948" y="3840480"/>
            <a:ext cx="4768596" cy="15453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Salary figures, NRIC, credentials, system-instruction leaks — even when the agent was tricked into producing them.</a:t>
            </a:r>
          </a:p>
        </p:txBody>
      </p:sp>
      <p:sp>
        <p:nvSpPr>
          <p:cNvPr id="31" name="Rounded Rectangle 30"/>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Instructions say what the agent SHOULD do; guardrails enforce what it MUST NOT — you need both.</a:t>
            </a:r>
          </a:p>
        </p:txBody>
      </p:sp>
      <p:sp>
        <p:nvSpPr>
          <p:cNvPr id="33" name="TextBox 3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4" name="TextBox 3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5" name="TextBox 3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TOPIC 6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8a — Leave Application &amp; Manager Approval (HITL)</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employee applies on the portal; the flow acks, then suspends until the manager clicks Approve or Decline in email.</a:t>
            </a:r>
          </a:p>
        </p:txBody>
      </p:sp>
      <p:sp>
        <p:nvSpPr>
          <p:cNvPr id="7" name="Rounded Rectangle 6"/>
          <p:cNvSpPr/>
          <p:nvPr/>
        </p:nvSpPr>
        <p:spPr>
          <a:xfrm>
            <a:off x="777240"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Webhook — POST</a:t>
            </a:r>
          </a:p>
          <a:p>
            <a:pPr algn="ctr">
              <a:spcBef>
                <a:spcPts val="0"/>
              </a:spcBef>
              <a:spcAft>
                <a:spcPts val="200"/>
              </a:spcAft>
            </a:pPr>
            <a:r>
              <a:rPr sz="850" b="0">
                <a:solidFill>
                  <a:srgbClr val="5B6372"/>
                </a:solidFill>
                <a:latin typeface="Arial"/>
              </a:rPr>
              <a:t>hr-leave-apply</a:t>
            </a:r>
          </a:p>
        </p:txBody>
      </p:sp>
      <p:sp>
        <p:nvSpPr>
          <p:cNvPr id="9" name="TextBox 8"/>
          <p:cNvSpPr txBox="1"/>
          <p:nvPr/>
        </p:nvSpPr>
        <p:spPr>
          <a:xfrm>
            <a:off x="2627985"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0" name="Rounded Rectangle 9"/>
          <p:cNvSpPr/>
          <p:nvPr/>
        </p:nvSpPr>
        <p:spPr>
          <a:xfrm>
            <a:off x="2966313"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Respond — Ack</a:t>
            </a:r>
          </a:p>
          <a:p>
            <a:pPr algn="ctr">
              <a:spcBef>
                <a:spcPts val="0"/>
              </a:spcBef>
              <a:spcAft>
                <a:spcPts val="200"/>
              </a:spcAft>
            </a:pPr>
            <a:r>
              <a:rPr sz="850" b="0">
                <a:solidFill>
                  <a:srgbClr val="5B6372"/>
                </a:solidFill>
                <a:latin typeface="Arial"/>
              </a:rPr>
              <a:t>portal gets instant OK</a:t>
            </a:r>
          </a:p>
        </p:txBody>
      </p:sp>
      <p:sp>
        <p:nvSpPr>
          <p:cNvPr id="12" name="TextBox 11"/>
          <p:cNvSpPr txBox="1"/>
          <p:nvPr/>
        </p:nvSpPr>
        <p:spPr>
          <a:xfrm>
            <a:off x="481705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3" name="Rounded Rectangle 12"/>
          <p:cNvSpPr/>
          <p:nvPr/>
        </p:nvSpPr>
        <p:spPr>
          <a:xfrm>
            <a:off x="5155386"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 — Send &amp; Wait</a:t>
            </a:r>
          </a:p>
          <a:p>
            <a:pPr algn="ctr">
              <a:spcBef>
                <a:spcPts val="0"/>
              </a:spcBef>
              <a:spcAft>
                <a:spcPts val="200"/>
              </a:spcAft>
            </a:pPr>
            <a:r>
              <a:rPr sz="850" b="0">
                <a:solidFill>
                  <a:srgbClr val="5B6372"/>
                </a:solidFill>
                <a:latin typeface="Arial"/>
              </a:rPr>
              <a:t>manager: Approve / Decline</a:t>
            </a:r>
          </a:p>
        </p:txBody>
      </p:sp>
      <p:sp>
        <p:nvSpPr>
          <p:cNvPr id="15" name="TextBox 14"/>
          <p:cNvSpPr txBox="1"/>
          <p:nvPr/>
        </p:nvSpPr>
        <p:spPr>
          <a:xfrm>
            <a:off x="7006131"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6" name="Rounded Rectangle 15"/>
          <p:cNvSpPr/>
          <p:nvPr/>
        </p:nvSpPr>
        <p:spPr>
          <a:xfrm>
            <a:off x="7344459"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IF</a:t>
            </a:r>
          </a:p>
          <a:p>
            <a:pPr algn="ctr">
              <a:spcBef>
                <a:spcPts val="0"/>
              </a:spcBef>
              <a:spcAft>
                <a:spcPts val="200"/>
              </a:spcAft>
            </a:pPr>
            <a:r>
              <a:rPr sz="850" b="0">
                <a:solidFill>
                  <a:srgbClr val="5B6372"/>
                </a:solidFill>
                <a:latin typeface="Arial"/>
              </a:rPr>
              <a:t>approved = true ?</a:t>
            </a:r>
          </a:p>
        </p:txBody>
      </p:sp>
      <p:sp>
        <p:nvSpPr>
          <p:cNvPr id="18" name="TextBox 17"/>
          <p:cNvSpPr txBox="1"/>
          <p:nvPr/>
        </p:nvSpPr>
        <p:spPr>
          <a:xfrm>
            <a:off x="919520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9" name="Rounded Rectangle 18"/>
          <p:cNvSpPr/>
          <p:nvPr/>
        </p:nvSpPr>
        <p:spPr>
          <a:xfrm>
            <a:off x="9533532"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a:t>
            </a:r>
          </a:p>
          <a:p>
            <a:pPr algn="ctr">
              <a:spcBef>
                <a:spcPts val="0"/>
              </a:spcBef>
              <a:spcAft>
                <a:spcPts val="200"/>
              </a:spcAft>
            </a:pPr>
            <a:r>
              <a:rPr sz="850" b="0">
                <a:solidFill>
                  <a:srgbClr val="5B6372"/>
                </a:solidFill>
                <a:latin typeface="Arial"/>
              </a:rPr>
              <a:t>notify the employee</a:t>
            </a:r>
          </a:p>
        </p:txBody>
      </p:sp>
      <p:pic>
        <p:nvPicPr>
          <p:cNvPr id="21" name="Picture 20" descr="Activity8 - Leave Application &amp; Manager Approval (Human-in-the-Loop).png"/>
          <p:cNvPicPr>
            <a:picLocks noChangeAspect="1"/>
          </p:cNvPicPr>
          <p:nvPr/>
        </p:nvPicPr>
        <p:blipFill>
          <a:blip r:embed="rId2"/>
          <a:stretch>
            <a:fillRect/>
          </a:stretch>
        </p:blipFill>
        <p:spPr>
          <a:xfrm>
            <a:off x="2388922" y="2761488"/>
            <a:ext cx="7383676" cy="2816352"/>
          </a:xfrm>
          <a:prstGeom prst="rect">
            <a:avLst/>
          </a:prstGeom>
        </p:spPr>
      </p:pic>
      <p:sp>
        <p:nvSpPr>
          <p:cNvPr id="22" name="Rectangle 21"/>
          <p:cNvSpPr/>
          <p:nvPr/>
        </p:nvSpPr>
        <p:spPr>
          <a:xfrm>
            <a:off x="2376222" y="2748788"/>
            <a:ext cx="7409076"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5687568"/>
            <a:ext cx="10634472" cy="56692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5806440"/>
            <a:ext cx="960120" cy="32918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8a</a:t>
            </a:r>
          </a:p>
        </p:txBody>
      </p:sp>
      <p:sp>
        <p:nvSpPr>
          <p:cNvPr id="26" name="TextBox 25"/>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Leave Application &amp; Manager Approval (HITL)</a:t>
            </a:r>
          </a:p>
        </p:txBody>
      </p:sp>
      <p:sp>
        <p:nvSpPr>
          <p:cNvPr id="27" name="TextBox 26"/>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Human-in-the-loop gate  ·  run suspends until the click  ·  steps in the Learner Guide</a:t>
            </a:r>
          </a:p>
        </p:txBody>
      </p:sp>
      <p:sp>
        <p:nvSpPr>
          <p:cNvPr id="28" name="TextBox 2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TOPIC 6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8b — HR Dashboard Data (GET Webhook)</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 GET webhook powers the portal's Dashboard tab — leave balance and history returned as JSON to the browser.</a:t>
            </a:r>
          </a:p>
        </p:txBody>
      </p:sp>
      <p:sp>
        <p:nvSpPr>
          <p:cNvPr id="7" name="Rounded Rectangle 6"/>
          <p:cNvSpPr/>
          <p:nvPr/>
        </p:nvSpPr>
        <p:spPr>
          <a:xfrm>
            <a:off x="777240" y="1810512"/>
            <a:ext cx="3337560"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Webhook — GET</a:t>
            </a:r>
          </a:p>
          <a:p>
            <a:pPr algn="ctr">
              <a:spcBef>
                <a:spcPts val="0"/>
              </a:spcBef>
              <a:spcAft>
                <a:spcPts val="200"/>
              </a:spcAft>
            </a:pPr>
            <a:r>
              <a:rPr sz="850" b="0">
                <a:solidFill>
                  <a:srgbClr val="5B6372"/>
                </a:solidFill>
                <a:latin typeface="Arial"/>
              </a:rPr>
              <a:t>hr-dashboard?email=…</a:t>
            </a:r>
          </a:p>
        </p:txBody>
      </p:sp>
      <p:sp>
        <p:nvSpPr>
          <p:cNvPr id="9" name="TextBox 8"/>
          <p:cNvSpPr txBox="1"/>
          <p:nvPr/>
        </p:nvSpPr>
        <p:spPr>
          <a:xfrm>
            <a:off x="408736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0" name="Rounded Rectangle 9"/>
          <p:cNvSpPr/>
          <p:nvPr/>
        </p:nvSpPr>
        <p:spPr>
          <a:xfrm>
            <a:off x="4425696" y="1810512"/>
            <a:ext cx="3337560"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Code</a:t>
            </a:r>
          </a:p>
          <a:p>
            <a:pPr algn="ctr">
              <a:spcBef>
                <a:spcPts val="0"/>
              </a:spcBef>
              <a:spcAft>
                <a:spcPts val="200"/>
              </a:spcAft>
            </a:pPr>
            <a:r>
              <a:rPr sz="850" b="0">
                <a:solidFill>
                  <a:srgbClr val="5B6372"/>
                </a:solidFill>
                <a:latin typeface="Arial"/>
              </a:rPr>
              <a:t>build the leave-data JSON</a:t>
            </a:r>
          </a:p>
        </p:txBody>
      </p:sp>
      <p:sp>
        <p:nvSpPr>
          <p:cNvPr id="12" name="TextBox 11"/>
          <p:cNvSpPr txBox="1"/>
          <p:nvPr/>
        </p:nvSpPr>
        <p:spPr>
          <a:xfrm>
            <a:off x="773582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3" name="Rounded Rectangle 12"/>
          <p:cNvSpPr/>
          <p:nvPr/>
        </p:nvSpPr>
        <p:spPr>
          <a:xfrm>
            <a:off x="8074152" y="1810512"/>
            <a:ext cx="3337560"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Respond to Webhook</a:t>
            </a:r>
          </a:p>
          <a:p>
            <a:pPr algn="ctr">
              <a:spcBef>
                <a:spcPts val="0"/>
              </a:spcBef>
              <a:spcAft>
                <a:spcPts val="200"/>
              </a:spcAft>
            </a:pPr>
            <a:r>
              <a:rPr sz="850" b="0">
                <a:solidFill>
                  <a:srgbClr val="5B6372"/>
                </a:solidFill>
                <a:latin typeface="Arial"/>
              </a:rPr>
              <a:t>JSON back to the portal</a:t>
            </a:r>
          </a:p>
        </p:txBody>
      </p:sp>
      <p:pic>
        <p:nvPicPr>
          <p:cNvPr id="15" name="Picture 14" descr="Activity8 - Dashboard Data (Leave Balance &amp; History).png"/>
          <p:cNvPicPr>
            <a:picLocks noChangeAspect="1"/>
          </p:cNvPicPr>
          <p:nvPr/>
        </p:nvPicPr>
        <p:blipFill>
          <a:blip r:embed="rId2"/>
          <a:stretch>
            <a:fillRect/>
          </a:stretch>
        </p:blipFill>
        <p:spPr>
          <a:xfrm>
            <a:off x="1463040" y="2761488"/>
            <a:ext cx="9235440" cy="2801357"/>
          </a:xfrm>
          <a:prstGeom prst="rect">
            <a:avLst/>
          </a:prstGeom>
        </p:spPr>
      </p:pic>
      <p:sp>
        <p:nvSpPr>
          <p:cNvPr id="16" name="Rectangle 15"/>
          <p:cNvSpPr/>
          <p:nvPr/>
        </p:nvSpPr>
        <p:spPr>
          <a:xfrm>
            <a:off x="1450340" y="2748788"/>
            <a:ext cx="9260840" cy="2826757"/>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5687568"/>
            <a:ext cx="10634472" cy="56692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 y="5806440"/>
            <a:ext cx="960120" cy="32918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8b</a:t>
            </a:r>
          </a:p>
        </p:txBody>
      </p:sp>
      <p:sp>
        <p:nvSpPr>
          <p:cNvPr id="20" name="TextBox 19"/>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HR Dashboard Data (GET Webhook)</a:t>
            </a:r>
          </a:p>
        </p:txBody>
      </p:sp>
      <p:sp>
        <p:nvSpPr>
          <p:cNvPr id="21" name="TextBox 20"/>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GET query read from $json.query.email  ·  CORS = *  ·  steps in the Learner Guide</a:t>
            </a:r>
          </a:p>
        </p:txBody>
      </p:sp>
      <p:sp>
        <p:nvSpPr>
          <p:cNvPr id="22" name="TextBox 2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3" name="TextBox 2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4" name="TextBox 2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TOPIC 6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8c — AI Chatbot with Input &amp; Output Guardrails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HR Buddy answers general HR questions — every message passes the input gate, every reply passes the output gate.</a:t>
            </a:r>
          </a:p>
        </p:txBody>
      </p:sp>
      <p:sp>
        <p:nvSpPr>
          <p:cNvPr id="7" name="Rounded Rectangle 6"/>
          <p:cNvSpPr/>
          <p:nvPr/>
        </p:nvSpPr>
        <p:spPr>
          <a:xfrm>
            <a:off x="777240"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Webhook — POST</a:t>
            </a:r>
          </a:p>
          <a:p>
            <a:pPr algn="ctr">
              <a:spcBef>
                <a:spcPts val="0"/>
              </a:spcBef>
              <a:spcAft>
                <a:spcPts val="200"/>
              </a:spcAft>
            </a:pPr>
            <a:r>
              <a:rPr sz="850" b="0">
                <a:solidFill>
                  <a:srgbClr val="5B6372"/>
                </a:solidFill>
                <a:latin typeface="Arial"/>
              </a:rPr>
              <a:t>hr-chat</a:t>
            </a:r>
          </a:p>
        </p:txBody>
      </p:sp>
      <p:sp>
        <p:nvSpPr>
          <p:cNvPr id="9" name="TextBox 8"/>
          <p:cNvSpPr txBox="1"/>
          <p:nvPr/>
        </p:nvSpPr>
        <p:spPr>
          <a:xfrm>
            <a:off x="2627985"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0" name="Rounded Rectangle 9"/>
          <p:cNvSpPr/>
          <p:nvPr/>
        </p:nvSpPr>
        <p:spPr>
          <a:xfrm>
            <a:off x="2966313"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Input Guardrail</a:t>
            </a:r>
          </a:p>
          <a:p>
            <a:pPr algn="ctr">
              <a:spcBef>
                <a:spcPts val="0"/>
              </a:spcBef>
              <a:spcAft>
                <a:spcPts val="200"/>
              </a:spcAft>
            </a:pPr>
            <a:r>
              <a:rPr sz="850" b="0">
                <a:solidFill>
                  <a:srgbClr val="5B6372"/>
                </a:solidFill>
                <a:latin typeface="Arial"/>
              </a:rPr>
              <a:t>LLM: ALLOW / BLOCK</a:t>
            </a:r>
          </a:p>
        </p:txBody>
      </p:sp>
      <p:sp>
        <p:nvSpPr>
          <p:cNvPr id="12" name="TextBox 11"/>
          <p:cNvSpPr txBox="1"/>
          <p:nvPr/>
        </p:nvSpPr>
        <p:spPr>
          <a:xfrm>
            <a:off x="481705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3" name="Rounded Rectangle 12"/>
          <p:cNvSpPr/>
          <p:nvPr/>
        </p:nvSpPr>
        <p:spPr>
          <a:xfrm>
            <a:off x="5155386"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HR AI Agent</a:t>
            </a:r>
          </a:p>
          <a:p>
            <a:pPr algn="ctr">
              <a:spcBef>
                <a:spcPts val="0"/>
              </a:spcBef>
              <a:spcAft>
                <a:spcPts val="200"/>
              </a:spcAft>
            </a:pPr>
            <a:r>
              <a:rPr sz="850" b="0">
                <a:solidFill>
                  <a:srgbClr val="5B6372"/>
                </a:solidFill>
                <a:latin typeface="Arial"/>
              </a:rPr>
              <a:t>leave · payroll · claims</a:t>
            </a:r>
          </a:p>
        </p:txBody>
      </p:sp>
      <p:sp>
        <p:nvSpPr>
          <p:cNvPr id="15" name="TextBox 14"/>
          <p:cNvSpPr txBox="1"/>
          <p:nvPr/>
        </p:nvSpPr>
        <p:spPr>
          <a:xfrm>
            <a:off x="7006131"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6" name="Rounded Rectangle 15"/>
          <p:cNvSpPr/>
          <p:nvPr/>
        </p:nvSpPr>
        <p:spPr>
          <a:xfrm>
            <a:off x="7344459"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Output Guardrail</a:t>
            </a:r>
          </a:p>
          <a:p>
            <a:pPr algn="ctr">
              <a:spcBef>
                <a:spcPts val="0"/>
              </a:spcBef>
              <a:spcAft>
                <a:spcPts val="200"/>
              </a:spcAft>
            </a:pPr>
            <a:r>
              <a:rPr sz="850" b="0">
                <a:solidFill>
                  <a:srgbClr val="5B6372"/>
                </a:solidFill>
                <a:latin typeface="Arial"/>
              </a:rPr>
              <a:t>LLM: SAFE / LEAK</a:t>
            </a:r>
          </a:p>
        </p:txBody>
      </p:sp>
      <p:sp>
        <p:nvSpPr>
          <p:cNvPr id="18" name="TextBox 17"/>
          <p:cNvSpPr txBox="1"/>
          <p:nvPr/>
        </p:nvSpPr>
        <p:spPr>
          <a:xfrm>
            <a:off x="919520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9" name="Rounded Rectangle 18"/>
          <p:cNvSpPr/>
          <p:nvPr/>
        </p:nvSpPr>
        <p:spPr>
          <a:xfrm>
            <a:off x="9533532"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Respond</a:t>
            </a:r>
          </a:p>
          <a:p>
            <a:pPr algn="ctr">
              <a:spcBef>
                <a:spcPts val="0"/>
              </a:spcBef>
              <a:spcAft>
                <a:spcPts val="200"/>
              </a:spcAft>
            </a:pPr>
            <a:r>
              <a:rPr sz="850" b="0">
                <a:solidFill>
                  <a:srgbClr val="5B6372"/>
                </a:solidFill>
                <a:latin typeface="Arial"/>
              </a:rPr>
              <a:t>reply or blocked message</a:t>
            </a:r>
          </a:p>
        </p:txBody>
      </p:sp>
      <p:pic>
        <p:nvPicPr>
          <p:cNvPr id="21" name="Picture 20" descr="Activity8 - AI Chatbot with Input &amp; Output Guardrails.png"/>
          <p:cNvPicPr>
            <a:picLocks noChangeAspect="1"/>
          </p:cNvPicPr>
          <p:nvPr/>
        </p:nvPicPr>
        <p:blipFill>
          <a:blip r:embed="rId2"/>
          <a:stretch>
            <a:fillRect/>
          </a:stretch>
        </p:blipFill>
        <p:spPr>
          <a:xfrm>
            <a:off x="2369604" y="2761488"/>
            <a:ext cx="7422311" cy="2816352"/>
          </a:xfrm>
          <a:prstGeom prst="rect">
            <a:avLst/>
          </a:prstGeom>
        </p:spPr>
      </p:pic>
      <p:sp>
        <p:nvSpPr>
          <p:cNvPr id="22" name="Rectangle 21"/>
          <p:cNvSpPr/>
          <p:nvPr/>
        </p:nvSpPr>
        <p:spPr>
          <a:xfrm>
            <a:off x="2356904" y="2748788"/>
            <a:ext cx="7447711"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5687568"/>
            <a:ext cx="10634472" cy="56692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5806440"/>
            <a:ext cx="960120" cy="32918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8c</a:t>
            </a:r>
          </a:p>
        </p:txBody>
      </p:sp>
      <p:sp>
        <p:nvSpPr>
          <p:cNvPr id="26" name="TextBox 25"/>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AI Chatbot with Input &amp; Output Guardrails</a:t>
            </a:r>
          </a:p>
        </p:txBody>
      </p:sp>
      <p:sp>
        <p:nvSpPr>
          <p:cNvPr id="27" name="TextBox 26"/>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Test it by trying to break it — the injection probe must be blocked  ·  steps in the Learner Guide</a:t>
            </a:r>
          </a:p>
        </p:txBody>
      </p:sp>
      <p:sp>
        <p:nvSpPr>
          <p:cNvPr id="28" name="TextBox 2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8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8 — The HR Service Portal</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One portal with four tabs: Dashboard, Apply Leave, HR Assistant, Settings.</a:t>
            </a:r>
          </a:p>
          <a:p>
            <a:pPr>
              <a:spcBef>
                <a:spcPts val="0"/>
              </a:spcBef>
              <a:spcAft>
                <a:spcPts val="900"/>
              </a:spcAft>
            </a:pPr>
            <a:r>
              <a:rPr sz="1500" b="1">
                <a:solidFill>
                  <a:srgbClr val="1F6FEB"/>
                </a:solidFill>
                <a:latin typeface="Arial"/>
              </a:rPr>
              <a:t>•  </a:t>
            </a:r>
            <a:r>
              <a:rPr sz="1500">
                <a:solidFill>
                  <a:srgbClr val="161B26"/>
                </a:solidFill>
                <a:latin typeface="Arial"/>
              </a:rPr>
              <a:t>Dashboard pulls live leave balance &amp; history from the GET webhook (8b).</a:t>
            </a:r>
          </a:p>
          <a:p>
            <a:pPr>
              <a:spcBef>
                <a:spcPts val="0"/>
              </a:spcBef>
              <a:spcAft>
                <a:spcPts val="900"/>
              </a:spcAft>
            </a:pPr>
            <a:r>
              <a:rPr sz="1500" b="1">
                <a:solidFill>
                  <a:srgbClr val="1F6FEB"/>
                </a:solidFill>
                <a:latin typeface="Arial"/>
              </a:rPr>
              <a:t>•  </a:t>
            </a:r>
            <a:r>
              <a:rPr sz="1500">
                <a:solidFill>
                  <a:srgbClr val="161B26"/>
                </a:solidFill>
                <a:latin typeface="Arial"/>
              </a:rPr>
              <a:t>Apply Leave triggers the human-in-the-loop approval chain (8a).</a:t>
            </a:r>
          </a:p>
          <a:p>
            <a:pPr>
              <a:spcBef>
                <a:spcPts val="0"/>
              </a:spcBef>
              <a:spcAft>
                <a:spcPts val="900"/>
              </a:spcAft>
            </a:pPr>
            <a:r>
              <a:rPr sz="1500" b="1">
                <a:solidFill>
                  <a:srgbClr val="1F6FEB"/>
                </a:solidFill>
                <a:latin typeface="Arial"/>
              </a:rPr>
              <a:t>•  </a:t>
            </a:r>
            <a:r>
              <a:rPr sz="1500">
                <a:solidFill>
                  <a:srgbClr val="161B26"/>
                </a:solidFill>
                <a:latin typeface="Arial"/>
              </a:rPr>
              <a:t>HR Assistant is the guarded AI chatbot — input &amp; output guardrails (8c).</a:t>
            </a:r>
          </a:p>
        </p:txBody>
      </p:sp>
      <p:pic>
        <p:nvPicPr>
          <p:cNvPr id="7" name="Picture 6" descr="Activity8-website.png"/>
          <p:cNvPicPr>
            <a:picLocks noChangeAspect="1"/>
          </p:cNvPicPr>
          <p:nvPr/>
        </p:nvPicPr>
        <p:blipFill>
          <a:blip r:embed="rId2"/>
          <a:stretch>
            <a:fillRect/>
          </a:stretch>
        </p:blipFill>
        <p:spPr>
          <a:xfrm>
            <a:off x="5943600" y="1828800"/>
            <a:ext cx="5486400" cy="3191256"/>
          </a:xfrm>
          <a:prstGeom prst="rect">
            <a:avLst/>
          </a:prstGeom>
        </p:spPr>
      </p:pic>
      <p:sp>
        <p:nvSpPr>
          <p:cNvPr id="8" name="Rectangle 7"/>
          <p:cNvSpPr/>
          <p:nvPr/>
        </p:nvSpPr>
        <p:spPr>
          <a:xfrm>
            <a:off x="5930900" y="1816100"/>
            <a:ext cx="5511800" cy="3216656"/>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127A3E"/>
                </a:solidFill>
                <a:latin typeface="Arial"/>
              </a:rPr>
              <a:t>TOPIC 7</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Mini Capstone Project</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Design · Build · Present</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127A3E"/>
                </a:solidFill>
                <a:latin typeface="Arial"/>
              </a:rPr>
              <a:t>Everything from Activities 1–8, your problem</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07</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7 · MINI CAPSTONE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Your Build — What It Must Include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In small groups, design and build an end-to-end automation for a problem you choose.</a:t>
            </a:r>
          </a:p>
        </p:txBody>
      </p:sp>
      <p:sp>
        <p:nvSpPr>
          <p:cNvPr id="7" name="Rounded Rectangle 6"/>
          <p:cNvSpPr/>
          <p:nvPr/>
        </p:nvSpPr>
        <p:spPr>
          <a:xfrm>
            <a:off x="777240" y="1783080"/>
            <a:ext cx="5170932" cy="15819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 trigger</a:t>
            </a:r>
          </a:p>
        </p:txBody>
      </p:sp>
      <p:sp>
        <p:nvSpPr>
          <p:cNvPr id="11" name="TextBox 10"/>
          <p:cNvSpPr txBox="1"/>
          <p:nvPr/>
        </p:nvSpPr>
        <p:spPr>
          <a:xfrm>
            <a:off x="97840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Form, webhook, Telegram or schedule — who or what starts your process?</a:t>
            </a:r>
          </a:p>
        </p:txBody>
      </p:sp>
      <p:sp>
        <p:nvSpPr>
          <p:cNvPr id="12" name="Rounded Rectangle 11"/>
          <p:cNvSpPr/>
          <p:nvPr/>
        </p:nvSpPr>
        <p:spPr>
          <a:xfrm>
            <a:off x="6240780" y="1783080"/>
            <a:ext cx="5170932" cy="15819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293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An AI agent</a:t>
            </a:r>
          </a:p>
        </p:txBody>
      </p:sp>
      <p:sp>
        <p:nvSpPr>
          <p:cNvPr id="16" name="TextBox 15"/>
          <p:cNvSpPr txBox="1"/>
          <p:nvPr/>
        </p:nvSpPr>
        <p:spPr>
          <a:xfrm>
            <a:off x="644194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With at least one tool or a RAG source — the judgement in the middle.</a:t>
            </a:r>
          </a:p>
        </p:txBody>
      </p:sp>
      <p:sp>
        <p:nvSpPr>
          <p:cNvPr id="17" name="Rounded Rectangle 16"/>
          <p:cNvSpPr/>
          <p:nvPr/>
        </p:nvSpPr>
        <p:spPr>
          <a:xfrm>
            <a:off x="777240" y="3584448"/>
            <a:ext cx="5170932" cy="15819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73075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External data or storage</a:t>
            </a:r>
          </a:p>
        </p:txBody>
      </p:sp>
      <p:sp>
        <p:nvSpPr>
          <p:cNvPr id="21" name="TextBox 20"/>
          <p:cNvSpPr txBox="1"/>
          <p:nvPr/>
        </p:nvSpPr>
        <p:spPr>
          <a:xfrm>
            <a:off x="97840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An API you call, or storage you write — Sheets, a vector DB, a Data Table.</a:t>
            </a:r>
          </a:p>
        </p:txBody>
      </p:sp>
      <p:sp>
        <p:nvSpPr>
          <p:cNvPr id="22" name="Rounded Rectangle 21"/>
          <p:cNvSpPr/>
          <p:nvPr/>
        </p:nvSpPr>
        <p:spPr>
          <a:xfrm>
            <a:off x="6240780" y="3584448"/>
            <a:ext cx="5170932" cy="1581912"/>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730752"/>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A control</a:t>
            </a:r>
          </a:p>
        </p:txBody>
      </p:sp>
      <p:sp>
        <p:nvSpPr>
          <p:cNvPr id="26" name="TextBox 25"/>
          <p:cNvSpPr txBox="1"/>
          <p:nvPr/>
        </p:nvSpPr>
        <p:spPr>
          <a:xfrm>
            <a:off x="644194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 guardrail or a human-in-the-loop step — decide where the human belongs and defend it.</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Deliverables: a working workflow, a short demo, and a 3–5 minute presentation.</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CAPSTONE · WORKED EXAMPLE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Capstone Example — Issue Reporting</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Paste your n8n Form production URL to generate a QR code.</a:t>
            </a:r>
          </a:p>
          <a:p>
            <a:pPr>
              <a:spcBef>
                <a:spcPts val="0"/>
              </a:spcBef>
              <a:spcAft>
                <a:spcPts val="900"/>
              </a:spcAft>
            </a:pPr>
            <a:r>
              <a:rPr sz="1500" b="1">
                <a:solidFill>
                  <a:srgbClr val="1F6FEB"/>
                </a:solidFill>
                <a:latin typeface="Arial"/>
              </a:rPr>
              <a:t>•  </a:t>
            </a:r>
            <a:r>
              <a:rPr sz="1500">
                <a:solidFill>
                  <a:srgbClr val="161B26"/>
                </a:solidFill>
                <a:latin typeface="Arial"/>
              </a:rPr>
              <a:t>People scan the QR with a phone to open the submission form.</a:t>
            </a:r>
          </a:p>
          <a:p>
            <a:pPr>
              <a:spcBef>
                <a:spcPts val="0"/>
              </a:spcBef>
              <a:spcAft>
                <a:spcPts val="900"/>
              </a:spcAft>
            </a:pPr>
            <a:r>
              <a:rPr sz="1500" b="1">
                <a:solidFill>
                  <a:srgbClr val="1F6FEB"/>
                </a:solidFill>
                <a:latin typeface="Arial"/>
              </a:rPr>
              <a:t>•  </a:t>
            </a:r>
            <a:r>
              <a:rPr sz="1500">
                <a:solidFill>
                  <a:srgbClr val="161B26"/>
                </a:solidFill>
                <a:latin typeface="Arial"/>
              </a:rPr>
              <a:t>Submissions (with photos) flow into Postgres and a public gallery.</a:t>
            </a:r>
          </a:p>
          <a:p>
            <a:pPr>
              <a:spcBef>
                <a:spcPts val="0"/>
              </a:spcBef>
              <a:spcAft>
                <a:spcPts val="900"/>
              </a:spcAft>
            </a:pPr>
            <a:r>
              <a:rPr sz="1500" b="1">
                <a:solidFill>
                  <a:srgbClr val="1F6FEB"/>
                </a:solidFill>
                <a:latin typeface="Arial"/>
              </a:rPr>
              <a:t>•  </a:t>
            </a:r>
            <a:r>
              <a:rPr sz="1500">
                <a:solidFill>
                  <a:srgbClr val="161B26"/>
                </a:solidFill>
                <a:latin typeface="Arial"/>
              </a:rPr>
              <a:t>A complete worked capstone you can adapt for your own project.</a:t>
            </a:r>
          </a:p>
        </p:txBody>
      </p:sp>
      <p:pic>
        <p:nvPicPr>
          <p:cNvPr id="7" name="Picture 6" descr="Capstone-website.png"/>
          <p:cNvPicPr>
            <a:picLocks noChangeAspect="1"/>
          </p:cNvPicPr>
          <p:nvPr/>
        </p:nvPicPr>
        <p:blipFill>
          <a:blip r:embed="rId2"/>
          <a:stretch>
            <a:fillRect/>
          </a:stretch>
        </p:blipFill>
        <p:spPr>
          <a:xfrm>
            <a:off x="5943600" y="1828800"/>
            <a:ext cx="5486400" cy="3191256"/>
          </a:xfrm>
          <a:prstGeom prst="rect">
            <a:avLst/>
          </a:prstGeom>
        </p:spPr>
      </p:pic>
      <p:sp>
        <p:nvSpPr>
          <p:cNvPr id="8" name="Rectangle 7"/>
          <p:cNvSpPr/>
          <p:nvPr/>
        </p:nvSpPr>
        <p:spPr>
          <a:xfrm>
            <a:off x="5930900" y="1816100"/>
            <a:ext cx="5511800" cy="3216656"/>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Presentation &amp; Assessment</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Present the problem, your design, and what you'd improve.</a:t>
            </a:r>
          </a:p>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 · 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Open book: slides, Learner Guide and approved materials.</a:t>
            </a:r>
          </a:p>
          <a:p>
            <a:pPr>
              <a:spcBef>
                <a:spcPts val="0"/>
              </a:spcBef>
              <a:spcAft>
                <a:spcPts val="1000"/>
              </a:spcAft>
            </a:pPr>
            <a:r>
              <a:rPr sz="2000" b="1">
                <a:solidFill>
                  <a:srgbClr val="1F6FEB"/>
                </a:solidFill>
                <a:latin typeface="Arial"/>
              </a:rPr>
              <a:t>•  </a:t>
            </a:r>
            <a:r>
              <a:rPr sz="2000">
                <a:solidFill>
                  <a:srgbClr val="161B26"/>
                </a:solidFill>
                <a:latin typeface="Arial"/>
              </a:rPr>
              <a:t>Remember to take the Assessment digital attendance (TRAQOM).</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Assessment</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  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Open book: slides, Learner Guide and approved materials only.</a:t>
            </a:r>
          </a:p>
          <a:p>
            <a:pPr>
              <a:spcBef>
                <a:spcPts val="0"/>
              </a:spcBef>
              <a:spcAft>
                <a:spcPts val="1000"/>
              </a:spcAft>
            </a:pPr>
            <a:r>
              <a:rPr sz="2000" b="1">
                <a:solidFill>
                  <a:srgbClr val="1F6FEB"/>
                </a:solidFill>
                <a:latin typeface="Arial"/>
              </a:rPr>
              <a:t>•  </a:t>
            </a:r>
            <a:r>
              <a:rPr sz="2000">
                <a:solidFill>
                  <a:srgbClr val="161B26"/>
                </a:solidFill>
                <a:latin typeface="Arial"/>
              </a:rPr>
              <a:t>Remember to take the Assessment digital attendance (TRAQOM).</a:t>
            </a:r>
          </a:p>
          <a:p>
            <a:pPr>
              <a:spcBef>
                <a:spcPts val="0"/>
              </a:spcBef>
              <a:spcAft>
                <a:spcPts val="1000"/>
              </a:spcAft>
            </a:pPr>
            <a:r>
              <a:rPr sz="2000" b="1">
                <a:solidFill>
                  <a:srgbClr val="1F6FEB"/>
                </a:solidFill>
                <a:latin typeface="Arial"/>
              </a:rPr>
              <a:t>•  </a:t>
            </a:r>
            <a:r>
              <a:rPr sz="2000">
                <a:solidFill>
                  <a:srgbClr val="161B26"/>
                </a:solidFill>
                <a:latin typeface="Arial"/>
              </a:rPr>
              <a:t>Submit your completed answers on the LMS at https://lms-tms.tertiaryinfotech.com/.</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ON ASSESSMENT DAY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Assessment Flow</a:t>
            </a:r>
          </a:p>
        </p:txBody>
      </p:sp>
      <p:sp>
        <p:nvSpPr>
          <p:cNvPr id="6" name="Rectangle 5"/>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1424"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1</a:t>
            </a:r>
          </a:p>
        </p:txBody>
      </p:sp>
      <p:sp>
        <p:nvSpPr>
          <p:cNvPr id="10" name="TextBox 9"/>
          <p:cNvSpPr txBox="1"/>
          <p:nvPr/>
        </p:nvSpPr>
        <p:spPr>
          <a:xfrm>
            <a:off x="923544"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2" name="Rectangle 11"/>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7"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2</a:t>
            </a:r>
          </a:p>
        </p:txBody>
      </p:sp>
      <p:sp>
        <p:nvSpPr>
          <p:cNvPr id="16" name="TextBox 15"/>
          <p:cNvSpPr txBox="1"/>
          <p:nvPr/>
        </p:nvSpPr>
        <p:spPr>
          <a:xfrm>
            <a:off x="3112617"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8" name="Rectangle 17"/>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9570"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3</a:t>
            </a:r>
          </a:p>
        </p:txBody>
      </p:sp>
      <p:sp>
        <p:nvSpPr>
          <p:cNvPr id="22" name="TextBox 21"/>
          <p:cNvSpPr txBox="1"/>
          <p:nvPr/>
        </p:nvSpPr>
        <p:spPr>
          <a:xfrm>
            <a:off x="5301690"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Sit WA (SAQ) then PP — open book</a:t>
            </a:r>
          </a:p>
        </p:txBody>
      </p:sp>
      <p:sp>
        <p:nvSpPr>
          <p:cNvPr id="23" name="TextBox 22"/>
          <p:cNvSpPr txBox="1"/>
          <p:nvPr/>
        </p:nvSpPr>
        <p:spPr>
          <a:xfrm>
            <a:off x="6996987"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24" name="Rectangle 23"/>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8643"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4</a:t>
            </a:r>
          </a:p>
        </p:txBody>
      </p:sp>
      <p:sp>
        <p:nvSpPr>
          <p:cNvPr id="28" name="TextBox 27"/>
          <p:cNvSpPr txBox="1"/>
          <p:nvPr/>
        </p:nvSpPr>
        <p:spPr>
          <a:xfrm>
            <a:off x="7490763"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30" name="Rectangle 29"/>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97716"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5</a:t>
            </a:r>
          </a:p>
        </p:txBody>
      </p:sp>
      <p:sp>
        <p:nvSpPr>
          <p:cNvPr id="34" name="TextBox 33"/>
          <p:cNvSpPr txBox="1"/>
          <p:nvPr/>
        </p:nvSpPr>
        <p:spPr>
          <a:xfrm>
            <a:off x="9679836" y="3749040"/>
            <a:ext cx="1585569" cy="1325880"/>
          </a:xfrm>
          <a:prstGeom prst="rect">
            <a:avLst/>
          </a:prstGeom>
          <a:noFill/>
        </p:spPr>
        <p:txBody>
          <a:bodyPr wrap="square" anchor="t" lIns="0" rIns="0" tIns="0" bIns="0">
            <a:spAutoFit/>
          </a:bodyPr>
          <a:lstStyle/>
          <a:p>
            <a:pPr algn="ctr">
              <a:spcBef>
                <a:spcPts val="0"/>
              </a:spcBef>
              <a:spcAft>
                <a:spcPts val="400"/>
              </a:spcAft>
            </a:pPr>
            <a:r>
              <a:rPr sz="1400" b="0">
                <a:solidFill>
                  <a:srgbClr val="161B26"/>
                </a:solidFill>
                <a:latin typeface="Arial"/>
              </a:rPr>
              <a:t>Sign the Assessment Summary Record</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Digital Attendance (Mandatory)</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It is mandatory to take the AM, PM and Assessment digital attendance for WSQ-funded courses.</a:t>
            </a:r>
          </a:p>
          <a:p>
            <a:pPr>
              <a:spcBef>
                <a:spcPts val="0"/>
              </a:spcBef>
              <a:spcAft>
                <a:spcPts val="1000"/>
              </a:spcAft>
            </a:pPr>
            <a:r>
              <a:rPr sz="2000" b="1">
                <a:solidFill>
                  <a:srgbClr val="1F6FEB"/>
                </a:solidFill>
                <a:latin typeface="Arial"/>
              </a:rPr>
              <a:t>•  </a:t>
            </a:r>
            <a:r>
              <a:rPr sz="2000">
                <a:solidFill>
                  <a:srgbClr val="161B26"/>
                </a:solidFill>
                <a:latin typeface="Arial"/>
              </a:rPr>
              <a:t>The trainer/administrator displays the digital attendance QR code from the SSG portal.</a:t>
            </a:r>
          </a:p>
          <a:p>
            <a:pPr>
              <a:spcBef>
                <a:spcPts val="0"/>
              </a:spcBef>
              <a:spcAft>
                <a:spcPts val="1000"/>
              </a:spcAft>
            </a:pPr>
            <a:r>
              <a:rPr sz="2000" b="1">
                <a:solidFill>
                  <a:srgbClr val="1F6FEB"/>
                </a:solidFill>
                <a:latin typeface="Arial"/>
              </a:rPr>
              <a:t>•  </a:t>
            </a:r>
            <a:r>
              <a:rPr sz="2000">
                <a:solidFill>
                  <a:srgbClr val="161B26"/>
                </a:solidFill>
                <a:latin typeface="Arial"/>
              </a:rPr>
              <a:t>Scan the QR code with your mobile phone camera and submit your attendance.</a:t>
            </a:r>
          </a:p>
          <a:p>
            <a:pPr>
              <a:spcBef>
                <a:spcPts val="0"/>
              </a:spcBef>
              <a:spcAft>
                <a:spcPts val="1000"/>
              </a:spcAft>
            </a:pPr>
            <a:r>
              <a:rPr sz="2000" b="1">
                <a:solidFill>
                  <a:srgbClr val="1F6FEB"/>
                </a:solidFill>
                <a:latin typeface="Arial"/>
              </a:rPr>
              <a:t>•  </a:t>
            </a:r>
            <a:r>
              <a:rPr sz="2000">
                <a:solidFill>
                  <a:srgbClr val="161B26"/>
                </a:solidFill>
                <a:latin typeface="Arial"/>
              </a:rPr>
              <a:t>A minimum of 75% attendance is required to be eligible for assessment and funding.</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468880"/>
            <a:ext cx="128016"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468880"/>
            <a:ext cx="10058400" cy="1097280"/>
          </a:xfrm>
          <a:prstGeom prst="rect">
            <a:avLst/>
          </a:prstGeom>
          <a:noFill/>
        </p:spPr>
        <p:txBody>
          <a:bodyPr wrap="square" anchor="t" lIns="0" rIns="0" tIns="0" bIns="0">
            <a:spAutoFit/>
          </a:bodyPr>
          <a:lstStyle/>
          <a:p>
            <a:pPr algn="l">
              <a:spcBef>
                <a:spcPts val="0"/>
              </a:spcBef>
              <a:spcAft>
                <a:spcPts val="400"/>
              </a:spcAft>
            </a:pPr>
            <a:r>
              <a:rPr sz="4800" b="1">
                <a:solidFill>
                  <a:srgbClr val="161B26"/>
                </a:solidFill>
                <a:latin typeface="Arial"/>
              </a:rPr>
              <a:t>Thank You!</a:t>
            </a:r>
          </a:p>
        </p:txBody>
      </p:sp>
      <p:sp>
        <p:nvSpPr>
          <p:cNvPr id="6" name="TextBox 5"/>
          <p:cNvSpPr txBox="1"/>
          <p:nvPr/>
        </p:nvSpPr>
        <p:spPr>
          <a:xfrm>
            <a:off x="1161288" y="3749039"/>
            <a:ext cx="10515600" cy="1280160"/>
          </a:xfrm>
          <a:prstGeom prst="rect">
            <a:avLst/>
          </a:prstGeom>
          <a:noFill/>
        </p:spPr>
        <p:txBody>
          <a:bodyPr wrap="square" anchor="t" lIns="0" rIns="0" tIns="0" bIns="0">
            <a:spAutoFit/>
          </a:bodyPr>
          <a:lstStyle/>
          <a:p>
            <a:pPr algn="l">
              <a:spcBef>
                <a:spcPts val="0"/>
              </a:spcBef>
              <a:spcAft>
                <a:spcPts val="800"/>
              </a:spcAft>
            </a:pPr>
            <a:r>
              <a:rPr sz="1800" b="0">
                <a:solidFill>
                  <a:srgbClr val="5B6372"/>
                </a:solidFill>
                <a:latin typeface="Arial"/>
              </a:rPr>
              <a:t>Keep your local n8n running and keep building your own agents.</a:t>
            </a:r>
          </a:p>
          <a:p>
            <a:pPr algn="l">
              <a:spcBef>
                <a:spcPts val="0"/>
              </a:spcBef>
              <a:spcAft>
                <a:spcPts val="800"/>
              </a:spcAft>
            </a:pPr>
            <a:r>
              <a:rPr sz="1300" b="1">
                <a:solidFill>
                  <a:srgbClr val="1F6FEB"/>
                </a:solidFill>
                <a:latin typeface="Arial"/>
              </a:rPr>
              <a:t>Download all flows: github.com/tertiarycourses/TGS-2023035977-Agentic-AI-Automation-with-n8n</a:t>
            </a:r>
          </a:p>
          <a:p>
            <a:pPr algn="l">
              <a:spcBef>
                <a:spcPts val="0"/>
              </a:spcBef>
              <a:spcAft>
                <a:spcPts val="800"/>
              </a:spcAft>
            </a:pPr>
            <a:r>
              <a:rPr sz="1200" b="0">
                <a:solidFill>
                  <a:srgbClr val="5B6372"/>
                </a:solidFill>
                <a:latin typeface="Arial"/>
              </a:rPr>
              <a:t>Powered by Tertiary Infotech Academy Pte Ltd  ·  www.tertiarycourses.com.sg</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